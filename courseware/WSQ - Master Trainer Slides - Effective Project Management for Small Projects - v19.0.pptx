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456" r:id="rId207"/>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9.png"/>
          <p:cNvPicPr>
            <a:picLocks noChangeAspect="1"/>
          </p:cNvPicPr>
          <p:nvPr/>
        </p:nvPicPr>
        <p:blipFill>
          <a:blip r:embed="rId2"/>
          <a:srcRect t="2691" b="2691"/>
          <a:stretch>
            <a:fillRect/>
          </a:stretch>
        </p:blipFill>
        <p:spPr>
          <a:xfrm>
            <a:off x="0" y="182880"/>
            <a:ext cx="12191695" cy="6492240"/>
          </a:xfrm>
          <a:prstGeom prst="rect">
            <a:avLst/>
          </a:prstGeom>
        </p:spPr>
      </p:pic>
      <p:sp>
        <p:nvSpPr>
          <p:cNvPr id="4" name="Rectangle 3"/>
          <p:cNvSpPr/>
          <p:nvPr/>
        </p:nvSpPr>
        <p:spPr>
          <a:xfrm>
            <a:off x="0" y="182880"/>
            <a:ext cx="5742432" cy="6492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42432" y="182880"/>
            <a:ext cx="658368" cy="6492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182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75120"/>
            <a:ext cx="12191695" cy="18288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tiary-infotech-logo.png"/>
          <p:cNvPicPr>
            <a:picLocks noChangeAspect="1"/>
          </p:cNvPicPr>
          <p:nvPr/>
        </p:nvPicPr>
        <p:blipFill>
          <a:blip r:embed="rId3"/>
          <a:stretch>
            <a:fillRect/>
          </a:stretch>
        </p:blipFill>
        <p:spPr>
          <a:xfrm>
            <a:off x="685800" y="438912"/>
            <a:ext cx="658368" cy="658368"/>
          </a:xfrm>
          <a:prstGeom prst="rect">
            <a:avLst/>
          </a:prstGeom>
        </p:spPr>
      </p:pic>
      <p:sp>
        <p:nvSpPr>
          <p:cNvPr id="9" name="TextBox 8"/>
          <p:cNvSpPr txBox="1"/>
          <p:nvPr/>
        </p:nvSpPr>
        <p:spPr>
          <a:xfrm>
            <a:off x="685800" y="1417320"/>
            <a:ext cx="5074920" cy="32004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TRAINER SLIDES  ·  WSQ</a:t>
            </a:r>
          </a:p>
        </p:txBody>
      </p:sp>
      <p:sp>
        <p:nvSpPr>
          <p:cNvPr id="10" name="TextBox 9"/>
          <p:cNvSpPr txBox="1"/>
          <p:nvPr/>
        </p:nvSpPr>
        <p:spPr>
          <a:xfrm>
            <a:off x="685800" y="1847088"/>
            <a:ext cx="5138928" cy="1828800"/>
          </a:xfrm>
          <a:prstGeom prst="rect">
            <a:avLst/>
          </a:prstGeom>
          <a:noFill/>
        </p:spPr>
        <p:txBody>
          <a:bodyPr wrap="square" lIns="0" rIns="0" tIns="0" bIns="0" anchor="t">
            <a:spAutoFit/>
          </a:bodyPr>
          <a:lstStyle/>
          <a:p>
            <a:pPr algn="l">
              <a:spcAft>
                <a:spcPts val="300"/>
              </a:spcAft>
            </a:pPr>
            <a:r>
              <a:rPr sz="3400" b="1">
                <a:solidFill>
                  <a:srgbClr val="131B2A"/>
                </a:solidFill>
                <a:latin typeface="Arial"/>
              </a:rPr>
              <a:t>Effective Project Management for Small Projects</a:t>
            </a:r>
          </a:p>
        </p:txBody>
      </p:sp>
      <p:sp>
        <p:nvSpPr>
          <p:cNvPr id="11" name="Rectangle 10"/>
          <p:cNvSpPr/>
          <p:nvPr/>
        </p:nvSpPr>
        <p:spPr>
          <a:xfrm>
            <a:off x="685800" y="3886200"/>
            <a:ext cx="1417320" cy="5486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33087"/>
            <a:ext cx="5074920" cy="1097280"/>
          </a:xfrm>
          <a:prstGeom prst="rect">
            <a:avLst/>
          </a:prstGeom>
          <a:noFill/>
        </p:spPr>
        <p:txBody>
          <a:bodyPr wrap="square" lIns="0" rIns="0" tIns="0" bIns="0" anchor="t">
            <a:spAutoFit/>
          </a:bodyPr>
          <a:lstStyle/>
          <a:p>
            <a:pPr algn="l">
              <a:spcAft>
                <a:spcPts val="700"/>
              </a:spcAft>
            </a:pPr>
            <a:r>
              <a:rPr sz="1500" b="0">
                <a:solidFill>
                  <a:srgbClr val="5F6B7A"/>
                </a:solidFill>
                <a:latin typeface="Arial"/>
              </a:rPr>
              <a:t>WSQ Course Code: TGS-2020505545 ·</a:t>
            </a:r>
          </a:p>
          <a:p>
            <a:pPr algn="l">
              <a:spcAft>
                <a:spcPts val="700"/>
              </a:spcAft>
            </a:pPr>
            <a:r>
              <a:rPr sz="1400" b="0">
                <a:solidFill>
                  <a:srgbClr val="5F6B7A"/>
                </a:solidFill>
                <a:latin typeface="Arial"/>
              </a:rPr>
              <a:t>2 days · 16 training hours</a:t>
            </a:r>
          </a:p>
          <a:p>
            <a:pPr algn="l">
              <a:spcAft>
                <a:spcPts val="700"/>
              </a:spcAft>
            </a:pPr>
            <a:r>
              <a:rPr sz="1300" b="0">
                <a:solidFill>
                  <a:srgbClr val="5F6B7A"/>
                </a:solidFill>
                <a:latin typeface="Arial"/>
              </a:rPr>
              <a:t>TSC: Project Management · ICT-PMT-3026-1.1</a:t>
            </a:r>
          </a:p>
        </p:txBody>
      </p:sp>
      <p:sp>
        <p:nvSpPr>
          <p:cNvPr id="13" name="TextBox 12"/>
          <p:cNvSpPr txBox="1"/>
          <p:nvPr/>
        </p:nvSpPr>
        <p:spPr>
          <a:xfrm>
            <a:off x="685800" y="5650992"/>
            <a:ext cx="5074920" cy="502920"/>
          </a:xfrm>
          <a:prstGeom prst="rect">
            <a:avLst/>
          </a:prstGeom>
          <a:noFill/>
        </p:spPr>
        <p:txBody>
          <a:bodyPr wrap="square" lIns="0" rIns="0" tIns="0" bIns="0" anchor="t">
            <a:spAutoFit/>
          </a:bodyPr>
          <a:lstStyle/>
          <a:p>
            <a:pPr algn="l">
              <a:spcAft>
                <a:spcPts val="400"/>
              </a:spcAft>
            </a:pPr>
            <a:r>
              <a:rPr sz="1100" b="0">
                <a:solidFill>
                  <a:srgbClr val="5F6B7A"/>
                </a:solidFill>
                <a:latin typeface="Arial"/>
              </a:rPr>
              <a:t>Version v19.0 · 19 August 2026</a:t>
            </a:r>
          </a:p>
          <a:p>
            <a:pPr algn="l">
              <a:spcAft>
                <a:spcPts val="400"/>
              </a:spcAft>
            </a:pPr>
            <a:r>
              <a:rPr sz="900" b="0">
                <a:solidFill>
                  <a:srgbClr val="5F6B7A"/>
                </a:solidFill>
                <a:latin typeface="Arial"/>
              </a:rPr>
              <a:t>Tertiary Infotech Academy Pte Ltd · UEN: 201200696W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COURSE ADMINISTRATION</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Welcome &amp; Housekeeping</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How the two days work and what evidence you will produce</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COURSE ADMINISTRATION</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ADMIN · ATTENDANCE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Digital Attendance (Mandatory)</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AM, PM and Assessment</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Complete every required SSG digital attendance scan.</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Scan the trainer QR</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Use your mobile camera and submit the attendance record.</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75% minimum</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Attendance eligibility is calculated from the official record.</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Assessment required</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Complete the assessment and achieve Competent for funding eligibility.</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ADMIN · ATTENDANCE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ADMIN · FACILITATOR</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Your Trainer</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Name</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Dr Alfred Ang</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Role</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Course developer and principal trainer, Tertiary Infotech Academy</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Experience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20+ years across engineering, analytics, AI and digital transformation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Contact</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enquiry@tertiaryinfotech.com · +65 6100 0613</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ADMIN · FACILITATOR</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ADMIN · HOW WE 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Ground Rules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Participate</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Use the tools, challenge assumptions and explain your decisions.</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Respect</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One conversation at a time; disagree with evidence, not people.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Be punctual</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Activities build on one another; missed work creates downstream gaps.</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Keep evidence</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Save every completed template for the case study and assessment review.</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ADMIN · HOW WE WORK</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COURSE ALIGNMENT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Learning Outcomes — 1 to 4</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LO1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Develop project scope and team to initiate the facilitation of a small project</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LO2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Develop a realistic project plan based on the agreed project scope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LO3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Utilise appropriate methods and tools to track and drive a project</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LO4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Identify, analyse and manage project risks</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COURSE ALIGNMENT</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COURSE ALIGNMENT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Learning Outcomes — 5 to 7</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LO5</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Collaborate effectively with project stakeholders</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LO6</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Deploy manpower, budget and other resources for efficient completion</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LO7</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Track project deliverables and correct misalignments through control and closeout</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COURSE ALIGNMENT</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TSC ALIGNMENT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Skills Framework — Abilities A1 to A4</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Code</a:t>
            </a:r>
          </a:p>
        </p:txBody>
      </p:sp>
      <p:sp>
        <p:nvSpPr>
          <p:cNvPr id="9" name="Rectangle 8"/>
          <p:cNvSpPr/>
          <p:nvPr/>
        </p:nvSpPr>
        <p:spPr>
          <a:xfrm>
            <a:off x="431596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Ability</a:t>
            </a:r>
          </a:p>
        </p:txBody>
      </p:sp>
      <p:sp>
        <p:nvSpPr>
          <p:cNvPr id="11" name="Rectangle 10"/>
          <p:cNvSpPr/>
          <p:nvPr/>
        </p:nvSpPr>
        <p:spPr>
          <a:xfrm>
            <a:off x="7882127"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Practice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A1</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Facilitate execution of small projects that are typically less than six months, with limited budget and interdependencies, and no significant strategic impact</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Activities 1–2</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A2</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Implement realistic project plans based on project objectives and scope</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Activities 3–5</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A3</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Utilise appropriate methods and tools to track and drive progress against plans and timelines</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Activities 6 and 10</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A4</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Identify risks to project success and take appropriate actions to manage them</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Activity 7</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Every assessed ability has named tool-based evidence across the lifecycle.</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TSC ALIGNMENT</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TSC ALIGNMENT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Skills Framework — Abilities A5 to A7</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94869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Code</a:t>
            </a:r>
          </a:p>
        </p:txBody>
      </p:sp>
      <p:sp>
        <p:nvSpPr>
          <p:cNvPr id="9" name="Rectangle 8"/>
          <p:cNvSpPr/>
          <p:nvPr/>
        </p:nvSpPr>
        <p:spPr>
          <a:xfrm>
            <a:off x="4315968" y="1810512"/>
            <a:ext cx="3566160" cy="94869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Ability</a:t>
            </a:r>
          </a:p>
        </p:txBody>
      </p:sp>
      <p:sp>
        <p:nvSpPr>
          <p:cNvPr id="11" name="Rectangle 10"/>
          <p:cNvSpPr/>
          <p:nvPr/>
        </p:nvSpPr>
        <p:spPr>
          <a:xfrm>
            <a:off x="7882127" y="1810512"/>
            <a:ext cx="3566160" cy="94869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Practice</a:t>
            </a:r>
          </a:p>
        </p:txBody>
      </p:sp>
      <p:sp>
        <p:nvSpPr>
          <p:cNvPr id="13" name="Rectangle 12"/>
          <p:cNvSpPr/>
          <p:nvPr/>
        </p:nvSpPr>
        <p:spPr>
          <a:xfrm>
            <a:off x="749808"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804922"/>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A5</a:t>
            </a:r>
          </a:p>
        </p:txBody>
      </p:sp>
      <p:sp>
        <p:nvSpPr>
          <p:cNvPr id="15" name="Rectangle 14"/>
          <p:cNvSpPr/>
          <p:nvPr/>
        </p:nvSpPr>
        <p:spPr>
          <a:xfrm>
            <a:off x="4315968"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80492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Collaborate effectively with relevant internal and external stakeholders directly impacting the project</a:t>
            </a:r>
          </a:p>
        </p:txBody>
      </p:sp>
      <p:sp>
        <p:nvSpPr>
          <p:cNvPr id="17" name="Rectangle 16"/>
          <p:cNvSpPr/>
          <p:nvPr/>
        </p:nvSpPr>
        <p:spPr>
          <a:xfrm>
            <a:off x="7882127"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80492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Activity 8</a:t>
            </a:r>
          </a:p>
        </p:txBody>
      </p:sp>
      <p:sp>
        <p:nvSpPr>
          <p:cNvPr id="19" name="Rectangle 18"/>
          <p:cNvSpPr/>
          <p:nvPr/>
        </p:nvSpPr>
        <p:spPr>
          <a:xfrm>
            <a:off x="749808"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753611"/>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A6</a:t>
            </a:r>
          </a:p>
        </p:txBody>
      </p:sp>
      <p:sp>
        <p:nvSpPr>
          <p:cNvPr id="21" name="Rectangle 20"/>
          <p:cNvSpPr/>
          <p:nvPr/>
        </p:nvSpPr>
        <p:spPr>
          <a:xfrm>
            <a:off x="4315968"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753611"/>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Deploy manpower, financial budgets and relevant resources for efficient and effective completion</a:t>
            </a:r>
          </a:p>
        </p:txBody>
      </p:sp>
      <p:sp>
        <p:nvSpPr>
          <p:cNvPr id="23" name="Rectangle 22"/>
          <p:cNvSpPr/>
          <p:nvPr/>
        </p:nvSpPr>
        <p:spPr>
          <a:xfrm>
            <a:off x="7882127"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753611"/>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Activity 9</a:t>
            </a:r>
          </a:p>
        </p:txBody>
      </p:sp>
      <p:sp>
        <p:nvSpPr>
          <p:cNvPr id="25" name="Rectangle 24"/>
          <p:cNvSpPr/>
          <p:nvPr/>
        </p:nvSpPr>
        <p:spPr>
          <a:xfrm>
            <a:off x="749808"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702302"/>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A7</a:t>
            </a:r>
          </a:p>
        </p:txBody>
      </p:sp>
      <p:sp>
        <p:nvSpPr>
          <p:cNvPr id="27" name="Rectangle 26"/>
          <p:cNvSpPr/>
          <p:nvPr/>
        </p:nvSpPr>
        <p:spPr>
          <a:xfrm>
            <a:off x="4315968"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70230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Track deliverables against schedules, monitor costs, timescales and resources, and take basic corrective actions when misaligned</a:t>
            </a:r>
          </a:p>
        </p:txBody>
      </p:sp>
      <p:sp>
        <p:nvSpPr>
          <p:cNvPr id="29" name="Rectangle 28"/>
          <p:cNvSpPr/>
          <p:nvPr/>
        </p:nvSpPr>
        <p:spPr>
          <a:xfrm>
            <a:off x="7882127"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70230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Activities 11–12</a:t>
            </a:r>
          </a:p>
        </p:txBody>
      </p:sp>
      <p:sp>
        <p:nvSpPr>
          <p:cNvPr id="31" name="Rounded Rectangle 30"/>
          <p:cNvSpPr/>
          <p:nvPr/>
        </p:nvSpPr>
        <p:spPr>
          <a:xfrm>
            <a:off x="749808" y="5815584"/>
            <a:ext cx="10698480" cy="420624"/>
          </a:xfrm>
          <a:prstGeom prst="roundRect">
            <a:avLst>
              <a:gd name="adj" fmla="val 8000"/>
            </a:avLst>
          </a:prstGeom>
          <a:solidFill>
            <a:srgbClr val="F4F7FB"/>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twelve activities form one connected project evidence trail.</a:t>
            </a:r>
          </a:p>
        </p:txBody>
      </p:sp>
      <p:sp>
        <p:nvSpPr>
          <p:cNvPr id="33" name="TextBox 3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4" name="TextBox 3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TSC ALIGNMENT</a:t>
            </a:r>
          </a:p>
        </p:txBody>
      </p:sp>
      <p:sp>
        <p:nvSpPr>
          <p:cNvPr id="35" name="TextBox 3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TSC ALIGNMENT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Skills Framework — Knowledge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Code</a:t>
            </a:r>
          </a:p>
        </p:txBody>
      </p:sp>
      <p:sp>
        <p:nvSpPr>
          <p:cNvPr id="9" name="Rectangle 8"/>
          <p:cNvSpPr/>
          <p:nvPr/>
        </p:nvSpPr>
        <p:spPr>
          <a:xfrm>
            <a:off x="4315968" y="1810512"/>
            <a:ext cx="3566160" cy="63246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Knowledge</a:t>
            </a:r>
          </a:p>
        </p:txBody>
      </p:sp>
      <p:sp>
        <p:nvSpPr>
          <p:cNvPr id="11" name="Rectangle 10"/>
          <p:cNvSpPr/>
          <p:nvPr/>
        </p:nvSpPr>
        <p:spPr>
          <a:xfrm>
            <a:off x="7882127" y="1810512"/>
            <a:ext cx="3566160" cy="632460"/>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Taught in</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K1</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Elements of a small project</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Topic 1</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K2</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Requirements of a project plan</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Topic 2</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K3</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Application of appropriate project management methodologies and tools</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Topic 3</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K4</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Project risks</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Topic 4</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K5</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Project stakeholder identification</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Topic 5</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Knowledge is applied in the activity immediately following its topic.</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TSC ALIGNMENT</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DAY 1 · FROM IDEA TO AN INTEGRATED, RISK-AWARE BASELINE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Lesson Plan — Day 1</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Initiate with value</a:t>
            </a:r>
          </a:p>
        </p:txBody>
      </p:sp>
      <p:sp>
        <p:nvSpPr>
          <p:cNvPr id="10" name="TextBox 9"/>
          <p:cNvSpPr txBox="1"/>
          <p:nvPr/>
        </p:nvSpPr>
        <p:spPr>
          <a:xfrm>
            <a:off x="1005840" y="2313432"/>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1 · charter, boundaries, team and kickoff</a:t>
            </a:r>
          </a:p>
        </p:txBody>
      </p:sp>
      <p:sp>
        <p:nvSpPr>
          <p:cNvPr id="11" name="Rounded Rectangle 10"/>
          <p:cNvSpPr/>
          <p:nvPr/>
        </p:nvSpPr>
        <p:spPr>
          <a:xfrm>
            <a:off x="749808" y="2951226"/>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951226"/>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15818"/>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Plan the work</a:t>
            </a:r>
          </a:p>
        </p:txBody>
      </p:sp>
      <p:sp>
        <p:nvSpPr>
          <p:cNvPr id="14" name="TextBox 13"/>
          <p:cNvSpPr txBox="1"/>
          <p:nvPr/>
        </p:nvSpPr>
        <p:spPr>
          <a:xfrm>
            <a:off x="1005840" y="3481578"/>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2 · requirements, WBS, schedule, critical path and budget</a:t>
            </a:r>
          </a:p>
        </p:txBody>
      </p:sp>
      <p:sp>
        <p:nvSpPr>
          <p:cNvPr id="15" name="Rounded Rectangle 14"/>
          <p:cNvSpPr/>
          <p:nvPr/>
        </p:nvSpPr>
        <p:spPr>
          <a:xfrm>
            <a:off x="749808" y="4119372"/>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Drive quality and flow</a:t>
            </a:r>
          </a:p>
        </p:txBody>
      </p:sp>
      <p:sp>
        <p:nvSpPr>
          <p:cNvPr id="18" name="TextBox 17"/>
          <p:cNvSpPr txBox="1"/>
          <p:nvPr/>
        </p:nvSpPr>
        <p:spPr>
          <a:xfrm>
            <a:off x="1005840" y="4649724"/>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3 · visual management, root-cause and prioritisation tools</a:t>
            </a:r>
          </a:p>
        </p:txBody>
      </p:sp>
      <p:sp>
        <p:nvSpPr>
          <p:cNvPr id="19" name="Rounded Rectangle 18"/>
          <p:cNvSpPr/>
          <p:nvPr/>
        </p:nvSpPr>
        <p:spPr>
          <a:xfrm>
            <a:off x="749808" y="5287518"/>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5287518"/>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52110"/>
            <a:ext cx="1024128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Manage uncertainty</a:t>
            </a:r>
          </a:p>
        </p:txBody>
      </p:sp>
      <p:sp>
        <p:nvSpPr>
          <p:cNvPr id="22" name="TextBox 21"/>
          <p:cNvSpPr txBox="1"/>
          <p:nvPr/>
        </p:nvSpPr>
        <p:spPr>
          <a:xfrm>
            <a:off x="1005840" y="5817870"/>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4 · risk register, responses, contingency and decision analysis</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DAY 1 · FROM IDEA TO AN INTEGRATED, RISK-AWARE BASELINE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DAY 2 · FROM STAKEHOLDER ALIGNMENT TO CONTROLLED DELIVERY AND CLOSURE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Lesson Plan — Day 2</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Engage stakeholders</a:t>
            </a:r>
          </a:p>
        </p:txBody>
      </p:sp>
      <p:sp>
        <p:nvSpPr>
          <p:cNvPr id="10" name="TextBox 9"/>
          <p:cNvSpPr txBox="1"/>
          <p:nvPr/>
        </p:nvSpPr>
        <p:spPr>
          <a:xfrm>
            <a:off x="1005840" y="2313432"/>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5 · mapping, RACI, communication and engagement</a:t>
            </a:r>
          </a:p>
        </p:txBody>
      </p:sp>
      <p:sp>
        <p:nvSpPr>
          <p:cNvPr id="11" name="Rounded Rectangle 10"/>
          <p:cNvSpPr/>
          <p:nvPr/>
        </p:nvSpPr>
        <p:spPr>
          <a:xfrm>
            <a:off x="749808" y="2951226"/>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951226"/>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15818"/>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Deploy resources</a:t>
            </a:r>
          </a:p>
        </p:txBody>
      </p:sp>
      <p:sp>
        <p:nvSpPr>
          <p:cNvPr id="14" name="TextBox 13"/>
          <p:cNvSpPr txBox="1"/>
          <p:nvPr/>
        </p:nvSpPr>
        <p:spPr>
          <a:xfrm>
            <a:off x="1005840" y="3481578"/>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6 · capacity, optimisation, procurement and team performance</a:t>
            </a:r>
          </a:p>
        </p:txBody>
      </p:sp>
      <p:sp>
        <p:nvSpPr>
          <p:cNvPr id="15" name="Rounded Rectangle 14"/>
          <p:cNvSpPr/>
          <p:nvPr/>
        </p:nvSpPr>
        <p:spPr>
          <a:xfrm>
            <a:off x="749808" y="4119372"/>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Control and close</a:t>
            </a:r>
          </a:p>
        </p:txBody>
      </p:sp>
      <p:sp>
        <p:nvSpPr>
          <p:cNvPr id="18" name="TextBox 17"/>
          <p:cNvSpPr txBox="1"/>
          <p:nvPr/>
        </p:nvSpPr>
        <p:spPr>
          <a:xfrm>
            <a:off x="1005840" y="4649724"/>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Topic 7 · status, earned value, change, corrective action and handover</a:t>
            </a:r>
          </a:p>
        </p:txBody>
      </p:sp>
      <p:sp>
        <p:nvSpPr>
          <p:cNvPr id="19" name="Rounded Rectangle 18"/>
          <p:cNvSpPr/>
          <p:nvPr/>
        </p:nvSpPr>
        <p:spPr>
          <a:xfrm>
            <a:off x="749808" y="5287518"/>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5287518"/>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52110"/>
            <a:ext cx="1024128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Assessment</a:t>
            </a:r>
          </a:p>
        </p:txBody>
      </p:sp>
      <p:sp>
        <p:nvSpPr>
          <p:cNvPr id="22" name="TextBox 21"/>
          <p:cNvSpPr txBox="1"/>
          <p:nvPr/>
        </p:nvSpPr>
        <p:spPr>
          <a:xfrm>
            <a:off x="1005840" y="5817870"/>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Written Case Study and Oral Questioning, open book</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DAY 2 · FROM STAKEHOLDER ALIGNMENT TO CONTROLLED DELIVERY AND CLOSURE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SEVEN-TOPIC SYLLABUS FROM v17</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Course Outline — Topics 1 to 4</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150" b="1">
                <a:solidFill>
                  <a:srgbClr val="1655D1"/>
                </a:solidFill>
                <a:latin typeface="Arial"/>
              </a:rPr>
              <a:t>Topic 01 · Initiation of a Project</a:t>
            </a:r>
          </a:p>
        </p:txBody>
      </p:sp>
      <p:sp>
        <p:nvSpPr>
          <p:cNvPr id="10" name="TextBox 9"/>
          <p:cNvSpPr txBox="1"/>
          <p:nvPr/>
        </p:nvSpPr>
        <p:spPr>
          <a:xfrm>
            <a:off x="1005840" y="2313432"/>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Small-project fit · value · charter · scope · team · kickoff · A1, K1</a:t>
            </a:r>
          </a:p>
        </p:txBody>
      </p:sp>
      <p:sp>
        <p:nvSpPr>
          <p:cNvPr id="11" name="Rounded Rectangle 10"/>
          <p:cNvSpPr/>
          <p:nvPr/>
        </p:nvSpPr>
        <p:spPr>
          <a:xfrm>
            <a:off x="749808" y="2951226"/>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951226"/>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15818"/>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Topic 02 · Develop a Project Plan</a:t>
            </a:r>
          </a:p>
        </p:txBody>
      </p:sp>
      <p:sp>
        <p:nvSpPr>
          <p:cNvPr id="14" name="TextBox 13"/>
          <p:cNvSpPr txBox="1"/>
          <p:nvPr/>
        </p:nvSpPr>
        <p:spPr>
          <a:xfrm>
            <a:off x="1005840" y="3481578"/>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Requirements · scope baseline · WBS · network · schedule · budget · A2, K2</a:t>
            </a:r>
          </a:p>
        </p:txBody>
      </p:sp>
      <p:sp>
        <p:nvSpPr>
          <p:cNvPr id="15" name="Rounded Rectangle 14"/>
          <p:cNvSpPr/>
          <p:nvPr/>
        </p:nvSpPr>
        <p:spPr>
          <a:xfrm>
            <a:off x="749808" y="4119372"/>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10241280" cy="43891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Topic 03 · Apply Methods and Tools to Drive a Project</a:t>
            </a:r>
          </a:p>
        </p:txBody>
      </p:sp>
      <p:sp>
        <p:nvSpPr>
          <p:cNvPr id="18" name="TextBox 17"/>
          <p:cNvSpPr txBox="1"/>
          <p:nvPr/>
        </p:nvSpPr>
        <p:spPr>
          <a:xfrm>
            <a:off x="1005840" y="4649724"/>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Quality planning · flow · root cause · Pareto · improvement · A3, K3</a:t>
            </a:r>
          </a:p>
        </p:txBody>
      </p:sp>
      <p:sp>
        <p:nvSpPr>
          <p:cNvPr id="19" name="Rounded Rectangle 18"/>
          <p:cNvSpPr/>
          <p:nvPr/>
        </p:nvSpPr>
        <p:spPr>
          <a:xfrm>
            <a:off x="749808" y="5287518"/>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5287518"/>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52110"/>
            <a:ext cx="1024128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Topic 04 · Manage Project Risk</a:t>
            </a:r>
          </a:p>
        </p:txBody>
      </p:sp>
      <p:sp>
        <p:nvSpPr>
          <p:cNvPr id="22" name="TextBox 21"/>
          <p:cNvSpPr txBox="1"/>
          <p:nvPr/>
        </p:nvSpPr>
        <p:spPr>
          <a:xfrm>
            <a:off x="1005840" y="5817870"/>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Identify · assess · respond · contingency · monitor · A4, K4</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SEVEN-TOPIC SYLLABUS FROM v17</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SEVEN-TOPIC SYLLABUS FROM v17</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Course Outline — Topics 5 to 7</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150" b="1">
                <a:solidFill>
                  <a:srgbClr val="1655D1"/>
                </a:solidFill>
                <a:latin typeface="Arial"/>
              </a:rPr>
              <a:t>Topic 05 · Collaborate with Stakeholders</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Identify · analyse · communicate · engage · allocate accountability · A5, K5</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Topic 06 · Deploy Resources</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People · budget · equipment · procurement · team performance · A6</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Topic 07 · Track Project Deliverables and Correct Misalignments</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Performance · earned value · change · corrective action · handover · closure · A7</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SEVEN-TOPIC SYLLABUS FROM v17</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EDITABLE OFFICE TOOLS · ONE CONNECTED EVIDENCE PACK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Twelve Tool Packs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Activity 1</a:t>
            </a:r>
          </a:p>
        </p:txBody>
      </p:sp>
      <p:sp>
        <p:nvSpPr>
          <p:cNvPr id="10" name="TextBox 9"/>
          <p:cNvSpPr txBox="1"/>
          <p:nvPr/>
        </p:nvSpPr>
        <p:spPr>
          <a:xfrm>
            <a:off x="1005840" y="2313432"/>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Selection &amp; Cost-Benefit — Screen and select the project</a:t>
            </a:r>
          </a:p>
        </p:txBody>
      </p:sp>
      <p:sp>
        <p:nvSpPr>
          <p:cNvPr id="11" name="Rounded Rectangle 10"/>
          <p:cNvSpPr/>
          <p:nvPr/>
        </p:nvSpPr>
        <p:spPr>
          <a:xfrm>
            <a:off x="4392167" y="1783080"/>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Activity 2</a:t>
            </a:r>
          </a:p>
        </p:txBody>
      </p:sp>
      <p:sp>
        <p:nvSpPr>
          <p:cNvPr id="14" name="TextBox 13"/>
          <p:cNvSpPr txBox="1"/>
          <p:nvPr/>
        </p:nvSpPr>
        <p:spPr>
          <a:xfrm>
            <a:off x="4648200" y="2313432"/>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Business Case &amp; Charter — Authorise and kick off</a:t>
            </a:r>
          </a:p>
        </p:txBody>
      </p:sp>
      <p:sp>
        <p:nvSpPr>
          <p:cNvPr id="15" name="Rounded Rectangle 14"/>
          <p:cNvSpPr/>
          <p:nvPr/>
        </p:nvSpPr>
        <p:spPr>
          <a:xfrm>
            <a:off x="8034527" y="1783080"/>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Activity 3</a:t>
            </a:r>
          </a:p>
        </p:txBody>
      </p:sp>
      <p:sp>
        <p:nvSpPr>
          <p:cNvPr id="18" name="TextBox 17"/>
          <p:cNvSpPr txBox="1"/>
          <p:nvPr/>
        </p:nvSpPr>
        <p:spPr>
          <a:xfrm>
            <a:off x="8290559" y="2313432"/>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Requirements Workshop &amp; RTM — Discover and trace needs</a:t>
            </a:r>
          </a:p>
        </p:txBody>
      </p:sp>
      <p:sp>
        <p:nvSpPr>
          <p:cNvPr id="19" name="Rounded Rectangle 18"/>
          <p:cNvSpPr/>
          <p:nvPr/>
        </p:nvSpPr>
        <p:spPr>
          <a:xfrm>
            <a:off x="749808" y="2951226"/>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2951226"/>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3115818"/>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Activity 4</a:t>
            </a:r>
          </a:p>
        </p:txBody>
      </p:sp>
      <p:sp>
        <p:nvSpPr>
          <p:cNvPr id="22" name="TextBox 21"/>
          <p:cNvSpPr txBox="1"/>
          <p:nvPr/>
        </p:nvSpPr>
        <p:spPr>
          <a:xfrm>
            <a:off x="1005840" y="3481578"/>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WBS &amp; Dictionary — Build the scope baseline</a:t>
            </a:r>
          </a:p>
        </p:txBody>
      </p:sp>
      <p:sp>
        <p:nvSpPr>
          <p:cNvPr id="23" name="Rounded Rectangle 22"/>
          <p:cNvSpPr/>
          <p:nvPr/>
        </p:nvSpPr>
        <p:spPr>
          <a:xfrm>
            <a:off x="4392167" y="2951226"/>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2951226"/>
            <a:ext cx="91440" cy="939546"/>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3115818"/>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Activity 5</a:t>
            </a:r>
          </a:p>
        </p:txBody>
      </p:sp>
      <p:sp>
        <p:nvSpPr>
          <p:cNvPr id="26" name="TextBox 25"/>
          <p:cNvSpPr txBox="1"/>
          <p:nvPr/>
        </p:nvSpPr>
        <p:spPr>
          <a:xfrm>
            <a:off x="4648200" y="3481578"/>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Network, Gantt &amp; Budget — Integrate schedule and cost</a:t>
            </a:r>
          </a:p>
        </p:txBody>
      </p:sp>
      <p:sp>
        <p:nvSpPr>
          <p:cNvPr id="27" name="Rounded Rectangle 26"/>
          <p:cNvSpPr/>
          <p:nvPr/>
        </p:nvSpPr>
        <p:spPr>
          <a:xfrm>
            <a:off x="8034527" y="2951226"/>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2951226"/>
            <a:ext cx="91440" cy="939546"/>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3115818"/>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Activity 6</a:t>
            </a:r>
          </a:p>
        </p:txBody>
      </p:sp>
      <p:sp>
        <p:nvSpPr>
          <p:cNvPr id="30" name="TextBox 29"/>
          <p:cNvSpPr txBox="1"/>
          <p:nvPr/>
        </p:nvSpPr>
        <p:spPr>
          <a:xfrm>
            <a:off x="8290559" y="3481578"/>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Delivery &amp; Quality Plan — Tailor execution and quality</a:t>
            </a:r>
          </a:p>
        </p:txBody>
      </p:sp>
      <p:sp>
        <p:nvSpPr>
          <p:cNvPr id="31" name="Rounded Rectangle 30"/>
          <p:cNvSpPr/>
          <p:nvPr/>
        </p:nvSpPr>
        <p:spPr>
          <a:xfrm>
            <a:off x="749808" y="4119372"/>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9808" y="4119372"/>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Activity 7</a:t>
            </a:r>
          </a:p>
        </p:txBody>
      </p:sp>
      <p:sp>
        <p:nvSpPr>
          <p:cNvPr id="34" name="TextBox 33"/>
          <p:cNvSpPr txBox="1"/>
          <p:nvPr/>
        </p:nvSpPr>
        <p:spPr>
          <a:xfrm>
            <a:off x="1005840" y="4649724"/>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Risk Decision Tools — Fund risk responses</a:t>
            </a:r>
          </a:p>
        </p:txBody>
      </p:sp>
      <p:sp>
        <p:nvSpPr>
          <p:cNvPr id="35" name="Rounded Rectangle 34"/>
          <p:cNvSpPr/>
          <p:nvPr/>
        </p:nvSpPr>
        <p:spPr>
          <a:xfrm>
            <a:off x="4392167" y="4119372"/>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92167" y="4119372"/>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Activity 8</a:t>
            </a:r>
          </a:p>
        </p:txBody>
      </p:sp>
      <p:sp>
        <p:nvSpPr>
          <p:cNvPr id="38" name="TextBox 37"/>
          <p:cNvSpPr txBox="1"/>
          <p:nvPr/>
        </p:nvSpPr>
        <p:spPr>
          <a:xfrm>
            <a:off x="4648200" y="4649724"/>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Stakeholder, RACI &amp; SEAM — Align decisions and engagement</a:t>
            </a:r>
          </a:p>
        </p:txBody>
      </p:sp>
      <p:sp>
        <p:nvSpPr>
          <p:cNvPr id="39" name="Rounded Rectangle 38"/>
          <p:cNvSpPr/>
          <p:nvPr/>
        </p:nvSpPr>
        <p:spPr>
          <a:xfrm>
            <a:off x="8034527" y="4119372"/>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34527" y="4119372"/>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Activity 9</a:t>
            </a:r>
          </a:p>
        </p:txBody>
      </p:sp>
      <p:sp>
        <p:nvSpPr>
          <p:cNvPr id="42" name="TextBox 41"/>
          <p:cNvSpPr txBox="1"/>
          <p:nvPr/>
        </p:nvSpPr>
        <p:spPr>
          <a:xfrm>
            <a:off x="8290559" y="4649724"/>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Capacity &amp; Procurement — Deploy resources</a:t>
            </a:r>
          </a:p>
        </p:txBody>
      </p:sp>
      <p:sp>
        <p:nvSpPr>
          <p:cNvPr id="43" name="Rounded Rectangle 42"/>
          <p:cNvSpPr/>
          <p:nvPr/>
        </p:nvSpPr>
        <p:spPr>
          <a:xfrm>
            <a:off x="749808" y="5287518"/>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49808" y="5287518"/>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 y="5452110"/>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Activity 10</a:t>
            </a:r>
          </a:p>
        </p:txBody>
      </p:sp>
      <p:sp>
        <p:nvSpPr>
          <p:cNvPr id="46" name="TextBox 45"/>
          <p:cNvSpPr txBox="1"/>
          <p:nvPr/>
        </p:nvSpPr>
        <p:spPr>
          <a:xfrm>
            <a:off x="1005840" y="5817870"/>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Root-Cause Toolchain — Diagnose quality</a:t>
            </a:r>
          </a:p>
        </p:txBody>
      </p:sp>
      <p:sp>
        <p:nvSpPr>
          <p:cNvPr id="47" name="Rounded Rectangle 46"/>
          <p:cNvSpPr/>
          <p:nvPr/>
        </p:nvSpPr>
        <p:spPr>
          <a:xfrm>
            <a:off x="4392167" y="5287518"/>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392167" y="5287518"/>
            <a:ext cx="91440" cy="939546"/>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48200" y="5452110"/>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Activity 11</a:t>
            </a:r>
          </a:p>
        </p:txBody>
      </p:sp>
      <p:sp>
        <p:nvSpPr>
          <p:cNvPr id="50" name="TextBox 49"/>
          <p:cNvSpPr txBox="1"/>
          <p:nvPr/>
        </p:nvSpPr>
        <p:spPr>
          <a:xfrm>
            <a:off x="4648200" y="5817870"/>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Status, EVM, Issue &amp; Change — Control performance</a:t>
            </a:r>
          </a:p>
        </p:txBody>
      </p:sp>
      <p:sp>
        <p:nvSpPr>
          <p:cNvPr id="51" name="Rounded Rectangle 50"/>
          <p:cNvSpPr/>
          <p:nvPr/>
        </p:nvSpPr>
        <p:spPr>
          <a:xfrm>
            <a:off x="8034527" y="5287518"/>
            <a:ext cx="3413759"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34527" y="5287518"/>
            <a:ext cx="91440" cy="939546"/>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90559" y="5452110"/>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Activity 12</a:t>
            </a:r>
          </a:p>
        </p:txBody>
      </p:sp>
      <p:sp>
        <p:nvSpPr>
          <p:cNvPr id="54" name="TextBox 53"/>
          <p:cNvSpPr txBox="1"/>
          <p:nvPr/>
        </p:nvSpPr>
        <p:spPr>
          <a:xfrm>
            <a:off x="8290559" y="5817870"/>
            <a:ext cx="2956559"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Acceptance, Handover &amp; Benefits — Close and transfer</a:t>
            </a:r>
          </a:p>
        </p:txBody>
      </p:sp>
      <p:sp>
        <p:nvSpPr>
          <p:cNvPr id="55" name="TextBox 5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56" name="TextBox 5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EDITABLE OFFICE TOOLS · ONE CONNECTED EVIDENCE PACK</a:t>
            </a:r>
          </a:p>
        </p:txBody>
      </p:sp>
      <p:sp>
        <p:nvSpPr>
          <p:cNvPr id="57" name="TextBox 5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THE RUNNING CASE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One Small Project Runs Through All Twelve Activities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Scope</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three-outlet click-and-collect pilot for HarbourHub Retail.</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Time &amp; money</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Five months, a S$180,000 cap and a seven-person core team.</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Interfaces</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Two vendors plus outlet operations, finance, IT and customers.</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Success</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Launch on date; 120 orders/week; 98% accuracy; 4.2/5 satisfaction; within cap.</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THE RUNNING CASE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ASSESSMENT · BRIEFING</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Briefing for Assessment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Individual work</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No discussion once assessment begins.</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Open book</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Slides, Learner Guide and approved materials only.</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Protect the paper</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No photographs, recording or unauthorised materials.</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Answer with evidence</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State the method, decision, rationale and expected result.</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ASSESSMENT · BRIEFING</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ASSESSMENT · WHAT TO EXPECT</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Final Assessment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939546"/>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Written Case Study</a:t>
            </a:r>
          </a:p>
        </p:txBody>
      </p:sp>
      <p:sp>
        <p:nvSpPr>
          <p:cNvPr id="10" name="TextBox 9"/>
          <p:cNvSpPr txBox="1"/>
          <p:nvPr/>
        </p:nvSpPr>
        <p:spPr>
          <a:xfrm>
            <a:off x="1005840" y="2313432"/>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Written Assessment (Case Study) — apply project management judgement to a small-project scenario.</a:t>
            </a:r>
          </a:p>
        </p:txBody>
      </p:sp>
      <p:sp>
        <p:nvSpPr>
          <p:cNvPr id="11" name="Rounded Rectangle 10"/>
          <p:cNvSpPr/>
          <p:nvPr/>
        </p:nvSpPr>
        <p:spPr>
          <a:xfrm>
            <a:off x="749808" y="2951226"/>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951226"/>
            <a:ext cx="91440" cy="93954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15818"/>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Oral Questioning</a:t>
            </a:r>
          </a:p>
        </p:txBody>
      </p:sp>
      <p:sp>
        <p:nvSpPr>
          <p:cNvPr id="14" name="TextBox 13"/>
          <p:cNvSpPr txBox="1"/>
          <p:nvPr/>
        </p:nvSpPr>
        <p:spPr>
          <a:xfrm>
            <a:off x="1005840" y="3481578"/>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Oral Questioning — explain and justify decisions against the course methods and evidence.</a:t>
            </a:r>
          </a:p>
        </p:txBody>
      </p:sp>
      <p:sp>
        <p:nvSpPr>
          <p:cNvPr id="15" name="Rounded Rectangle 14"/>
          <p:cNvSpPr/>
          <p:nvPr/>
        </p:nvSpPr>
        <p:spPr>
          <a:xfrm>
            <a:off x="749808" y="4119372"/>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939546"/>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Conditions</a:t>
            </a:r>
          </a:p>
        </p:txBody>
      </p:sp>
      <p:sp>
        <p:nvSpPr>
          <p:cNvPr id="18" name="TextBox 17"/>
          <p:cNvSpPr txBox="1"/>
          <p:nvPr/>
        </p:nvSpPr>
        <p:spPr>
          <a:xfrm>
            <a:off x="1005840" y="4649724"/>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Open book: course slides, Learner Guide and approved course materials only.</a:t>
            </a:r>
          </a:p>
        </p:txBody>
      </p:sp>
      <p:sp>
        <p:nvSpPr>
          <p:cNvPr id="19" name="Rounded Rectangle 18"/>
          <p:cNvSpPr/>
          <p:nvPr/>
        </p:nvSpPr>
        <p:spPr>
          <a:xfrm>
            <a:off x="749808" y="5287518"/>
            <a:ext cx="10698480" cy="939546"/>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5287518"/>
            <a:ext cx="91440" cy="9395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52110"/>
            <a:ext cx="1024128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Competency</a:t>
            </a:r>
          </a:p>
        </p:txBody>
      </p:sp>
      <p:sp>
        <p:nvSpPr>
          <p:cNvPr id="22" name="TextBox 21"/>
          <p:cNvSpPr txBox="1"/>
          <p:nvPr/>
        </p:nvSpPr>
        <p:spPr>
          <a:xfrm>
            <a:off x="1005840" y="5817870"/>
            <a:ext cx="10241280" cy="253746"/>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minimum of 75% attendance and a Competent result are required for funding eligibility.</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ASSESSMENT · WHAT TO EXPECT</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END-TO-END LIFECYCLE · v17 + PMP + AGILE REFERENCES</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Complete Project Lifecycle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Initiation</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select, justify and authorise</a:t>
            </a:r>
          </a:p>
        </p:txBody>
      </p:sp>
      <p:cxnSp>
        <p:nvCxnSpPr>
          <p:cNvPr id="12" name="Connector 11"/>
          <p:cNvCxnSpPr/>
          <p:nvPr/>
        </p:nvCxnSpPr>
        <p:spPr>
          <a:xfrm>
            <a:off x="2757830"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Planning</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integrate scope, schedule, cost and risk</a:t>
            </a:r>
          </a:p>
        </p:txBody>
      </p:sp>
      <p:cxnSp>
        <p:nvCxnSpPr>
          <p:cNvPr id="18" name="Connector 17"/>
          <p:cNvCxnSpPr/>
          <p:nvPr/>
        </p:nvCxnSpPr>
        <p:spPr>
          <a:xfrm>
            <a:off x="4930444"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Execution</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coordinate people, suppliers, quality and work</a:t>
            </a:r>
          </a:p>
        </p:txBody>
      </p:sp>
      <p:cxnSp>
        <p:nvCxnSpPr>
          <p:cNvPr id="24" name="Connector 23"/>
          <p:cNvCxnSpPr/>
          <p:nvPr/>
        </p:nvCxnSpPr>
        <p:spPr>
          <a:xfrm>
            <a:off x="7103059"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Monitor &amp; Control</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compare, forecast, decide and correct</a:t>
            </a:r>
          </a:p>
        </p:txBody>
      </p:sp>
      <p:cxnSp>
        <p:nvCxnSpPr>
          <p:cNvPr id="30" name="Connector 29"/>
          <p:cNvCxnSpPr/>
          <p:nvPr/>
        </p:nvCxnSpPr>
        <p:spPr>
          <a:xfrm>
            <a:off x="9275673"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Closure</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accept, transition, learn and transfer benefits</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The phases overlap in practice; control and engagement operate from authorisation to closure.</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END-TO-END LIFECYCLE · v17 + PMP + AGILE REFERENCES</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END-TO-END LIFECYCLE · v17 + PMP + AGILE REFERENCES</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Lifecycle Phases and WSQ Topics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Phase</a:t>
            </a:r>
          </a:p>
        </p:txBody>
      </p:sp>
      <p:sp>
        <p:nvSpPr>
          <p:cNvPr id="9" name="Rectangle 8"/>
          <p:cNvSpPr/>
          <p:nvPr/>
        </p:nvSpPr>
        <p:spPr>
          <a:xfrm>
            <a:off x="431596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Primary course topics</a:t>
            </a:r>
          </a:p>
        </p:txBody>
      </p:sp>
      <p:sp>
        <p:nvSpPr>
          <p:cNvPr id="11" name="Rectangle 10"/>
          <p:cNvSpPr/>
          <p:nvPr/>
        </p:nvSpPr>
        <p:spPr>
          <a:xfrm>
            <a:off x="7882127"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Evidence produced</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Initiation</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Topic 1</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Selection, business case, charter, kickoff</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Planning</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Topics 2 and 4</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Requirements, baselines, risk responses</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Execution</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Topics 3, 5 and 6</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Work, quality, engagement, resources</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Monitoring &amp; Controlling</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Topics 3, 4, 5 and 7</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Status, forecasts, issues, change, action</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Closure</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Topic 7</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Acceptance, handover, lessons, benefits ownership</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seven-topic syllabus is preserved while the lifecycle makes the end-to-end operating system visible.</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END-TO-END LIFECYCLE · v17 + PMP + AGILE REFERENCES</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END-TO-END LIFECYCLE · v17 + PMP + AGILE REFERENCES</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What Runs Across Every Phase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Integration</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Keep decisions and artefacts consistent.</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Stakeholders</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Engage before decisions become resistance.</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Risk</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Refresh uncertainty as facts change.</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Quality</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Define, assure and control fitness for use.</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Resources</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Match skills and capacity to priority work.</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Governance</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Escalate outside agreed tolerances.</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END-TO-END LIFECYCLE · v17 + PMP + AGILE REFERENCES</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END-TO-END LIFECYCLE · v17 + PMP + AGILE REFERENCES</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Five Phase Gates for a Small Project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Select</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Is this the right investment?</a:t>
            </a:r>
          </a:p>
        </p:txBody>
      </p:sp>
      <p:cxnSp>
        <p:nvCxnSpPr>
          <p:cNvPr id="12" name="Connector 11"/>
          <p:cNvCxnSpPr/>
          <p:nvPr/>
        </p:nvCxnSpPr>
        <p:spPr>
          <a:xfrm>
            <a:off x="2757830"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Authorise</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Are boundaries and authority clear?</a:t>
            </a:r>
          </a:p>
        </p:txBody>
      </p:sp>
      <p:cxnSp>
        <p:nvCxnSpPr>
          <p:cNvPr id="18" name="Connector 17"/>
          <p:cNvCxnSpPr/>
          <p:nvPr/>
        </p:nvCxnSpPr>
        <p:spPr>
          <a:xfrm>
            <a:off x="4930444"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Baseline</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Is the plan realistic and funded?</a:t>
            </a:r>
          </a:p>
        </p:txBody>
      </p:sp>
      <p:cxnSp>
        <p:nvCxnSpPr>
          <p:cNvPr id="24" name="Connector 23"/>
          <p:cNvCxnSpPr/>
          <p:nvPr/>
        </p:nvCxnSpPr>
        <p:spPr>
          <a:xfrm>
            <a:off x="7103059"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Release</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Is the output accepted and operationally ready?</a:t>
            </a:r>
          </a:p>
        </p:txBody>
      </p:sp>
      <p:cxnSp>
        <p:nvCxnSpPr>
          <p:cNvPr id="30" name="Connector 29"/>
          <p:cNvCxnSpPr/>
          <p:nvPr/>
        </p:nvCxnSpPr>
        <p:spPr>
          <a:xfrm>
            <a:off x="9275673"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Close</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Are obligations complete and benefits owned?</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A gate is a decision with evidence and conditions—not a ceremonial meeting.</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END-TO-END LIFECYCLE · v17 + PMP + AGILE REFERENCES</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END-TO-END LIFECYCLE · v17 + PMP + AGILE REFERENCES</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Tailoring Control to a Small Project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Need</a:t>
            </a:r>
          </a:p>
        </p:txBody>
      </p:sp>
      <p:sp>
        <p:nvSpPr>
          <p:cNvPr id="9" name="Rectangle 8"/>
          <p:cNvSpPr/>
          <p:nvPr/>
        </p:nvSpPr>
        <p:spPr>
          <a:xfrm>
            <a:off x="431596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Lean control</a:t>
            </a:r>
          </a:p>
        </p:txBody>
      </p:sp>
      <p:sp>
        <p:nvSpPr>
          <p:cNvPr id="11" name="Rectangle 10"/>
          <p:cNvSpPr/>
          <p:nvPr/>
        </p:nvSpPr>
        <p:spPr>
          <a:xfrm>
            <a:off x="7882127"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Escalate when</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Scope</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One charter, WBS and RTM</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Success criteria or exclusions move</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Schedule</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Milestones plus critical path</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Tolerance or launch date is threatened</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Cost</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Time-phased budget</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Forecast exceeds authority</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Risk</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Prioritised register</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Trigger, exposure or reserve changes materially</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Change</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One log and named approver</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Trade-off crosses a tolerance</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Tailoring removes low-value ceremony while preserving decision integrity.</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END-TO-END LIFECYCLE · v17 + PMP + AGILE REFERENCES</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END-TO-END LIFECYCLE · v17 + PMP + AGILE REFERENCES</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Connected Evidence Chain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Why</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selection and business case</a:t>
            </a:r>
          </a:p>
        </p:txBody>
      </p:sp>
      <p:cxnSp>
        <p:nvCxnSpPr>
          <p:cNvPr id="12" name="Connector 11"/>
          <p:cNvCxnSpPr/>
          <p:nvPr/>
        </p:nvCxnSpPr>
        <p:spPr>
          <a:xfrm>
            <a:off x="2757830"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What</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charter, requirements and scope</a:t>
            </a:r>
          </a:p>
        </p:txBody>
      </p:sp>
      <p:cxnSp>
        <p:nvCxnSpPr>
          <p:cNvPr id="18" name="Connector 17"/>
          <p:cNvCxnSpPr/>
          <p:nvPr/>
        </p:nvCxnSpPr>
        <p:spPr>
          <a:xfrm>
            <a:off x="4930444"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How</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schedule, budget, quality and risk</a:t>
            </a:r>
          </a:p>
        </p:txBody>
      </p:sp>
      <p:cxnSp>
        <p:nvCxnSpPr>
          <p:cNvPr id="24" name="Connector 23"/>
          <p:cNvCxnSpPr/>
          <p:nvPr/>
        </p:nvCxnSpPr>
        <p:spPr>
          <a:xfrm>
            <a:off x="7103059"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Now</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status, issues, forecasts and change</a:t>
            </a:r>
          </a:p>
        </p:txBody>
      </p:sp>
      <p:cxnSp>
        <p:nvCxnSpPr>
          <p:cNvPr id="30" name="Connector 29"/>
          <p:cNvCxnSpPr/>
          <p:nvPr/>
        </p:nvCxnSpPr>
        <p:spPr>
          <a:xfrm>
            <a:off x="9275673"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Done</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acceptance, handover and benefits</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Each artefact must feed the next decision; isolated templates are administration, not management.</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END-TO-END LIFECYCLE · v17 + PMP + AGILE REFERENCES</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END-TO-END LIFECYCLE · v17 + PMP + AGILE REFERENCES</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Twelve Activities, One Project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Initiate</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Activities 1–2</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Plan</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Activities 3–5 and 7</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Execute</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Activities 6, 8 and 9</a:t>
            </a:r>
          </a:p>
        </p:txBody>
      </p:sp>
      <p:sp>
        <p:nvSpPr>
          <p:cNvPr id="19" name="Rounded Rectangle 18"/>
          <p:cNvSpPr/>
          <p:nvPr/>
        </p:nvSpPr>
        <p:spPr>
          <a:xfrm>
            <a:off x="257098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7098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2702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Control</a:t>
            </a:r>
          </a:p>
        </p:txBody>
      </p:sp>
      <p:sp>
        <p:nvSpPr>
          <p:cNvPr id="22" name="TextBox 21"/>
          <p:cNvSpPr txBox="1"/>
          <p:nvPr/>
        </p:nvSpPr>
        <p:spPr>
          <a:xfrm>
            <a:off x="282702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Activities 10–11</a:t>
            </a:r>
          </a:p>
        </p:txBody>
      </p:sp>
      <p:sp>
        <p:nvSpPr>
          <p:cNvPr id="23" name="Rounded Rectangle 22"/>
          <p:cNvSpPr/>
          <p:nvPr/>
        </p:nvSpPr>
        <p:spPr>
          <a:xfrm>
            <a:off x="621334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Close</a:t>
            </a:r>
          </a:p>
        </p:txBody>
      </p:sp>
      <p:sp>
        <p:nvSpPr>
          <p:cNvPr id="26" name="TextBox 25"/>
          <p:cNvSpPr txBox="1"/>
          <p:nvPr/>
        </p:nvSpPr>
        <p:spPr>
          <a:xfrm>
            <a:off x="646938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Activity 12</a:t>
            </a:r>
          </a:p>
        </p:txBody>
      </p:sp>
      <p:sp>
        <p:nvSpPr>
          <p:cNvPr id="27" name="TextBox 26"/>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8" name="TextBox 27"/>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END-TO-END LIFECYCLE · v17 + PMP + AGILE REFERENCES</a:t>
            </a:r>
          </a:p>
        </p:txBody>
      </p:sp>
      <p:sp>
        <p:nvSpPr>
          <p:cNvPr id="29" name="TextBox 28"/>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01 · A1, K1 · LO1</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Initiation of a Project</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Small-project fit · value · charter · scope · team · kickoff</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01</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A1, K1 · LO1</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Small does not mean informal.</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The smaller the project, the less waste it can absorb. A short charter, sharp boundaries and visible decision rights are the control system—not bureaucracy.</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Initiation of a Project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project is temporary, unique and value-seeking; operations are ongoing and repetitive.</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small project is normally under six months, has a limited budget and team, few dependencies and no significant strategic impact.</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project manager integrates people, decisions and trade-offs; they do not merely maintain a schedule.</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Success balances value and outcomes with scope, schedule, cost, quality, resources and risk.</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Initiation of a Project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Predictive, adaptive and hybrid approaches are choices driven by uncertainty, not labels of maturity.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business case tests whether the project should exist; the charter authorises it to exist.</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useful charter names purpose, measurable success, scope boundaries, milestones, budget, major risks, team and sponsor authority.</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kickoff creates one shared picture of why, what, who, how and what happens next.</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From Need to Authorised Work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551176"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2295144"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Need</a:t>
            </a:r>
          </a:p>
        </p:txBody>
      </p:sp>
      <p:sp>
        <p:nvSpPr>
          <p:cNvPr id="11" name="TextBox 10"/>
          <p:cNvSpPr txBox="1"/>
          <p:nvPr/>
        </p:nvSpPr>
        <p:spPr>
          <a:xfrm>
            <a:off x="896112"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evidence and user consequence</a:t>
            </a:r>
          </a:p>
        </p:txBody>
      </p:sp>
      <p:cxnSp>
        <p:nvCxnSpPr>
          <p:cNvPr id="12" name="Connector 11"/>
          <p:cNvCxnSpPr/>
          <p:nvPr/>
        </p:nvCxnSpPr>
        <p:spPr>
          <a:xfrm>
            <a:off x="3300984"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65576"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65576" y="1965960"/>
            <a:ext cx="2551176"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2240279"/>
            <a:ext cx="2295144"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593592"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Business case</a:t>
            </a:r>
          </a:p>
        </p:txBody>
      </p:sp>
      <p:sp>
        <p:nvSpPr>
          <p:cNvPr id="17" name="TextBox 16"/>
          <p:cNvSpPr txBox="1"/>
          <p:nvPr/>
        </p:nvSpPr>
        <p:spPr>
          <a:xfrm>
            <a:off x="3611880"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options, value and viability</a:t>
            </a:r>
          </a:p>
        </p:txBody>
      </p:sp>
      <p:cxnSp>
        <p:nvCxnSpPr>
          <p:cNvPr id="18" name="Connector 17"/>
          <p:cNvCxnSpPr/>
          <p:nvPr/>
        </p:nvCxnSpPr>
        <p:spPr>
          <a:xfrm>
            <a:off x="6016752"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81344"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1965960"/>
            <a:ext cx="2551176"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240279"/>
            <a:ext cx="2295144"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6309360"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Charter</a:t>
            </a:r>
          </a:p>
        </p:txBody>
      </p:sp>
      <p:sp>
        <p:nvSpPr>
          <p:cNvPr id="23" name="TextBox 22"/>
          <p:cNvSpPr txBox="1"/>
          <p:nvPr/>
        </p:nvSpPr>
        <p:spPr>
          <a:xfrm>
            <a:off x="6327648"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authority, boundaries and success</a:t>
            </a:r>
          </a:p>
        </p:txBody>
      </p:sp>
      <p:cxnSp>
        <p:nvCxnSpPr>
          <p:cNvPr id="24" name="Connector 23"/>
          <p:cNvCxnSpPr/>
          <p:nvPr/>
        </p:nvCxnSpPr>
        <p:spPr>
          <a:xfrm>
            <a:off x="8732520"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897112"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97112" y="1965960"/>
            <a:ext cx="2551176"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25128" y="2240279"/>
            <a:ext cx="2295144"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9025128"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Kickoff</a:t>
            </a:r>
          </a:p>
        </p:txBody>
      </p:sp>
      <p:sp>
        <p:nvSpPr>
          <p:cNvPr id="29" name="TextBox 28"/>
          <p:cNvSpPr txBox="1"/>
          <p:nvPr/>
        </p:nvSpPr>
        <p:spPr>
          <a:xfrm>
            <a:off x="9043416"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shared picture and first decisions</a:t>
            </a:r>
          </a:p>
        </p:txBody>
      </p:sp>
      <p:sp>
        <p:nvSpPr>
          <p:cNvPr id="30" name="Rounded Rectangle 29"/>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Do not plan an unauthorised idea as though it were already a project.</a:t>
            </a:r>
          </a:p>
        </p:txBody>
      </p:sp>
      <p:sp>
        <p:nvSpPr>
          <p:cNvPr id="32" name="TextBox 31"/>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3" name="TextBox 32"/>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APPLIED FRAMEWORK</a:t>
            </a:r>
          </a:p>
        </p:txBody>
      </p:sp>
      <p:sp>
        <p:nvSpPr>
          <p:cNvPr id="34" name="TextBox 33"/>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Business Case vs Project Charter</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Dimension</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Business Case</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Project Charter</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Core question</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Should we invest?</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Are we authorised to proceed?</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Focus</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Options, benefits, costs, risk</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Purpose, scope, team, milestones</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Owner</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Sponsor / business owner</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Sponsor with project manager</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Decision</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Select or reject option</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Authorize and delegate</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Both are living decision records; neither is a ceremonial form.</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DECISION TOOL</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Choosing a Development Approach</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Signal</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Predictive</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Adaptive / Hybrid</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Requirements</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Stable and testable upfront</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Evolving or discovery-heavy</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Feedback</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Available late or at gates</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Available in short cycles</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Change cost</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High after commitment</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Reduced through increments</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Governance</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Baseline and stage gates</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Timeboxes plus control points</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Approach follows uncertainty and reversibility—not fashion.</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DECISION TOOL</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Project Work versus Operations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Dimension</a:t>
            </a:r>
          </a:p>
        </p:txBody>
      </p:sp>
      <p:sp>
        <p:nvSpPr>
          <p:cNvPr id="9" name="Rectangle 8"/>
          <p:cNvSpPr/>
          <p:nvPr/>
        </p:nvSpPr>
        <p:spPr>
          <a:xfrm>
            <a:off x="431596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Project</a:t>
            </a:r>
          </a:p>
        </p:txBody>
      </p:sp>
      <p:sp>
        <p:nvSpPr>
          <p:cNvPr id="11" name="Rectangle 10"/>
          <p:cNvSpPr/>
          <p:nvPr/>
        </p:nvSpPr>
        <p:spPr>
          <a:xfrm>
            <a:off x="7882127"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Operations</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Purpose</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Create a unique result</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Sustain recurring value</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Duration</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Temporary</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Ongoing</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Change</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Introduces change</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Stabilises and improves work</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Closure</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Formal endpoint</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Continues until redesigned</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same people may do both; the management system changes with the nature of the work.</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Small-Project Qualification Test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Time</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Normally less than six months.</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Budget</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Limited enough for proportionate governance.</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Team</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Small core team with clear interfaces.</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Dependencies</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Few and manageable.</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Impact</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No significant strategic or enterprise-wide effect.</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Uncertainty</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Can be bounded through short learning cycles.</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From Output to Benefits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551176"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2295144"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Output</a:t>
            </a:r>
          </a:p>
        </p:txBody>
      </p:sp>
      <p:sp>
        <p:nvSpPr>
          <p:cNvPr id="11" name="TextBox 10"/>
          <p:cNvSpPr txBox="1"/>
          <p:nvPr/>
        </p:nvSpPr>
        <p:spPr>
          <a:xfrm>
            <a:off x="896112"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click-and-collect capability</a:t>
            </a:r>
          </a:p>
        </p:txBody>
      </p:sp>
      <p:cxnSp>
        <p:nvCxnSpPr>
          <p:cNvPr id="12" name="Connector 11"/>
          <p:cNvCxnSpPr/>
          <p:nvPr/>
        </p:nvCxnSpPr>
        <p:spPr>
          <a:xfrm>
            <a:off x="3300984"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65576"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65576" y="1965960"/>
            <a:ext cx="2551176"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2240279"/>
            <a:ext cx="2295144"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593592"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Outcome</a:t>
            </a:r>
          </a:p>
        </p:txBody>
      </p:sp>
      <p:sp>
        <p:nvSpPr>
          <p:cNvPr id="17" name="TextBox 16"/>
          <p:cNvSpPr txBox="1"/>
          <p:nvPr/>
        </p:nvSpPr>
        <p:spPr>
          <a:xfrm>
            <a:off x="3611880"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orders collected predictably</a:t>
            </a:r>
          </a:p>
        </p:txBody>
      </p:sp>
      <p:cxnSp>
        <p:nvCxnSpPr>
          <p:cNvPr id="18" name="Connector 17"/>
          <p:cNvCxnSpPr/>
          <p:nvPr/>
        </p:nvCxnSpPr>
        <p:spPr>
          <a:xfrm>
            <a:off x="6016752"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81344"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1965960"/>
            <a:ext cx="2551176"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240279"/>
            <a:ext cx="2295144"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6309360"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Benefit</a:t>
            </a:r>
          </a:p>
        </p:txBody>
      </p:sp>
      <p:sp>
        <p:nvSpPr>
          <p:cNvPr id="23" name="TextBox 22"/>
          <p:cNvSpPr txBox="1"/>
          <p:nvPr/>
        </p:nvSpPr>
        <p:spPr>
          <a:xfrm>
            <a:off x="6327648"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revenue, satisfaction and efficiency</a:t>
            </a:r>
          </a:p>
        </p:txBody>
      </p:sp>
      <p:cxnSp>
        <p:nvCxnSpPr>
          <p:cNvPr id="24" name="Connector 23"/>
          <p:cNvCxnSpPr/>
          <p:nvPr/>
        </p:nvCxnSpPr>
        <p:spPr>
          <a:xfrm>
            <a:off x="8732520"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897112"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97112" y="1965960"/>
            <a:ext cx="2551176"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25128" y="2240279"/>
            <a:ext cx="2295144"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9025128"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Measure</a:t>
            </a:r>
          </a:p>
        </p:txBody>
      </p:sp>
      <p:sp>
        <p:nvSpPr>
          <p:cNvPr id="29" name="TextBox 28"/>
          <p:cNvSpPr txBox="1"/>
          <p:nvPr/>
        </p:nvSpPr>
        <p:spPr>
          <a:xfrm>
            <a:off x="9043416"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 baseline, target and date</a:t>
            </a:r>
          </a:p>
        </p:txBody>
      </p:sp>
      <p:sp>
        <p:nvSpPr>
          <p:cNvPr id="30" name="Rounded Rectangle 29"/>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Deliverables are produced by the project; benefits are usually realised with operations.</a:t>
            </a:r>
          </a:p>
        </p:txBody>
      </p:sp>
      <p:sp>
        <p:nvSpPr>
          <p:cNvPr id="32" name="TextBox 31"/>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3" name="TextBox 32"/>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REFERENCE-SOURCED DEEP DIVE</a:t>
            </a:r>
          </a:p>
        </p:txBody>
      </p:sp>
      <p:sp>
        <p:nvSpPr>
          <p:cNvPr id="34" name="TextBox 33"/>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Project Selection Methods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Method</a:t>
            </a:r>
          </a:p>
        </p:txBody>
      </p:sp>
      <p:sp>
        <p:nvSpPr>
          <p:cNvPr id="9" name="Rectangle 8"/>
          <p:cNvSpPr/>
          <p:nvPr/>
        </p:nvSpPr>
        <p:spPr>
          <a:xfrm>
            <a:off x="431596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Best for</a:t>
            </a:r>
          </a:p>
        </p:txBody>
      </p:sp>
      <p:sp>
        <p:nvSpPr>
          <p:cNvPr id="11" name="Rectangle 10"/>
          <p:cNvSpPr/>
          <p:nvPr/>
        </p:nvSpPr>
        <p:spPr>
          <a:xfrm>
            <a:off x="7882127"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Watch for</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Cost-benefit</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Financial viability</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Unsupported benefit assumptions</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Weighted scoring</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Multiple criteria</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Biased weights</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Payback</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Liquidity and speed</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Ignores later value</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Mandatory driver</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Compliance or safety</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Treating obligation as optional</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Use more than one lens when a small financial difference hides a major operational consequence.</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Sponsor and Project Manager—Different Accountability</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Sponsor</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Owns investment, priority and escalation.</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Project manager</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Integrates delivery and advises decisions.</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Business owner</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Owns adoption and benefits after handover.</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Functional manager</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Provides capability and resolves resource conflicts.</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REFERENCE-SOURCED DEEP DIVE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Business Documents at Initiation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Artefact</a:t>
            </a:r>
          </a:p>
        </p:txBody>
      </p:sp>
      <p:sp>
        <p:nvSpPr>
          <p:cNvPr id="9" name="Rectangle 8"/>
          <p:cNvSpPr/>
          <p:nvPr/>
        </p:nvSpPr>
        <p:spPr>
          <a:xfrm>
            <a:off x="431596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Decision supported</a:t>
            </a:r>
          </a:p>
        </p:txBody>
      </p:sp>
      <p:sp>
        <p:nvSpPr>
          <p:cNvPr id="11" name="Rectangle 10"/>
          <p:cNvSpPr/>
          <p:nvPr/>
        </p:nvSpPr>
        <p:spPr>
          <a:xfrm>
            <a:off x="7882127"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Owner</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Business case</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Invest, hold or reject</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Sponsor / business owner</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Benefits plan</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How value will be measured</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Benefits owner</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Project charter</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Authorise and delegate</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Sponsor with PM</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Assumptions log</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What must be validated</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Project manager</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Keep documents brief, but never combine ownership so completely that accountability disappears.</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 Charter That Can Govern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Purpose</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problem and desired outcome.</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Success</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Measures, targets and dates.</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Boundaries</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Deliverables and exclusions.</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Authority</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Sponsor, PM and tolerances.</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Frame</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Milestones, budget and constraints.</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Exposure</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Assumptions, dependencies and high risks.</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Assumption, Constraint, Dependency or Risk?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Type</a:t>
            </a:r>
          </a:p>
        </p:txBody>
      </p:sp>
      <p:sp>
        <p:nvSpPr>
          <p:cNvPr id="9" name="Rectangle 8"/>
          <p:cNvSpPr/>
          <p:nvPr/>
        </p:nvSpPr>
        <p:spPr>
          <a:xfrm>
            <a:off x="431596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Meaning</a:t>
            </a:r>
          </a:p>
        </p:txBody>
      </p:sp>
      <p:sp>
        <p:nvSpPr>
          <p:cNvPr id="11" name="Rectangle 10"/>
          <p:cNvSpPr/>
          <p:nvPr/>
        </p:nvSpPr>
        <p:spPr>
          <a:xfrm>
            <a:off x="7882127"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Example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Assumption</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Believed true for planning</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Outlet Wi-Fi capacity is sufficient</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Constraint</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Fixed limitation</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S$180,000 ceiling</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Dependency</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Reliance on other work</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POS API access before integration</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Risk</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Uncertain event and impact</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API access may be late</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Classify correctly because each item needs a different response.</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Lightweight Governance with Tolerances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551176"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2295144"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Set</a:t>
            </a:r>
          </a:p>
        </p:txBody>
      </p:sp>
      <p:sp>
        <p:nvSpPr>
          <p:cNvPr id="11" name="TextBox 10"/>
          <p:cNvSpPr txBox="1"/>
          <p:nvPr/>
        </p:nvSpPr>
        <p:spPr>
          <a:xfrm>
            <a:off x="896112"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scope, time, cost and risk limits</a:t>
            </a:r>
          </a:p>
        </p:txBody>
      </p:sp>
      <p:cxnSp>
        <p:nvCxnSpPr>
          <p:cNvPr id="12" name="Connector 11"/>
          <p:cNvCxnSpPr/>
          <p:nvPr/>
        </p:nvCxnSpPr>
        <p:spPr>
          <a:xfrm>
            <a:off x="3300984"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65576"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65576" y="1965960"/>
            <a:ext cx="2551176"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2240279"/>
            <a:ext cx="2295144"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593592"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Measure</a:t>
            </a:r>
          </a:p>
        </p:txBody>
      </p:sp>
      <p:sp>
        <p:nvSpPr>
          <p:cNvPr id="17" name="TextBox 16"/>
          <p:cNvSpPr txBox="1"/>
          <p:nvPr/>
        </p:nvSpPr>
        <p:spPr>
          <a:xfrm>
            <a:off x="3611880"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compare current forecast</a:t>
            </a:r>
          </a:p>
        </p:txBody>
      </p:sp>
      <p:cxnSp>
        <p:nvCxnSpPr>
          <p:cNvPr id="18" name="Connector 17"/>
          <p:cNvCxnSpPr/>
          <p:nvPr/>
        </p:nvCxnSpPr>
        <p:spPr>
          <a:xfrm>
            <a:off x="6016752"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81344"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1965960"/>
            <a:ext cx="2551176"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240279"/>
            <a:ext cx="2295144"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6309360"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Act</a:t>
            </a:r>
          </a:p>
        </p:txBody>
      </p:sp>
      <p:sp>
        <p:nvSpPr>
          <p:cNvPr id="23" name="TextBox 22"/>
          <p:cNvSpPr txBox="1"/>
          <p:nvPr/>
        </p:nvSpPr>
        <p:spPr>
          <a:xfrm>
            <a:off x="6327648"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PM decides within authority</a:t>
            </a:r>
          </a:p>
        </p:txBody>
      </p:sp>
      <p:cxnSp>
        <p:nvCxnSpPr>
          <p:cNvPr id="24" name="Connector 23"/>
          <p:cNvCxnSpPr/>
          <p:nvPr/>
        </p:nvCxnSpPr>
        <p:spPr>
          <a:xfrm>
            <a:off x="8732520"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897112"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97112" y="1965960"/>
            <a:ext cx="2551176"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25128" y="2240279"/>
            <a:ext cx="2295144"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9025128"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Escalate</a:t>
            </a:r>
          </a:p>
        </p:txBody>
      </p:sp>
      <p:sp>
        <p:nvSpPr>
          <p:cNvPr id="29" name="TextBox 28"/>
          <p:cNvSpPr txBox="1"/>
          <p:nvPr/>
        </p:nvSpPr>
        <p:spPr>
          <a:xfrm>
            <a:off x="9043416"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sponsor decides beyond tolerance</a:t>
            </a:r>
          </a:p>
        </p:txBody>
      </p:sp>
      <p:sp>
        <p:nvSpPr>
          <p:cNvPr id="30" name="Rounded Rectangle 29"/>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Authority without tolerances creates hesitation; tolerances without reporting create surprise.</a:t>
            </a:r>
          </a:p>
        </p:txBody>
      </p:sp>
      <p:sp>
        <p:nvSpPr>
          <p:cNvPr id="32" name="TextBox 31"/>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3" name="TextBox 32"/>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REFERENCE-SOURCED DEEP DIVE</a:t>
            </a:r>
          </a:p>
        </p:txBody>
      </p:sp>
      <p:sp>
        <p:nvSpPr>
          <p:cNvPr id="34" name="TextBox 33"/>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01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Kickoff as an Alignment Decision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Why</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value and success</a:t>
            </a:r>
          </a:p>
        </p:txBody>
      </p:sp>
      <p:cxnSp>
        <p:nvCxnSpPr>
          <p:cNvPr id="12" name="Connector 11"/>
          <p:cNvCxnSpPr/>
          <p:nvPr/>
        </p:nvCxnSpPr>
        <p:spPr>
          <a:xfrm>
            <a:off x="2757830"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What</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scope and exclusions</a:t>
            </a:r>
          </a:p>
        </p:txBody>
      </p:sp>
      <p:cxnSp>
        <p:nvCxnSpPr>
          <p:cNvPr id="18" name="Connector 17"/>
          <p:cNvCxnSpPr/>
          <p:nvPr/>
        </p:nvCxnSpPr>
        <p:spPr>
          <a:xfrm>
            <a:off x="4930444"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Who</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roles and decisions</a:t>
            </a:r>
          </a:p>
        </p:txBody>
      </p:sp>
      <p:cxnSp>
        <p:nvCxnSpPr>
          <p:cNvPr id="24" name="Connector 23"/>
          <p:cNvCxnSpPr/>
          <p:nvPr/>
        </p:nvCxnSpPr>
        <p:spPr>
          <a:xfrm>
            <a:off x="7103059"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How</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method, rhythm and evidence</a:t>
            </a:r>
          </a:p>
        </p:txBody>
      </p:sp>
      <p:cxnSp>
        <p:nvCxnSpPr>
          <p:cNvPr id="30" name="Connector 29"/>
          <p:cNvCxnSpPr/>
          <p:nvPr/>
        </p:nvCxnSpPr>
        <p:spPr>
          <a:xfrm>
            <a:off x="927567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Next</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48-hour actions and owners</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A good kickoff reveals mismatched assumptions early enough to repair them cheaply.</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1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057400"/>
            <a:ext cx="425196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06727" y="2057400"/>
            <a:ext cx="4251960" cy="1097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35327" y="2304288"/>
            <a:ext cx="3794760" cy="292608"/>
          </a:xfrm>
          <a:prstGeom prst="rect">
            <a:avLst/>
          </a:prstGeom>
          <a:noFill/>
        </p:spPr>
        <p:txBody>
          <a:bodyPr wrap="square" lIns="0" rIns="0" tIns="0" bIns="0" anchor="t">
            <a:spAutoFit/>
          </a:bodyPr>
          <a:lstStyle/>
          <a:p>
            <a:pPr algn="ctr">
              <a:spcAft>
                <a:spcPts val="300"/>
              </a:spcAft>
            </a:pPr>
            <a:r>
              <a:rPr sz="1100" b="1">
                <a:solidFill>
                  <a:srgbClr val="1655D1"/>
                </a:solidFill>
                <a:latin typeface="Arial"/>
              </a:rPr>
              <a:t>XLSX</a:t>
            </a:r>
          </a:p>
        </p:txBody>
      </p:sp>
      <p:sp>
        <p:nvSpPr>
          <p:cNvPr id="10" name="TextBox 9"/>
          <p:cNvSpPr txBox="1"/>
          <p:nvPr/>
        </p:nvSpPr>
        <p:spPr>
          <a:xfrm>
            <a:off x="1935327" y="2624328"/>
            <a:ext cx="379476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02 Cost Benefit Analysis</a:t>
            </a:r>
          </a:p>
        </p:txBody>
      </p:sp>
      <p:sp>
        <p:nvSpPr>
          <p:cNvPr id="11" name="TextBox 10"/>
          <p:cNvSpPr txBox="1"/>
          <p:nvPr/>
        </p:nvSpPr>
        <p:spPr>
          <a:xfrm>
            <a:off x="1935327" y="3337560"/>
            <a:ext cx="379476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2" name="Rounded Rectangle 11"/>
          <p:cNvSpPr/>
          <p:nvPr/>
        </p:nvSpPr>
        <p:spPr>
          <a:xfrm>
            <a:off x="6233007" y="2057400"/>
            <a:ext cx="425196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2057400"/>
            <a:ext cx="4251960"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1607" y="2304288"/>
            <a:ext cx="3794760" cy="292608"/>
          </a:xfrm>
          <a:prstGeom prst="rect">
            <a:avLst/>
          </a:prstGeom>
          <a:noFill/>
        </p:spPr>
        <p:txBody>
          <a:bodyPr wrap="square" lIns="0" rIns="0" tIns="0" bIns="0" anchor="t">
            <a:spAutoFit/>
          </a:bodyPr>
          <a:lstStyle/>
          <a:p>
            <a:pPr algn="ctr">
              <a:spcAft>
                <a:spcPts val="300"/>
              </a:spcAft>
            </a:pPr>
            <a:r>
              <a:rPr sz="1100" b="1">
                <a:solidFill>
                  <a:srgbClr val="0F9D8A"/>
                </a:solidFill>
                <a:latin typeface="Arial"/>
              </a:rPr>
              <a:t>XLSX</a:t>
            </a:r>
          </a:p>
        </p:txBody>
      </p:sp>
      <p:sp>
        <p:nvSpPr>
          <p:cNvPr id="15" name="TextBox 14"/>
          <p:cNvSpPr txBox="1"/>
          <p:nvPr/>
        </p:nvSpPr>
        <p:spPr>
          <a:xfrm>
            <a:off x="6461607" y="2624328"/>
            <a:ext cx="379476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01 Small Project Screening and Selection</a:t>
            </a:r>
          </a:p>
        </p:txBody>
      </p:sp>
      <p:sp>
        <p:nvSpPr>
          <p:cNvPr id="16" name="TextBox 15"/>
          <p:cNvSpPr txBox="1"/>
          <p:nvPr/>
        </p:nvSpPr>
        <p:spPr>
          <a:xfrm>
            <a:off x="6461607" y="3337560"/>
            <a:ext cx="379476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7" name="Rounded Rectangle 16"/>
          <p:cNvSpPr/>
          <p:nvPr/>
        </p:nvSpPr>
        <p:spPr>
          <a:xfrm>
            <a:off x="749808" y="4343400"/>
            <a:ext cx="10698480" cy="1143000"/>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544568"/>
            <a:ext cx="182880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DECISION ENABLED</a:t>
            </a:r>
          </a:p>
        </p:txBody>
      </p:sp>
      <p:sp>
        <p:nvSpPr>
          <p:cNvPr id="19" name="TextBox 18"/>
          <p:cNvSpPr txBox="1"/>
          <p:nvPr/>
        </p:nvSpPr>
        <p:spPr>
          <a:xfrm>
            <a:off x="2788920" y="4453128"/>
            <a:ext cx="8229600" cy="685800"/>
          </a:xfrm>
          <a:prstGeom prst="rect">
            <a:avLst/>
          </a:prstGeom>
          <a:noFill/>
        </p:spPr>
        <p:txBody>
          <a:bodyPr wrap="square" lIns="0" rIns="0" tIns="0" bIns="0" anchor="ctr">
            <a:spAutoFit/>
          </a:bodyPr>
          <a:lstStyle/>
          <a:p>
            <a:pPr algn="l">
              <a:spcAft>
                <a:spcPts val="300"/>
              </a:spcAft>
            </a:pPr>
            <a:r>
              <a:rPr sz="1250" b="1">
                <a:solidFill>
                  <a:srgbClr val="131B2A"/>
                </a:solidFill>
                <a:latin typeface="Arial"/>
              </a:rPr>
              <a:t>A completed small-project screen, weighted option scorecard, cost-benefit check and sponsor-ready selection recommendation.</a:t>
            </a:r>
          </a:p>
        </p:txBody>
      </p:sp>
      <p:sp>
        <p:nvSpPr>
          <p:cNvPr id="20" name="TextBox 1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1" name="TextBox 2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TOOL-BASED PRACTICE</a:t>
            </a:r>
          </a:p>
        </p:txBody>
      </p:sp>
      <p:sp>
        <p:nvSpPr>
          <p:cNvPr id="22" name="TextBox 2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Screen and Select the HarbourHub Pilot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1 · 35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HarbourHub Fresh has three competing improvement ideas: click-and-collect, a loyalty app, and a warehouse automation study. Only one can be funded this quarter. The sponsor needs a transparent selection decision and evidence that the selected work fits the small-project profile.</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Apply the small-project screen, compare options using weighted criteria, test the financial case and document the recommendation, assumptions and rejection reasons.</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completed small-project screen, weighted option scorecard, cost-benefit check and sponsor-ready selection recommendation.</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selected option satisfies every small-project criterion, the weighted score reconciles, the financial downside is visible and the recommendation states a clear gate decision.</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Small Project Screening, Multi-Criteria Selection and Cost-Benefit Analysis</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1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1 · LO1</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01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1: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Selection prevents the team from efficiently delivering the wrong project.</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Weights expose priorities; narrative rationale prevents false precision.</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selected idea is still not authorised work until the charter gate is passed.</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2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057400"/>
            <a:ext cx="425196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06727" y="2057400"/>
            <a:ext cx="4251960" cy="1097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35327" y="2304288"/>
            <a:ext cx="3794760" cy="292608"/>
          </a:xfrm>
          <a:prstGeom prst="rect">
            <a:avLst/>
          </a:prstGeom>
          <a:noFill/>
        </p:spPr>
        <p:txBody>
          <a:bodyPr wrap="square" lIns="0" rIns="0" tIns="0" bIns="0" anchor="t">
            <a:spAutoFit/>
          </a:bodyPr>
          <a:lstStyle/>
          <a:p>
            <a:pPr algn="ctr">
              <a:spcAft>
                <a:spcPts val="300"/>
              </a:spcAft>
            </a:pPr>
            <a:r>
              <a:rPr sz="1100" b="1">
                <a:solidFill>
                  <a:srgbClr val="1655D1"/>
                </a:solidFill>
                <a:latin typeface="Arial"/>
              </a:rPr>
              <a:t>DOCX</a:t>
            </a:r>
          </a:p>
        </p:txBody>
      </p:sp>
      <p:sp>
        <p:nvSpPr>
          <p:cNvPr id="10" name="TextBox 9"/>
          <p:cNvSpPr txBox="1"/>
          <p:nvPr/>
        </p:nvSpPr>
        <p:spPr>
          <a:xfrm>
            <a:off x="1935327" y="2624328"/>
            <a:ext cx="379476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05 Business Case on a Page</a:t>
            </a:r>
          </a:p>
        </p:txBody>
      </p:sp>
      <p:sp>
        <p:nvSpPr>
          <p:cNvPr id="11" name="TextBox 10"/>
          <p:cNvSpPr txBox="1"/>
          <p:nvPr/>
        </p:nvSpPr>
        <p:spPr>
          <a:xfrm>
            <a:off x="1935327" y="3337560"/>
            <a:ext cx="379476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2" name="Rounded Rectangle 11"/>
          <p:cNvSpPr/>
          <p:nvPr/>
        </p:nvSpPr>
        <p:spPr>
          <a:xfrm>
            <a:off x="6233007" y="2057400"/>
            <a:ext cx="425196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2057400"/>
            <a:ext cx="4251960"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1607" y="2304288"/>
            <a:ext cx="3794760" cy="292608"/>
          </a:xfrm>
          <a:prstGeom prst="rect">
            <a:avLst/>
          </a:prstGeom>
          <a:noFill/>
        </p:spPr>
        <p:txBody>
          <a:bodyPr wrap="square" lIns="0" rIns="0" tIns="0" bIns="0" anchor="t">
            <a:spAutoFit/>
          </a:bodyPr>
          <a:lstStyle/>
          <a:p>
            <a:pPr algn="ctr">
              <a:spcAft>
                <a:spcPts val="300"/>
              </a:spcAft>
            </a:pPr>
            <a:r>
              <a:rPr sz="1100" b="1">
                <a:solidFill>
                  <a:srgbClr val="0F9D8A"/>
                </a:solidFill>
                <a:latin typeface="Arial"/>
              </a:rPr>
              <a:t>XLSX</a:t>
            </a:r>
          </a:p>
        </p:txBody>
      </p:sp>
      <p:sp>
        <p:nvSpPr>
          <p:cNvPr id="15" name="TextBox 14"/>
          <p:cNvSpPr txBox="1"/>
          <p:nvPr/>
        </p:nvSpPr>
        <p:spPr>
          <a:xfrm>
            <a:off x="6461607" y="2624328"/>
            <a:ext cx="379476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08 Project Charter Template</a:t>
            </a:r>
          </a:p>
        </p:txBody>
      </p:sp>
      <p:sp>
        <p:nvSpPr>
          <p:cNvPr id="16" name="TextBox 15"/>
          <p:cNvSpPr txBox="1"/>
          <p:nvPr/>
        </p:nvSpPr>
        <p:spPr>
          <a:xfrm>
            <a:off x="6461607" y="3337560"/>
            <a:ext cx="379476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7" name="Rounded Rectangle 16"/>
          <p:cNvSpPr/>
          <p:nvPr/>
        </p:nvSpPr>
        <p:spPr>
          <a:xfrm>
            <a:off x="749808" y="4343400"/>
            <a:ext cx="10698480" cy="1143000"/>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544568"/>
            <a:ext cx="182880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DECISION ENABLED</a:t>
            </a:r>
          </a:p>
        </p:txBody>
      </p:sp>
      <p:sp>
        <p:nvSpPr>
          <p:cNvPr id="19" name="TextBox 18"/>
          <p:cNvSpPr txBox="1"/>
          <p:nvPr/>
        </p:nvSpPr>
        <p:spPr>
          <a:xfrm>
            <a:off x="2788920" y="4453128"/>
            <a:ext cx="8229600" cy="685800"/>
          </a:xfrm>
          <a:prstGeom prst="rect">
            <a:avLst/>
          </a:prstGeom>
          <a:noFill/>
        </p:spPr>
        <p:txBody>
          <a:bodyPr wrap="square" lIns="0" rIns="0" tIns="0" bIns="0" anchor="ctr">
            <a:spAutoFit/>
          </a:bodyPr>
          <a:lstStyle/>
          <a:p>
            <a:pPr algn="l">
              <a:spcAft>
                <a:spcPts val="300"/>
              </a:spcAft>
            </a:pPr>
            <a:r>
              <a:rPr sz="1250" b="1">
                <a:solidFill>
                  <a:srgbClr val="131B2A"/>
                </a:solidFill>
                <a:latin typeface="Arial"/>
              </a:rPr>
              <a:t>A one-page business case, signed-ready charter, assumptions and constraints log, milestone frame, decision tolerances and kickoff action list.</a:t>
            </a:r>
          </a:p>
        </p:txBody>
      </p:sp>
      <p:sp>
        <p:nvSpPr>
          <p:cNvPr id="20" name="TextBox 1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1" name="TextBox 2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TOOL-BASED PRACTICE</a:t>
            </a:r>
          </a:p>
        </p:txBody>
      </p:sp>
      <p:sp>
        <p:nvSpPr>
          <p:cNvPr id="22" name="TextBox 2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01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Authorise the Pilot and Run the Kickoff Gate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2 · 45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click-and-collect pilot has been selected, but Operations, Finance and the two vendors hold different assumptions about success, exclusions and decision authority. The sponsor will authorise delivery only after a concise gate review.</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Convert the selected option into a measurable business case and charter, define boundaries, name decision rights and conduct a short sponsor gate and kickoff.</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one-page business case, signed-ready charter, assumptions and constraints log, milestone frame, decision tolerances and kickoff action list.</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charter names one accountable sponsor, measurable success, explicit exclusions, decision tolerances and an unambiguous authorisation decision within the small-project constraints.</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Business Case on a Page and Project Charter</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2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2 · LO1</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01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2: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business case justifies investment; the charter grants authority.</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Decision tolerances make lightweight governance possible.</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Kickoff converts signed paper into shared commitments and immediate action.</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01 · A1, K1 · LO1</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01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project is temporary, unique and value-seeking; operations are ongoing and repetitive.</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Success balances value and outcomes with scope, schedule, cost, quality, resources and risk.</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one-page business case, signed-ready charter, assumptions and constraints log, milestone frame, decision tolerances and kickoff action list.</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Define scope, success, authority and team arrangements for an executable small-project start (A1, K1).</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01 · A1, K1 · LO1</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02 · A2, K2 · LO2</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Develop a Project Plan</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Requirements · scope baseline · WBS · network · schedule · budget</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02</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A2, K2 · LO2</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 plan is a connected model, not a collection of files.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Requirements, WBS, dependencies, dates, resources and money must describe the same work. If one changes, the others must move with it.</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02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Develop a Project Plan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plan integrates subsidiary decisions; separate scope, schedule and cost files are not yet a project plan.</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Progressive elaboration and rolling-wave planning add detail as uncertainty reduces without abandoning control.</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Requirements must be testable, prioritised and traceable from need through deliverable and acceptance evidence.</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scope statement defines deliverables, exclusions, constraints, assumptions and acceptance criteria.</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Develop a Project Plan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WBS decomposes deliverables to manageable work packages; the WBS dictionary removes ambiguity.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Dependencies create the network; the longest path sets the earliest finish and carries zero or least float.</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Duration estimates should separate work, waiting, risk and resource availability; use analogous, parametric, bottom-up or three-point methods deliberately.</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cost baseline is time-phased; contingency reserve covers known-unknowns while management reserve covers unknown-unknowns.</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02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Planning Chain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Need</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stakeholder source</a:t>
            </a:r>
          </a:p>
        </p:txBody>
      </p:sp>
      <p:cxnSp>
        <p:nvCxnSpPr>
          <p:cNvPr id="12" name="Connector 11"/>
          <p:cNvCxnSpPr/>
          <p:nvPr/>
        </p:nvCxnSpPr>
        <p:spPr>
          <a:xfrm>
            <a:off x="2395727" y="3474720"/>
            <a:ext cx="164593"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Requirement</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testable and prioritised</a:t>
            </a:r>
          </a:p>
        </p:txBody>
      </p:sp>
      <p:cxnSp>
        <p:nvCxnSpPr>
          <p:cNvPr id="18" name="Connector 17"/>
          <p:cNvCxnSpPr/>
          <p:nvPr/>
        </p:nvCxnSpPr>
        <p:spPr>
          <a:xfrm>
            <a:off x="4206240"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Deliverable</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scope statement and WBS</a:t>
            </a:r>
          </a:p>
        </p:txBody>
      </p:sp>
      <p:cxnSp>
        <p:nvCxnSpPr>
          <p:cNvPr id="24" name="Connector 23"/>
          <p:cNvCxnSpPr/>
          <p:nvPr/>
        </p:nvCxnSpPr>
        <p:spPr>
          <a:xfrm>
            <a:off x="6016751"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Activity</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dependency and duration</a:t>
            </a:r>
          </a:p>
        </p:txBody>
      </p:sp>
      <p:cxnSp>
        <p:nvCxnSpPr>
          <p:cNvPr id="30" name="Connector 29"/>
          <p:cNvCxnSpPr/>
          <p:nvPr/>
        </p:nvCxnSpPr>
        <p:spPr>
          <a:xfrm>
            <a:off x="782726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Baseline</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schedule and budget</a:t>
            </a:r>
          </a:p>
        </p:txBody>
      </p:sp>
      <p:cxnSp>
        <p:nvCxnSpPr>
          <p:cNvPr id="36" name="Connector 35"/>
          <p:cNvCxnSpPr/>
          <p:nvPr/>
        </p:nvCxnSpPr>
        <p:spPr>
          <a:xfrm>
            <a:off x="9637776"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Evidence</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acceptance and traceability</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A broken link creates either orphan scope or unplanned work.</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Estimating Methods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Method</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Best use</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Main risk</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Analogous</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Early estimate from similar work</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False similarity</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Parametric</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Repeatable unit rates</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Bad rate or scale</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Bottom-up</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Defined work packages</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Time and detail cost</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Three-point</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Uncertain durations/costs</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Optimism in inputs</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Record the basis of estimate so future variance can be explained.</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DECISION TOOL</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02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Critical Path Logic</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List</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activities and milestones</a:t>
            </a:r>
          </a:p>
        </p:txBody>
      </p:sp>
      <p:cxnSp>
        <p:nvCxnSpPr>
          <p:cNvPr id="12" name="Connector 11"/>
          <p:cNvCxnSpPr/>
          <p:nvPr/>
        </p:nvCxnSpPr>
        <p:spPr>
          <a:xfrm>
            <a:off x="2395727" y="3474720"/>
            <a:ext cx="164593"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Link</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predecessors and lags</a:t>
            </a:r>
          </a:p>
        </p:txBody>
      </p:sp>
      <p:cxnSp>
        <p:nvCxnSpPr>
          <p:cNvPr id="18" name="Connector 17"/>
          <p:cNvCxnSpPr/>
          <p:nvPr/>
        </p:nvCxnSpPr>
        <p:spPr>
          <a:xfrm>
            <a:off x="4206240"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Forward pass</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earliest start/finish</a:t>
            </a:r>
          </a:p>
        </p:txBody>
      </p:sp>
      <p:cxnSp>
        <p:nvCxnSpPr>
          <p:cNvPr id="24" name="Connector 23"/>
          <p:cNvCxnSpPr/>
          <p:nvPr/>
        </p:nvCxnSpPr>
        <p:spPr>
          <a:xfrm>
            <a:off x="6016751"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Backward pass</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latest start/finish</a:t>
            </a:r>
          </a:p>
        </p:txBody>
      </p:sp>
      <p:cxnSp>
        <p:nvCxnSpPr>
          <p:cNvPr id="30" name="Connector 29"/>
          <p:cNvCxnSpPr/>
          <p:nvPr/>
        </p:nvCxnSpPr>
        <p:spPr>
          <a:xfrm>
            <a:off x="782726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Float</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identify scheduling flexibility</a:t>
            </a:r>
          </a:p>
        </p:txBody>
      </p:sp>
      <p:cxnSp>
        <p:nvCxnSpPr>
          <p:cNvPr id="36" name="Connector 35"/>
          <p:cNvCxnSpPr/>
          <p:nvPr/>
        </p:nvCxnSpPr>
        <p:spPr>
          <a:xfrm>
            <a:off x="9637776"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Critical path</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focus control and compression</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Recalculate after every approved change—the critical path can move.</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Integrated Project Plan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Scope</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What is authorised and accepted.</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Schedule</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Sequence, duration and milestones.</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Cost</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Time-phased funding and reserves.</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Quality</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Measures, assurance and control.</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Resources</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Skills, capacity and procurement.</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Risk &amp; stakeholders</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Responses, engagement and governance.</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Requirements Elicitation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Identify</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sources and decision roles</a:t>
            </a:r>
          </a:p>
        </p:txBody>
      </p:sp>
      <p:cxnSp>
        <p:nvCxnSpPr>
          <p:cNvPr id="12" name="Connector 11"/>
          <p:cNvCxnSpPr/>
          <p:nvPr/>
        </p:nvCxnSpPr>
        <p:spPr>
          <a:xfrm>
            <a:off x="2757830"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Gather</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interview, observe, workshop</a:t>
            </a:r>
          </a:p>
        </p:txBody>
      </p:sp>
      <p:cxnSp>
        <p:nvCxnSpPr>
          <p:cNvPr id="18" name="Connector 17"/>
          <p:cNvCxnSpPr/>
          <p:nvPr/>
        </p:nvCxnSpPr>
        <p:spPr>
          <a:xfrm>
            <a:off x="4930444"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Analyse</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conflicts, constraints and value</a:t>
            </a:r>
          </a:p>
        </p:txBody>
      </p:sp>
      <p:cxnSp>
        <p:nvCxnSpPr>
          <p:cNvPr id="24" name="Connector 23"/>
          <p:cNvCxnSpPr/>
          <p:nvPr/>
        </p:nvCxnSpPr>
        <p:spPr>
          <a:xfrm>
            <a:off x="7103059"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Specify</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testable requirement</a:t>
            </a:r>
          </a:p>
        </p:txBody>
      </p:sp>
      <p:cxnSp>
        <p:nvCxnSpPr>
          <p:cNvPr id="30" name="Connector 29"/>
          <p:cNvCxnSpPr/>
          <p:nvPr/>
        </p:nvCxnSpPr>
        <p:spPr>
          <a:xfrm>
            <a:off x="9275673"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Validate</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source confirms meaning</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Elicitation is discovery and negotiation—not taking an order from one stakeholder.</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Weak versus Testable Requirements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Weak wording</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Testable wording</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Evidence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Fast collection</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90% ready within 10 minutes</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Timestamp sample</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Accurate picking</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At least 98% line accuracy</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Check sheet</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Easy to use</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New staff completes task after 30-minute training</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Observed test</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Reliable</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99.5% availability in pilot hours</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System log</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A measure without a method or status date is still ambiguous.</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Prioritisation Choices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Method</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Decision logic</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Use when</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MoSCoW</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Must / Should / Could / Won't</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Time-boxed scope</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Weighted scoring</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Value across criteria</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Competing options</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Kano</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Basic, performance, delight</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Customer experience</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Trade-off sliders</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Relative constraint priority</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Governance alignment</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Priorities must remain traceable to outcomes, not just stakeholder preference.</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Traceability from Need to Evidence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Outcome</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what success changes</a:t>
            </a:r>
          </a:p>
        </p:txBody>
      </p:sp>
      <p:cxnSp>
        <p:nvCxnSpPr>
          <p:cNvPr id="12" name="Connector 11"/>
          <p:cNvCxnSpPr/>
          <p:nvPr/>
        </p:nvCxnSpPr>
        <p:spPr>
          <a:xfrm>
            <a:off x="2757830"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Requirement</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what must be true</a:t>
            </a:r>
          </a:p>
        </p:txBody>
      </p:sp>
      <p:cxnSp>
        <p:nvCxnSpPr>
          <p:cNvPr id="18" name="Connector 17"/>
          <p:cNvCxnSpPr/>
          <p:nvPr/>
        </p:nvCxnSpPr>
        <p:spPr>
          <a:xfrm>
            <a:off x="4930444"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Deliverable</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what is produced</a:t>
            </a:r>
          </a:p>
        </p:txBody>
      </p:sp>
      <p:cxnSp>
        <p:nvCxnSpPr>
          <p:cNvPr id="24" name="Connector 23"/>
          <p:cNvCxnSpPr/>
          <p:nvPr/>
        </p:nvCxnSpPr>
        <p:spPr>
          <a:xfrm>
            <a:off x="7103059"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Work package</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what the team performs</a:t>
            </a:r>
          </a:p>
        </p:txBody>
      </p:sp>
      <p:cxnSp>
        <p:nvCxnSpPr>
          <p:cNvPr id="30" name="Connector 29"/>
          <p:cNvCxnSpPr/>
          <p:nvPr/>
        </p:nvCxnSpPr>
        <p:spPr>
          <a:xfrm>
            <a:off x="9275673"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Acceptance</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how completion is proven</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Trace both directions: every need is delivered, and every deliverable has a reason.</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Scope Statement Essentials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Product scope</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Characteristics of the result.</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Project scope</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Work required to create it.</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Exclusions</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What is deliberately not included.</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Acceptance</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Who approves against which criteria.</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Constraints</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Limits the plan must respect.</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Assumptions</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Planning beliefs to validate.</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WBS Decomposition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Start</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authorised deliverables</a:t>
            </a:r>
          </a:p>
        </p:txBody>
      </p:sp>
      <p:cxnSp>
        <p:nvCxnSpPr>
          <p:cNvPr id="12" name="Connector 11"/>
          <p:cNvCxnSpPr/>
          <p:nvPr/>
        </p:nvCxnSpPr>
        <p:spPr>
          <a:xfrm>
            <a:off x="2757830"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Break down</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smaller deliverable components</a:t>
            </a:r>
          </a:p>
        </p:txBody>
      </p:sp>
      <p:cxnSp>
        <p:nvCxnSpPr>
          <p:cNvPr id="18" name="Connector 17"/>
          <p:cNvCxnSpPr/>
          <p:nvPr/>
        </p:nvCxnSpPr>
        <p:spPr>
          <a:xfrm>
            <a:off x="4930444"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Test 100%</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all work, no overlap</a:t>
            </a:r>
          </a:p>
        </p:txBody>
      </p:sp>
      <p:cxnSp>
        <p:nvCxnSpPr>
          <p:cNvPr id="24" name="Connector 23"/>
          <p:cNvCxnSpPr/>
          <p:nvPr/>
        </p:nvCxnSpPr>
        <p:spPr>
          <a:xfrm>
            <a:off x="7103059"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Stop</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estimable, assignable, sequenced, accepted</a:t>
            </a:r>
          </a:p>
        </p:txBody>
      </p:sp>
      <p:cxnSp>
        <p:nvCxnSpPr>
          <p:cNvPr id="30" name="Connector 29"/>
          <p:cNvCxnSpPr/>
          <p:nvPr/>
        </p:nvCxnSpPr>
        <p:spPr>
          <a:xfrm>
            <a:off x="9275673"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Define</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dictionary entry</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Do not decompose by department when the deliverable crosses departments.</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WBS Dictionary—Why It Matters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Field</a:t>
            </a:r>
          </a:p>
        </p:txBody>
      </p:sp>
      <p:sp>
        <p:nvSpPr>
          <p:cNvPr id="9" name="Rectangle 8"/>
          <p:cNvSpPr/>
          <p:nvPr/>
        </p:nvSpPr>
        <p:spPr>
          <a:xfrm>
            <a:off x="431596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Decision enabled</a:t>
            </a:r>
          </a:p>
        </p:txBody>
      </p:sp>
      <p:sp>
        <p:nvSpPr>
          <p:cNvPr id="11" name="Rectangle 10"/>
          <p:cNvSpPr/>
          <p:nvPr/>
        </p:nvSpPr>
        <p:spPr>
          <a:xfrm>
            <a:off x="7882127"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Failure prevented</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Description</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Shared meaning</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Different estimates for different work</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Owner</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Accountability</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Unclaimed delivery</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Acceptance</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Definition of complete</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Almost done forever</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Dependencies</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Sequence</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Late discovery</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Estimate basis</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Confidence and revision</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Unexplained padding</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diagram shows structure; the dictionary makes the structure manageable.</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Dependency Relationships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Type</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Logic</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Example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Finish-to-start</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 finishes before B starts</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Configure before integration test</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Start-to-start</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 starts before B starts</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Draft training after testing begins</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Finish-to-finish</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 finishes before B finishes</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Documentation completes with testing</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Start-to-finish</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Rare transition logic</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Old support ends after new starts</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Leads and lags change timing; they do not remove the underlying dependency.</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Critical Path Calculation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Forward pass</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earliest start and finish</a:t>
            </a:r>
          </a:p>
        </p:txBody>
      </p:sp>
      <p:cxnSp>
        <p:nvCxnSpPr>
          <p:cNvPr id="12" name="Connector 11"/>
          <p:cNvCxnSpPr/>
          <p:nvPr/>
        </p:nvCxnSpPr>
        <p:spPr>
          <a:xfrm>
            <a:off x="2757830"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Project finish</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largest earliest finish</a:t>
            </a:r>
          </a:p>
        </p:txBody>
      </p:sp>
      <p:cxnSp>
        <p:nvCxnSpPr>
          <p:cNvPr id="18" name="Connector 17"/>
          <p:cNvCxnSpPr/>
          <p:nvPr/>
        </p:nvCxnSpPr>
        <p:spPr>
          <a:xfrm>
            <a:off x="4930444"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Backward pass</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latest finish and start</a:t>
            </a:r>
          </a:p>
        </p:txBody>
      </p:sp>
      <p:cxnSp>
        <p:nvCxnSpPr>
          <p:cNvPr id="24" name="Connector 23"/>
          <p:cNvCxnSpPr/>
          <p:nvPr/>
        </p:nvCxnSpPr>
        <p:spPr>
          <a:xfrm>
            <a:off x="7103059"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Float</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late start minus early start</a:t>
            </a:r>
          </a:p>
        </p:txBody>
      </p:sp>
      <p:cxnSp>
        <p:nvCxnSpPr>
          <p:cNvPr id="30" name="Connector 29"/>
          <p:cNvCxnSpPr/>
          <p:nvPr/>
        </p:nvCxnSpPr>
        <p:spPr>
          <a:xfrm>
            <a:off x="9275673"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Critical path</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least-float path</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The critical path is the longest-duration route through current logic, not the most important-looking task.</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Estimating Methods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Method</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Strength</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Limitation</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Analogous</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Fast early estimate</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Lower detail</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Parametric</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Repeatable unit logic</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Needs valid relationship</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Bottom-up</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Detailed and accountable</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Time-consuming</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Three-point</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Makes uncertainty visible</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Still depends on judgement</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Record the basis so the estimate can be challenged and updated without starting over.</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Cost Baseline and Reserves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Work-package estimates</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Rolled up from authorised scope.</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Contingency reserve</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Funded responses for identified risk.</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Cost baseline</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Time-phased performance reference.</a:t>
            </a:r>
          </a:p>
        </p:txBody>
      </p:sp>
      <p:sp>
        <p:nvSpPr>
          <p:cNvPr id="19" name="Rounded Rectangle 18"/>
          <p:cNvSpPr/>
          <p:nvPr/>
        </p:nvSpPr>
        <p:spPr>
          <a:xfrm>
            <a:off x="257098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7098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2702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Management reserve</a:t>
            </a:r>
          </a:p>
        </p:txBody>
      </p:sp>
      <p:sp>
        <p:nvSpPr>
          <p:cNvPr id="22" name="TextBox 21"/>
          <p:cNvSpPr txBox="1"/>
          <p:nvPr/>
        </p:nvSpPr>
        <p:spPr>
          <a:xfrm>
            <a:off x="282702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Held outside baseline for unknown-unknowns.</a:t>
            </a:r>
          </a:p>
        </p:txBody>
      </p:sp>
      <p:sp>
        <p:nvSpPr>
          <p:cNvPr id="23" name="Rounded Rectangle 22"/>
          <p:cNvSpPr/>
          <p:nvPr/>
        </p:nvSpPr>
        <p:spPr>
          <a:xfrm>
            <a:off x="621334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Project budget</a:t>
            </a:r>
          </a:p>
        </p:txBody>
      </p:sp>
      <p:sp>
        <p:nvSpPr>
          <p:cNvPr id="26" name="TextBox 25"/>
          <p:cNvSpPr txBox="1"/>
          <p:nvPr/>
        </p:nvSpPr>
        <p:spPr>
          <a:xfrm>
            <a:off x="646938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Cost baseline plus management reserve.</a:t>
            </a:r>
          </a:p>
        </p:txBody>
      </p:sp>
      <p:sp>
        <p:nvSpPr>
          <p:cNvPr id="27" name="TextBox 26"/>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8" name="TextBox 27"/>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REFERENCE-SOURCED DEEP DIVE</a:t>
            </a:r>
          </a:p>
        </p:txBody>
      </p:sp>
      <p:sp>
        <p:nvSpPr>
          <p:cNvPr id="29" name="TextBox 28"/>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3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057400"/>
            <a:ext cx="425196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06727" y="2057400"/>
            <a:ext cx="4251960" cy="1097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35327" y="2304288"/>
            <a:ext cx="3794760" cy="292608"/>
          </a:xfrm>
          <a:prstGeom prst="rect">
            <a:avLst/>
          </a:prstGeom>
          <a:noFill/>
        </p:spPr>
        <p:txBody>
          <a:bodyPr wrap="square" lIns="0" rIns="0" tIns="0" bIns="0" anchor="t">
            <a:spAutoFit/>
          </a:bodyPr>
          <a:lstStyle/>
          <a:p>
            <a:pPr algn="ctr">
              <a:spcAft>
                <a:spcPts val="300"/>
              </a:spcAft>
            </a:pPr>
            <a:r>
              <a:rPr sz="1100" b="1">
                <a:solidFill>
                  <a:srgbClr val="1655D1"/>
                </a:solidFill>
                <a:latin typeface="Arial"/>
              </a:rPr>
              <a:t>XLSX</a:t>
            </a:r>
          </a:p>
        </p:txBody>
      </p:sp>
      <p:sp>
        <p:nvSpPr>
          <p:cNvPr id="10" name="TextBox 9"/>
          <p:cNvSpPr txBox="1"/>
          <p:nvPr/>
        </p:nvSpPr>
        <p:spPr>
          <a:xfrm>
            <a:off x="1935327" y="2624328"/>
            <a:ext cx="379476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25 Requirements Traceability Matrix</a:t>
            </a:r>
          </a:p>
        </p:txBody>
      </p:sp>
      <p:sp>
        <p:nvSpPr>
          <p:cNvPr id="11" name="TextBox 10"/>
          <p:cNvSpPr txBox="1"/>
          <p:nvPr/>
        </p:nvSpPr>
        <p:spPr>
          <a:xfrm>
            <a:off x="1935327" y="3337560"/>
            <a:ext cx="379476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2" name="Rounded Rectangle 11"/>
          <p:cNvSpPr/>
          <p:nvPr/>
        </p:nvSpPr>
        <p:spPr>
          <a:xfrm>
            <a:off x="6233007" y="2057400"/>
            <a:ext cx="425196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2057400"/>
            <a:ext cx="4251960"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1607" y="2304288"/>
            <a:ext cx="3794760" cy="292608"/>
          </a:xfrm>
          <a:prstGeom prst="rect">
            <a:avLst/>
          </a:prstGeom>
          <a:noFill/>
        </p:spPr>
        <p:txBody>
          <a:bodyPr wrap="square" lIns="0" rIns="0" tIns="0" bIns="0" anchor="t">
            <a:spAutoFit/>
          </a:bodyPr>
          <a:lstStyle/>
          <a:p>
            <a:pPr algn="ctr">
              <a:spcAft>
                <a:spcPts val="300"/>
              </a:spcAft>
            </a:pPr>
            <a:r>
              <a:rPr sz="1100" b="1">
                <a:solidFill>
                  <a:srgbClr val="0F9D8A"/>
                </a:solidFill>
                <a:latin typeface="Arial"/>
              </a:rPr>
              <a:t>XLSX</a:t>
            </a:r>
          </a:p>
        </p:txBody>
      </p:sp>
      <p:sp>
        <p:nvSpPr>
          <p:cNvPr id="15" name="TextBox 14"/>
          <p:cNvSpPr txBox="1"/>
          <p:nvPr/>
        </p:nvSpPr>
        <p:spPr>
          <a:xfrm>
            <a:off x="6461607" y="2624328"/>
            <a:ext cx="379476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03 Requirements Workshop and Stakeholder Register</a:t>
            </a:r>
          </a:p>
        </p:txBody>
      </p:sp>
      <p:sp>
        <p:nvSpPr>
          <p:cNvPr id="16" name="TextBox 15"/>
          <p:cNvSpPr txBox="1"/>
          <p:nvPr/>
        </p:nvSpPr>
        <p:spPr>
          <a:xfrm>
            <a:off x="6461607" y="3337560"/>
            <a:ext cx="379476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7" name="Rounded Rectangle 16"/>
          <p:cNvSpPr/>
          <p:nvPr/>
        </p:nvSpPr>
        <p:spPr>
          <a:xfrm>
            <a:off x="749808" y="4343400"/>
            <a:ext cx="10698480" cy="1143000"/>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544568"/>
            <a:ext cx="182880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DECISION ENABLED</a:t>
            </a:r>
          </a:p>
        </p:txBody>
      </p:sp>
      <p:sp>
        <p:nvSpPr>
          <p:cNvPr id="19" name="TextBox 18"/>
          <p:cNvSpPr txBox="1"/>
          <p:nvPr/>
        </p:nvSpPr>
        <p:spPr>
          <a:xfrm>
            <a:off x="2788920" y="4453128"/>
            <a:ext cx="8229600" cy="685800"/>
          </a:xfrm>
          <a:prstGeom prst="rect">
            <a:avLst/>
          </a:prstGeom>
          <a:noFill/>
        </p:spPr>
        <p:txBody>
          <a:bodyPr wrap="square" lIns="0" rIns="0" tIns="0" bIns="0" anchor="ctr">
            <a:spAutoFit/>
          </a:bodyPr>
          <a:lstStyle/>
          <a:p>
            <a:pPr algn="l">
              <a:spcAft>
                <a:spcPts val="300"/>
              </a:spcAft>
            </a:pPr>
            <a:r>
              <a:rPr sz="1250" b="1">
                <a:solidFill>
                  <a:srgbClr val="131B2A"/>
                </a:solidFill>
                <a:latin typeface="Arial"/>
              </a:rPr>
              <a:t>A stakeholder register, workshop decision log and requirements traceability matrix with priorities, owners, deliverables and measurable acceptance evidence.</a:t>
            </a:r>
          </a:p>
        </p:txBody>
      </p:sp>
      <p:sp>
        <p:nvSpPr>
          <p:cNvPr id="20" name="TextBox 1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1" name="TextBox 2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TOOL-BASED PRACTICE</a:t>
            </a:r>
          </a:p>
        </p:txBody>
      </p:sp>
      <p:sp>
        <p:nvSpPr>
          <p:cNvPr id="22" name="TextBox 2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Discover Requirements and Map Acceptance Evidence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3 · 35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Outlet supervisors want speed, Finance wants payment control, customers want predictable collection, and the POS vendor wants a stable interface. The charter is approved, but the stated needs are not testable.</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Identify sources, facilitate a structured workshop, convert needs into testable requirements, prioritise with MoSCoW and define acceptance evidence and ownership.</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stakeholder register, workshop decision log and requirements traceability matrix with priorities, owners, deliverables and measurable acceptance evidence.</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Every prioritised requirement has a source, rationale, owner, deliverable and testable acceptance method; unresolved conflicts have named decision owners and dates.</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Requirements Workshop, Stakeholder Register and Traceability Matrix</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3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3 · LO2</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02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3: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requirement is not complete until acceptance can be observed or measured.</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Prioritisation is a trade-off decision, not a label applied by the loudest stakeholder.</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Traceability protects value when scope changes later.</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4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2347" y="2057400"/>
            <a:ext cx="324612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52347" y="2057400"/>
            <a:ext cx="3246120" cy="1097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0947" y="2304288"/>
            <a:ext cx="2788920" cy="292608"/>
          </a:xfrm>
          <a:prstGeom prst="rect">
            <a:avLst/>
          </a:prstGeom>
          <a:noFill/>
        </p:spPr>
        <p:txBody>
          <a:bodyPr wrap="square" lIns="0" rIns="0" tIns="0" bIns="0" anchor="t">
            <a:spAutoFit/>
          </a:bodyPr>
          <a:lstStyle/>
          <a:p>
            <a:pPr algn="ctr">
              <a:spcAft>
                <a:spcPts val="300"/>
              </a:spcAft>
            </a:pPr>
            <a:r>
              <a:rPr sz="1100" b="1">
                <a:solidFill>
                  <a:srgbClr val="1655D1"/>
                </a:solidFill>
                <a:latin typeface="Arial"/>
              </a:rPr>
              <a:t>PPTX</a:t>
            </a:r>
          </a:p>
        </p:txBody>
      </p:sp>
      <p:sp>
        <p:nvSpPr>
          <p:cNvPr id="10" name="TextBox 9"/>
          <p:cNvSpPr txBox="1"/>
          <p:nvPr/>
        </p:nvSpPr>
        <p:spPr>
          <a:xfrm>
            <a:off x="1180947" y="2624328"/>
            <a:ext cx="278892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24 Work Breakdown Structure</a:t>
            </a:r>
          </a:p>
        </p:txBody>
      </p:sp>
      <p:sp>
        <p:nvSpPr>
          <p:cNvPr id="11" name="TextBox 10"/>
          <p:cNvSpPr txBox="1"/>
          <p:nvPr/>
        </p:nvSpPr>
        <p:spPr>
          <a:xfrm>
            <a:off x="1180947" y="3337560"/>
            <a:ext cx="278892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2" name="Rounded Rectangle 11"/>
          <p:cNvSpPr/>
          <p:nvPr/>
        </p:nvSpPr>
        <p:spPr>
          <a:xfrm>
            <a:off x="4472787" y="2057400"/>
            <a:ext cx="324612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72787" y="2057400"/>
            <a:ext cx="3246120"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1387" y="2304288"/>
            <a:ext cx="2788920" cy="292608"/>
          </a:xfrm>
          <a:prstGeom prst="rect">
            <a:avLst/>
          </a:prstGeom>
          <a:noFill/>
        </p:spPr>
        <p:txBody>
          <a:bodyPr wrap="square" lIns="0" rIns="0" tIns="0" bIns="0" anchor="t">
            <a:spAutoFit/>
          </a:bodyPr>
          <a:lstStyle/>
          <a:p>
            <a:pPr algn="ctr">
              <a:spcAft>
                <a:spcPts val="300"/>
              </a:spcAft>
            </a:pPr>
            <a:r>
              <a:rPr sz="1100" b="1">
                <a:solidFill>
                  <a:srgbClr val="0F9D8A"/>
                </a:solidFill>
                <a:latin typeface="Arial"/>
              </a:rPr>
              <a:t>XLSX</a:t>
            </a:r>
          </a:p>
        </p:txBody>
      </p:sp>
      <p:sp>
        <p:nvSpPr>
          <p:cNvPr id="15" name="TextBox 14"/>
          <p:cNvSpPr txBox="1"/>
          <p:nvPr/>
        </p:nvSpPr>
        <p:spPr>
          <a:xfrm>
            <a:off x="4701387" y="2624328"/>
            <a:ext cx="278892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24 WBS Dictionary</a:t>
            </a:r>
          </a:p>
        </p:txBody>
      </p:sp>
      <p:sp>
        <p:nvSpPr>
          <p:cNvPr id="16" name="TextBox 15"/>
          <p:cNvSpPr txBox="1"/>
          <p:nvPr/>
        </p:nvSpPr>
        <p:spPr>
          <a:xfrm>
            <a:off x="4701387" y="3337560"/>
            <a:ext cx="278892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7" name="Rounded Rectangle 16"/>
          <p:cNvSpPr/>
          <p:nvPr/>
        </p:nvSpPr>
        <p:spPr>
          <a:xfrm>
            <a:off x="7993227" y="2057400"/>
            <a:ext cx="324612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93227" y="2057400"/>
            <a:ext cx="3246120" cy="1097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1827" y="2304288"/>
            <a:ext cx="2788920" cy="292608"/>
          </a:xfrm>
          <a:prstGeom prst="rect">
            <a:avLst/>
          </a:prstGeom>
          <a:noFill/>
        </p:spPr>
        <p:txBody>
          <a:bodyPr wrap="square" lIns="0" rIns="0" tIns="0" bIns="0" anchor="t">
            <a:spAutoFit/>
          </a:bodyPr>
          <a:lstStyle/>
          <a:p>
            <a:pPr algn="ctr">
              <a:spcAft>
                <a:spcPts val="300"/>
              </a:spcAft>
            </a:pPr>
            <a:r>
              <a:rPr sz="1100" b="1">
                <a:solidFill>
                  <a:srgbClr val="703CC3"/>
                </a:solidFill>
                <a:latin typeface="Arial"/>
              </a:rPr>
              <a:t>XLSX</a:t>
            </a:r>
          </a:p>
        </p:txBody>
      </p:sp>
      <p:sp>
        <p:nvSpPr>
          <p:cNvPr id="20" name="TextBox 19"/>
          <p:cNvSpPr txBox="1"/>
          <p:nvPr/>
        </p:nvSpPr>
        <p:spPr>
          <a:xfrm>
            <a:off x="8221827" y="2624328"/>
            <a:ext cx="278892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25 Requirements Traceability Matrix</a:t>
            </a:r>
          </a:p>
        </p:txBody>
      </p:sp>
      <p:sp>
        <p:nvSpPr>
          <p:cNvPr id="21" name="TextBox 20"/>
          <p:cNvSpPr txBox="1"/>
          <p:nvPr/>
        </p:nvSpPr>
        <p:spPr>
          <a:xfrm>
            <a:off x="8221827" y="3337560"/>
            <a:ext cx="278892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22" name="Rounded Rectangle 21"/>
          <p:cNvSpPr/>
          <p:nvPr/>
        </p:nvSpPr>
        <p:spPr>
          <a:xfrm>
            <a:off x="749808" y="4343400"/>
            <a:ext cx="10698480" cy="1143000"/>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4544568"/>
            <a:ext cx="182880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DECISION ENABLED</a:t>
            </a:r>
          </a:p>
        </p:txBody>
      </p:sp>
      <p:sp>
        <p:nvSpPr>
          <p:cNvPr id="24" name="TextBox 23"/>
          <p:cNvSpPr txBox="1"/>
          <p:nvPr/>
        </p:nvSpPr>
        <p:spPr>
          <a:xfrm>
            <a:off x="2788920" y="4453128"/>
            <a:ext cx="8229600" cy="685800"/>
          </a:xfrm>
          <a:prstGeom prst="rect">
            <a:avLst/>
          </a:prstGeom>
          <a:noFill/>
        </p:spPr>
        <p:txBody>
          <a:bodyPr wrap="square" lIns="0" rIns="0" tIns="0" bIns="0" anchor="ctr">
            <a:spAutoFit/>
          </a:bodyPr>
          <a:lstStyle/>
          <a:p>
            <a:pPr algn="l">
              <a:spcAft>
                <a:spcPts val="300"/>
              </a:spcAft>
            </a:pPr>
            <a:r>
              <a:rPr sz="1250" b="1">
                <a:solidFill>
                  <a:srgbClr val="131B2A"/>
                </a:solidFill>
                <a:latin typeface="Arial"/>
              </a:rPr>
              <a:t>A scope statement, WBS, WBS dictionary and repaired traceability matrix with no missing or duplicated work.</a:t>
            </a:r>
          </a:p>
        </p:txBody>
      </p:sp>
      <p:sp>
        <p:nvSpPr>
          <p:cNvPr id="25" name="TextBox 2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6" name="TextBox 2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TOOL-BASED PRACTICE</a:t>
            </a:r>
          </a:p>
        </p:txBody>
      </p:sp>
      <p:sp>
        <p:nvSpPr>
          <p:cNvPr id="27" name="TextBox 2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Build the Scope Baseline with WBS and Dictionary</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4 · 45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team has 14 prioritised requirements, but the vendor proposal groups work by department and omits outlet readiness, training and handover. Estimates cannot be trusted until the total scope is visible.</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Create a deliverable-oriented WBS, apply the 100% rule, define work packages in the dictionary and reconcile every requirement and acceptance criterion to scope.</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scope statement, WBS, WBS dictionary and repaired traceability matrix with no missing or duplicated work.</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WBS covers 100% of authorised work without overlap, each work package is manageable and every requirement traces to acceptance-ready scope.</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Work Breakdown Structure, WBS Dictionary and Requirements Traceability Matrix</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4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4 · LO2</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02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4: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WBS describes all project work; the schedule describes when that work occurs.</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Transition and project-management work are real scope even when customers never see them.</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strong dictionary prevents different teams from estimating different meanings.</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5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2347" y="2057400"/>
            <a:ext cx="324612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52347" y="2057400"/>
            <a:ext cx="3246120" cy="1097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0947" y="2304288"/>
            <a:ext cx="2788920" cy="292608"/>
          </a:xfrm>
          <a:prstGeom prst="rect">
            <a:avLst/>
          </a:prstGeom>
          <a:noFill/>
        </p:spPr>
        <p:txBody>
          <a:bodyPr wrap="square" lIns="0" rIns="0" tIns="0" bIns="0" anchor="t">
            <a:spAutoFit/>
          </a:bodyPr>
          <a:lstStyle/>
          <a:p>
            <a:pPr algn="ctr">
              <a:spcAft>
                <a:spcPts val="300"/>
              </a:spcAft>
            </a:pPr>
            <a:r>
              <a:rPr sz="1100" b="1">
                <a:solidFill>
                  <a:srgbClr val="1655D1"/>
                </a:solidFill>
                <a:latin typeface="Arial"/>
              </a:rPr>
              <a:t>XLSX</a:t>
            </a:r>
          </a:p>
        </p:txBody>
      </p:sp>
      <p:sp>
        <p:nvSpPr>
          <p:cNvPr id="10" name="TextBox 9"/>
          <p:cNvSpPr txBox="1"/>
          <p:nvPr/>
        </p:nvSpPr>
        <p:spPr>
          <a:xfrm>
            <a:off x="1180947" y="2624328"/>
            <a:ext cx="278892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28 Schedule Network Diagram</a:t>
            </a:r>
          </a:p>
        </p:txBody>
      </p:sp>
      <p:sp>
        <p:nvSpPr>
          <p:cNvPr id="11" name="TextBox 10"/>
          <p:cNvSpPr txBox="1"/>
          <p:nvPr/>
        </p:nvSpPr>
        <p:spPr>
          <a:xfrm>
            <a:off x="1180947" y="3337560"/>
            <a:ext cx="278892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2" name="Rounded Rectangle 11"/>
          <p:cNvSpPr/>
          <p:nvPr/>
        </p:nvSpPr>
        <p:spPr>
          <a:xfrm>
            <a:off x="4472787" y="2057400"/>
            <a:ext cx="324612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72787" y="2057400"/>
            <a:ext cx="3246120"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1387" y="2304288"/>
            <a:ext cx="2788920" cy="292608"/>
          </a:xfrm>
          <a:prstGeom prst="rect">
            <a:avLst/>
          </a:prstGeom>
          <a:noFill/>
        </p:spPr>
        <p:txBody>
          <a:bodyPr wrap="square" lIns="0" rIns="0" tIns="0" bIns="0" anchor="t">
            <a:spAutoFit/>
          </a:bodyPr>
          <a:lstStyle/>
          <a:p>
            <a:pPr algn="ctr">
              <a:spcAft>
                <a:spcPts val="300"/>
              </a:spcAft>
            </a:pPr>
            <a:r>
              <a:rPr sz="1100" b="1">
                <a:solidFill>
                  <a:srgbClr val="0F9D8A"/>
                </a:solidFill>
                <a:latin typeface="Arial"/>
              </a:rPr>
              <a:t>XLSX</a:t>
            </a:r>
          </a:p>
        </p:txBody>
      </p:sp>
      <p:sp>
        <p:nvSpPr>
          <p:cNvPr id="15" name="TextBox 14"/>
          <p:cNvSpPr txBox="1"/>
          <p:nvPr/>
        </p:nvSpPr>
        <p:spPr>
          <a:xfrm>
            <a:off x="4701387" y="2624328"/>
            <a:ext cx="278892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29 - Gantt Chart - Schedule - Daily Weekly Monthly and Phases</a:t>
            </a:r>
          </a:p>
        </p:txBody>
      </p:sp>
      <p:sp>
        <p:nvSpPr>
          <p:cNvPr id="16" name="TextBox 15"/>
          <p:cNvSpPr txBox="1"/>
          <p:nvPr/>
        </p:nvSpPr>
        <p:spPr>
          <a:xfrm>
            <a:off x="4701387" y="3337560"/>
            <a:ext cx="278892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7" name="Rounded Rectangle 16"/>
          <p:cNvSpPr/>
          <p:nvPr/>
        </p:nvSpPr>
        <p:spPr>
          <a:xfrm>
            <a:off x="7993227" y="2057400"/>
            <a:ext cx="324612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93227" y="2057400"/>
            <a:ext cx="3246120" cy="1097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1827" y="2304288"/>
            <a:ext cx="2788920" cy="292608"/>
          </a:xfrm>
          <a:prstGeom prst="rect">
            <a:avLst/>
          </a:prstGeom>
          <a:noFill/>
        </p:spPr>
        <p:txBody>
          <a:bodyPr wrap="square" lIns="0" rIns="0" tIns="0" bIns="0" anchor="t">
            <a:spAutoFit/>
          </a:bodyPr>
          <a:lstStyle/>
          <a:p>
            <a:pPr algn="ctr">
              <a:spcAft>
                <a:spcPts val="300"/>
              </a:spcAft>
            </a:pPr>
            <a:r>
              <a:rPr sz="1100" b="1">
                <a:solidFill>
                  <a:srgbClr val="703CC3"/>
                </a:solidFill>
                <a:latin typeface="Arial"/>
              </a:rPr>
              <a:t>XLSX</a:t>
            </a:r>
          </a:p>
        </p:txBody>
      </p:sp>
      <p:sp>
        <p:nvSpPr>
          <p:cNvPr id="20" name="TextBox 19"/>
          <p:cNvSpPr txBox="1"/>
          <p:nvPr/>
        </p:nvSpPr>
        <p:spPr>
          <a:xfrm>
            <a:off x="8221827" y="2624328"/>
            <a:ext cx="278892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32 Project Budget - Planned vs Actual - Weekly and Monthly</a:t>
            </a:r>
          </a:p>
        </p:txBody>
      </p:sp>
      <p:sp>
        <p:nvSpPr>
          <p:cNvPr id="21" name="TextBox 20"/>
          <p:cNvSpPr txBox="1"/>
          <p:nvPr/>
        </p:nvSpPr>
        <p:spPr>
          <a:xfrm>
            <a:off x="8221827" y="3337560"/>
            <a:ext cx="278892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22" name="Rounded Rectangle 21"/>
          <p:cNvSpPr/>
          <p:nvPr/>
        </p:nvSpPr>
        <p:spPr>
          <a:xfrm>
            <a:off x="749808" y="4343400"/>
            <a:ext cx="10698480" cy="1143000"/>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4544568"/>
            <a:ext cx="182880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DECISION ENABLED</a:t>
            </a:r>
          </a:p>
        </p:txBody>
      </p:sp>
      <p:sp>
        <p:nvSpPr>
          <p:cNvPr id="24" name="TextBox 23"/>
          <p:cNvSpPr txBox="1"/>
          <p:nvPr/>
        </p:nvSpPr>
        <p:spPr>
          <a:xfrm>
            <a:off x="2788920" y="4453128"/>
            <a:ext cx="8229600" cy="685800"/>
          </a:xfrm>
          <a:prstGeom prst="rect">
            <a:avLst/>
          </a:prstGeom>
          <a:noFill/>
        </p:spPr>
        <p:txBody>
          <a:bodyPr wrap="square" lIns="0" rIns="0" tIns="0" bIns="0" anchor="ctr">
            <a:spAutoFit/>
          </a:bodyPr>
          <a:lstStyle/>
          <a:p>
            <a:pPr algn="l">
              <a:spcAft>
                <a:spcPts val="300"/>
              </a:spcAft>
            </a:pPr>
            <a:r>
              <a:rPr sz="1250" b="1">
                <a:solidFill>
                  <a:srgbClr val="131B2A"/>
                </a:solidFill>
                <a:latin typeface="Arial"/>
              </a:rPr>
              <a:t>A network with forward/backward passes, critical path, Gantt milestones, basis of estimates and a time-phased cost baseline plus contingency within the authorised ceiling.</a:t>
            </a:r>
          </a:p>
        </p:txBody>
      </p:sp>
      <p:sp>
        <p:nvSpPr>
          <p:cNvPr id="25" name="TextBox 2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6" name="TextBox 2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TOOL-BASED PRACTICE</a:t>
            </a:r>
          </a:p>
        </p:txBody>
      </p:sp>
      <p:sp>
        <p:nvSpPr>
          <p:cNvPr id="27" name="TextBox 2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02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Develop the Integrated Schedule and Cost Baseline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5 · 55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launch must precede Lunar New Year trading. The vendor has proposed a date without dependency logic, resource calendars or reserves. Finance requires a time-phased baseline within S$180,000.</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Sequence work packages, calculate the critical path and float, estimate duration and cost using explicit methods, set milestones and reconcile schedule, budget and reserve.</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network with forward/backward passes, critical path, Gantt milestones, basis of estimates and a time-phased cost baseline plus contingency within the authorised ceiling.</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dependency network calculates correctly, the plan fits the five-month limit, all authorised work is time-phased and funded, and baseline plus contingency stays within S$180,000.</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Network Diagram, Gantt Schedule and Budget versus Actual</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5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5 · LO2</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02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5: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Gantt is the presentation of schedule logic, not the logic itself.</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critical path can change after every update or approved change.</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Baseline and forecast must remain separate so variance can be explained.</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02 · A2, K2 · LO2</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02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plan integrates subsidiary decisions; separate scope, schedule and cost files are not yet a project plan.</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scope statement defines deliverables, exclusions, constraints, assumptions and acceptance criteria.</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network with forward/backward passes, critical path, Gantt milestones, basis of estimates and a time-phased cost baseline plus contingency within the authorised ceiling.</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Sequence, estimate and fund the authorised scope as one realistic plan (A2, K2).</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02 · A2, K2 · LO2</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03 · A3, K3 · LO3</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Apply Methods and Tools to Drive a Project</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Quality planning · flow · root cause · Pareto · improvement</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03</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A3, K3 · LO3</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Use the lightest tool that changes the next decision.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A tool earns its place when it turns uncertain work into visible evidence: flow, cause, variation, priority or ownership.</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03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Apply Methods and Tools to Drive a Project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method defines how work is managed; a tool makes information visible. Choose both for the decision needed.</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Predictive plans optimise sequence and baseline control; adaptive boards optimise flow and feedback; hybrid combines both intentionally.</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Quality means conformance to requirements and fitness for use, not luxury or perfection.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Prevention and appraisal are usually cheaper than internal and external failure.</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Apply Methods and Tools to Drive a Project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check sheet captures facts, a control chart detects process behaviour, Pareto prioritises causes, and fishbone plus 5 Whys investigates root cause.</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Root-cause analysis must end at a process or system cause the team can influence, not blame a person.</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Visual work management exposes blocked work and excessive WIP before the schedule report does.</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Continuous improvement closes the loop through a named action, owner, measure and review date.</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Select the Tool for the Question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Question</a:t>
            </a:r>
          </a:p>
        </p:txBody>
      </p:sp>
      <p:sp>
        <p:nvSpPr>
          <p:cNvPr id="9" name="Rectangle 8"/>
          <p:cNvSpPr/>
          <p:nvPr/>
        </p:nvSpPr>
        <p:spPr>
          <a:xfrm>
            <a:off x="431596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Best starting tool</a:t>
            </a:r>
          </a:p>
        </p:txBody>
      </p:sp>
      <p:sp>
        <p:nvSpPr>
          <p:cNvPr id="11" name="Rectangle 10"/>
          <p:cNvSpPr/>
          <p:nvPr/>
        </p:nvSpPr>
        <p:spPr>
          <a:xfrm>
            <a:off x="7882127"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Output</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What happened?</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Check sheet</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Reliable facts</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Why might it happen?</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Fishbone</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Cause families</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What is the root?</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5 Whys</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Actionable chain</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Which causes matter most?</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Pareto</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Vital few</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Is the process stable?</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Control chart</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Common vs special cause</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Tools work as a sequence: facts → causes → priority → behaviour → action.</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DECISION TOOL</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Cost of Quality</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Category</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Purpose</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Example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Prevention</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Stop defects forming</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Training and standards</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Appraisal</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Detect before release</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Review and testing</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Internal failure</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Fix before customer</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Rework and retest</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External failure</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Recover after release</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Returns and reputation</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Invest upstream where a dollar of prevention avoids many dollars of failure.</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DECISION TOOL</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03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Root Cause to Improvement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Observe</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capture the defect fact</a:t>
            </a:r>
          </a:p>
        </p:txBody>
      </p:sp>
      <p:cxnSp>
        <p:nvCxnSpPr>
          <p:cNvPr id="12" name="Connector 11"/>
          <p:cNvCxnSpPr/>
          <p:nvPr/>
        </p:nvCxnSpPr>
        <p:spPr>
          <a:xfrm>
            <a:off x="2395727" y="3474720"/>
            <a:ext cx="164593"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Explore</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map possible causes</a:t>
            </a:r>
          </a:p>
        </p:txBody>
      </p:sp>
      <p:cxnSp>
        <p:nvCxnSpPr>
          <p:cNvPr id="18" name="Connector 17"/>
          <p:cNvCxnSpPr/>
          <p:nvPr/>
        </p:nvCxnSpPr>
        <p:spPr>
          <a:xfrm>
            <a:off x="4206240"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Drill</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test the causal chain</a:t>
            </a:r>
          </a:p>
        </p:txBody>
      </p:sp>
      <p:cxnSp>
        <p:nvCxnSpPr>
          <p:cNvPr id="24" name="Connector 23"/>
          <p:cNvCxnSpPr/>
          <p:nvPr/>
        </p:nvCxnSpPr>
        <p:spPr>
          <a:xfrm>
            <a:off x="6016751"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Prioritise</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focus the vital few</a:t>
            </a:r>
          </a:p>
        </p:txBody>
      </p:sp>
      <p:cxnSp>
        <p:nvCxnSpPr>
          <p:cNvPr id="30" name="Connector 29"/>
          <p:cNvCxnSpPr/>
          <p:nvPr/>
        </p:nvCxnSpPr>
        <p:spPr>
          <a:xfrm>
            <a:off x="782726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Experiment</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 measure, date</a:t>
            </a:r>
          </a:p>
        </p:txBody>
      </p:sp>
      <p:cxnSp>
        <p:nvCxnSpPr>
          <p:cNvPr id="36" name="Connector 35"/>
          <p:cNvCxnSpPr/>
          <p:nvPr/>
        </p:nvCxnSpPr>
        <p:spPr>
          <a:xfrm>
            <a:off x="9637776"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Verify</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sustain or adapt</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Stopping at a cause without a verified action is analysis theatre.</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Method versus Tool</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Element</a:t>
            </a:r>
          </a:p>
        </p:txBody>
      </p:sp>
      <p:sp>
        <p:nvSpPr>
          <p:cNvPr id="9" name="Rectangle 8"/>
          <p:cNvSpPr/>
          <p:nvPr/>
        </p:nvSpPr>
        <p:spPr>
          <a:xfrm>
            <a:off x="431596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Purpose</a:t>
            </a:r>
          </a:p>
        </p:txBody>
      </p:sp>
      <p:sp>
        <p:nvSpPr>
          <p:cNvPr id="11" name="Rectangle 10"/>
          <p:cNvSpPr/>
          <p:nvPr/>
        </p:nvSpPr>
        <p:spPr>
          <a:xfrm>
            <a:off x="7882127"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Example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Method</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Defines how work is managed</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Predictive, Scrum, Kanban, PDCA</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Tool</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Makes evidence visible</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WBS, board, chart, log</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Policy</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Defines operating rule</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WIP limit, acceptance rule</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Cadence</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Defines review rhythm</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Daily review, weekly status</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A familiar tool used without a decision rule becomes decoration.</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Predictive, Adaptive and Hybrid</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Signal</a:t>
            </a:r>
          </a:p>
        </p:txBody>
      </p:sp>
      <p:sp>
        <p:nvSpPr>
          <p:cNvPr id="9" name="Rectangle 8"/>
          <p:cNvSpPr/>
          <p:nvPr/>
        </p:nvSpPr>
        <p:spPr>
          <a:xfrm>
            <a:off x="431596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Predictive</a:t>
            </a:r>
          </a:p>
        </p:txBody>
      </p:sp>
      <p:sp>
        <p:nvSpPr>
          <p:cNvPr id="11" name="Rectangle 10"/>
          <p:cNvSpPr/>
          <p:nvPr/>
        </p:nvSpPr>
        <p:spPr>
          <a:xfrm>
            <a:off x="7882127"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Adaptive / hybrid</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Requirements</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Stable and knowable</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Evolving or discovery-heavy</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Delivery</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Larger gated releases</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Short usable increments</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Change</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Controlled against baseline</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Expected inside prioritised backlog</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Best fit</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Low uncertainty, costly rework</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Fast feedback, reversible choices</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Tailor by deliverable when different parts of one small project carry different uncertainty.</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Direct and Manage Project Work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Authorise</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approved plan and work package</a:t>
            </a:r>
          </a:p>
        </p:txBody>
      </p:sp>
      <p:cxnSp>
        <p:nvCxnSpPr>
          <p:cNvPr id="12" name="Connector 11"/>
          <p:cNvCxnSpPr/>
          <p:nvPr/>
        </p:nvCxnSpPr>
        <p:spPr>
          <a:xfrm>
            <a:off x="2757830" y="3474720"/>
            <a:ext cx="164592"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Coordinate</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people, suppliers and interfaces</a:t>
            </a:r>
          </a:p>
        </p:txBody>
      </p:sp>
      <p:cxnSp>
        <p:nvCxnSpPr>
          <p:cNvPr id="18" name="Connector 17"/>
          <p:cNvCxnSpPr/>
          <p:nvPr/>
        </p:nvCxnSpPr>
        <p:spPr>
          <a:xfrm>
            <a:off x="4930444" y="3474720"/>
            <a:ext cx="164592"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Produce</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deliverables and work data</a:t>
            </a:r>
          </a:p>
        </p:txBody>
      </p:sp>
      <p:cxnSp>
        <p:nvCxnSpPr>
          <p:cNvPr id="24" name="Connector 23"/>
          <p:cNvCxnSpPr/>
          <p:nvPr/>
        </p:nvCxnSpPr>
        <p:spPr>
          <a:xfrm>
            <a:off x="7103059" y="3474720"/>
            <a:ext cx="164592"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Learn</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issues, knowledge and requests</a:t>
            </a:r>
          </a:p>
        </p:txBody>
      </p:sp>
      <p:cxnSp>
        <p:nvCxnSpPr>
          <p:cNvPr id="30" name="Connector 29"/>
          <p:cNvCxnSpPr/>
          <p:nvPr/>
        </p:nvCxnSpPr>
        <p:spPr>
          <a:xfrm>
            <a:off x="9275673" y="3474720"/>
            <a:ext cx="164592"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Update</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documents and forecasts</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Execution produces both deliverables and information needed for control.</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 Lean PMIS for a Small Project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Source of truth</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Named location and owner.</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Version control</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Number, date, author and status.</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Decision log</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What, who, when and rationale.</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Access</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Right people, current artefact.</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Archive</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Superseded records remain traceable.</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Security</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Sensitive content has proportionate access.</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Quality Planning, Assurance and Control</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Discipline</a:t>
            </a:r>
          </a:p>
        </p:txBody>
      </p:sp>
      <p:sp>
        <p:nvSpPr>
          <p:cNvPr id="9" name="Rectangle 8"/>
          <p:cNvSpPr/>
          <p:nvPr/>
        </p:nvSpPr>
        <p:spPr>
          <a:xfrm>
            <a:off x="431596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Question</a:t>
            </a:r>
          </a:p>
        </p:txBody>
      </p:sp>
      <p:sp>
        <p:nvSpPr>
          <p:cNvPr id="11" name="Rectangle 10"/>
          <p:cNvSpPr/>
          <p:nvPr/>
        </p:nvSpPr>
        <p:spPr>
          <a:xfrm>
            <a:off x="7882127"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Evidence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Planning</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What quality is required?</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Metrics, methods and acceptance</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Assurance</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Will the process achieve it?</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Review, audit, coaching</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Control</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Does the result conform?</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Inspection, tests and charts</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Improvement</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How will the system change?</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Experiment and verification</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Inspection finds defects; assurance and improvement reduce the chance of creating them.</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HarbourHub Quality-Cost Decision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Option</a:t>
            </a:r>
          </a:p>
        </p:txBody>
      </p:sp>
      <p:sp>
        <p:nvSpPr>
          <p:cNvPr id="9" name="Rectangle 8"/>
          <p:cNvSpPr/>
          <p:nvPr/>
        </p:nvSpPr>
        <p:spPr>
          <a:xfrm>
            <a:off x="431596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Near-term effect</a:t>
            </a:r>
          </a:p>
        </p:txBody>
      </p:sp>
      <p:sp>
        <p:nvSpPr>
          <p:cNvPr id="11" name="Rectangle 10"/>
          <p:cNvSpPr/>
          <p:nvPr/>
        </p:nvSpPr>
        <p:spPr>
          <a:xfrm>
            <a:off x="7882127"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Decision signal</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Add catalogue-data validation</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S$4,000 prevention spend</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Reduces rejection and re-pick risk</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Test only at pilot launch</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Lower spend now</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Defects discovered with customers waiting</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Accept manual correction</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No tooling change</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Recurring labour and queue growth</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Decision</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Fund validation before rollout</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Cheaper than repeated external failure</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team chooses prevention because one avoided launch-week failure can repay the control.</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Quality Tool Sequence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Check sheet</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capture facts</a:t>
            </a:r>
          </a:p>
        </p:txBody>
      </p:sp>
      <p:cxnSp>
        <p:nvCxnSpPr>
          <p:cNvPr id="12" name="Connector 11"/>
          <p:cNvCxnSpPr/>
          <p:nvPr/>
        </p:nvCxnSpPr>
        <p:spPr>
          <a:xfrm>
            <a:off x="2395727" y="3474720"/>
            <a:ext cx="164593"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Fishbone</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broaden possible causes</a:t>
            </a:r>
          </a:p>
        </p:txBody>
      </p:sp>
      <p:cxnSp>
        <p:nvCxnSpPr>
          <p:cNvPr id="18" name="Connector 17"/>
          <p:cNvCxnSpPr/>
          <p:nvPr/>
        </p:nvCxnSpPr>
        <p:spPr>
          <a:xfrm>
            <a:off x="4206240" y="3474720"/>
            <a:ext cx="164591"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Five Whys</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test one chain</a:t>
            </a:r>
          </a:p>
        </p:txBody>
      </p:sp>
      <p:cxnSp>
        <p:nvCxnSpPr>
          <p:cNvPr id="24" name="Connector 23"/>
          <p:cNvCxnSpPr/>
          <p:nvPr/>
        </p:nvCxnSpPr>
        <p:spPr>
          <a:xfrm>
            <a:off x="6016751" y="3474720"/>
            <a:ext cx="164592"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Pareto</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focus the vital few</a:t>
            </a:r>
          </a:p>
        </p:txBody>
      </p:sp>
      <p:cxnSp>
        <p:nvCxnSpPr>
          <p:cNvPr id="30" name="Connector 29"/>
          <p:cNvCxnSpPr/>
          <p:nvPr/>
        </p:nvCxnSpPr>
        <p:spPr>
          <a:xfrm>
            <a:off x="7827263" y="3474720"/>
            <a:ext cx="164592"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Control chart</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understand behaviour</a:t>
            </a:r>
          </a:p>
        </p:txBody>
      </p:sp>
      <p:cxnSp>
        <p:nvCxnSpPr>
          <p:cNvPr id="36" name="Connector 35"/>
          <p:cNvCxnSpPr/>
          <p:nvPr/>
        </p:nvCxnSpPr>
        <p:spPr>
          <a:xfrm>
            <a:off x="9637776" y="3474720"/>
            <a:ext cx="164591"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Experiment</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verify improvement</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Do not jump from anecdote directly to solution.</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Common Cause versus Special Cause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Signal</a:t>
            </a:r>
          </a:p>
        </p:txBody>
      </p:sp>
      <p:sp>
        <p:nvSpPr>
          <p:cNvPr id="9" name="Rectangle 8"/>
          <p:cNvSpPr/>
          <p:nvPr/>
        </p:nvSpPr>
        <p:spPr>
          <a:xfrm>
            <a:off x="4315968"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Meaning</a:t>
            </a:r>
          </a:p>
        </p:txBody>
      </p:sp>
      <p:sp>
        <p:nvSpPr>
          <p:cNvPr id="11" name="Rectangle 10"/>
          <p:cNvSpPr/>
          <p:nvPr/>
        </p:nvSpPr>
        <p:spPr>
          <a:xfrm>
            <a:off x="7882127" y="1810512"/>
            <a:ext cx="3566160" cy="758952"/>
          </a:xfrm>
          <a:prstGeom prst="rect">
            <a:avLst/>
          </a:prstGeom>
          <a:solidFill>
            <a:srgbClr val="703C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Response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Stable random variation</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System behaviour</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Improve the process</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Point beyond limits</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Potential special cause</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Investigate event</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Run or trend</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Non-random pattern</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Test changed condition</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Within limits but off specification</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Stable but incapable</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Redesign process</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Control limits come from process data; specification limits come from requirements.</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Kanban Operating Policies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Visualise</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Show status, owner and blockers.</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Limit WIP</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Stop starting; start finishing.</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Manage flow</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Watch ageing and bottlenecks.</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Make policies explicit</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Entry, exit and priority rules.</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Feedback</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Review at a useful cadence.</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Improve</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Run small measurable experiments.</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PDCA Improvement Loop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551176"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2295144"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Plan</a:t>
            </a:r>
          </a:p>
        </p:txBody>
      </p:sp>
      <p:sp>
        <p:nvSpPr>
          <p:cNvPr id="11" name="TextBox 10"/>
          <p:cNvSpPr txBox="1"/>
          <p:nvPr/>
        </p:nvSpPr>
        <p:spPr>
          <a:xfrm>
            <a:off x="896112"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problem, cause, hypothesis and measure</a:t>
            </a:r>
          </a:p>
        </p:txBody>
      </p:sp>
      <p:cxnSp>
        <p:nvCxnSpPr>
          <p:cNvPr id="12" name="Connector 11"/>
          <p:cNvCxnSpPr/>
          <p:nvPr/>
        </p:nvCxnSpPr>
        <p:spPr>
          <a:xfrm>
            <a:off x="3300984" y="3474720"/>
            <a:ext cx="164592"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65576"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65576" y="1965960"/>
            <a:ext cx="2551176"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2240279"/>
            <a:ext cx="2295144"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593592"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Do</a:t>
            </a:r>
          </a:p>
        </p:txBody>
      </p:sp>
      <p:sp>
        <p:nvSpPr>
          <p:cNvPr id="17" name="TextBox 16"/>
          <p:cNvSpPr txBox="1"/>
          <p:nvPr/>
        </p:nvSpPr>
        <p:spPr>
          <a:xfrm>
            <a:off x="3611880"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small controlled change</a:t>
            </a:r>
          </a:p>
        </p:txBody>
      </p:sp>
      <p:cxnSp>
        <p:nvCxnSpPr>
          <p:cNvPr id="18" name="Connector 17"/>
          <p:cNvCxnSpPr/>
          <p:nvPr/>
        </p:nvCxnSpPr>
        <p:spPr>
          <a:xfrm>
            <a:off x="6016752" y="3474720"/>
            <a:ext cx="164592"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81344"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1965960"/>
            <a:ext cx="2551176"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240279"/>
            <a:ext cx="2295144"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6309360"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Check</a:t>
            </a:r>
          </a:p>
        </p:txBody>
      </p:sp>
      <p:sp>
        <p:nvSpPr>
          <p:cNvPr id="23" name="TextBox 22"/>
          <p:cNvSpPr txBox="1"/>
          <p:nvPr/>
        </p:nvSpPr>
        <p:spPr>
          <a:xfrm>
            <a:off x="6327648"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compare evidence with prediction</a:t>
            </a:r>
          </a:p>
        </p:txBody>
      </p:sp>
      <p:cxnSp>
        <p:nvCxnSpPr>
          <p:cNvPr id="24" name="Connector 23"/>
          <p:cNvCxnSpPr/>
          <p:nvPr/>
        </p:nvCxnSpPr>
        <p:spPr>
          <a:xfrm>
            <a:off x="8732520" y="3474720"/>
            <a:ext cx="164592" cy="0"/>
          </a:xfrm>
          <a:prstGeom prst="line">
            <a:avLst/>
          </a:prstGeom>
          <a:ln w="25400">
            <a:solidFill>
              <a:srgbClr val="703CC3"/>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897112" y="1965960"/>
            <a:ext cx="2551176"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97112" y="1965960"/>
            <a:ext cx="2551176"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25128" y="2240279"/>
            <a:ext cx="2295144"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9025128" y="2752344"/>
            <a:ext cx="2295144"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Act</a:t>
            </a:r>
          </a:p>
        </p:txBody>
      </p:sp>
      <p:sp>
        <p:nvSpPr>
          <p:cNvPr id="29" name="TextBox 28"/>
          <p:cNvSpPr txBox="1"/>
          <p:nvPr/>
        </p:nvSpPr>
        <p:spPr>
          <a:xfrm>
            <a:off x="9043416" y="3465576"/>
            <a:ext cx="2258568"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standardise, adapt or stop</a:t>
            </a:r>
          </a:p>
        </p:txBody>
      </p:sp>
      <p:sp>
        <p:nvSpPr>
          <p:cNvPr id="30" name="Rounded Rectangle 29"/>
          <p:cNvSpPr/>
          <p:nvPr/>
        </p:nvSpPr>
        <p:spPr>
          <a:xfrm>
            <a:off x="749808" y="5303520"/>
            <a:ext cx="10698480" cy="713232"/>
          </a:xfrm>
          <a:prstGeom prst="roundRect">
            <a:avLst>
              <a:gd name="adj" fmla="val 8000"/>
            </a:avLst>
          </a:prstGeom>
          <a:solidFill>
            <a:srgbClr val="FFFFFF"/>
          </a:solidFill>
          <a:ln w="12700">
            <a:solidFill>
              <a:srgbClr val="703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Improvement is complete only when the new practice is verified and sustained.</a:t>
            </a:r>
          </a:p>
        </p:txBody>
      </p:sp>
      <p:sp>
        <p:nvSpPr>
          <p:cNvPr id="32" name="TextBox 31"/>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3" name="TextBox 32"/>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34" name="TextBox 33"/>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Manage Project Knowledge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Explicit</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Documents, data and procedures.</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Tacit</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Experience and judgement shared through work.</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Create</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Reviews, experiments and problem solving.</a:t>
            </a:r>
          </a:p>
        </p:txBody>
      </p:sp>
      <p:sp>
        <p:nvSpPr>
          <p:cNvPr id="19" name="Rounded Rectangle 18"/>
          <p:cNvSpPr/>
          <p:nvPr/>
        </p:nvSpPr>
        <p:spPr>
          <a:xfrm>
            <a:off x="257098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7098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2702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Use</a:t>
            </a:r>
          </a:p>
        </p:txBody>
      </p:sp>
      <p:sp>
        <p:nvSpPr>
          <p:cNvPr id="22" name="TextBox 21"/>
          <p:cNvSpPr txBox="1"/>
          <p:nvPr/>
        </p:nvSpPr>
        <p:spPr>
          <a:xfrm>
            <a:off x="282702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Decision support during delivery.</a:t>
            </a:r>
          </a:p>
        </p:txBody>
      </p:sp>
      <p:sp>
        <p:nvSpPr>
          <p:cNvPr id="23" name="Rounded Rectangle 22"/>
          <p:cNvSpPr/>
          <p:nvPr/>
        </p:nvSpPr>
        <p:spPr>
          <a:xfrm>
            <a:off x="621334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Transfer</a:t>
            </a:r>
          </a:p>
        </p:txBody>
      </p:sp>
      <p:sp>
        <p:nvSpPr>
          <p:cNvPr id="26" name="TextBox 25"/>
          <p:cNvSpPr txBox="1"/>
          <p:nvPr/>
        </p:nvSpPr>
        <p:spPr>
          <a:xfrm>
            <a:off x="646938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Handover and lessons for future teams.</a:t>
            </a:r>
          </a:p>
        </p:txBody>
      </p:sp>
      <p:sp>
        <p:nvSpPr>
          <p:cNvPr id="27" name="TextBox 26"/>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8" name="TextBox 27"/>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REFERENCE-SOURCED DEEP DIVE</a:t>
            </a:r>
          </a:p>
        </p:txBody>
      </p:sp>
      <p:sp>
        <p:nvSpPr>
          <p:cNvPr id="29" name="TextBox 28"/>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6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30 Kanban Board</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35 Check Sheets</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34 Control Chart</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150" b="1">
                <a:solidFill>
                  <a:srgbClr val="F59E0B"/>
                </a:solidFill>
                <a:latin typeface="Arial"/>
              </a:rPr>
              <a:t>06 Delivery Approach and Quality Plan</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TOOL-BASED PRACTICE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Tailor the Delivery Method and Quality Plan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6 · 35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catalogue and POS interface need predictable milestone control, while the outlet workflow needs rapid testing and feedback. The team must choose a hybrid delivery rhythm and define quality before build begins.</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Assess uncertainty and reversibility, tailor predictive and adaptive controls, define the Definition of Done, quality metrics, review cadence, WIP limits and evidence rules.</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documented hybrid approach, phase and iteration rhythm, quality management plan, Definition of Done, Kanban policy and measurement plan.</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approach matches uncertainty, quality is measurable before work begins, WIP and evidence rules are explicit, and predictive/adaptive controls do not contradict one another.</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Delivery Approach Canvas, Quality Plan and Kanban Board</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6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6 · LO3</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6: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Hybrid is intentional tailoring, not running two incompatible systems in parallel.</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Quality must be designed into the workflow before it is inspected at the end.</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tool earns its place only when it changes a decision or behaviour.</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10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35 Check Sheets</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37 Ishikawa Diagram</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38 Five Whys</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Rounded Rectangle 18"/>
          <p:cNvSpPr/>
          <p:nvPr/>
        </p:nvSpPr>
        <p:spPr>
          <a:xfrm>
            <a:off x="257098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7098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2702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36 Pareto Principle Template</a:t>
            </a:r>
          </a:p>
        </p:txBody>
      </p:sp>
      <p:sp>
        <p:nvSpPr>
          <p:cNvPr id="22" name="TextBox 21"/>
          <p:cNvSpPr txBox="1"/>
          <p:nvPr/>
        </p:nvSpPr>
        <p:spPr>
          <a:xfrm>
            <a:off x="282702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3" name="Rounded Rectangle 22"/>
          <p:cNvSpPr/>
          <p:nvPr/>
        </p:nvSpPr>
        <p:spPr>
          <a:xfrm>
            <a:off x="621334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34 Control Chart</a:t>
            </a:r>
          </a:p>
        </p:txBody>
      </p:sp>
      <p:sp>
        <p:nvSpPr>
          <p:cNvPr id="26" name="TextBox 25"/>
          <p:cNvSpPr txBox="1"/>
          <p:nvPr/>
        </p:nvSpPr>
        <p:spPr>
          <a:xfrm>
            <a:off x="646938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7" name="TextBox 26"/>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8" name="TextBox 27"/>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TOOL-BASED PRACTICE</a:t>
            </a:r>
          </a:p>
        </p:txBody>
      </p:sp>
      <p:sp>
        <p:nvSpPr>
          <p:cNvPr id="29" name="TextBox 28"/>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03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Diagnose the Pilot Quality Failure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10 · 40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During testing, only 82% of orders are ready on time and pick accuracy is 94%. The vendor blames store staff; store staff blame inventory updates. The sponsor wants action before facts and hypotheses are separated.</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Reconcile defect data, broaden possible causes, test a causal chain, prioritise the vital few, interpret process behaviour and design one measurable corrective experiment.</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check sheet, fishbone, five-whys chain, Pareto chart, control-chart interpretation and SMART corrective experiment.</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Data totals reconcile, Pareto reaches 100%, the causal chain is actionable, the control interpretation matches the signal and the experiment has an owner and verification date.</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Check Sheet, Fishbone, Five Whys, Pareto and Control Chart</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10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10 · LO3</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03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10: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Fishbone broadens, Five Whys deepens and Pareto prioritises.</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Control limits describe process behaviour; specifications describe customer need.</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Improvement is project work only when funded, owned and verified.</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03 · A3, K3 · LO3</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03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method defines how work is managed; a tool makes information visible. Choose both for the decision needed.</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Prevention and appraisal are usually cheaper than internal and external failure.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check sheet, fishbone, five-whys chain, Pareto chart, control-chart interpretation and SMART corrective experiment.</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Use evidence and root-cause tools to select a controlled corrective experiment (A3, K3).</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03 · A3, K3 · LO3</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04 · A4, K4 · LO4</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Manage Project Risk</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Identify · assess · respond · contingency · monitor</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04</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A4, K4 · LO4</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Risk management buys options before they become expensive.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The register matters only when it changes funding, sequencing, ownership or contingency before a trigger becomes an issue.</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04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Manage Project Risk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Risk is an uncertain event or condition with a positive or negative effect; an issue has already happened.</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Write risks as cause-event-impact statements so the response targets the cause or reduces the impact.</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risk register records owner, probability, impact, exposure, triggers, response, contingency and residual risk.</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Qualitative analysis prioritises quickly; quantitative analysis estimates the range of outcomes and decision value.</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04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Manage Project Risk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Threat responses are avoid, mitigate, transfer, accept or escalate; opportunity responses are exploit, enhance, share, accept or escalate.</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contingency plan is triggered by an observable threshold and funded from contingency reserve.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Decision trees compare expected monetary value; tornado charts reveal which assumptions deserve the most attention.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Risk reviews are recurring decisions, not a register created once and archived.</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04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Risk Cycle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Identify</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cause-event-impact</a:t>
            </a:r>
          </a:p>
        </p:txBody>
      </p:sp>
      <p:cxnSp>
        <p:nvCxnSpPr>
          <p:cNvPr id="12" name="Connector 11"/>
          <p:cNvCxnSpPr/>
          <p:nvPr/>
        </p:nvCxnSpPr>
        <p:spPr>
          <a:xfrm>
            <a:off x="2757830"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Analyse</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probability, impact, urgency</a:t>
            </a:r>
          </a:p>
        </p:txBody>
      </p:sp>
      <p:cxnSp>
        <p:nvCxnSpPr>
          <p:cNvPr id="18" name="Connector 17"/>
          <p:cNvCxnSpPr/>
          <p:nvPr/>
        </p:nvCxnSpPr>
        <p:spPr>
          <a:xfrm>
            <a:off x="4930444"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Plan</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 response, trigger</a:t>
            </a:r>
          </a:p>
        </p:txBody>
      </p:sp>
      <p:cxnSp>
        <p:nvCxnSpPr>
          <p:cNvPr id="24" name="Connector 23"/>
          <p:cNvCxnSpPr/>
          <p:nvPr/>
        </p:nvCxnSpPr>
        <p:spPr>
          <a:xfrm>
            <a:off x="7103059"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Fund</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contingency and fallback</a:t>
            </a:r>
          </a:p>
        </p:txBody>
      </p:sp>
      <p:cxnSp>
        <p:nvCxnSpPr>
          <p:cNvPr id="30" name="Connector 29"/>
          <p:cNvCxnSpPr/>
          <p:nvPr/>
        </p:nvCxnSpPr>
        <p:spPr>
          <a:xfrm>
            <a:off x="927567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Monitor</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review residual and secondary risk</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Triggered risk becomes an issue and moves into action management.</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APPLIED FRAMEWORK</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04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Threat Response Choices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Response</a:t>
            </a:r>
          </a:p>
        </p:txBody>
      </p:sp>
      <p:sp>
        <p:nvSpPr>
          <p:cNvPr id="9" name="Rectangle 8"/>
          <p:cNvSpPr/>
          <p:nvPr/>
        </p:nvSpPr>
        <p:spPr>
          <a:xfrm>
            <a:off x="431596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What changes</a:t>
            </a:r>
          </a:p>
        </p:txBody>
      </p:sp>
      <p:sp>
        <p:nvSpPr>
          <p:cNvPr id="11" name="Rectangle 10"/>
          <p:cNvSpPr/>
          <p:nvPr/>
        </p:nvSpPr>
        <p:spPr>
          <a:xfrm>
            <a:off x="7882127"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Example</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Avoid</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Remove the threat source</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Change approach</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Mitigate</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Reduce probability or impact</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Prototype early</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Transfer</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Shift financial consequence</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Insurance / contract</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Accept</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Monitor and prepare</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Contingency plan</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Escalate</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Move beyond authority</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Sponsor decision</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Acceptance is a decision with monitoring—not forgetting the risk.</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DECISION TOOL</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04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Qualitative vs Quantitative Analysis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Lens</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Qualitative</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Quantitative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Speed</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Fast prioritisation</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More data and effort</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Output</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Relative exposure</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Range, EMV or sensitivity</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Use</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Most project risks</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Material decision uncertainty</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Caution</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Scoring bias</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False precision</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Use quantitative analysis only where the decision value justifies the work.</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DECISION TOOL</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Risk, Issue and Assumption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Item</a:t>
            </a:r>
          </a:p>
        </p:txBody>
      </p:sp>
      <p:sp>
        <p:nvSpPr>
          <p:cNvPr id="9" name="Rectangle 8"/>
          <p:cNvSpPr/>
          <p:nvPr/>
        </p:nvSpPr>
        <p:spPr>
          <a:xfrm>
            <a:off x="4315968" y="1810512"/>
            <a:ext cx="3566160" cy="758952"/>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Time orientation</a:t>
            </a:r>
          </a:p>
        </p:txBody>
      </p:sp>
      <p:sp>
        <p:nvSpPr>
          <p:cNvPr id="11" name="Rectangle 10"/>
          <p:cNvSpPr/>
          <p:nvPr/>
        </p:nvSpPr>
        <p:spPr>
          <a:xfrm>
            <a:off x="7882127" y="1810512"/>
            <a:ext cx="3566160" cy="758952"/>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Management action</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Risk</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May happen</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Owner, trigger and response</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Issue</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Has happened</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Contain, resolve and escalate</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Assumption</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Believed true</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Validate by a date</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Constraint</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Known limit</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Plan within or change formally</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A triggered risk becomes an issue; its response owner moves from readiness to action.</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Risk Management Cycle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Plan</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scales, thresholds and roles</a:t>
            </a:r>
          </a:p>
        </p:txBody>
      </p:sp>
      <p:cxnSp>
        <p:nvCxnSpPr>
          <p:cNvPr id="12" name="Connector 11"/>
          <p:cNvCxnSpPr/>
          <p:nvPr/>
        </p:nvCxnSpPr>
        <p:spPr>
          <a:xfrm>
            <a:off x="2757830" y="3474720"/>
            <a:ext cx="164592"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Identify</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threats and opportunities</a:t>
            </a:r>
          </a:p>
        </p:txBody>
      </p:sp>
      <p:cxnSp>
        <p:nvCxnSpPr>
          <p:cNvPr id="18" name="Connector 17"/>
          <p:cNvCxnSpPr/>
          <p:nvPr/>
        </p:nvCxnSpPr>
        <p:spPr>
          <a:xfrm>
            <a:off x="4930444" y="3474720"/>
            <a:ext cx="164592"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Analyse</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priority and decision value</a:t>
            </a:r>
          </a:p>
        </p:txBody>
      </p:sp>
      <p:cxnSp>
        <p:nvCxnSpPr>
          <p:cNvPr id="24" name="Connector 23"/>
          <p:cNvCxnSpPr/>
          <p:nvPr/>
        </p:nvCxnSpPr>
        <p:spPr>
          <a:xfrm>
            <a:off x="7103059" y="3474720"/>
            <a:ext cx="164592"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Respond</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action, owner, trigger and reserve</a:t>
            </a:r>
          </a:p>
        </p:txBody>
      </p:sp>
      <p:cxnSp>
        <p:nvCxnSpPr>
          <p:cNvPr id="30" name="Connector 29"/>
          <p:cNvCxnSpPr/>
          <p:nvPr/>
        </p:nvCxnSpPr>
        <p:spPr>
          <a:xfrm>
            <a:off x="9275673" y="3474720"/>
            <a:ext cx="164592"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Monitor</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residual, secondary and emerging risk</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Risk management repeats whenever scope, schedule, suppliers or the environment change.</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Risk Breakdown Structure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Technical</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Design, interface, data and quality.</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External</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Regulation, market, weather and supplier.</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Organisational</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Priority, funding, skills and governance.</a:t>
            </a:r>
          </a:p>
        </p:txBody>
      </p:sp>
      <p:sp>
        <p:nvSpPr>
          <p:cNvPr id="19" name="Rounded Rectangle 18"/>
          <p:cNvSpPr/>
          <p:nvPr/>
        </p:nvSpPr>
        <p:spPr>
          <a:xfrm>
            <a:off x="257098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7098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2702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Project management</a:t>
            </a:r>
          </a:p>
        </p:txBody>
      </p:sp>
      <p:sp>
        <p:nvSpPr>
          <p:cNvPr id="22" name="TextBox 21"/>
          <p:cNvSpPr txBox="1"/>
          <p:nvPr/>
        </p:nvSpPr>
        <p:spPr>
          <a:xfrm>
            <a:off x="282702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Estimate, dependency, communication and scope.</a:t>
            </a:r>
          </a:p>
        </p:txBody>
      </p:sp>
      <p:sp>
        <p:nvSpPr>
          <p:cNvPr id="23" name="Rounded Rectangle 22"/>
          <p:cNvSpPr/>
          <p:nvPr/>
        </p:nvSpPr>
        <p:spPr>
          <a:xfrm>
            <a:off x="621334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Opportunity</a:t>
            </a:r>
          </a:p>
        </p:txBody>
      </p:sp>
      <p:sp>
        <p:nvSpPr>
          <p:cNvPr id="26" name="TextBox 25"/>
          <p:cNvSpPr txBox="1"/>
          <p:nvPr/>
        </p:nvSpPr>
        <p:spPr>
          <a:xfrm>
            <a:off x="646938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Faster adoption, reuse, cost saving and capability.</a:t>
            </a:r>
          </a:p>
        </p:txBody>
      </p:sp>
      <p:sp>
        <p:nvSpPr>
          <p:cNvPr id="27" name="TextBox 26"/>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8" name="TextBox 27"/>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REFERENCE-SOURCED DEEP DIVE</a:t>
            </a:r>
          </a:p>
        </p:txBody>
      </p:sp>
      <p:sp>
        <p:nvSpPr>
          <p:cNvPr id="29" name="TextBox 28"/>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Writing an Actionable Risk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Cause</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because inventory data refresh is delayed</a:t>
            </a:r>
          </a:p>
        </p:txBody>
      </p:sp>
      <p:cxnSp>
        <p:nvCxnSpPr>
          <p:cNvPr id="12" name="Connector 11"/>
          <p:cNvCxnSpPr/>
          <p:nvPr/>
        </p:nvCxnSpPr>
        <p:spPr>
          <a:xfrm>
            <a:off x="2757830" y="3474720"/>
            <a:ext cx="164592"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Event</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stock availability may be wrong</a:t>
            </a:r>
          </a:p>
        </p:txBody>
      </p:sp>
      <p:cxnSp>
        <p:nvCxnSpPr>
          <p:cNvPr id="18" name="Connector 17"/>
          <p:cNvCxnSpPr/>
          <p:nvPr/>
        </p:nvCxnSpPr>
        <p:spPr>
          <a:xfrm>
            <a:off x="4930444" y="3474720"/>
            <a:ext cx="164592"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Impact</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orders may be rejected or re-picked</a:t>
            </a:r>
          </a:p>
        </p:txBody>
      </p:sp>
      <p:cxnSp>
        <p:nvCxnSpPr>
          <p:cNvPr id="24" name="Connector 23"/>
          <p:cNvCxnSpPr/>
          <p:nvPr/>
        </p:nvCxnSpPr>
        <p:spPr>
          <a:xfrm>
            <a:off x="7103059" y="3474720"/>
            <a:ext cx="164592"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Response</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reduce cause or impact</a:t>
            </a:r>
          </a:p>
        </p:txBody>
      </p:sp>
      <p:cxnSp>
        <p:nvCxnSpPr>
          <p:cNvPr id="30" name="Connector 29"/>
          <p:cNvCxnSpPr/>
          <p:nvPr/>
        </p:nvCxnSpPr>
        <p:spPr>
          <a:xfrm>
            <a:off x="9275673" y="3474720"/>
            <a:ext cx="164592"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Trigger</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refresh latency exceeds threshold</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Cause-event-impact wording prevents vague risks such as 'vendor risk'.</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Qualitative Risk Factors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Factor</a:t>
            </a:r>
          </a:p>
        </p:txBody>
      </p:sp>
      <p:sp>
        <p:nvSpPr>
          <p:cNvPr id="9" name="Rectangle 8"/>
          <p:cNvSpPr/>
          <p:nvPr/>
        </p:nvSpPr>
        <p:spPr>
          <a:xfrm>
            <a:off x="4315968" y="1810512"/>
            <a:ext cx="3566160" cy="63246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Question</a:t>
            </a:r>
          </a:p>
        </p:txBody>
      </p:sp>
      <p:sp>
        <p:nvSpPr>
          <p:cNvPr id="11" name="Rectangle 10"/>
          <p:cNvSpPr/>
          <p:nvPr/>
        </p:nvSpPr>
        <p:spPr>
          <a:xfrm>
            <a:off x="7882127" y="1810512"/>
            <a:ext cx="3566160" cy="63246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Use</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Probability</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How likely?</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Exposure priority</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Impact</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How severe?</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Tolerance and reserve</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Urgency</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How soon must we act?</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Response timing</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Proximity</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How soon may it occur?</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Monitoring cadence</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Dormancy</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How long before impact appears?</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Early detection</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Two risks with the same score may require different action timing.</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HarbourHub Threat-Response Workshop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Named threat</a:t>
            </a:r>
          </a:p>
        </p:txBody>
      </p:sp>
      <p:sp>
        <p:nvSpPr>
          <p:cNvPr id="9" name="Rectangle 8"/>
          <p:cNvSpPr/>
          <p:nvPr/>
        </p:nvSpPr>
        <p:spPr>
          <a:xfrm>
            <a:off x="4315968" y="1810512"/>
            <a:ext cx="3566160" cy="63246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Chosen response</a:t>
            </a:r>
          </a:p>
        </p:txBody>
      </p:sp>
      <p:sp>
        <p:nvSpPr>
          <p:cNvPr id="11" name="Rectangle 10"/>
          <p:cNvSpPr/>
          <p:nvPr/>
        </p:nvSpPr>
        <p:spPr>
          <a:xfrm>
            <a:off x="7882127" y="1810512"/>
            <a:ext cx="3566160" cy="63246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Owned action and trigger</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Inventory feed is late</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Mitigate</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IT lead adds latency alert; trigger &gt;15 minutes</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Vendor misses integration date</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Transfer + mitigate</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Milestone clause plus weekly interface test</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Outlet rejects new process</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Mitigate</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Ops lead pilots job aid and observes first 20 orders</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Cyber approval exceeds tolerance</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Escalate</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Sponsor decides scope trade by gate date</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Residual launch disruption</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Accept actively</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Fund two-day floor support contingency</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Each response is specific enough to schedule, fund, monitor and verify.</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Opportunity Response Strategies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Strategy</a:t>
            </a:r>
          </a:p>
        </p:txBody>
      </p:sp>
      <p:sp>
        <p:nvSpPr>
          <p:cNvPr id="9" name="Rectangle 8"/>
          <p:cNvSpPr/>
          <p:nvPr/>
        </p:nvSpPr>
        <p:spPr>
          <a:xfrm>
            <a:off x="4315968" y="1810512"/>
            <a:ext cx="3566160" cy="63246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Intent</a:t>
            </a:r>
          </a:p>
        </p:txBody>
      </p:sp>
      <p:sp>
        <p:nvSpPr>
          <p:cNvPr id="11" name="Rectangle 10"/>
          <p:cNvSpPr/>
          <p:nvPr/>
        </p:nvSpPr>
        <p:spPr>
          <a:xfrm>
            <a:off x="7882127" y="1810512"/>
            <a:ext cx="3566160" cy="63246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Example</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Exploit</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Ensure opportunity occurs</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Assign best resources</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Enhance</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Increase probability or benefit</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Accelerate pilot learning</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Share</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Partner for capability</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Revenue-sharing supplier</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Accept</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Take benefit if it occurs</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No proactive spend</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Escalate</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Move to programme or strategy</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Enterprise reuse</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Positive uncertainty deserves ownership and deliberate action too.</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Response Architecture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Preventive</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act before trigger</a:t>
            </a:r>
          </a:p>
        </p:txBody>
      </p:sp>
      <p:cxnSp>
        <p:nvCxnSpPr>
          <p:cNvPr id="12" name="Connector 11"/>
          <p:cNvCxnSpPr/>
          <p:nvPr/>
        </p:nvCxnSpPr>
        <p:spPr>
          <a:xfrm>
            <a:off x="2395727" y="3474720"/>
            <a:ext cx="164593"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Trigger</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observable threshold</a:t>
            </a:r>
          </a:p>
        </p:txBody>
      </p:sp>
      <p:cxnSp>
        <p:nvCxnSpPr>
          <p:cNvPr id="18" name="Connector 17"/>
          <p:cNvCxnSpPr/>
          <p:nvPr/>
        </p:nvCxnSpPr>
        <p:spPr>
          <a:xfrm>
            <a:off x="4206240" y="3474720"/>
            <a:ext cx="164591"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Contingency</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act when triggered</a:t>
            </a:r>
          </a:p>
        </p:txBody>
      </p:sp>
      <p:cxnSp>
        <p:nvCxnSpPr>
          <p:cNvPr id="24" name="Connector 23"/>
          <p:cNvCxnSpPr/>
          <p:nvPr/>
        </p:nvCxnSpPr>
        <p:spPr>
          <a:xfrm>
            <a:off x="6016751" y="3474720"/>
            <a:ext cx="164592"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Fallback</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act if contingency fails</a:t>
            </a:r>
          </a:p>
        </p:txBody>
      </p:sp>
      <p:cxnSp>
        <p:nvCxnSpPr>
          <p:cNvPr id="30" name="Connector 29"/>
          <p:cNvCxnSpPr/>
          <p:nvPr/>
        </p:nvCxnSpPr>
        <p:spPr>
          <a:xfrm>
            <a:off x="7827263" y="3474720"/>
            <a:ext cx="164592"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Residual</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remaining exposure</a:t>
            </a:r>
          </a:p>
        </p:txBody>
      </p:sp>
      <p:cxnSp>
        <p:nvCxnSpPr>
          <p:cNvPr id="36" name="Connector 35"/>
          <p:cNvCxnSpPr/>
          <p:nvPr/>
        </p:nvCxnSpPr>
        <p:spPr>
          <a:xfrm>
            <a:off x="9637776" y="3474720"/>
            <a:ext cx="164591" cy="0"/>
          </a:xfrm>
          <a:prstGeom prst="line">
            <a:avLst/>
          </a:prstGeom>
          <a:ln w="254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Secondary</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new risk from response</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A response is not operational until timing, ownership and funding are explicit.</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REFERENCE-SOURCED DEEP DIVE</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Decision Tree and Sensitivity</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94869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Tool</a:t>
            </a:r>
          </a:p>
        </p:txBody>
      </p:sp>
      <p:sp>
        <p:nvSpPr>
          <p:cNvPr id="9" name="Rectangle 8"/>
          <p:cNvSpPr/>
          <p:nvPr/>
        </p:nvSpPr>
        <p:spPr>
          <a:xfrm>
            <a:off x="4315968" y="1810512"/>
            <a:ext cx="3566160" cy="94869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Question answered</a:t>
            </a:r>
          </a:p>
        </p:txBody>
      </p:sp>
      <p:sp>
        <p:nvSpPr>
          <p:cNvPr id="11" name="Rectangle 10"/>
          <p:cNvSpPr/>
          <p:nvPr/>
        </p:nvSpPr>
        <p:spPr>
          <a:xfrm>
            <a:off x="7882127" y="1810512"/>
            <a:ext cx="3566160" cy="948690"/>
          </a:xfrm>
          <a:prstGeom prst="rect">
            <a:avLst/>
          </a:prstGeom>
          <a:solidFill>
            <a:srgbClr val="F59E0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Caution</a:t>
            </a:r>
          </a:p>
        </p:txBody>
      </p:sp>
      <p:sp>
        <p:nvSpPr>
          <p:cNvPr id="13" name="Rectangle 12"/>
          <p:cNvSpPr/>
          <p:nvPr/>
        </p:nvSpPr>
        <p:spPr>
          <a:xfrm>
            <a:off x="749808"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804922"/>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Decision tree</a:t>
            </a:r>
          </a:p>
        </p:txBody>
      </p:sp>
      <p:sp>
        <p:nvSpPr>
          <p:cNvPr id="15" name="Rectangle 14"/>
          <p:cNvSpPr/>
          <p:nvPr/>
        </p:nvSpPr>
        <p:spPr>
          <a:xfrm>
            <a:off x="4315968"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80492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Which option has better expected value?</a:t>
            </a:r>
          </a:p>
        </p:txBody>
      </p:sp>
      <p:sp>
        <p:nvSpPr>
          <p:cNvPr id="17" name="Rectangle 16"/>
          <p:cNvSpPr/>
          <p:nvPr/>
        </p:nvSpPr>
        <p:spPr>
          <a:xfrm>
            <a:off x="7882127"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80492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Average value can hide tail consequences</a:t>
            </a:r>
          </a:p>
        </p:txBody>
      </p:sp>
      <p:sp>
        <p:nvSpPr>
          <p:cNvPr id="19" name="Rectangle 18"/>
          <p:cNvSpPr/>
          <p:nvPr/>
        </p:nvSpPr>
        <p:spPr>
          <a:xfrm>
            <a:off x="749808"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753611"/>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Tornado chart</a:t>
            </a:r>
          </a:p>
        </p:txBody>
      </p:sp>
      <p:sp>
        <p:nvSpPr>
          <p:cNvPr id="21" name="Rectangle 20"/>
          <p:cNvSpPr/>
          <p:nvPr/>
        </p:nvSpPr>
        <p:spPr>
          <a:xfrm>
            <a:off x="4315968"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753611"/>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Which assumption drives outcome most?</a:t>
            </a:r>
          </a:p>
        </p:txBody>
      </p:sp>
      <p:sp>
        <p:nvSpPr>
          <p:cNvPr id="23" name="Rectangle 22"/>
          <p:cNvSpPr/>
          <p:nvPr/>
        </p:nvSpPr>
        <p:spPr>
          <a:xfrm>
            <a:off x="7882127"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753611"/>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Range quality determines insight</a:t>
            </a:r>
          </a:p>
        </p:txBody>
      </p:sp>
      <p:sp>
        <p:nvSpPr>
          <p:cNvPr id="25" name="Rectangle 24"/>
          <p:cNvSpPr/>
          <p:nvPr/>
        </p:nvSpPr>
        <p:spPr>
          <a:xfrm>
            <a:off x="749808"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702302"/>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Probability-impact matrix</a:t>
            </a:r>
          </a:p>
        </p:txBody>
      </p:sp>
      <p:sp>
        <p:nvSpPr>
          <p:cNvPr id="27" name="Rectangle 26"/>
          <p:cNvSpPr/>
          <p:nvPr/>
        </p:nvSpPr>
        <p:spPr>
          <a:xfrm>
            <a:off x="4315968"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70230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What needs attention first?</a:t>
            </a:r>
          </a:p>
        </p:txBody>
      </p:sp>
      <p:sp>
        <p:nvSpPr>
          <p:cNvPr id="29" name="Rectangle 28"/>
          <p:cNvSpPr/>
          <p:nvPr/>
        </p:nvSpPr>
        <p:spPr>
          <a:xfrm>
            <a:off x="7882127"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70230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Ordinal scores are not precise money</a:t>
            </a:r>
          </a:p>
        </p:txBody>
      </p:sp>
      <p:sp>
        <p:nvSpPr>
          <p:cNvPr id="31" name="Rounded Rectangle 30"/>
          <p:cNvSpPr/>
          <p:nvPr/>
        </p:nvSpPr>
        <p:spPr>
          <a:xfrm>
            <a:off x="749808" y="5815584"/>
            <a:ext cx="10698480" cy="420624"/>
          </a:xfrm>
          <a:prstGeom prst="roundRect">
            <a:avLst>
              <a:gd name="adj" fmla="val 8000"/>
            </a:avLst>
          </a:prstGeom>
          <a:solidFill>
            <a:srgbClr val="F4F7F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Use more analysis only when the decision value exceeds the analysis effort.</a:t>
            </a:r>
          </a:p>
        </p:txBody>
      </p:sp>
      <p:sp>
        <p:nvSpPr>
          <p:cNvPr id="33" name="TextBox 3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4" name="TextBox 3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REFERENCE-SOURCED DEEP DIVE</a:t>
            </a:r>
          </a:p>
        </p:txBody>
      </p:sp>
      <p:sp>
        <p:nvSpPr>
          <p:cNvPr id="35" name="TextBox 3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TOPIC 04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Risk Review Agenda</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Triggered</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Promote to issue and execute response.</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Changed</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Re-score probability, impact and timing.</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New</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Add emerging and secondary risk.</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Obsolete</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Close with rationale.</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Reserve</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Reconcile use and remaining exposure.</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Escalation</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Decide beyond tolerance.</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04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7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2347" y="2057400"/>
            <a:ext cx="324612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52347" y="2057400"/>
            <a:ext cx="3246120" cy="1097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0947" y="2304288"/>
            <a:ext cx="2788920" cy="292608"/>
          </a:xfrm>
          <a:prstGeom prst="rect">
            <a:avLst/>
          </a:prstGeom>
          <a:noFill/>
        </p:spPr>
        <p:txBody>
          <a:bodyPr wrap="square" lIns="0" rIns="0" tIns="0" bIns="0" anchor="t">
            <a:spAutoFit/>
          </a:bodyPr>
          <a:lstStyle/>
          <a:p>
            <a:pPr algn="ctr">
              <a:spcAft>
                <a:spcPts val="300"/>
              </a:spcAft>
            </a:pPr>
            <a:r>
              <a:rPr sz="1100" b="1">
                <a:solidFill>
                  <a:srgbClr val="1655D1"/>
                </a:solidFill>
                <a:latin typeface="Arial"/>
              </a:rPr>
              <a:t>XLSX</a:t>
            </a:r>
          </a:p>
        </p:txBody>
      </p:sp>
      <p:sp>
        <p:nvSpPr>
          <p:cNvPr id="10" name="TextBox 9"/>
          <p:cNvSpPr txBox="1"/>
          <p:nvPr/>
        </p:nvSpPr>
        <p:spPr>
          <a:xfrm>
            <a:off x="1180947" y="2624328"/>
            <a:ext cx="278892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48 Risk Assessment Matrix Two pages</a:t>
            </a:r>
          </a:p>
        </p:txBody>
      </p:sp>
      <p:sp>
        <p:nvSpPr>
          <p:cNvPr id="11" name="TextBox 10"/>
          <p:cNvSpPr txBox="1"/>
          <p:nvPr/>
        </p:nvSpPr>
        <p:spPr>
          <a:xfrm>
            <a:off x="1180947" y="3337560"/>
            <a:ext cx="278892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2" name="Rounded Rectangle 11"/>
          <p:cNvSpPr/>
          <p:nvPr/>
        </p:nvSpPr>
        <p:spPr>
          <a:xfrm>
            <a:off x="4472787" y="2057400"/>
            <a:ext cx="324612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72787" y="2057400"/>
            <a:ext cx="3246120"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1387" y="2304288"/>
            <a:ext cx="2788920" cy="292608"/>
          </a:xfrm>
          <a:prstGeom prst="rect">
            <a:avLst/>
          </a:prstGeom>
          <a:noFill/>
        </p:spPr>
        <p:txBody>
          <a:bodyPr wrap="square" lIns="0" rIns="0" tIns="0" bIns="0" anchor="t">
            <a:spAutoFit/>
          </a:bodyPr>
          <a:lstStyle/>
          <a:p>
            <a:pPr algn="ctr">
              <a:spcAft>
                <a:spcPts val="300"/>
              </a:spcAft>
            </a:pPr>
            <a:r>
              <a:rPr sz="1100" b="1">
                <a:solidFill>
                  <a:srgbClr val="0F9D8A"/>
                </a:solidFill>
                <a:latin typeface="Arial"/>
              </a:rPr>
              <a:t>XLSX</a:t>
            </a:r>
          </a:p>
        </p:txBody>
      </p:sp>
      <p:sp>
        <p:nvSpPr>
          <p:cNvPr id="15" name="TextBox 14"/>
          <p:cNvSpPr txBox="1"/>
          <p:nvPr/>
        </p:nvSpPr>
        <p:spPr>
          <a:xfrm>
            <a:off x="4701387" y="2624328"/>
            <a:ext cx="278892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45 Decision Tree Analysis TDIDT</a:t>
            </a:r>
          </a:p>
        </p:txBody>
      </p:sp>
      <p:sp>
        <p:nvSpPr>
          <p:cNvPr id="16" name="TextBox 15"/>
          <p:cNvSpPr txBox="1"/>
          <p:nvPr/>
        </p:nvSpPr>
        <p:spPr>
          <a:xfrm>
            <a:off x="4701387" y="3337560"/>
            <a:ext cx="278892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7" name="Rounded Rectangle 16"/>
          <p:cNvSpPr/>
          <p:nvPr/>
        </p:nvSpPr>
        <p:spPr>
          <a:xfrm>
            <a:off x="7993227" y="2057400"/>
            <a:ext cx="324612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93227" y="2057400"/>
            <a:ext cx="3246120" cy="1097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1827" y="2304288"/>
            <a:ext cx="2788920" cy="292608"/>
          </a:xfrm>
          <a:prstGeom prst="rect">
            <a:avLst/>
          </a:prstGeom>
          <a:noFill/>
        </p:spPr>
        <p:txBody>
          <a:bodyPr wrap="square" lIns="0" rIns="0" tIns="0" bIns="0" anchor="t">
            <a:spAutoFit/>
          </a:bodyPr>
          <a:lstStyle/>
          <a:p>
            <a:pPr algn="ctr">
              <a:spcAft>
                <a:spcPts val="300"/>
              </a:spcAft>
            </a:pPr>
            <a:r>
              <a:rPr sz="1100" b="1">
                <a:solidFill>
                  <a:srgbClr val="703CC3"/>
                </a:solidFill>
                <a:latin typeface="Arial"/>
              </a:rPr>
              <a:t>XLSX</a:t>
            </a:r>
          </a:p>
        </p:txBody>
      </p:sp>
      <p:sp>
        <p:nvSpPr>
          <p:cNvPr id="20" name="TextBox 19"/>
          <p:cNvSpPr txBox="1"/>
          <p:nvPr/>
        </p:nvSpPr>
        <p:spPr>
          <a:xfrm>
            <a:off x="8221827" y="2624328"/>
            <a:ext cx="278892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49 Tornado Chart - Sensitivity Analysis</a:t>
            </a:r>
          </a:p>
        </p:txBody>
      </p:sp>
      <p:sp>
        <p:nvSpPr>
          <p:cNvPr id="21" name="TextBox 20"/>
          <p:cNvSpPr txBox="1"/>
          <p:nvPr/>
        </p:nvSpPr>
        <p:spPr>
          <a:xfrm>
            <a:off x="8221827" y="3337560"/>
            <a:ext cx="278892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22" name="Rounded Rectangle 21"/>
          <p:cNvSpPr/>
          <p:nvPr/>
        </p:nvSpPr>
        <p:spPr>
          <a:xfrm>
            <a:off x="749808" y="4343400"/>
            <a:ext cx="10698480" cy="1143000"/>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4544568"/>
            <a:ext cx="182880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DECISION ENABLED</a:t>
            </a:r>
          </a:p>
        </p:txBody>
      </p:sp>
      <p:sp>
        <p:nvSpPr>
          <p:cNvPr id="24" name="TextBox 23"/>
          <p:cNvSpPr txBox="1"/>
          <p:nvPr/>
        </p:nvSpPr>
        <p:spPr>
          <a:xfrm>
            <a:off x="2788920" y="4453128"/>
            <a:ext cx="8229600" cy="685800"/>
          </a:xfrm>
          <a:prstGeom prst="rect">
            <a:avLst/>
          </a:prstGeom>
          <a:noFill/>
        </p:spPr>
        <p:txBody>
          <a:bodyPr wrap="square" lIns="0" rIns="0" tIns="0" bIns="0" anchor="ctr">
            <a:spAutoFit/>
          </a:bodyPr>
          <a:lstStyle/>
          <a:p>
            <a:pPr algn="l">
              <a:spcAft>
                <a:spcPts val="300"/>
              </a:spcAft>
            </a:pPr>
            <a:r>
              <a:rPr sz="1250" b="1">
                <a:solidFill>
                  <a:srgbClr val="131B2A"/>
                </a:solidFill>
                <a:latin typeface="Arial"/>
              </a:rPr>
              <a:t>A prioritised risk register, response and trigger plan, EMV recommendation, tornado sensitivity reading and reconciled S$18,000 contingency allocation.</a:t>
            </a:r>
          </a:p>
        </p:txBody>
      </p:sp>
      <p:sp>
        <p:nvSpPr>
          <p:cNvPr id="25" name="TextBox 2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6" name="TextBox 2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TOOL-BASED PRACTICE</a:t>
            </a:r>
          </a:p>
        </p:txBody>
      </p:sp>
      <p:sp>
        <p:nvSpPr>
          <p:cNvPr id="27" name="TextBox 2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04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Build the Risk Register and Fund Responses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7 · 45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POS interface may be late, refrigerated stock counts are unreliable, a key trainer has a short availability window and a faster payment option could improve adoption. Contingency reserve is S$18,000.</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Write cause-event-impact risks, rank exposure, assign owners and triggers, choose responses, compare alternatives using EMV and sensitivity, and allocate contingency.</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prioritised risk register, response and trigger plan, EMV recommendation, tornado sensitivity reading and reconciled S$18,000 contingency allocation.</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Priority risks have owners, triggers and funded responses; the EMV and sensitivity logic reconcile; contingency is allocated to named uncertainty and residual risk remains visible.</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Risk Matrix, Decision Tree and Tornado Analysis</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7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7 · LO4</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04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7: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Risk management creates options before triggers become expensive issues.</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Quantitative analysis sharpens material decisions but does not replace judgement.</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Acceptance means informed monitoring and contingency, not forgetting the risk.</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04 · A4, K4 · LO4</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04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Risk is an uncertain event or condition with a positive or negative effect; an issue has already happened.</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Qualitative analysis prioritises quickly; quantitative analysis estimates the range of outcomes and decision value.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prioritised risk register, response and trigger plan, EMV recommendation, tornado sensitivity reading and reconciled S$18,000 contingency allocation.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Identify, analyse and manage uncertainty with proportionate, funded action (A4, K4).</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04 · A4, K4 · LO4</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DAY 1 CLOSE</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End of Day 1</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Save Activities 1–7. Day 2 continues the same project from the approved risk-aware baseline.</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DAY 1 CLOSE</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05 · A5, K5 · LO5</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Collaborate with Stakeholders</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Identify · analyse · communicate · engage · allocate accountability</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05</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A5, K5 · LO5</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Stakeholder engagement is part of delivery.</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Every unresolved expectation eventually appears as a delay, rejected deliverable, unapproved invoice or uncontrolled change.</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05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Collaborate with Stakeholders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stakeholder can affect, be affected by, or perceive themselves to be affected by the project.</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stakeholder register captures interest, influence, expectations, impact, communication needs and engagement strategy.</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Power-interest mapping guides attention; the salience model adds legitimacy and urgency.</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engagement assessment matrix compares current and desired states so the gap becomes actionable.</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05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Collaborate with Stakeholders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RACI clarifies who is Responsible, Accountable, Consulted and Informed; every deliverable needs one clear Accountable owner.</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Communication planning matches audience, message, channel, frequency, owner and feedback route.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Engagement is two-way sense-making and decision participation, not one-way broadcasting.</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Escalation should state the decision needed, options, impact of delay and recommendation.</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05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Stakeholder Analysis to Engagement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Identify</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who affects or is affected</a:t>
            </a:r>
          </a:p>
        </p:txBody>
      </p:sp>
      <p:cxnSp>
        <p:nvCxnSpPr>
          <p:cNvPr id="12" name="Connector 11"/>
          <p:cNvCxnSpPr/>
          <p:nvPr/>
        </p:nvCxnSpPr>
        <p:spPr>
          <a:xfrm>
            <a:off x="2395727" y="3474720"/>
            <a:ext cx="164593"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Analyse</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interest, influence, impact</a:t>
            </a:r>
          </a:p>
        </p:txBody>
      </p:sp>
      <p:cxnSp>
        <p:nvCxnSpPr>
          <p:cNvPr id="18" name="Connector 17"/>
          <p:cNvCxnSpPr/>
          <p:nvPr/>
        </p:nvCxnSpPr>
        <p:spPr>
          <a:xfrm>
            <a:off x="4206240"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Prioritise</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power-interest and salience</a:t>
            </a:r>
          </a:p>
        </p:txBody>
      </p:sp>
      <p:cxnSp>
        <p:nvCxnSpPr>
          <p:cNvPr id="24" name="Connector 23"/>
          <p:cNvCxnSpPr/>
          <p:nvPr/>
        </p:nvCxnSpPr>
        <p:spPr>
          <a:xfrm>
            <a:off x="6016751"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Plan</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message, channel, frequency</a:t>
            </a:r>
          </a:p>
        </p:txBody>
      </p:sp>
      <p:cxnSp>
        <p:nvCxnSpPr>
          <p:cNvPr id="30" name="Connector 29"/>
          <p:cNvCxnSpPr/>
          <p:nvPr/>
        </p:nvCxnSpPr>
        <p:spPr>
          <a:xfrm>
            <a:off x="782726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Engage</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two-way decisions</a:t>
            </a:r>
          </a:p>
        </p:txBody>
      </p:sp>
      <p:cxnSp>
        <p:nvCxnSpPr>
          <p:cNvPr id="36" name="Connector 35"/>
          <p:cNvCxnSpPr/>
          <p:nvPr/>
        </p:nvCxnSpPr>
        <p:spPr>
          <a:xfrm>
            <a:off x="9637776"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Monitor</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current vs desired state</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A stakeholder register is useful only when it changes an engagement action.</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05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RACI Diagnostic</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Pattern</a:t>
            </a:r>
          </a:p>
        </p:txBody>
      </p:sp>
      <p:sp>
        <p:nvSpPr>
          <p:cNvPr id="9" name="Rectangle 8"/>
          <p:cNvSpPr/>
          <p:nvPr/>
        </p:nvSpPr>
        <p:spPr>
          <a:xfrm>
            <a:off x="431596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Meaning</a:t>
            </a:r>
          </a:p>
        </p:txBody>
      </p:sp>
      <p:sp>
        <p:nvSpPr>
          <p:cNvPr id="11" name="Rectangle 10"/>
          <p:cNvSpPr/>
          <p:nvPr/>
        </p:nvSpPr>
        <p:spPr>
          <a:xfrm>
            <a:off x="7882127"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Correction</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No A</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Nobody owns the outcome</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Assign one accountable owner</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Multiple A</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Competing decision rights</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Choose one and define escalation</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No R</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No one performs the work</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Assign delivery responsibility</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Too many C</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Decision gridlock</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Consult only for needed input</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Everyone I</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Broadcast without purpose</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Tailor information needs</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Use deliverables and decisions as rows; vague verbs create vague accountability.</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DECISION TOOL</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05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Communication vs Engagement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Dimension</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Communication</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Engagement</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Direction</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Often one-way</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Two-way</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Purpose</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Share information</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Shape decisions and commitment</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Evidence</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Message delivered</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Feedback changed the work</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Risk</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Noise and overload</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Unresolved expectations</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channel matters less than whether the stakeholder can influence the decision in time.</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DECISION TOOL</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Stakeholder Engagement Cycle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Identify</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who affects or is affected</a:t>
            </a:r>
          </a:p>
        </p:txBody>
      </p:sp>
      <p:cxnSp>
        <p:nvCxnSpPr>
          <p:cNvPr id="12" name="Connector 11"/>
          <p:cNvCxnSpPr/>
          <p:nvPr/>
        </p:nvCxnSpPr>
        <p:spPr>
          <a:xfrm>
            <a:off x="2757830"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Analyse</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interest, influence, impact and expectations</a:t>
            </a:r>
          </a:p>
        </p:txBody>
      </p:sp>
      <p:cxnSp>
        <p:nvCxnSpPr>
          <p:cNvPr id="18" name="Connector 17"/>
          <p:cNvCxnSpPr/>
          <p:nvPr/>
        </p:nvCxnSpPr>
        <p:spPr>
          <a:xfrm>
            <a:off x="4930444"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Plan</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desired state and decision participation</a:t>
            </a:r>
          </a:p>
        </p:txBody>
      </p:sp>
      <p:cxnSp>
        <p:nvCxnSpPr>
          <p:cNvPr id="24" name="Connector 23"/>
          <p:cNvCxnSpPr/>
          <p:nvPr/>
        </p:nvCxnSpPr>
        <p:spPr>
          <a:xfrm>
            <a:off x="7103059"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Engage</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communicate, listen and negotiate</a:t>
            </a:r>
          </a:p>
        </p:txBody>
      </p:sp>
      <p:cxnSp>
        <p:nvCxnSpPr>
          <p:cNvPr id="30" name="Connector 29"/>
          <p:cNvCxnSpPr/>
          <p:nvPr/>
        </p:nvCxnSpPr>
        <p:spPr>
          <a:xfrm>
            <a:off x="9275673"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Monitor</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feedback, sentiment and changed influence</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Stakeholder identification is continuous because project decisions change who is affected.</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Stakeholder Register Fields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Identity</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Role, organisation and relationship.</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Interest</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What outcome matters.</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Influence</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Formal and informal ability to affect work.</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Impact</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How the project changes their work.</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Expectations</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Definition of success and concern.</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Strategy</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Engagement action and owner.</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Stakeholder Mapping Lenses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Lens</a:t>
            </a:r>
          </a:p>
        </p:txBody>
      </p:sp>
      <p:sp>
        <p:nvSpPr>
          <p:cNvPr id="9" name="Rectangle 8"/>
          <p:cNvSpPr/>
          <p:nvPr/>
        </p:nvSpPr>
        <p:spPr>
          <a:xfrm>
            <a:off x="4315968" y="1810512"/>
            <a:ext cx="3566160" cy="632460"/>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Dimensions</a:t>
            </a:r>
          </a:p>
        </p:txBody>
      </p:sp>
      <p:sp>
        <p:nvSpPr>
          <p:cNvPr id="11" name="Rectangle 10"/>
          <p:cNvSpPr/>
          <p:nvPr/>
        </p:nvSpPr>
        <p:spPr>
          <a:xfrm>
            <a:off x="7882127" y="1810512"/>
            <a:ext cx="3566160" cy="632460"/>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Best use</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Power-interest</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Authority and attention</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Management strategy</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Impact-influence</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Effect and ability to act</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Change and adoption</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Power-influence</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Authority and active influence</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Governance</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Stakeholder cube</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Three dimensions</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Complex populations</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Salience</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Power, legitimacy, urgency</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Competing claims</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A map is a hypothesis to guide action, not a permanent label.</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Seven Salience Classes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Dormant</a:t>
            </a:r>
          </a:p>
        </p:txBody>
      </p:sp>
      <p:sp>
        <p:nvSpPr>
          <p:cNvPr id="10" name="TextBox 9"/>
          <p:cNvSpPr txBox="1"/>
          <p:nvPr/>
        </p:nvSpPr>
        <p:spPr>
          <a:xfrm>
            <a:off x="1005840" y="2313432"/>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Power only.</a:t>
            </a:r>
          </a:p>
        </p:txBody>
      </p:sp>
      <p:sp>
        <p:nvSpPr>
          <p:cNvPr id="11" name="Rounded Rectangle 10"/>
          <p:cNvSpPr/>
          <p:nvPr/>
        </p:nvSpPr>
        <p:spPr>
          <a:xfrm>
            <a:off x="4392167" y="1783080"/>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Discretionary</a:t>
            </a:r>
          </a:p>
        </p:txBody>
      </p:sp>
      <p:sp>
        <p:nvSpPr>
          <p:cNvPr id="14" name="TextBox 13"/>
          <p:cNvSpPr txBox="1"/>
          <p:nvPr/>
        </p:nvSpPr>
        <p:spPr>
          <a:xfrm>
            <a:off x="4648200" y="2313432"/>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Legitimacy only.</a:t>
            </a:r>
          </a:p>
        </p:txBody>
      </p:sp>
      <p:sp>
        <p:nvSpPr>
          <p:cNvPr id="15" name="Rounded Rectangle 14"/>
          <p:cNvSpPr/>
          <p:nvPr/>
        </p:nvSpPr>
        <p:spPr>
          <a:xfrm>
            <a:off x="8034527" y="1783080"/>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Demanding</a:t>
            </a:r>
          </a:p>
        </p:txBody>
      </p:sp>
      <p:sp>
        <p:nvSpPr>
          <p:cNvPr id="18" name="TextBox 17"/>
          <p:cNvSpPr txBox="1"/>
          <p:nvPr/>
        </p:nvSpPr>
        <p:spPr>
          <a:xfrm>
            <a:off x="8290559" y="2313432"/>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Urgency only.</a:t>
            </a:r>
          </a:p>
        </p:txBody>
      </p:sp>
      <p:sp>
        <p:nvSpPr>
          <p:cNvPr id="19" name="Rounded Rectangle 18"/>
          <p:cNvSpPr/>
          <p:nvPr/>
        </p:nvSpPr>
        <p:spPr>
          <a:xfrm>
            <a:off x="749808" y="3340608"/>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3340608"/>
            <a:ext cx="91440" cy="1328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3505200"/>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Dominant</a:t>
            </a:r>
          </a:p>
        </p:txBody>
      </p:sp>
      <p:sp>
        <p:nvSpPr>
          <p:cNvPr id="22" name="TextBox 21"/>
          <p:cNvSpPr txBox="1"/>
          <p:nvPr/>
        </p:nvSpPr>
        <p:spPr>
          <a:xfrm>
            <a:off x="1005840" y="3870960"/>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Power and legitimacy.</a:t>
            </a:r>
          </a:p>
        </p:txBody>
      </p:sp>
      <p:sp>
        <p:nvSpPr>
          <p:cNvPr id="23" name="Rounded Rectangle 22"/>
          <p:cNvSpPr/>
          <p:nvPr/>
        </p:nvSpPr>
        <p:spPr>
          <a:xfrm>
            <a:off x="4392167" y="3340608"/>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3340608"/>
            <a:ext cx="91440" cy="1328928"/>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3505200"/>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Dangerous</a:t>
            </a:r>
          </a:p>
        </p:txBody>
      </p:sp>
      <p:sp>
        <p:nvSpPr>
          <p:cNvPr id="26" name="TextBox 25"/>
          <p:cNvSpPr txBox="1"/>
          <p:nvPr/>
        </p:nvSpPr>
        <p:spPr>
          <a:xfrm>
            <a:off x="4648200" y="3870960"/>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Power and urgency.</a:t>
            </a:r>
          </a:p>
        </p:txBody>
      </p:sp>
      <p:sp>
        <p:nvSpPr>
          <p:cNvPr id="27" name="Rounded Rectangle 26"/>
          <p:cNvSpPr/>
          <p:nvPr/>
        </p:nvSpPr>
        <p:spPr>
          <a:xfrm>
            <a:off x="8034527" y="3340608"/>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3340608"/>
            <a:ext cx="91440" cy="1328928"/>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3505200"/>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Dependent</a:t>
            </a:r>
          </a:p>
        </p:txBody>
      </p:sp>
      <p:sp>
        <p:nvSpPr>
          <p:cNvPr id="30" name="TextBox 29"/>
          <p:cNvSpPr txBox="1"/>
          <p:nvPr/>
        </p:nvSpPr>
        <p:spPr>
          <a:xfrm>
            <a:off x="8290559" y="3870960"/>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Legitimacy and urgency.</a:t>
            </a:r>
          </a:p>
        </p:txBody>
      </p:sp>
      <p:sp>
        <p:nvSpPr>
          <p:cNvPr id="31" name="Rounded Rectangle 30"/>
          <p:cNvSpPr/>
          <p:nvPr/>
        </p:nvSpPr>
        <p:spPr>
          <a:xfrm>
            <a:off x="4392168" y="4898136"/>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92168" y="4898136"/>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8200" y="5062728"/>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Definitive</a:t>
            </a:r>
          </a:p>
        </p:txBody>
      </p:sp>
      <p:sp>
        <p:nvSpPr>
          <p:cNvPr id="34" name="TextBox 33"/>
          <p:cNvSpPr txBox="1"/>
          <p:nvPr/>
        </p:nvSpPr>
        <p:spPr>
          <a:xfrm>
            <a:off x="4648200" y="5428488"/>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Power, legitimacy and urgency.</a:t>
            </a:r>
          </a:p>
        </p:txBody>
      </p:sp>
      <p:sp>
        <p:nvSpPr>
          <p:cNvPr id="35" name="TextBox 3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6" name="TextBox 3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REFERENCE-SOURCED DEEP DIVE</a:t>
            </a:r>
          </a:p>
        </p:txBody>
      </p:sp>
      <p:sp>
        <p:nvSpPr>
          <p:cNvPr id="37" name="TextBox 3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Directions of Influence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Direction</a:t>
            </a:r>
          </a:p>
        </p:txBody>
      </p:sp>
      <p:sp>
        <p:nvSpPr>
          <p:cNvPr id="9" name="Rectangle 8"/>
          <p:cNvSpPr/>
          <p:nvPr/>
        </p:nvSpPr>
        <p:spPr>
          <a:xfrm>
            <a:off x="4315968" y="1810512"/>
            <a:ext cx="3566160" cy="758952"/>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Typical stakeholders</a:t>
            </a:r>
          </a:p>
        </p:txBody>
      </p:sp>
      <p:sp>
        <p:nvSpPr>
          <p:cNvPr id="11" name="Rectangle 10"/>
          <p:cNvSpPr/>
          <p:nvPr/>
        </p:nvSpPr>
        <p:spPr>
          <a:xfrm>
            <a:off x="7882127" y="1810512"/>
            <a:ext cx="3566160" cy="758952"/>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Leadership move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Upward</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Sponsor and executives</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Decision brief and escalation</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Downward</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Team and specialists</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Clarity, coaching and feedback</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Sideward</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Peers and functional managers</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Negotiation and coordination</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Outward</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Customers, vendors, regulators</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Expectation and interface management</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Influence without authority depends on evidence, trust and a clear decision request.</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Communication Model</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Encode</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sender frames meaning</a:t>
            </a:r>
          </a:p>
        </p:txBody>
      </p:sp>
      <p:cxnSp>
        <p:nvCxnSpPr>
          <p:cNvPr id="12" name="Connector 11"/>
          <p:cNvCxnSpPr/>
          <p:nvPr/>
        </p:nvCxnSpPr>
        <p:spPr>
          <a:xfrm>
            <a:off x="2757830"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Transmit</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channel carries message</a:t>
            </a:r>
          </a:p>
        </p:txBody>
      </p:sp>
      <p:cxnSp>
        <p:nvCxnSpPr>
          <p:cNvPr id="18" name="Connector 17"/>
          <p:cNvCxnSpPr/>
          <p:nvPr/>
        </p:nvCxnSpPr>
        <p:spPr>
          <a:xfrm>
            <a:off x="4930444"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Decode</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receiver interprets</a:t>
            </a:r>
          </a:p>
        </p:txBody>
      </p:sp>
      <p:cxnSp>
        <p:nvCxnSpPr>
          <p:cNvPr id="24" name="Connector 23"/>
          <p:cNvCxnSpPr/>
          <p:nvPr/>
        </p:nvCxnSpPr>
        <p:spPr>
          <a:xfrm>
            <a:off x="7103059"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Feedback</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understanding is tested</a:t>
            </a:r>
          </a:p>
        </p:txBody>
      </p:sp>
      <p:cxnSp>
        <p:nvCxnSpPr>
          <p:cNvPr id="30" name="Connector 29"/>
          <p:cNvCxnSpPr/>
          <p:nvPr/>
        </p:nvCxnSpPr>
        <p:spPr>
          <a:xfrm>
            <a:off x="9275673"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Noise</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language, culture, timing and medium interfere</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Delivery is not communication success; shared understanding is.</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Communication Methods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Method</a:t>
            </a:r>
          </a:p>
        </p:txBody>
      </p:sp>
      <p:sp>
        <p:nvSpPr>
          <p:cNvPr id="9" name="Rectangle 8"/>
          <p:cNvSpPr/>
          <p:nvPr/>
        </p:nvSpPr>
        <p:spPr>
          <a:xfrm>
            <a:off x="4315968" y="1810512"/>
            <a:ext cx="3566160" cy="758952"/>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Best use</a:t>
            </a:r>
          </a:p>
        </p:txBody>
      </p:sp>
      <p:sp>
        <p:nvSpPr>
          <p:cNvPr id="11" name="Rectangle 10"/>
          <p:cNvSpPr/>
          <p:nvPr/>
        </p:nvSpPr>
        <p:spPr>
          <a:xfrm>
            <a:off x="7882127" y="1810512"/>
            <a:ext cx="3566160" cy="758952"/>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Risk</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Interactive</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Decision and ambiguity</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Time and facilitation</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Push</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Targeted distribution</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Receipt is not understanding</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Pull</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Large reference set</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Stakeholder may not retrieve it</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Visual radiator</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Shared current state</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Stale information destroys trust</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Choose channel based on urgency, complexity, sensitivity and need for feedback.</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Stakeholder Engagement Levels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Level</a:t>
            </a:r>
          </a:p>
        </p:txBody>
      </p:sp>
      <p:sp>
        <p:nvSpPr>
          <p:cNvPr id="9" name="Rectangle 8"/>
          <p:cNvSpPr/>
          <p:nvPr/>
        </p:nvSpPr>
        <p:spPr>
          <a:xfrm>
            <a:off x="4315968" y="1810512"/>
            <a:ext cx="3566160" cy="632460"/>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Signal</a:t>
            </a:r>
          </a:p>
        </p:txBody>
      </p:sp>
      <p:sp>
        <p:nvSpPr>
          <p:cNvPr id="11" name="Rectangle 10"/>
          <p:cNvSpPr/>
          <p:nvPr/>
        </p:nvSpPr>
        <p:spPr>
          <a:xfrm>
            <a:off x="7882127" y="1810512"/>
            <a:ext cx="3566160" cy="632460"/>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Management aim</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Unaware</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Does not know project</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Build awareness</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Resistant</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Opposes change</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Understand concern and involve</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Neutral</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Neither resists nor supports</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Connect to relevant value</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Supportive</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Helps when asked</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Sustain participation</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Leading</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Actively champions</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Enable influence</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gap between current and desired state must become an owned action.</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HarbourHub RACI Failure Test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Observed row</a:t>
            </a:r>
          </a:p>
        </p:txBody>
      </p:sp>
      <p:sp>
        <p:nvSpPr>
          <p:cNvPr id="9" name="Rectangle 8"/>
          <p:cNvSpPr/>
          <p:nvPr/>
        </p:nvSpPr>
        <p:spPr>
          <a:xfrm>
            <a:off x="4315968" y="1810512"/>
            <a:ext cx="3566160" cy="632460"/>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Failure signal</a:t>
            </a:r>
          </a:p>
        </p:txBody>
      </p:sp>
      <p:sp>
        <p:nvSpPr>
          <p:cNvPr id="11" name="Rectangle 10"/>
          <p:cNvSpPr/>
          <p:nvPr/>
        </p:nvSpPr>
        <p:spPr>
          <a:xfrm>
            <a:off x="7882127" y="1810512"/>
            <a:ext cx="3566160" cy="632460"/>
          </a:xfrm>
          <a:prstGeom prst="rect">
            <a:avLst/>
          </a:prstGeom>
          <a:solidFill>
            <a:srgbClr val="1A7F4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Repair</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Pilot go-live</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Sponsor and PM both marked A</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Sponsor is sole A; PM remains R</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Inventory mapping</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Vendor named R with no internal owner</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IT lead becomes A; vendor remains R</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Outlet job aid</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No R assigned</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Operations lead owns production</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Customer message</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Six people marked C</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Consult legal and operations only</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Benefits review</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Everyone marked I</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Name finance owner and decision audience</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repaired matrix makes every critical deliverable and decision executable.</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Evidence-Based Escalation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2008022"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751990"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Decision</a:t>
            </a:r>
          </a:p>
        </p:txBody>
      </p:sp>
      <p:sp>
        <p:nvSpPr>
          <p:cNvPr id="11" name="TextBox 10"/>
          <p:cNvSpPr txBox="1"/>
          <p:nvPr/>
        </p:nvSpPr>
        <p:spPr>
          <a:xfrm>
            <a:off x="896112"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what is needed</a:t>
            </a:r>
          </a:p>
        </p:txBody>
      </p:sp>
      <p:cxnSp>
        <p:nvCxnSpPr>
          <p:cNvPr id="12" name="Connector 11"/>
          <p:cNvCxnSpPr/>
          <p:nvPr/>
        </p:nvCxnSpPr>
        <p:spPr>
          <a:xfrm>
            <a:off x="2757830"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2422"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422" y="1965960"/>
            <a:ext cx="2008022"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0438" y="2240279"/>
            <a:ext cx="1751990"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3050438"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Options</a:t>
            </a:r>
          </a:p>
        </p:txBody>
      </p:sp>
      <p:sp>
        <p:nvSpPr>
          <p:cNvPr id="17" name="TextBox 16"/>
          <p:cNvSpPr txBox="1"/>
          <p:nvPr/>
        </p:nvSpPr>
        <p:spPr>
          <a:xfrm>
            <a:off x="3068726"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feasible choices</a:t>
            </a:r>
          </a:p>
        </p:txBody>
      </p:sp>
      <p:cxnSp>
        <p:nvCxnSpPr>
          <p:cNvPr id="18" name="Connector 17"/>
          <p:cNvCxnSpPr/>
          <p:nvPr/>
        </p:nvCxnSpPr>
        <p:spPr>
          <a:xfrm>
            <a:off x="4930444"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95036" y="1965960"/>
            <a:ext cx="2008022"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3052" y="2240279"/>
            <a:ext cx="1751990"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5223052"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Impact</a:t>
            </a:r>
          </a:p>
        </p:txBody>
      </p:sp>
      <p:sp>
        <p:nvSpPr>
          <p:cNvPr id="23" name="TextBox 22"/>
          <p:cNvSpPr txBox="1"/>
          <p:nvPr/>
        </p:nvSpPr>
        <p:spPr>
          <a:xfrm>
            <a:off x="5241340"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consequence of delay</a:t>
            </a:r>
          </a:p>
        </p:txBody>
      </p:sp>
      <p:cxnSp>
        <p:nvCxnSpPr>
          <p:cNvPr id="24" name="Connector 23"/>
          <p:cNvCxnSpPr/>
          <p:nvPr/>
        </p:nvCxnSpPr>
        <p:spPr>
          <a:xfrm>
            <a:off x="7103059"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7651"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67651" y="1965960"/>
            <a:ext cx="2008022"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5667" y="2240279"/>
            <a:ext cx="1751990"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7395667"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Recommendation</a:t>
            </a:r>
          </a:p>
        </p:txBody>
      </p:sp>
      <p:sp>
        <p:nvSpPr>
          <p:cNvPr id="29" name="TextBox 28"/>
          <p:cNvSpPr txBox="1"/>
          <p:nvPr/>
        </p:nvSpPr>
        <p:spPr>
          <a:xfrm>
            <a:off x="7413955"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preferred option and why</a:t>
            </a:r>
          </a:p>
        </p:txBody>
      </p:sp>
      <p:cxnSp>
        <p:nvCxnSpPr>
          <p:cNvPr id="30" name="Connector 29"/>
          <p:cNvCxnSpPr/>
          <p:nvPr/>
        </p:nvCxnSpPr>
        <p:spPr>
          <a:xfrm>
            <a:off x="9275673" y="3474720"/>
            <a:ext cx="164592" cy="0"/>
          </a:xfrm>
          <a:prstGeom prst="line">
            <a:avLst/>
          </a:prstGeom>
          <a:ln w="25400">
            <a:solidFill>
              <a:srgbClr val="1A7F4B"/>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5" y="1965960"/>
            <a:ext cx="2008022"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40265" y="1965960"/>
            <a:ext cx="2008022"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68281" y="2240279"/>
            <a:ext cx="1751990"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9568281" y="2752344"/>
            <a:ext cx="1751990"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Deadline</a:t>
            </a:r>
          </a:p>
        </p:txBody>
      </p:sp>
      <p:sp>
        <p:nvSpPr>
          <p:cNvPr id="35" name="TextBox 34"/>
          <p:cNvSpPr txBox="1"/>
          <p:nvPr/>
        </p:nvSpPr>
        <p:spPr>
          <a:xfrm>
            <a:off x="9586569" y="3465576"/>
            <a:ext cx="1715414"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latest useful decision time</a:t>
            </a:r>
          </a:p>
        </p:txBody>
      </p:sp>
      <p:sp>
        <p:nvSpPr>
          <p:cNvPr id="36" name="Rounded Rectangle 35"/>
          <p:cNvSpPr/>
          <p:nvPr/>
        </p:nvSpPr>
        <p:spPr>
          <a:xfrm>
            <a:off x="749808" y="5303520"/>
            <a:ext cx="10698480" cy="713232"/>
          </a:xfrm>
          <a:prstGeom prst="roundRect">
            <a:avLst>
              <a:gd name="adj" fmla="val 8000"/>
            </a:avLst>
          </a:prstGeom>
          <a:solidFill>
            <a:srgbClr val="FFFFFF"/>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Escalation transfers a decision, not a problem without analysis.</a:t>
            </a:r>
          </a:p>
        </p:txBody>
      </p:sp>
      <p:sp>
        <p:nvSpPr>
          <p:cNvPr id="38" name="TextBox 3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9" name="TextBox 3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REFERENCE-SOURCED DEEP DIVE</a:t>
            </a:r>
          </a:p>
        </p:txBody>
      </p:sp>
      <p:sp>
        <p:nvSpPr>
          <p:cNvPr id="40" name="TextBox 3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05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8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150" b="1">
                <a:solidFill>
                  <a:srgbClr val="1655D1"/>
                </a:solidFill>
                <a:latin typeface="Arial"/>
              </a:rPr>
              <a:t>42 Stakeholder Impact Over Influence Matrix</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43 Salience Chart</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PPTX · editable project tool</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39 RACI Template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150" b="1">
                <a:solidFill>
                  <a:srgbClr val="F59E0B"/>
                </a:solidFill>
                <a:latin typeface="Arial"/>
              </a:rPr>
              <a:t>41 Stakeholder Engagement Assessment Matrix</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TOOL-BASED PRACTICE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05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Align Stakeholders, Accountability and Communications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8 · 40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The POS vendor and Operations each believe the other owns interface acceptance. Finance has not approved a payment milestone, store managers receive conflicting instructions and one influential supervisor resists the pilot.</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Map influence and salience, diagnose engagement gaps, clarify RACI, design a two-way communication rhythm and prepare an evidence-based escalation brief.</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 stakeholder map, salience reading, validated RACI, engagement assessment, communication actions and one-minute escalation recommendation.</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Critical decisions have one Accountable owner, material engagement gaps have two-way actions and the escalation asks the authorised person for a clear, time-bound decision.</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Stakeholder Map, Salience Model, RACI and Engagement Assessment</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8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8 · LO5</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05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8: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Many communication failures begin as unclear decision rights.</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Engagement is participation and feedback, not message broadcasting.</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Attention follows influence, impact and urgency—not title alone.</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05 · A5, K5 · LO5</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05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stakeholder can affect, be affected by, or perceive themselves to be affected by the project.</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engagement assessment matrix compares current and desired states so the gap becomes actionable.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 stakeholder map, salience reading, validated RACI, engagement assessment, communication actions and one-minute escalation recommendation.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Collaborate with stakeholders and clarify decision rights for execution (A5, K5).</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05 · A5, K5 · LO5</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06 · A6 · LO6</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Deploy Resources</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People · budget · equipment · procurement · team performance</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06</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A6 · LO6</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Capacity—not headcount—delivers the plan.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A seven-person team may have only three usable person-days at the constraint. Resource deployment is the discipline of matching skills and time to the critical work.</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06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Deploy Resources — Core Concepts 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Resource planning links each work package to required skills, quantities, timing and availability.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responsibility assignment is not a capacity plan; availability must be tested against concurrent work.</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Resource levelling changes dates to resolve over-allocation; smoothing stays within available float.</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Fast tracking overlaps work and raises risk; crashing adds cost to critical-path work and may not shorten the project.</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06 · CONCEPT MAP</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Deploy Resources — Core Concepts II</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Procurement decisions consider make-or-buy, lead time, quality, interfaces, contract type and vendor capability.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Tuckman's stages require adaptive leadership: direct, coach, support and delegate as the team matures.</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Conflict is normal; collaborate for important relationships and outcomes, compromise when time is limited, and escalate only with evidence.</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resource dashboard should show demand, capacity, variance, bottlenecks and decisions—not just headcount.</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06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Four Resource Responses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Option</a:t>
            </a:r>
          </a:p>
        </p:txBody>
      </p:sp>
      <p:sp>
        <p:nvSpPr>
          <p:cNvPr id="9" name="Rectangle 8"/>
          <p:cNvSpPr/>
          <p:nvPr/>
        </p:nvSpPr>
        <p:spPr>
          <a:xfrm>
            <a:off x="4315968"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Schedule effect</a:t>
            </a:r>
          </a:p>
        </p:txBody>
      </p:sp>
      <p:sp>
        <p:nvSpPr>
          <p:cNvPr id="11" name="Rectangle 10"/>
          <p:cNvSpPr/>
          <p:nvPr/>
        </p:nvSpPr>
        <p:spPr>
          <a:xfrm>
            <a:off x="7882127" y="1810512"/>
            <a:ext cx="3566160" cy="758952"/>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Cost / risk effect</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Smoothing</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Uses float; finish unchanged</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Low cost, limited relief</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Levelling</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May delay finish</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Resolves over-allocation</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Crashing</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Shortens critical work</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Adds cost; diminishing returns</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Fast tracking</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Overlaps sequence</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Adds rework and quality risk</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Apply compression only to the current critical path and reanalyse after the change.</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DECISION TOOL</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06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Capacity Planning</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Demand</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effort by skill and timing</a:t>
            </a:r>
          </a:p>
        </p:txBody>
      </p:sp>
      <p:cxnSp>
        <p:nvCxnSpPr>
          <p:cNvPr id="12" name="Connector 11"/>
          <p:cNvCxnSpPr/>
          <p:nvPr/>
        </p:nvCxnSpPr>
        <p:spPr>
          <a:xfrm>
            <a:off x="2395727" y="3474720"/>
            <a:ext cx="164593"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Availability</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usable person-days</a:t>
            </a:r>
          </a:p>
        </p:txBody>
      </p:sp>
      <p:cxnSp>
        <p:nvCxnSpPr>
          <p:cNvPr id="18" name="Connector 17"/>
          <p:cNvCxnSpPr/>
          <p:nvPr/>
        </p:nvCxnSpPr>
        <p:spPr>
          <a:xfrm>
            <a:off x="4206240"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Gap</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demand minus capacity</a:t>
            </a:r>
          </a:p>
        </p:txBody>
      </p:sp>
      <p:cxnSp>
        <p:nvCxnSpPr>
          <p:cNvPr id="24" name="Connector 23"/>
          <p:cNvCxnSpPr/>
          <p:nvPr/>
        </p:nvCxnSpPr>
        <p:spPr>
          <a:xfrm>
            <a:off x="6016751"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Constraint</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where work queues</a:t>
            </a:r>
          </a:p>
        </p:txBody>
      </p:sp>
      <p:cxnSp>
        <p:nvCxnSpPr>
          <p:cNvPr id="30" name="Connector 29"/>
          <p:cNvCxnSpPr/>
          <p:nvPr/>
        </p:nvCxnSpPr>
        <p:spPr>
          <a:xfrm>
            <a:off x="782726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Option</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smooth, level, crash or overlap</a:t>
            </a:r>
          </a:p>
        </p:txBody>
      </p:sp>
      <p:cxnSp>
        <p:nvCxnSpPr>
          <p:cNvPr id="36" name="Connector 35"/>
          <p:cNvCxnSpPr/>
          <p:nvPr/>
        </p:nvCxnSpPr>
        <p:spPr>
          <a:xfrm>
            <a:off x="9637776"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Decision</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update plan and budget</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Capacity is time and skill together; headcount alone is not a usable measure.</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06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Team Stage and Leadership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Stage</a:t>
            </a:r>
          </a:p>
        </p:txBody>
      </p:sp>
      <p:sp>
        <p:nvSpPr>
          <p:cNvPr id="9" name="Rectangle 8"/>
          <p:cNvSpPr/>
          <p:nvPr/>
        </p:nvSpPr>
        <p:spPr>
          <a:xfrm>
            <a:off x="431596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Team signal</a:t>
            </a:r>
          </a:p>
        </p:txBody>
      </p:sp>
      <p:sp>
        <p:nvSpPr>
          <p:cNvPr id="11" name="Rectangle 10"/>
          <p:cNvSpPr/>
          <p:nvPr/>
        </p:nvSpPr>
        <p:spPr>
          <a:xfrm>
            <a:off x="7882127"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Leader response</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Forming</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Unclear roles and dependence</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Direct and clarify</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Storming</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Conflict and boundary testing</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Coach and facilitate</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Norming</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Shared standards emerge</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Support and reinforce</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Performing</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Autonomous delivery</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Delegate and protect</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Adjourning</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Transition and loss</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Recognise and close</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Using one leadership style for every stage creates either dependence or frustration.</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DECISION TOOL</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Resource Management Plan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Identify</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People, equipment, facilities and funding.</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Estimate</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Quantity, skill and timing.</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Acquire</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Internal assignment or procurement.</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Develop</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Capability, trust and working agreements.</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Manage</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Performance, conflict and feedback.</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Control</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Usage, availability and corrective action.</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Organisation Structure and PM Authority</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Structure</a:t>
            </a:r>
          </a:p>
        </p:txBody>
      </p:sp>
      <p:sp>
        <p:nvSpPr>
          <p:cNvPr id="9" name="Rectangle 8"/>
          <p:cNvSpPr/>
          <p:nvPr/>
        </p:nvSpPr>
        <p:spPr>
          <a:xfrm>
            <a:off x="4315968" y="1810512"/>
            <a:ext cx="3566160" cy="632460"/>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PM authority</a:t>
            </a:r>
          </a:p>
        </p:txBody>
      </p:sp>
      <p:sp>
        <p:nvSpPr>
          <p:cNvPr id="11" name="Rectangle 10"/>
          <p:cNvSpPr/>
          <p:nvPr/>
        </p:nvSpPr>
        <p:spPr>
          <a:xfrm>
            <a:off x="7882127" y="1810512"/>
            <a:ext cx="3566160" cy="632460"/>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Resource pattern</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Functional</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Low</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Functional manager controls</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Weak matrix</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Limited</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Coordinator role</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Balanced matrix</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Shared</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Negotiated authority</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Strong matrix</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Moderate to high</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Dedicated PM authority</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Project-oriented</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High</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Dedicated team</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C93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Even a small project needs explicit escalation when formal authority is limited.</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Role, Authority, Responsibility and Competence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Element</a:t>
            </a:r>
          </a:p>
        </p:txBody>
      </p:sp>
      <p:sp>
        <p:nvSpPr>
          <p:cNvPr id="9" name="Rectangle 8"/>
          <p:cNvSpPr/>
          <p:nvPr/>
        </p:nvSpPr>
        <p:spPr>
          <a:xfrm>
            <a:off x="431596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Question</a:t>
            </a:r>
          </a:p>
        </p:txBody>
      </p:sp>
      <p:sp>
        <p:nvSpPr>
          <p:cNvPr id="11" name="Rectangle 10"/>
          <p:cNvSpPr/>
          <p:nvPr/>
        </p:nvSpPr>
        <p:spPr>
          <a:xfrm>
            <a:off x="7882127"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Evidence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Role</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What function is performed?</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Role description</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Authority</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What decisions may be made?</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Charter and tolerance</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Responsibility</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What outcome or work is owned?</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RACI and work package</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Competence</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Can the person perform it?</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Skill and experience</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C93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Assigning work without authority or competence creates hidden dependency.</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Two-Week Capacity Worked Example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Skill</a:t>
            </a:r>
          </a:p>
        </p:txBody>
      </p:sp>
      <p:sp>
        <p:nvSpPr>
          <p:cNvPr id="9" name="Rectangle 8"/>
          <p:cNvSpPr/>
          <p:nvPr/>
        </p:nvSpPr>
        <p:spPr>
          <a:xfrm>
            <a:off x="431596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Demand</a:t>
            </a:r>
          </a:p>
        </p:txBody>
      </p:sp>
      <p:sp>
        <p:nvSpPr>
          <p:cNvPr id="11" name="Rectangle 10"/>
          <p:cNvSpPr/>
          <p:nvPr/>
        </p:nvSpPr>
        <p:spPr>
          <a:xfrm>
            <a:off x="7882127"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Usable capacity / decision</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Integration developer</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96 hours</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64 hours — defer reporting interface</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Outlet trainer</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40 hours</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48 hours — retain buffer</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Data analyst</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52 hours</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32 hours — buy 20 specialist hours</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Test lead</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60 hours</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56 hours — smooth four hours into next week</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C93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constraint is skill-specific usable time, not the team's nominal headcount.</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Acquire, Develop or Procure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Choice</a:t>
            </a:r>
          </a:p>
        </p:txBody>
      </p:sp>
      <p:sp>
        <p:nvSpPr>
          <p:cNvPr id="9" name="Rectangle 8"/>
          <p:cNvSpPr/>
          <p:nvPr/>
        </p:nvSpPr>
        <p:spPr>
          <a:xfrm>
            <a:off x="431596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Use when</a:t>
            </a:r>
          </a:p>
        </p:txBody>
      </p:sp>
      <p:sp>
        <p:nvSpPr>
          <p:cNvPr id="11" name="Rectangle 10"/>
          <p:cNvSpPr/>
          <p:nvPr/>
        </p:nvSpPr>
        <p:spPr>
          <a:xfrm>
            <a:off x="7882127"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Trade-off</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Internal assignment</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Capability exists</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Priority conflict</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Develop skill</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Need is recurring</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Learning time</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Contract resource</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Short-term specialist gap</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Cost and knowledge transfer</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Outsource deliverable</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Clear result and interface</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Control and vendor dependency</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C93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Choose the smallest intervention that resolves the critical constraint.</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Make-or-Buy Decision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Criterion</a:t>
            </a:r>
          </a:p>
        </p:txBody>
      </p:sp>
      <p:sp>
        <p:nvSpPr>
          <p:cNvPr id="9" name="Rectangle 8"/>
          <p:cNvSpPr/>
          <p:nvPr/>
        </p:nvSpPr>
        <p:spPr>
          <a:xfrm>
            <a:off x="4315968" y="1810512"/>
            <a:ext cx="3566160" cy="632460"/>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Make</a:t>
            </a:r>
          </a:p>
        </p:txBody>
      </p:sp>
      <p:sp>
        <p:nvSpPr>
          <p:cNvPr id="11" name="Rectangle 10"/>
          <p:cNvSpPr/>
          <p:nvPr/>
        </p:nvSpPr>
        <p:spPr>
          <a:xfrm>
            <a:off x="7882127" y="1810512"/>
            <a:ext cx="3566160" cy="632460"/>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Buy</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Capability</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Builds internal skill</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Accesses specialist skill</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Lead time</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Depends on availability</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Depends on procurement and onboarding</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Control</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Direct management</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Contract and interface control</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Cost</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Fixed or opportunity cost</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Price plus vendor management</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Knowledge</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Retained internally</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Requires transfer plan</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C93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Lowest price is not lowest total project cost when delay and interface risk are included.</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Contract Type and Risk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Type</a:t>
            </a:r>
          </a:p>
        </p:txBody>
      </p:sp>
      <p:sp>
        <p:nvSpPr>
          <p:cNvPr id="9" name="Rectangle 8"/>
          <p:cNvSpPr/>
          <p:nvPr/>
        </p:nvSpPr>
        <p:spPr>
          <a:xfrm>
            <a:off x="431596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Cost risk</a:t>
            </a:r>
          </a:p>
        </p:txBody>
      </p:sp>
      <p:sp>
        <p:nvSpPr>
          <p:cNvPr id="11" name="Rectangle 10"/>
          <p:cNvSpPr/>
          <p:nvPr/>
        </p:nvSpPr>
        <p:spPr>
          <a:xfrm>
            <a:off x="7882127"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Best fit</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Firm fixed price</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More seller risk</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Stable, clear scope</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Cost reimbursable</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More buyer risk</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Uncertain scope with control</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Time and materials</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Shared / capped</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Short-term flexible effort</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Incentive arrangement</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Shared performance target</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Measurable outcome</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C93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contract allocates financial risk; it does not eliminate delivery accountability.</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HarbourHub Team-Stage Diagnostic</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Observed behaviour</a:t>
            </a:r>
          </a:p>
        </p:txBody>
      </p:sp>
      <p:sp>
        <p:nvSpPr>
          <p:cNvPr id="9" name="Rectangle 8"/>
          <p:cNvSpPr/>
          <p:nvPr/>
        </p:nvSpPr>
        <p:spPr>
          <a:xfrm>
            <a:off x="431596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Stage diagnosis</a:t>
            </a:r>
          </a:p>
        </p:txBody>
      </p:sp>
      <p:sp>
        <p:nvSpPr>
          <p:cNvPr id="11" name="Rectangle 10"/>
          <p:cNvSpPr/>
          <p:nvPr/>
        </p:nvSpPr>
        <p:spPr>
          <a:xfrm>
            <a:off x="7882127"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Next leadership move</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Vendor and IT dispute interface ownership</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Storming</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Facilitate roles and decision rule</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Outlet champions share one job aid</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Norming</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Reinforce standard and peer coaching</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Test team resolves defects without escalation</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Performing</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Delegate within tolerance</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Pilot staff worry about release</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Adjourning</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Recognise contribution and confirm transition</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C93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Leadership changes with team evidence; it is not a fixed personal style.</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Conflict Approaches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Approach</a:t>
            </a:r>
          </a:p>
        </p:txBody>
      </p:sp>
      <p:sp>
        <p:nvSpPr>
          <p:cNvPr id="9" name="Rectangle 8"/>
          <p:cNvSpPr/>
          <p:nvPr/>
        </p:nvSpPr>
        <p:spPr>
          <a:xfrm>
            <a:off x="4315968" y="1810512"/>
            <a:ext cx="3566160" cy="632460"/>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When useful</a:t>
            </a:r>
          </a:p>
        </p:txBody>
      </p:sp>
      <p:sp>
        <p:nvSpPr>
          <p:cNvPr id="11" name="Rectangle 10"/>
          <p:cNvSpPr/>
          <p:nvPr/>
        </p:nvSpPr>
        <p:spPr>
          <a:xfrm>
            <a:off x="7882127" y="1810512"/>
            <a:ext cx="3566160" cy="632460"/>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Trade-off</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Collaborate</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Outcome and relationship both matter</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Time and openness</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Compromise</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Time-limited middle ground</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Partial satisfaction</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Accommodate</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Relationship or learning matters more</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Your need deferred</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Direct / force</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Emergency or authority decision</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Commitment risk</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Avoid</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Low value or cooling period</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Issue may persist</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C93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Conflict is information; choose the response based on stakes and relationship.</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HarbourHub Bottleneck Options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Option tested</a:t>
            </a:r>
          </a:p>
        </p:txBody>
      </p:sp>
      <p:sp>
        <p:nvSpPr>
          <p:cNvPr id="9" name="Rectangle 8"/>
          <p:cNvSpPr/>
          <p:nvPr/>
        </p:nvSpPr>
        <p:spPr>
          <a:xfrm>
            <a:off x="4315968"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Schedule effect</a:t>
            </a:r>
          </a:p>
        </p:txBody>
      </p:sp>
      <p:sp>
        <p:nvSpPr>
          <p:cNvPr id="11" name="Rectangle 10"/>
          <p:cNvSpPr/>
          <p:nvPr/>
        </p:nvSpPr>
        <p:spPr>
          <a:xfrm>
            <a:off x="7882127" y="1810512"/>
            <a:ext cx="3566160" cy="758952"/>
          </a:xfrm>
          <a:prstGeom prst="rect">
            <a:avLst/>
          </a:prstGeom>
          <a:solidFill>
            <a:srgbClr val="C931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Decision</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Smooth outlet training</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Uses two days of float</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Accept — no milestone impact</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Level integration work</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Moves launch by one week</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Reject unless scope is traded</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Crash data validation</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Recovers three days for S$3,600</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Approve inside reserve</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Fast-track testing</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May recover four days</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Reject — high rework and quality risk</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C93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The selected combination protects launch without hiding cost or quality trade-offs.</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C93131"/>
                </a:solidFill>
                <a:latin typeface="Arial"/>
              </a:rPr>
              <a:t>TOPIC 06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Team Performance Signals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Delivery</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Commitments met with acceptance evidence.</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Flow</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WIP, blockers and ageing visible.</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Quality</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Defects and rework trend.</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Collaboration</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Handoffs, feedback and conflict resolved.</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Learning</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Capability and knowledge transfer.</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Sustainability</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Workload remains safe and realistic.</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06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9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40 Organisation Chart</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PPTX · editable project tool</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30 Kanban Board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32 Project Budget - Planned vs Actual - Weekly and Monthly</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150" b="1">
                <a:solidFill>
                  <a:srgbClr val="F59E0B"/>
                </a:solidFill>
                <a:latin typeface="Arial"/>
              </a:rPr>
              <a:t>09 Resource Capacity and Procurement Decision</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TOOL-BASED PRACTICE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06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Deploy Resources and Resolve the Bottleneck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9 · 45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Testing needs 22 person-days in two weeks, but only 16 are available. The business analyst is assigned to testing, training and vendor clarification. The sponsor wants evidence before accepting delay or extra cost.</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Map authority and skills, calculate demand-capacity gaps, test smoothing, levelling, crashing and fast tracking, compare make/buy options and recommend a funded deployment decision.</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An organisation map, capacity heatmap, constraint-aware Kanban, procurement comparison, compression options, budget impact and sponsor recommendation.</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Capacity reconciles to named work and skills, the bottleneck is explicit, procurement/compression options show complete trade-offs and the chosen deployment remains within authorised constraints.</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Organisation Chart, Resource Capacity, Procurement Decision, Kanban and Budget</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9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9 · LO6</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06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9: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RACI assignment does not create capacity.</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Manage the constraint before adding capacity elsewhere.</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Crashing buys time with cost; fast tracking buys time with risk.</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06 · A6 · LO6</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06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Resource planning links each work package to required skills, quantities, timing and availability.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Fast tracking overlaps work and raises risk; crashing adds cost to critical-path work and may not shorten the project.</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An organisation map, capacity heatmap, constraint-aware Kanban, procurement comparison, compression options, budget impact and sponsor recommendation.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Match skills, capacity, procurement and budget to critical work (A6).</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06 · A6 · LO6</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TOPIC 07 · A7 · LO7</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Track Project Deliverables and Correct Misalignments</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Performance · earned value · change · corrective action · handover · closure</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07</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A7 · LO7</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CENTRAL IDEA</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Control means deciding early enough to change the outcome.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10698480" cy="397763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47088"/>
            <a:ext cx="128016" cy="3977639"/>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2359152"/>
            <a:ext cx="9738360" cy="2834640"/>
          </a:xfrm>
          <a:prstGeom prst="rect">
            <a:avLst/>
          </a:prstGeom>
          <a:noFill/>
        </p:spPr>
        <p:txBody>
          <a:bodyPr wrap="square" lIns="0" rIns="0" tIns="0" bIns="0" anchor="ctr">
            <a:spAutoFit/>
          </a:bodyPr>
          <a:lstStyle/>
          <a:p>
            <a:pPr algn="l">
              <a:spcAft>
                <a:spcPts val="300"/>
              </a:spcAft>
            </a:pPr>
            <a:r>
              <a:rPr sz="2400" b="1">
                <a:solidFill>
                  <a:srgbClr val="131B2A"/>
                </a:solidFill>
                <a:latin typeface="Arial"/>
              </a:rPr>
              <a:t>Variance reporting without forecast, ownership and action is history. Good control protects value and makes closure evidence-ready.</a:t>
            </a:r>
          </a:p>
        </p:txBody>
      </p:sp>
      <p:sp>
        <p:nvSpPr>
          <p:cNvPr id="10" name="TextBox 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1" name="TextBox 1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CENTRAL IDEA</a:t>
            </a:r>
          </a:p>
        </p:txBody>
      </p:sp>
      <p:sp>
        <p:nvSpPr>
          <p:cNvPr id="12" name="TextBox 1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CONCEPT MAP</a:t>
            </a:r>
          </a:p>
        </p:txBody>
      </p:sp>
      <p:sp>
        <p:nvSpPr>
          <p:cNvPr id="5" name="TextBox 4"/>
          <p:cNvSpPr txBox="1"/>
          <p:nvPr/>
        </p:nvSpPr>
        <p:spPr>
          <a:xfrm>
            <a:off x="749808" y="640080"/>
            <a:ext cx="10789920" cy="749808"/>
          </a:xfrm>
          <a:prstGeom prst="rect">
            <a:avLst/>
          </a:prstGeom>
          <a:noFill/>
        </p:spPr>
        <p:txBody>
          <a:bodyPr wrap="square" lIns="0" rIns="0" tIns="0" bIns="0" anchor="ctr">
            <a:spAutoFit/>
          </a:bodyPr>
          <a:lstStyle/>
          <a:p>
            <a:pPr algn="l">
              <a:spcAft>
                <a:spcPts val="300"/>
              </a:spcAft>
            </a:pPr>
            <a:r>
              <a:rPr sz="2200" b="1">
                <a:solidFill>
                  <a:srgbClr val="131B2A"/>
                </a:solidFill>
                <a:latin typeface="Arial"/>
              </a:rPr>
              <a:t>Track Project Deliverables and Correct Misalignments — Core Concepts I</a:t>
            </a:r>
          </a:p>
        </p:txBody>
      </p:sp>
      <p:sp>
        <p:nvSpPr>
          <p:cNvPr id="6" name="Rectangle 5"/>
          <p:cNvSpPr/>
          <p:nvPr/>
        </p:nvSpPr>
        <p:spPr>
          <a:xfrm>
            <a:off x="749808" y="1682496"/>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Work performance data becomes information only after comparison with the approved baseline and thresholds.</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status report should answer: where are we, why, what is forecast, what decision is needed, and who owns the action.</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Earned value integrates scope, schedule and cost: PV is planned work, EV is completed value, and AC is actual spend.</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CPI = EV/AC and SPI = EV/PV; indices below 1.00 signal inefficiency against the baseline.</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07 · CONCEPT MAP</a:t>
            </a:r>
          </a:p>
        </p:txBody>
      </p:sp>
      <p:sp>
        <p:nvSpPr>
          <p:cNvPr id="5" name="TextBox 4"/>
          <p:cNvSpPr txBox="1"/>
          <p:nvPr/>
        </p:nvSpPr>
        <p:spPr>
          <a:xfrm>
            <a:off x="749808" y="640080"/>
            <a:ext cx="10789920" cy="749808"/>
          </a:xfrm>
          <a:prstGeom prst="rect">
            <a:avLst/>
          </a:prstGeom>
          <a:noFill/>
        </p:spPr>
        <p:txBody>
          <a:bodyPr wrap="square" lIns="0" rIns="0" tIns="0" bIns="0" anchor="ctr">
            <a:spAutoFit/>
          </a:bodyPr>
          <a:lstStyle/>
          <a:p>
            <a:pPr algn="l">
              <a:spcAft>
                <a:spcPts val="300"/>
              </a:spcAft>
            </a:pPr>
            <a:r>
              <a:rPr sz="2200" b="1">
                <a:solidFill>
                  <a:srgbClr val="131B2A"/>
                </a:solidFill>
                <a:latin typeface="Arial"/>
              </a:rPr>
              <a:t>Track Project Deliverables and Correct Misalignments — Core Concepts II</a:t>
            </a:r>
          </a:p>
        </p:txBody>
      </p:sp>
      <p:sp>
        <p:nvSpPr>
          <p:cNvPr id="6" name="Rectangle 5"/>
          <p:cNvSpPr/>
          <p:nvPr/>
        </p:nvSpPr>
        <p:spPr>
          <a:xfrm>
            <a:off x="749808" y="1682496"/>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05</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 change request states reason, impact, options and recommendation; approved changes update baselines and traceability.</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06</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Corrective action brings performance back to plan; preventive action reduces the probability of future variance.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07</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Schedule compression is applied to the current critical path and re-analysed after every change.</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08</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Closure confirms acceptance, transition, contract completion, records, benefits ownership and lessons learned.</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CONCEPT MAP</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07 · DECISION TOOL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Earned Value at Week 12</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Measure</a:t>
            </a:r>
          </a:p>
        </p:txBody>
      </p:sp>
      <p:sp>
        <p:nvSpPr>
          <p:cNvPr id="9" name="Rectangle 8"/>
          <p:cNvSpPr/>
          <p:nvPr/>
        </p:nvSpPr>
        <p:spPr>
          <a:xfrm>
            <a:off x="4315968"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Formula / value</a:t>
            </a:r>
          </a:p>
        </p:txBody>
      </p:sp>
      <p:sp>
        <p:nvSpPr>
          <p:cNvPr id="11" name="Rectangle 10"/>
          <p:cNvSpPr/>
          <p:nvPr/>
        </p:nvSpPr>
        <p:spPr>
          <a:xfrm>
            <a:off x="7882127" y="1810512"/>
            <a:ext cx="3566160" cy="632460"/>
          </a:xfrm>
          <a:prstGeom prst="rect">
            <a:avLst/>
          </a:prstGeom>
          <a:solidFill>
            <a:srgbClr val="0F9D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Meaning</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PV</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S$108,000</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Budgeted work planned</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EV</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S$90,000</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Budgeted value completed</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AC</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S$105,000</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Actual cost incurred</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SPI</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EV/PV = 0.83</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Behind schedule</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CPI</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EV/AC = 0.86</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Cost inefficient</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Use the indices with milestones and quality evidence—no single metric tells the whole story.</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DECISION TOOL</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Integrated Change Control</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Request</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reason and desired outcome</a:t>
            </a:r>
          </a:p>
        </p:txBody>
      </p:sp>
      <p:cxnSp>
        <p:nvCxnSpPr>
          <p:cNvPr id="12" name="Connector 11"/>
          <p:cNvCxnSpPr/>
          <p:nvPr/>
        </p:nvCxnSpPr>
        <p:spPr>
          <a:xfrm>
            <a:off x="2395727" y="3474720"/>
            <a:ext cx="164593"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Analyse</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scope, time, cost, risk, quality</a:t>
            </a:r>
          </a:p>
        </p:txBody>
      </p:sp>
      <p:cxnSp>
        <p:nvCxnSpPr>
          <p:cNvPr id="18" name="Connector 17"/>
          <p:cNvCxnSpPr/>
          <p:nvPr/>
        </p:nvCxnSpPr>
        <p:spPr>
          <a:xfrm>
            <a:off x="4206240"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Options</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approve, reject, defer, trade</a:t>
            </a:r>
          </a:p>
        </p:txBody>
      </p:sp>
      <p:cxnSp>
        <p:nvCxnSpPr>
          <p:cNvPr id="24" name="Connector 23"/>
          <p:cNvCxnSpPr/>
          <p:nvPr/>
        </p:nvCxnSpPr>
        <p:spPr>
          <a:xfrm>
            <a:off x="6016751"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Decide</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authorised owner records rationale</a:t>
            </a:r>
          </a:p>
        </p:txBody>
      </p:sp>
      <p:cxnSp>
        <p:nvCxnSpPr>
          <p:cNvPr id="30" name="Connector 29"/>
          <p:cNvCxnSpPr/>
          <p:nvPr/>
        </p:nvCxnSpPr>
        <p:spPr>
          <a:xfrm>
            <a:off x="782726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Update</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baselines and traceability</a:t>
            </a:r>
          </a:p>
        </p:txBody>
      </p:sp>
      <p:cxnSp>
        <p:nvCxnSpPr>
          <p:cNvPr id="36" name="Connector 35"/>
          <p:cNvCxnSpPr/>
          <p:nvPr/>
        </p:nvCxnSpPr>
        <p:spPr>
          <a:xfrm>
            <a:off x="9637776"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Communicate</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owners, stakeholders and vendors</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An approved change is unfinished until affected baselines and acceptance evidence are updated.</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APPLIED FRAMEWORK</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Closeout Gates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Accept</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deliverables and criteria</a:t>
            </a:r>
          </a:p>
        </p:txBody>
      </p:sp>
      <p:cxnSp>
        <p:nvCxnSpPr>
          <p:cNvPr id="12" name="Connector 11"/>
          <p:cNvCxnSpPr/>
          <p:nvPr/>
        </p:nvCxnSpPr>
        <p:spPr>
          <a:xfrm>
            <a:off x="2395727" y="3474720"/>
            <a:ext cx="164593"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Transition</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operations, support and data</a:t>
            </a:r>
          </a:p>
        </p:txBody>
      </p:sp>
      <p:cxnSp>
        <p:nvCxnSpPr>
          <p:cNvPr id="18" name="Connector 17"/>
          <p:cNvCxnSpPr/>
          <p:nvPr/>
        </p:nvCxnSpPr>
        <p:spPr>
          <a:xfrm>
            <a:off x="4206240"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Contract</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claims, payment and records</a:t>
            </a:r>
          </a:p>
        </p:txBody>
      </p:sp>
      <p:cxnSp>
        <p:nvCxnSpPr>
          <p:cNvPr id="24" name="Connector 23"/>
          <p:cNvCxnSpPr/>
          <p:nvPr/>
        </p:nvCxnSpPr>
        <p:spPr>
          <a:xfrm>
            <a:off x="6016751"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Learn</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causes and reusable actions</a:t>
            </a:r>
          </a:p>
        </p:txBody>
      </p:sp>
      <p:cxnSp>
        <p:nvCxnSpPr>
          <p:cNvPr id="30" name="Connector 29"/>
          <p:cNvCxnSpPr/>
          <p:nvPr/>
        </p:nvCxnSpPr>
        <p:spPr>
          <a:xfrm>
            <a:off x="782726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Benefits</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 and measurement rhythm</a:t>
            </a:r>
          </a:p>
        </p:txBody>
      </p:sp>
      <p:cxnSp>
        <p:nvCxnSpPr>
          <p:cNvPr id="36" name="Connector 35"/>
          <p:cNvCxnSpPr/>
          <p:nvPr/>
        </p:nvCxnSpPr>
        <p:spPr>
          <a:xfrm>
            <a:off x="9637776"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Close</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archive and release resources</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Do not close on elapsed time; close on complete evidence and transferred accountability.</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APPLIED FRAMEWORK</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Monitoring and Control Cycle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Collect</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work performance data</a:t>
            </a:r>
          </a:p>
        </p:txBody>
      </p:sp>
      <p:cxnSp>
        <p:nvCxnSpPr>
          <p:cNvPr id="12" name="Connector 11"/>
          <p:cNvCxnSpPr/>
          <p:nvPr/>
        </p:nvCxnSpPr>
        <p:spPr>
          <a:xfrm>
            <a:off x="2395727" y="3474720"/>
            <a:ext cx="164593"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Compare</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baseline, threshold and acceptance</a:t>
            </a:r>
          </a:p>
        </p:txBody>
      </p:sp>
      <p:cxnSp>
        <p:nvCxnSpPr>
          <p:cNvPr id="18" name="Connector 17"/>
          <p:cNvCxnSpPr/>
          <p:nvPr/>
        </p:nvCxnSpPr>
        <p:spPr>
          <a:xfrm>
            <a:off x="4206240"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Analyse</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cause and forecast</a:t>
            </a:r>
          </a:p>
        </p:txBody>
      </p:sp>
      <p:cxnSp>
        <p:nvCxnSpPr>
          <p:cNvPr id="24" name="Connector 23"/>
          <p:cNvCxnSpPr/>
          <p:nvPr/>
        </p:nvCxnSpPr>
        <p:spPr>
          <a:xfrm>
            <a:off x="6016751"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Decide</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action, change or escalation</a:t>
            </a:r>
          </a:p>
        </p:txBody>
      </p:sp>
      <p:cxnSp>
        <p:nvCxnSpPr>
          <p:cNvPr id="30" name="Connector 29"/>
          <p:cNvCxnSpPr/>
          <p:nvPr/>
        </p:nvCxnSpPr>
        <p:spPr>
          <a:xfrm>
            <a:off x="782726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Update</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owners, plans and records</a:t>
            </a:r>
          </a:p>
        </p:txBody>
      </p:sp>
      <p:cxnSp>
        <p:nvCxnSpPr>
          <p:cNvPr id="36" name="Connector 35"/>
          <p:cNvCxnSpPr/>
          <p:nvPr/>
        </p:nvCxnSpPr>
        <p:spPr>
          <a:xfrm>
            <a:off x="9637776"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Verify</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did action change outcome?</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Control is forward-looking: the purpose of variance is to improve the forecast and decision.</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Data, Information and Reports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94869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Level</a:t>
            </a:r>
          </a:p>
        </p:txBody>
      </p:sp>
      <p:sp>
        <p:nvSpPr>
          <p:cNvPr id="9" name="Rectangle 8"/>
          <p:cNvSpPr/>
          <p:nvPr/>
        </p:nvSpPr>
        <p:spPr>
          <a:xfrm>
            <a:off x="4315968" y="1810512"/>
            <a:ext cx="3566160" cy="94869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Example</a:t>
            </a:r>
          </a:p>
        </p:txBody>
      </p:sp>
      <p:sp>
        <p:nvSpPr>
          <p:cNvPr id="11" name="Rectangle 10"/>
          <p:cNvSpPr/>
          <p:nvPr/>
        </p:nvSpPr>
        <p:spPr>
          <a:xfrm>
            <a:off x="7882127" y="1810512"/>
            <a:ext cx="3566160" cy="94869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Use</a:t>
            </a:r>
          </a:p>
        </p:txBody>
      </p:sp>
      <p:sp>
        <p:nvSpPr>
          <p:cNvPr id="13" name="Rectangle 12"/>
          <p:cNvSpPr/>
          <p:nvPr/>
        </p:nvSpPr>
        <p:spPr>
          <a:xfrm>
            <a:off x="749808"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804922"/>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Data</a:t>
            </a:r>
          </a:p>
        </p:txBody>
      </p:sp>
      <p:sp>
        <p:nvSpPr>
          <p:cNvPr id="15" name="Rectangle 14"/>
          <p:cNvSpPr/>
          <p:nvPr/>
        </p:nvSpPr>
        <p:spPr>
          <a:xfrm>
            <a:off x="4315968"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80492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7 defects, S$105k actual cost</a:t>
            </a:r>
          </a:p>
        </p:txBody>
      </p:sp>
      <p:sp>
        <p:nvSpPr>
          <p:cNvPr id="17" name="Rectangle 16"/>
          <p:cNvSpPr/>
          <p:nvPr/>
        </p:nvSpPr>
        <p:spPr>
          <a:xfrm>
            <a:off x="7882127"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80492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Raw observation</a:t>
            </a:r>
          </a:p>
        </p:txBody>
      </p:sp>
      <p:sp>
        <p:nvSpPr>
          <p:cNvPr id="19" name="Rectangle 18"/>
          <p:cNvSpPr/>
          <p:nvPr/>
        </p:nvSpPr>
        <p:spPr>
          <a:xfrm>
            <a:off x="749808"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753611"/>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Information</a:t>
            </a:r>
          </a:p>
        </p:txBody>
      </p:sp>
      <p:sp>
        <p:nvSpPr>
          <p:cNvPr id="21" name="Rectangle 20"/>
          <p:cNvSpPr/>
          <p:nvPr/>
        </p:nvSpPr>
        <p:spPr>
          <a:xfrm>
            <a:off x="4315968"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753611"/>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Defects above threshold, CPI 0.86</a:t>
            </a:r>
          </a:p>
        </p:txBody>
      </p:sp>
      <p:sp>
        <p:nvSpPr>
          <p:cNvPr id="23" name="Rectangle 22"/>
          <p:cNvSpPr/>
          <p:nvPr/>
        </p:nvSpPr>
        <p:spPr>
          <a:xfrm>
            <a:off x="7882127"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753611"/>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Meaning through comparison</a:t>
            </a:r>
          </a:p>
        </p:txBody>
      </p:sp>
      <p:sp>
        <p:nvSpPr>
          <p:cNvPr id="25" name="Rectangle 24"/>
          <p:cNvSpPr/>
          <p:nvPr/>
        </p:nvSpPr>
        <p:spPr>
          <a:xfrm>
            <a:off x="749808"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702302"/>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Report</a:t>
            </a:r>
          </a:p>
        </p:txBody>
      </p:sp>
      <p:sp>
        <p:nvSpPr>
          <p:cNvPr id="27" name="Rectangle 26"/>
          <p:cNvSpPr/>
          <p:nvPr/>
        </p:nvSpPr>
        <p:spPr>
          <a:xfrm>
            <a:off x="4315968"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70230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Forecast, cause, action and decision</a:t>
            </a:r>
          </a:p>
        </p:txBody>
      </p:sp>
      <p:sp>
        <p:nvSpPr>
          <p:cNvPr id="29" name="Rectangle 28"/>
          <p:cNvSpPr/>
          <p:nvPr/>
        </p:nvSpPr>
        <p:spPr>
          <a:xfrm>
            <a:off x="7882127"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70230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Governance and coordination</a:t>
            </a:r>
          </a:p>
        </p:txBody>
      </p:sp>
      <p:sp>
        <p:nvSpPr>
          <p:cNvPr id="31" name="Rounded Rectangle 30"/>
          <p:cNvSpPr/>
          <p:nvPr/>
        </p:nvSpPr>
        <p:spPr>
          <a:xfrm>
            <a:off x="749808" y="5815584"/>
            <a:ext cx="10698480" cy="420624"/>
          </a:xfrm>
          <a:prstGeom prst="roundRect">
            <a:avLst>
              <a:gd name="adj" fmla="val 8000"/>
            </a:avLst>
          </a:prstGeom>
          <a:solidFill>
            <a:srgbClr val="F4F7FB"/>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A dashboard without interpretation is data display, not project control.</a:t>
            </a:r>
          </a:p>
        </p:txBody>
      </p:sp>
      <p:sp>
        <p:nvSpPr>
          <p:cNvPr id="33" name="TextBox 3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4" name="TextBox 3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35" name="TextBox 3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 Decision-Ready Status Report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Where</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Current milestone and acceptance state.</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Variance</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Scope, time, cost, quality and resource.</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Why</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Cause, not just symptom.</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Forecast</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Expected finish and cost.</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Action</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Owner, due date and verification.</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Decision</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Escalation with options and deadline.</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Validate Scope versus Control Scope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94869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Process</a:t>
            </a:r>
          </a:p>
        </p:txBody>
      </p:sp>
      <p:sp>
        <p:nvSpPr>
          <p:cNvPr id="9" name="Rectangle 8"/>
          <p:cNvSpPr/>
          <p:nvPr/>
        </p:nvSpPr>
        <p:spPr>
          <a:xfrm>
            <a:off x="4315968" y="1810512"/>
            <a:ext cx="3566160" cy="94869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Question</a:t>
            </a:r>
          </a:p>
        </p:txBody>
      </p:sp>
      <p:sp>
        <p:nvSpPr>
          <p:cNvPr id="11" name="Rectangle 10"/>
          <p:cNvSpPr/>
          <p:nvPr/>
        </p:nvSpPr>
        <p:spPr>
          <a:xfrm>
            <a:off x="7882127" y="1810512"/>
            <a:ext cx="3566160" cy="94869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Evidence</a:t>
            </a:r>
          </a:p>
        </p:txBody>
      </p:sp>
      <p:sp>
        <p:nvSpPr>
          <p:cNvPr id="13" name="Rectangle 12"/>
          <p:cNvSpPr/>
          <p:nvPr/>
        </p:nvSpPr>
        <p:spPr>
          <a:xfrm>
            <a:off x="749808"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804922"/>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Validate scope</a:t>
            </a:r>
          </a:p>
        </p:txBody>
      </p:sp>
      <p:sp>
        <p:nvSpPr>
          <p:cNvPr id="15" name="Rectangle 14"/>
          <p:cNvSpPr/>
          <p:nvPr/>
        </p:nvSpPr>
        <p:spPr>
          <a:xfrm>
            <a:off x="4315968"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80492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Will the authorised stakeholder accept it?</a:t>
            </a:r>
          </a:p>
        </p:txBody>
      </p:sp>
      <p:sp>
        <p:nvSpPr>
          <p:cNvPr id="17" name="Rectangle 16"/>
          <p:cNvSpPr/>
          <p:nvPr/>
        </p:nvSpPr>
        <p:spPr>
          <a:xfrm>
            <a:off x="7882127"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80492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Accepted deliverable</a:t>
            </a:r>
          </a:p>
        </p:txBody>
      </p:sp>
      <p:sp>
        <p:nvSpPr>
          <p:cNvPr id="19" name="Rectangle 18"/>
          <p:cNvSpPr/>
          <p:nvPr/>
        </p:nvSpPr>
        <p:spPr>
          <a:xfrm>
            <a:off x="749808"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753611"/>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Control scope</a:t>
            </a:r>
          </a:p>
        </p:txBody>
      </p:sp>
      <p:sp>
        <p:nvSpPr>
          <p:cNvPr id="21" name="Rectangle 20"/>
          <p:cNvSpPr/>
          <p:nvPr/>
        </p:nvSpPr>
        <p:spPr>
          <a:xfrm>
            <a:off x="4315968"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753611"/>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Has authorised scope changed?</a:t>
            </a:r>
          </a:p>
        </p:txBody>
      </p:sp>
      <p:sp>
        <p:nvSpPr>
          <p:cNvPr id="23" name="Rectangle 22"/>
          <p:cNvSpPr/>
          <p:nvPr/>
        </p:nvSpPr>
        <p:spPr>
          <a:xfrm>
            <a:off x="7882127"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753611"/>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Baseline, RTM and change log</a:t>
            </a:r>
          </a:p>
        </p:txBody>
      </p:sp>
      <p:sp>
        <p:nvSpPr>
          <p:cNvPr id="25" name="Rectangle 24"/>
          <p:cNvSpPr/>
          <p:nvPr/>
        </p:nvSpPr>
        <p:spPr>
          <a:xfrm>
            <a:off x="749808"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702302"/>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Control quality</a:t>
            </a:r>
          </a:p>
        </p:txBody>
      </p:sp>
      <p:sp>
        <p:nvSpPr>
          <p:cNvPr id="27" name="Rectangle 26"/>
          <p:cNvSpPr/>
          <p:nvPr/>
        </p:nvSpPr>
        <p:spPr>
          <a:xfrm>
            <a:off x="4315968"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70230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Does the result conform?</a:t>
            </a:r>
          </a:p>
        </p:txBody>
      </p:sp>
      <p:sp>
        <p:nvSpPr>
          <p:cNvPr id="29" name="Rectangle 28"/>
          <p:cNvSpPr/>
          <p:nvPr/>
        </p:nvSpPr>
        <p:spPr>
          <a:xfrm>
            <a:off x="7882127"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70230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Inspection and test record</a:t>
            </a:r>
          </a:p>
        </p:txBody>
      </p:sp>
      <p:sp>
        <p:nvSpPr>
          <p:cNvPr id="31" name="Rounded Rectangle 30"/>
          <p:cNvSpPr/>
          <p:nvPr/>
        </p:nvSpPr>
        <p:spPr>
          <a:xfrm>
            <a:off x="749808" y="5815584"/>
            <a:ext cx="10698480" cy="420624"/>
          </a:xfrm>
          <a:prstGeom prst="roundRect">
            <a:avLst>
              <a:gd name="adj" fmla="val 8000"/>
            </a:avLst>
          </a:prstGeom>
          <a:solidFill>
            <a:srgbClr val="F4F7FB"/>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Verified quality is not the same as formal customer acceptance.</a:t>
            </a:r>
          </a:p>
        </p:txBody>
      </p:sp>
      <p:sp>
        <p:nvSpPr>
          <p:cNvPr id="33" name="TextBox 3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4" name="TextBox 3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35" name="TextBox 3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Earned Value Building Blocks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PV</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Budgeted value of work planned by status date.</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EV</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Budgeted value of work actually completed.</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AC</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Actual cost of completed work.</a:t>
            </a:r>
          </a:p>
        </p:txBody>
      </p:sp>
      <p:sp>
        <p:nvSpPr>
          <p:cNvPr id="19" name="Rounded Rectangle 18"/>
          <p:cNvSpPr/>
          <p:nvPr/>
        </p:nvSpPr>
        <p:spPr>
          <a:xfrm>
            <a:off x="257098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7098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2702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BAC</a:t>
            </a:r>
          </a:p>
        </p:txBody>
      </p:sp>
      <p:sp>
        <p:nvSpPr>
          <p:cNvPr id="22" name="TextBox 21"/>
          <p:cNvSpPr txBox="1"/>
          <p:nvPr/>
        </p:nvSpPr>
        <p:spPr>
          <a:xfrm>
            <a:off x="282702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Total authorised budget for measured scope.</a:t>
            </a:r>
          </a:p>
        </p:txBody>
      </p:sp>
      <p:sp>
        <p:nvSpPr>
          <p:cNvPr id="23" name="Rounded Rectangle 22"/>
          <p:cNvSpPr/>
          <p:nvPr/>
        </p:nvSpPr>
        <p:spPr>
          <a:xfrm>
            <a:off x="621334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Status date</a:t>
            </a:r>
          </a:p>
        </p:txBody>
      </p:sp>
      <p:sp>
        <p:nvSpPr>
          <p:cNvPr id="26" name="TextBox 25"/>
          <p:cNvSpPr txBox="1"/>
          <p:nvPr/>
        </p:nvSpPr>
        <p:spPr>
          <a:xfrm>
            <a:off x="646938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The same cut-off for every measure.</a:t>
            </a:r>
          </a:p>
        </p:txBody>
      </p:sp>
      <p:sp>
        <p:nvSpPr>
          <p:cNvPr id="27" name="TextBox 26"/>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8" name="TextBox 27"/>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29" name="TextBox 28"/>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Variance and Performance Indices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Measure</a:t>
            </a:r>
          </a:p>
        </p:txBody>
      </p:sp>
      <p:sp>
        <p:nvSpPr>
          <p:cNvPr id="9" name="Rectangle 8"/>
          <p:cNvSpPr/>
          <p:nvPr/>
        </p:nvSpPr>
        <p:spPr>
          <a:xfrm>
            <a:off x="431596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Formula</a:t>
            </a:r>
          </a:p>
        </p:txBody>
      </p:sp>
      <p:sp>
        <p:nvSpPr>
          <p:cNvPr id="11" name="Rectangle 10"/>
          <p:cNvSpPr/>
          <p:nvPr/>
        </p:nvSpPr>
        <p:spPr>
          <a:xfrm>
            <a:off x="7882127"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Interpretation</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SV</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EV − PV</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Negative means less value completed than planned</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CV</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EV − AC</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Negative means completed value cost more than budgeted</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SPI</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EV ÷ PV</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Below 1.00 means schedule inefficiency</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CPI</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EV ÷ AC</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Below 1.00 means cost inefficiency</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Translate every index into operational consequence and required decision.</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Forecasting with EAC</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Situation</a:t>
            </a:r>
          </a:p>
        </p:txBody>
      </p:sp>
      <p:sp>
        <p:nvSpPr>
          <p:cNvPr id="9" name="Rectangle 8"/>
          <p:cNvSpPr/>
          <p:nvPr/>
        </p:nvSpPr>
        <p:spPr>
          <a:xfrm>
            <a:off x="4315968"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Formula</a:t>
            </a:r>
          </a:p>
        </p:txBody>
      </p:sp>
      <p:sp>
        <p:nvSpPr>
          <p:cNvPr id="11" name="Rectangle 10"/>
          <p:cNvSpPr/>
          <p:nvPr/>
        </p:nvSpPr>
        <p:spPr>
          <a:xfrm>
            <a:off x="7882127" y="1810512"/>
            <a:ext cx="3566160" cy="758952"/>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612648"/>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Assumption</a:t>
            </a:r>
          </a:p>
        </p:txBody>
      </p:sp>
      <p:sp>
        <p:nvSpPr>
          <p:cNvPr id="13" name="Rectangle 12"/>
          <p:cNvSpPr/>
          <p:nvPr/>
        </p:nvSpPr>
        <p:spPr>
          <a:xfrm>
            <a:off x="74980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15184"/>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Current cost efficiency continues</a:t>
            </a:r>
          </a:p>
        </p:txBody>
      </p:sp>
      <p:sp>
        <p:nvSpPr>
          <p:cNvPr id="15" name="Rectangle 14"/>
          <p:cNvSpPr/>
          <p:nvPr/>
        </p:nvSpPr>
        <p:spPr>
          <a:xfrm>
            <a:off x="4315968"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EAC = BAC ÷ CPI</a:t>
            </a:r>
          </a:p>
        </p:txBody>
      </p:sp>
      <p:sp>
        <p:nvSpPr>
          <p:cNvPr id="17" name="Rectangle 16"/>
          <p:cNvSpPr/>
          <p:nvPr/>
        </p:nvSpPr>
        <p:spPr>
          <a:xfrm>
            <a:off x="7882127" y="2569464"/>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615184"/>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Past cost performance persists</a:t>
            </a:r>
          </a:p>
        </p:txBody>
      </p:sp>
      <p:sp>
        <p:nvSpPr>
          <p:cNvPr id="19" name="Rectangle 18"/>
          <p:cNvSpPr/>
          <p:nvPr/>
        </p:nvSpPr>
        <p:spPr>
          <a:xfrm>
            <a:off x="74980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374136"/>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Remaining work re-estimated</a:t>
            </a:r>
          </a:p>
        </p:txBody>
      </p:sp>
      <p:sp>
        <p:nvSpPr>
          <p:cNvPr id="21" name="Rectangle 20"/>
          <p:cNvSpPr/>
          <p:nvPr/>
        </p:nvSpPr>
        <p:spPr>
          <a:xfrm>
            <a:off x="4315968"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EAC = AC + bottom-up ETC</a:t>
            </a:r>
          </a:p>
        </p:txBody>
      </p:sp>
      <p:sp>
        <p:nvSpPr>
          <p:cNvPr id="23" name="Rectangle 22"/>
          <p:cNvSpPr/>
          <p:nvPr/>
        </p:nvSpPr>
        <p:spPr>
          <a:xfrm>
            <a:off x="7882127" y="3328416"/>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374136"/>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New detailed forecast is credible</a:t>
            </a:r>
          </a:p>
        </p:txBody>
      </p:sp>
      <p:sp>
        <p:nvSpPr>
          <p:cNvPr id="25" name="Rectangle 24"/>
          <p:cNvSpPr/>
          <p:nvPr/>
        </p:nvSpPr>
        <p:spPr>
          <a:xfrm>
            <a:off x="74980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133088"/>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Original variance is one-off</a:t>
            </a:r>
          </a:p>
        </p:txBody>
      </p:sp>
      <p:sp>
        <p:nvSpPr>
          <p:cNvPr id="27" name="Rectangle 26"/>
          <p:cNvSpPr/>
          <p:nvPr/>
        </p:nvSpPr>
        <p:spPr>
          <a:xfrm>
            <a:off x="4315968"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EAC = AC + (BAC − EV)</a:t>
            </a:r>
          </a:p>
        </p:txBody>
      </p:sp>
      <p:sp>
        <p:nvSpPr>
          <p:cNvPr id="29" name="Rectangle 28"/>
          <p:cNvSpPr/>
          <p:nvPr/>
        </p:nvSpPr>
        <p:spPr>
          <a:xfrm>
            <a:off x="7882127" y="4087368"/>
            <a:ext cx="3566160" cy="758952"/>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133088"/>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Future returns to plan</a:t>
            </a:r>
          </a:p>
        </p:txBody>
      </p:sp>
      <p:sp>
        <p:nvSpPr>
          <p:cNvPr id="31" name="Rectangle 30"/>
          <p:cNvSpPr/>
          <p:nvPr/>
        </p:nvSpPr>
        <p:spPr>
          <a:xfrm>
            <a:off x="74980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892040"/>
            <a:ext cx="3346704" cy="667512"/>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Cost and schedule both constrain</a:t>
            </a:r>
          </a:p>
        </p:txBody>
      </p:sp>
      <p:sp>
        <p:nvSpPr>
          <p:cNvPr id="33" name="Rectangle 32"/>
          <p:cNvSpPr/>
          <p:nvPr/>
        </p:nvSpPr>
        <p:spPr>
          <a:xfrm>
            <a:off x="4315968"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EAC = AC + (BAC − EV)/(CPI × SPI)</a:t>
            </a:r>
          </a:p>
        </p:txBody>
      </p:sp>
      <p:sp>
        <p:nvSpPr>
          <p:cNvPr id="35" name="Rectangle 34"/>
          <p:cNvSpPr/>
          <p:nvPr/>
        </p:nvSpPr>
        <p:spPr>
          <a:xfrm>
            <a:off x="7882127" y="4846320"/>
            <a:ext cx="3566160" cy="758952"/>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892040"/>
            <a:ext cx="3346704" cy="667512"/>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Both inefficiencies persist</a:t>
            </a:r>
          </a:p>
        </p:txBody>
      </p:sp>
      <p:sp>
        <p:nvSpPr>
          <p:cNvPr id="37" name="Rounded Rectangle 36"/>
          <p:cNvSpPr/>
          <p:nvPr/>
        </p:nvSpPr>
        <p:spPr>
          <a:xfrm>
            <a:off x="749808" y="5815584"/>
            <a:ext cx="10698480" cy="420624"/>
          </a:xfrm>
          <a:prstGeom prst="roundRect">
            <a:avLst>
              <a:gd name="adj" fmla="val 8000"/>
            </a:avLst>
          </a:prstGeom>
          <a:solidFill>
            <a:srgbClr val="F4F7FB"/>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Forecast choice is a management assumption and must be stated.</a:t>
            </a:r>
          </a:p>
        </p:txBody>
      </p:sp>
      <p:sp>
        <p:nvSpPr>
          <p:cNvPr id="39" name="TextBox 3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0" name="TextBox 3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41" name="TextBox 4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Issue Management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Log</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fact, impact and detection date</a:t>
            </a:r>
          </a:p>
        </p:txBody>
      </p:sp>
      <p:cxnSp>
        <p:nvCxnSpPr>
          <p:cNvPr id="12" name="Connector 11"/>
          <p:cNvCxnSpPr/>
          <p:nvPr/>
        </p:nvCxnSpPr>
        <p:spPr>
          <a:xfrm>
            <a:off x="2395727" y="3474720"/>
            <a:ext cx="164593"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Contain</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protect customer or milestone</a:t>
            </a:r>
          </a:p>
        </p:txBody>
      </p:sp>
      <p:cxnSp>
        <p:nvCxnSpPr>
          <p:cNvPr id="18" name="Connector 17"/>
          <p:cNvCxnSpPr/>
          <p:nvPr/>
        </p:nvCxnSpPr>
        <p:spPr>
          <a:xfrm>
            <a:off x="4206240"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Own</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resolution and decision owner</a:t>
            </a:r>
          </a:p>
        </p:txBody>
      </p:sp>
      <p:cxnSp>
        <p:nvCxnSpPr>
          <p:cNvPr id="24" name="Connector 23"/>
          <p:cNvCxnSpPr/>
          <p:nvPr/>
        </p:nvCxnSpPr>
        <p:spPr>
          <a:xfrm>
            <a:off x="6016751"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Resolve</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root cause and action</a:t>
            </a:r>
          </a:p>
        </p:txBody>
      </p:sp>
      <p:cxnSp>
        <p:nvCxnSpPr>
          <p:cNvPr id="30" name="Connector 29"/>
          <p:cNvCxnSpPr/>
          <p:nvPr/>
        </p:nvCxnSpPr>
        <p:spPr>
          <a:xfrm>
            <a:off x="782726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Escalate</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outside authority or tolerance</a:t>
            </a:r>
          </a:p>
        </p:txBody>
      </p:sp>
      <p:cxnSp>
        <p:nvCxnSpPr>
          <p:cNvPr id="36" name="Connector 35"/>
          <p:cNvCxnSpPr/>
          <p:nvPr/>
        </p:nvCxnSpPr>
        <p:spPr>
          <a:xfrm>
            <a:off x="9637776"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Verify</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evidence and closure</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Do not keep an issue disguised as a risk after it has occurred.</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Loyalty-Points Change Worked Example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63246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Analysis lens</a:t>
            </a:r>
          </a:p>
        </p:txBody>
      </p:sp>
      <p:sp>
        <p:nvSpPr>
          <p:cNvPr id="9" name="Rectangle 8"/>
          <p:cNvSpPr/>
          <p:nvPr/>
        </p:nvSpPr>
        <p:spPr>
          <a:xfrm>
            <a:off x="4315968" y="1810512"/>
            <a:ext cx="3566160" cy="63246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Finding</a:t>
            </a:r>
          </a:p>
        </p:txBody>
      </p:sp>
      <p:sp>
        <p:nvSpPr>
          <p:cNvPr id="11" name="Rectangle 10"/>
          <p:cNvSpPr/>
          <p:nvPr/>
        </p:nvSpPr>
        <p:spPr>
          <a:xfrm>
            <a:off x="7882127" y="1810512"/>
            <a:ext cx="3566160" cy="63246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48615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Implication</a:t>
            </a:r>
          </a:p>
        </p:txBody>
      </p:sp>
      <p:sp>
        <p:nvSpPr>
          <p:cNvPr id="13" name="Rectangle 12"/>
          <p:cNvSpPr/>
          <p:nvPr/>
        </p:nvSpPr>
        <p:spPr>
          <a:xfrm>
            <a:off x="74980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48869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Value</a:t>
            </a:r>
          </a:p>
        </p:txBody>
      </p:sp>
      <p:sp>
        <p:nvSpPr>
          <p:cNvPr id="15" name="Rectangle 14"/>
          <p:cNvSpPr/>
          <p:nvPr/>
        </p:nvSpPr>
        <p:spPr>
          <a:xfrm>
            <a:off x="4315968"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Could lift repeat purchase</a:t>
            </a:r>
          </a:p>
        </p:txBody>
      </p:sp>
      <p:sp>
        <p:nvSpPr>
          <p:cNvPr id="17" name="Rectangle 16"/>
          <p:cNvSpPr/>
          <p:nvPr/>
        </p:nvSpPr>
        <p:spPr>
          <a:xfrm>
            <a:off x="7882127" y="244297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48869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Benefit is plausible but unvalidated</a:t>
            </a:r>
          </a:p>
        </p:txBody>
      </p:sp>
      <p:sp>
        <p:nvSpPr>
          <p:cNvPr id="19" name="Rectangle 18"/>
          <p:cNvSpPr/>
          <p:nvPr/>
        </p:nvSpPr>
        <p:spPr>
          <a:xfrm>
            <a:off x="74980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12115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Scope and schedule</a:t>
            </a:r>
          </a:p>
        </p:txBody>
      </p:sp>
      <p:sp>
        <p:nvSpPr>
          <p:cNvPr id="21" name="Rectangle 20"/>
          <p:cNvSpPr/>
          <p:nvPr/>
        </p:nvSpPr>
        <p:spPr>
          <a:xfrm>
            <a:off x="4315968"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Adds API and two test cycles</a:t>
            </a:r>
          </a:p>
        </p:txBody>
      </p:sp>
      <p:sp>
        <p:nvSpPr>
          <p:cNvPr id="23" name="Rectangle 22"/>
          <p:cNvSpPr/>
          <p:nvPr/>
        </p:nvSpPr>
        <p:spPr>
          <a:xfrm>
            <a:off x="7882127" y="307543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12115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Launch slips nine working days</a:t>
            </a:r>
          </a:p>
        </p:txBody>
      </p:sp>
      <p:sp>
        <p:nvSpPr>
          <p:cNvPr id="25" name="Rectangle 24"/>
          <p:cNvSpPr/>
          <p:nvPr/>
        </p:nvSpPr>
        <p:spPr>
          <a:xfrm>
            <a:off x="74980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53611"/>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Cost and resource</a:t>
            </a:r>
          </a:p>
        </p:txBody>
      </p:sp>
      <p:sp>
        <p:nvSpPr>
          <p:cNvPr id="27" name="Rectangle 26"/>
          <p:cNvSpPr/>
          <p:nvPr/>
        </p:nvSpPr>
        <p:spPr>
          <a:xfrm>
            <a:off x="4315968"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S$18,000 plus scarce developer</a:t>
            </a:r>
          </a:p>
        </p:txBody>
      </p:sp>
      <p:sp>
        <p:nvSpPr>
          <p:cNvPr id="29" name="Rectangle 28"/>
          <p:cNvSpPr/>
          <p:nvPr/>
        </p:nvSpPr>
        <p:spPr>
          <a:xfrm>
            <a:off x="7882127" y="3707891"/>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3753611"/>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Exceeds PM tolerance</a:t>
            </a:r>
          </a:p>
        </p:txBody>
      </p:sp>
      <p:sp>
        <p:nvSpPr>
          <p:cNvPr id="31" name="Rectangle 30"/>
          <p:cNvSpPr/>
          <p:nvPr/>
        </p:nvSpPr>
        <p:spPr>
          <a:xfrm>
            <a:off x="74980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38607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Risk and quality</a:t>
            </a:r>
          </a:p>
        </p:txBody>
      </p:sp>
      <p:sp>
        <p:nvSpPr>
          <p:cNvPr id="33" name="Rectangle 32"/>
          <p:cNvSpPr/>
          <p:nvPr/>
        </p:nvSpPr>
        <p:spPr>
          <a:xfrm>
            <a:off x="4315968"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25696"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New data/privacy interface</a:t>
            </a:r>
          </a:p>
        </p:txBody>
      </p:sp>
      <p:sp>
        <p:nvSpPr>
          <p:cNvPr id="35" name="Rectangle 34"/>
          <p:cNvSpPr/>
          <p:nvPr/>
        </p:nvSpPr>
        <p:spPr>
          <a:xfrm>
            <a:off x="7882127" y="4340352"/>
            <a:ext cx="3566160" cy="63246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5" y="438607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Needs security and regression evidence</a:t>
            </a:r>
          </a:p>
        </p:txBody>
      </p:sp>
      <p:sp>
        <p:nvSpPr>
          <p:cNvPr id="37" name="Rectangle 36"/>
          <p:cNvSpPr/>
          <p:nvPr/>
        </p:nvSpPr>
        <p:spPr>
          <a:xfrm>
            <a:off x="74980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018532"/>
            <a:ext cx="3346704" cy="54102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Decision</a:t>
            </a:r>
          </a:p>
        </p:txBody>
      </p:sp>
      <p:sp>
        <p:nvSpPr>
          <p:cNvPr id="39" name="Rectangle 38"/>
          <p:cNvSpPr/>
          <p:nvPr/>
        </p:nvSpPr>
        <p:spPr>
          <a:xfrm>
            <a:off x="4315968"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25696"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Defer to post-pilot release</a:t>
            </a:r>
          </a:p>
        </p:txBody>
      </p:sp>
      <p:sp>
        <p:nvSpPr>
          <p:cNvPr id="41" name="Rectangle 40"/>
          <p:cNvSpPr/>
          <p:nvPr/>
        </p:nvSpPr>
        <p:spPr>
          <a:xfrm>
            <a:off x="7882127" y="4972812"/>
            <a:ext cx="3566160" cy="63246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1855" y="5018532"/>
            <a:ext cx="3346704" cy="54102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Protect baseline; retain request and rationale</a:t>
            </a:r>
          </a:p>
        </p:txBody>
      </p:sp>
      <p:sp>
        <p:nvSpPr>
          <p:cNvPr id="43" name="Rounded Rectangle 42"/>
          <p:cNvSpPr/>
          <p:nvPr/>
        </p:nvSpPr>
        <p:spPr>
          <a:xfrm>
            <a:off x="749808" y="5815584"/>
            <a:ext cx="10698480" cy="420624"/>
          </a:xfrm>
          <a:prstGeom prst="roundRect">
            <a:avLst>
              <a:gd name="adj" fmla="val 8000"/>
            </a:avLst>
          </a:prstGeom>
          <a:solidFill>
            <a:srgbClr val="F4F7FB"/>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Useful ideas are not automatically urgent: the sponsor protects the pilot while preserving the option.</a:t>
            </a:r>
          </a:p>
        </p:txBody>
      </p:sp>
      <p:sp>
        <p:nvSpPr>
          <p:cNvPr id="45" name="TextBox 4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6" name="TextBox 4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47" name="TextBox 4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Three Types of Action</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810512"/>
            <a:ext cx="3566160" cy="94869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Action</a:t>
            </a:r>
          </a:p>
        </p:txBody>
      </p:sp>
      <p:sp>
        <p:nvSpPr>
          <p:cNvPr id="9" name="Rectangle 8"/>
          <p:cNvSpPr/>
          <p:nvPr/>
        </p:nvSpPr>
        <p:spPr>
          <a:xfrm>
            <a:off x="4315968" y="1810512"/>
            <a:ext cx="3566160" cy="94869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Purpose</a:t>
            </a:r>
          </a:p>
        </p:txBody>
      </p:sp>
      <p:sp>
        <p:nvSpPr>
          <p:cNvPr id="11" name="Rectangle 10"/>
          <p:cNvSpPr/>
          <p:nvPr/>
        </p:nvSpPr>
        <p:spPr>
          <a:xfrm>
            <a:off x="7882127" y="1810512"/>
            <a:ext cx="3566160" cy="948690"/>
          </a:xfrm>
          <a:prstGeom prst="rect">
            <a:avLst/>
          </a:prstGeom>
          <a:solidFill>
            <a:srgbClr val="1655D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7" y="1883664"/>
            <a:ext cx="3383279" cy="802386"/>
          </a:xfrm>
          <a:prstGeom prst="rect">
            <a:avLst/>
          </a:prstGeom>
          <a:noFill/>
        </p:spPr>
        <p:txBody>
          <a:bodyPr wrap="square" lIns="0" rIns="0" tIns="0" bIns="0" anchor="ctr">
            <a:spAutoFit/>
          </a:bodyPr>
          <a:lstStyle/>
          <a:p>
            <a:pPr algn="ctr">
              <a:spcAft>
                <a:spcPts val="300"/>
              </a:spcAft>
            </a:pPr>
            <a:r>
              <a:rPr sz="1100" b="1">
                <a:solidFill>
                  <a:srgbClr val="FFFFFF"/>
                </a:solidFill>
                <a:latin typeface="Arial"/>
              </a:rPr>
              <a:t>Example</a:t>
            </a:r>
          </a:p>
        </p:txBody>
      </p:sp>
      <p:sp>
        <p:nvSpPr>
          <p:cNvPr id="13" name="Rectangle 12"/>
          <p:cNvSpPr/>
          <p:nvPr/>
        </p:nvSpPr>
        <p:spPr>
          <a:xfrm>
            <a:off x="749808"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804922"/>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Corrective</a:t>
            </a:r>
          </a:p>
        </p:txBody>
      </p:sp>
      <p:sp>
        <p:nvSpPr>
          <p:cNvPr id="15" name="Rectangle 14"/>
          <p:cNvSpPr/>
          <p:nvPr/>
        </p:nvSpPr>
        <p:spPr>
          <a:xfrm>
            <a:off x="4315968"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280492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Bring future performance back to plan</a:t>
            </a:r>
          </a:p>
        </p:txBody>
      </p:sp>
      <p:sp>
        <p:nvSpPr>
          <p:cNvPr id="17" name="Rectangle 16"/>
          <p:cNvSpPr/>
          <p:nvPr/>
        </p:nvSpPr>
        <p:spPr>
          <a:xfrm>
            <a:off x="7882127" y="275920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5" y="280492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Add test capacity to recover milestone</a:t>
            </a:r>
          </a:p>
        </p:txBody>
      </p:sp>
      <p:sp>
        <p:nvSpPr>
          <p:cNvPr id="19" name="Rectangle 18"/>
          <p:cNvSpPr/>
          <p:nvPr/>
        </p:nvSpPr>
        <p:spPr>
          <a:xfrm>
            <a:off x="749808"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3753611"/>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Preventive</a:t>
            </a:r>
          </a:p>
        </p:txBody>
      </p:sp>
      <p:sp>
        <p:nvSpPr>
          <p:cNvPr id="21" name="Rectangle 20"/>
          <p:cNvSpPr/>
          <p:nvPr/>
        </p:nvSpPr>
        <p:spPr>
          <a:xfrm>
            <a:off x="4315968"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25696" y="3753611"/>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Reduce probability of future variance</a:t>
            </a:r>
          </a:p>
        </p:txBody>
      </p:sp>
      <p:sp>
        <p:nvSpPr>
          <p:cNvPr id="23" name="Rectangle 22"/>
          <p:cNvSpPr/>
          <p:nvPr/>
        </p:nvSpPr>
        <p:spPr>
          <a:xfrm>
            <a:off x="7882127" y="3707891"/>
            <a:ext cx="3566160" cy="948690"/>
          </a:xfrm>
          <a:prstGeom prst="rect">
            <a:avLst/>
          </a:prstGeom>
          <a:solidFill>
            <a:srgbClr val="F4F7FB"/>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5" y="3753611"/>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Add interface review before integration</a:t>
            </a:r>
          </a:p>
        </p:txBody>
      </p:sp>
      <p:sp>
        <p:nvSpPr>
          <p:cNvPr id="25" name="Rectangle 24"/>
          <p:cNvSpPr/>
          <p:nvPr/>
        </p:nvSpPr>
        <p:spPr>
          <a:xfrm>
            <a:off x="749808"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702302"/>
            <a:ext cx="3346704" cy="857250"/>
          </a:xfrm>
          <a:prstGeom prst="rect">
            <a:avLst/>
          </a:prstGeom>
          <a:noFill/>
        </p:spPr>
        <p:txBody>
          <a:bodyPr wrap="square" lIns="0" rIns="0" tIns="0" bIns="0" anchor="ctr">
            <a:spAutoFit/>
          </a:bodyPr>
          <a:lstStyle/>
          <a:p>
            <a:pPr algn="l">
              <a:spcAft>
                <a:spcPts val="300"/>
              </a:spcAft>
            </a:pPr>
            <a:r>
              <a:rPr sz="1150" b="1">
                <a:solidFill>
                  <a:srgbClr val="131B2A"/>
                </a:solidFill>
                <a:latin typeface="Arial"/>
              </a:rPr>
              <a:t>Defect repair</a:t>
            </a:r>
          </a:p>
        </p:txBody>
      </p:sp>
      <p:sp>
        <p:nvSpPr>
          <p:cNvPr id="27" name="Rectangle 26"/>
          <p:cNvSpPr/>
          <p:nvPr/>
        </p:nvSpPr>
        <p:spPr>
          <a:xfrm>
            <a:off x="4315968"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470230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Modify non-conforming deliverable</a:t>
            </a:r>
          </a:p>
        </p:txBody>
      </p:sp>
      <p:sp>
        <p:nvSpPr>
          <p:cNvPr id="29" name="Rectangle 28"/>
          <p:cNvSpPr/>
          <p:nvPr/>
        </p:nvSpPr>
        <p:spPr>
          <a:xfrm>
            <a:off x="7882127" y="4656582"/>
            <a:ext cx="3566160" cy="948690"/>
          </a:xfrm>
          <a:prstGeom prst="rect">
            <a:avLst/>
          </a:prstGeom>
          <a:solidFill>
            <a:srgbClr val="FFFFFF"/>
          </a:solidFill>
          <a:ln w="12700">
            <a:solidFill>
              <a:srgbClr val="DA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91855" y="4702302"/>
            <a:ext cx="3346704" cy="857250"/>
          </a:xfrm>
          <a:prstGeom prst="rect">
            <a:avLst/>
          </a:prstGeom>
          <a:noFill/>
        </p:spPr>
        <p:txBody>
          <a:bodyPr wrap="square" lIns="0" rIns="0" tIns="0" bIns="0" anchor="ctr">
            <a:spAutoFit/>
          </a:bodyPr>
          <a:lstStyle/>
          <a:p>
            <a:pPr algn="l">
              <a:spcAft>
                <a:spcPts val="300"/>
              </a:spcAft>
            </a:pPr>
            <a:r>
              <a:rPr sz="1150" b="0">
                <a:solidFill>
                  <a:srgbClr val="131B2A"/>
                </a:solidFill>
                <a:latin typeface="Arial"/>
              </a:rPr>
              <a:t>Correct catalogue mapping</a:t>
            </a:r>
          </a:p>
        </p:txBody>
      </p:sp>
      <p:sp>
        <p:nvSpPr>
          <p:cNvPr id="31" name="Rounded Rectangle 30"/>
          <p:cNvSpPr/>
          <p:nvPr/>
        </p:nvSpPr>
        <p:spPr>
          <a:xfrm>
            <a:off x="749808" y="5815584"/>
            <a:ext cx="10698480" cy="420624"/>
          </a:xfrm>
          <a:prstGeom prst="roundRect">
            <a:avLst>
              <a:gd name="adj" fmla="val 8000"/>
            </a:avLst>
          </a:prstGeom>
          <a:solidFill>
            <a:srgbClr val="F4F7FB"/>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2" y="5879592"/>
            <a:ext cx="10314432" cy="274320"/>
          </a:xfrm>
          <a:prstGeom prst="rect">
            <a:avLst/>
          </a:prstGeom>
          <a:noFill/>
        </p:spPr>
        <p:txBody>
          <a:bodyPr wrap="square" lIns="0" rIns="0" tIns="0" bIns="0" anchor="ctr">
            <a:spAutoFit/>
          </a:bodyPr>
          <a:lstStyle/>
          <a:p>
            <a:pPr algn="ctr">
              <a:spcAft>
                <a:spcPts val="300"/>
              </a:spcAft>
            </a:pPr>
            <a:r>
              <a:rPr sz="1100" b="1">
                <a:solidFill>
                  <a:srgbClr val="5F6B7A"/>
                </a:solidFill>
                <a:latin typeface="Arial"/>
              </a:rPr>
              <a:t>Each action needs authority, ownership, due date and verification.</a:t>
            </a:r>
          </a:p>
        </p:txBody>
      </p:sp>
      <p:sp>
        <p:nvSpPr>
          <p:cNvPr id="33" name="TextBox 3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4" name="TextBox 3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35" name="TextBox 3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Control Across Knowledge Areas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Schedule</a:t>
            </a:r>
          </a:p>
        </p:txBody>
      </p:sp>
      <p:sp>
        <p:nvSpPr>
          <p:cNvPr id="10" name="TextBox 9"/>
          <p:cNvSpPr txBox="1"/>
          <p:nvPr/>
        </p:nvSpPr>
        <p:spPr>
          <a:xfrm>
            <a:off x="100584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Critical path, float and milestone forecast.</a:t>
            </a:r>
          </a:p>
        </p:txBody>
      </p:sp>
      <p:sp>
        <p:nvSpPr>
          <p:cNvPr id="11" name="Rounded Rectangle 10"/>
          <p:cNvSpPr/>
          <p:nvPr/>
        </p:nvSpPr>
        <p:spPr>
          <a:xfrm>
            <a:off x="439216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Cost</a:t>
            </a:r>
          </a:p>
        </p:txBody>
      </p:sp>
      <p:sp>
        <p:nvSpPr>
          <p:cNvPr id="14" name="TextBox 13"/>
          <p:cNvSpPr txBox="1"/>
          <p:nvPr/>
        </p:nvSpPr>
        <p:spPr>
          <a:xfrm>
            <a:off x="4648200"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Actuals, earned value and forecast.</a:t>
            </a:r>
          </a:p>
        </p:txBody>
      </p:sp>
      <p:sp>
        <p:nvSpPr>
          <p:cNvPr id="15" name="Rounded Rectangle 14"/>
          <p:cNvSpPr/>
          <p:nvPr/>
        </p:nvSpPr>
        <p:spPr>
          <a:xfrm>
            <a:off x="8034527" y="1783080"/>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Quality</a:t>
            </a:r>
          </a:p>
        </p:txBody>
      </p:sp>
      <p:sp>
        <p:nvSpPr>
          <p:cNvPr id="18" name="TextBox 17"/>
          <p:cNvSpPr txBox="1"/>
          <p:nvPr/>
        </p:nvSpPr>
        <p:spPr>
          <a:xfrm>
            <a:off x="8290559" y="2313432"/>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Conformance, variation and corrective action.</a:t>
            </a:r>
          </a:p>
        </p:txBody>
      </p:sp>
      <p:sp>
        <p:nvSpPr>
          <p:cNvPr id="19" name="Rounded Rectangle 18"/>
          <p:cNvSpPr/>
          <p:nvPr/>
        </p:nvSpPr>
        <p:spPr>
          <a:xfrm>
            <a:off x="749808"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83964"/>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Resources</a:t>
            </a:r>
          </a:p>
        </p:txBody>
      </p:sp>
      <p:sp>
        <p:nvSpPr>
          <p:cNvPr id="22" name="TextBox 21"/>
          <p:cNvSpPr txBox="1"/>
          <p:nvPr/>
        </p:nvSpPr>
        <p:spPr>
          <a:xfrm>
            <a:off x="100584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Utilisation, capacity and bottlenecks.</a:t>
            </a:r>
          </a:p>
        </p:txBody>
      </p:sp>
      <p:sp>
        <p:nvSpPr>
          <p:cNvPr id="23" name="Rounded Rectangle 22"/>
          <p:cNvSpPr/>
          <p:nvPr/>
        </p:nvSpPr>
        <p:spPr>
          <a:xfrm>
            <a:off x="439216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4119372"/>
            <a:ext cx="91440" cy="2107692"/>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4283964"/>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Risk</a:t>
            </a:r>
          </a:p>
        </p:txBody>
      </p:sp>
      <p:sp>
        <p:nvSpPr>
          <p:cNvPr id="26" name="TextBox 25"/>
          <p:cNvSpPr txBox="1"/>
          <p:nvPr/>
        </p:nvSpPr>
        <p:spPr>
          <a:xfrm>
            <a:off x="4648200"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Triggers, exposure and reserve.</a:t>
            </a:r>
          </a:p>
        </p:txBody>
      </p:sp>
      <p:sp>
        <p:nvSpPr>
          <p:cNvPr id="27" name="Rounded Rectangle 26"/>
          <p:cNvSpPr/>
          <p:nvPr/>
        </p:nvSpPr>
        <p:spPr>
          <a:xfrm>
            <a:off x="8034527" y="4119372"/>
            <a:ext cx="3413759"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4119372"/>
            <a:ext cx="91440" cy="2107692"/>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4283964"/>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Communication &amp; procurement</a:t>
            </a:r>
          </a:p>
        </p:txBody>
      </p:sp>
      <p:sp>
        <p:nvSpPr>
          <p:cNvPr id="30" name="TextBox 29"/>
          <p:cNvSpPr txBox="1"/>
          <p:nvPr/>
        </p:nvSpPr>
        <p:spPr>
          <a:xfrm>
            <a:off x="8290559" y="4649724"/>
            <a:ext cx="2956559"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Effectiveness, obligations and disputes.</a:t>
            </a:r>
          </a:p>
        </p:txBody>
      </p:sp>
      <p:sp>
        <p:nvSpPr>
          <p:cNvPr id="31" name="TextBox 30"/>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2" name="TextBox 31"/>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33" name="TextBox 32"/>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TOPIC 07 · REFERENCE-SOURCED DEEP DIVE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Closure from Acceptance to Benefits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Accept</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criteria and authorised sign-off</a:t>
            </a:r>
          </a:p>
        </p:txBody>
      </p:sp>
      <p:cxnSp>
        <p:nvCxnSpPr>
          <p:cNvPr id="12" name="Connector 11"/>
          <p:cNvCxnSpPr/>
          <p:nvPr/>
        </p:nvCxnSpPr>
        <p:spPr>
          <a:xfrm>
            <a:off x="2395727" y="3474720"/>
            <a:ext cx="164593"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Transition</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operations, support, data and training</a:t>
            </a:r>
          </a:p>
        </p:txBody>
      </p:sp>
      <p:cxnSp>
        <p:nvCxnSpPr>
          <p:cNvPr id="18" name="Connector 17"/>
          <p:cNvCxnSpPr/>
          <p:nvPr/>
        </p:nvCxnSpPr>
        <p:spPr>
          <a:xfrm>
            <a:off x="4206240"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Close contracts</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claims, invoices, warranties and records</a:t>
            </a:r>
          </a:p>
        </p:txBody>
      </p:sp>
      <p:cxnSp>
        <p:nvCxnSpPr>
          <p:cNvPr id="24" name="Connector 23"/>
          <p:cNvCxnSpPr/>
          <p:nvPr/>
        </p:nvCxnSpPr>
        <p:spPr>
          <a:xfrm>
            <a:off x="6016751"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Learn</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causes and reusable recommendations</a:t>
            </a:r>
          </a:p>
        </p:txBody>
      </p:sp>
      <p:cxnSp>
        <p:nvCxnSpPr>
          <p:cNvPr id="30" name="Connector 29"/>
          <p:cNvCxnSpPr/>
          <p:nvPr/>
        </p:nvCxnSpPr>
        <p:spPr>
          <a:xfrm>
            <a:off x="7827263" y="3474720"/>
            <a:ext cx="164592"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Transfer benefits</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owner, baseline, target and review</a:t>
            </a:r>
          </a:p>
        </p:txBody>
      </p:sp>
      <p:cxnSp>
        <p:nvCxnSpPr>
          <p:cNvPr id="36" name="Connector 35"/>
          <p:cNvCxnSpPr/>
          <p:nvPr/>
        </p:nvCxnSpPr>
        <p:spPr>
          <a:xfrm>
            <a:off x="9637776" y="3474720"/>
            <a:ext cx="164591" cy="0"/>
          </a:xfrm>
          <a:prstGeom prst="line">
            <a:avLst/>
          </a:prstGeom>
          <a:ln w="25400">
            <a:solidFill>
              <a:srgbClr val="1655D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Close</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archive and release resources</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1655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The project can close only after unresolved work is completed or formally transferred.</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REFERENCE-SOURCED DEEP DIVE</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07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11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31 Burndown Chart</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32 Project Budget - Planned vs Actual - Weekly and Monthly</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34 Control Chart</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150" b="1">
                <a:solidFill>
                  <a:srgbClr val="F59E0B"/>
                </a:solidFill>
                <a:latin typeface="Arial"/>
              </a:rPr>
              <a:t>11 Integrated Status Change and Issue Log</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XLSX · editable project tool</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TOOL-BASED PRACTICE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07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Control Performance, Issues and Change</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11 · 45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At week 12, PV is S$108,000, EV is S$90,000 and AC is S$105,000. The sponsor requests loyalty points for S$24,000 and three weeks while a vendor interface issue threatens acceptance.</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Calculate earned value and forecast, integrate quality and milestone evidence, triage the issue, analyse the change, obtain an authorised decision and define corrective action.</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An integrated status report, EVM calculations and forecast, issue decision, change-impact analysis, decision log, corrective action and updated control records.</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EVM and forecast reconcile, issue and change records are distinct, the decision is authorised, all affected records are updated and corrective action is measurable.</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Integrated Status, Change and Issue Log, Burndown, Budget and Control Chart</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11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11 · LO7</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07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11: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Status reporting is a decision system, not a colour-coded history lesson.</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Change control enables deliberate trade-offs; it does not prevent change.</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An approved change is incomplete until every affected baseline is updated.</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07 · TOOL-BASED PRACTICE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Activity 12 Tool Pack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057400"/>
            <a:ext cx="425196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06727" y="2057400"/>
            <a:ext cx="4251960" cy="1097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35327" y="2304288"/>
            <a:ext cx="3794760" cy="292608"/>
          </a:xfrm>
          <a:prstGeom prst="rect">
            <a:avLst/>
          </a:prstGeom>
          <a:noFill/>
        </p:spPr>
        <p:txBody>
          <a:bodyPr wrap="square" lIns="0" rIns="0" tIns="0" bIns="0" anchor="t">
            <a:spAutoFit/>
          </a:bodyPr>
          <a:lstStyle/>
          <a:p>
            <a:pPr algn="ctr">
              <a:spcAft>
                <a:spcPts val="300"/>
              </a:spcAft>
            </a:pPr>
            <a:r>
              <a:rPr sz="1100" b="1">
                <a:solidFill>
                  <a:srgbClr val="1655D1"/>
                </a:solidFill>
                <a:latin typeface="Arial"/>
              </a:rPr>
              <a:t>XLSX</a:t>
            </a:r>
          </a:p>
        </p:txBody>
      </p:sp>
      <p:sp>
        <p:nvSpPr>
          <p:cNvPr id="10" name="TextBox 9"/>
          <p:cNvSpPr txBox="1"/>
          <p:nvPr/>
        </p:nvSpPr>
        <p:spPr>
          <a:xfrm>
            <a:off x="1935327" y="2624328"/>
            <a:ext cx="379476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44 Agile Retrospective</a:t>
            </a:r>
          </a:p>
        </p:txBody>
      </p:sp>
      <p:sp>
        <p:nvSpPr>
          <p:cNvPr id="11" name="TextBox 10"/>
          <p:cNvSpPr txBox="1"/>
          <p:nvPr/>
        </p:nvSpPr>
        <p:spPr>
          <a:xfrm>
            <a:off x="1935327" y="3337560"/>
            <a:ext cx="379476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2" name="Rounded Rectangle 11"/>
          <p:cNvSpPr/>
          <p:nvPr/>
        </p:nvSpPr>
        <p:spPr>
          <a:xfrm>
            <a:off x="6233007" y="2057400"/>
            <a:ext cx="4251960" cy="1874519"/>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2057400"/>
            <a:ext cx="4251960"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1607" y="2304288"/>
            <a:ext cx="3794760" cy="292608"/>
          </a:xfrm>
          <a:prstGeom prst="rect">
            <a:avLst/>
          </a:prstGeom>
          <a:noFill/>
        </p:spPr>
        <p:txBody>
          <a:bodyPr wrap="square" lIns="0" rIns="0" tIns="0" bIns="0" anchor="t">
            <a:spAutoFit/>
          </a:bodyPr>
          <a:lstStyle/>
          <a:p>
            <a:pPr algn="ctr">
              <a:spcAft>
                <a:spcPts val="300"/>
              </a:spcAft>
            </a:pPr>
            <a:r>
              <a:rPr sz="1100" b="1">
                <a:solidFill>
                  <a:srgbClr val="0F9D8A"/>
                </a:solidFill>
                <a:latin typeface="Arial"/>
              </a:rPr>
              <a:t>XLSX</a:t>
            </a:r>
          </a:p>
        </p:txBody>
      </p:sp>
      <p:sp>
        <p:nvSpPr>
          <p:cNvPr id="15" name="TextBox 14"/>
          <p:cNvSpPr txBox="1"/>
          <p:nvPr/>
        </p:nvSpPr>
        <p:spPr>
          <a:xfrm>
            <a:off x="6461607" y="2624328"/>
            <a:ext cx="3794760" cy="640080"/>
          </a:xfrm>
          <a:prstGeom prst="rect">
            <a:avLst/>
          </a:prstGeom>
          <a:noFill/>
        </p:spPr>
        <p:txBody>
          <a:bodyPr wrap="square" lIns="0" rIns="0" tIns="0" bIns="0" anchor="ctr">
            <a:spAutoFit/>
          </a:bodyPr>
          <a:lstStyle/>
          <a:p>
            <a:pPr algn="ctr">
              <a:spcAft>
                <a:spcPts val="300"/>
              </a:spcAft>
            </a:pPr>
            <a:r>
              <a:rPr sz="1250" b="1">
                <a:solidFill>
                  <a:srgbClr val="131B2A"/>
                </a:solidFill>
                <a:latin typeface="Arial"/>
              </a:rPr>
              <a:t>12 Acceptance Handover Closure and Benefits</a:t>
            </a:r>
          </a:p>
        </p:txBody>
      </p:sp>
      <p:sp>
        <p:nvSpPr>
          <p:cNvPr id="16" name="TextBox 15"/>
          <p:cNvSpPr txBox="1"/>
          <p:nvPr/>
        </p:nvSpPr>
        <p:spPr>
          <a:xfrm>
            <a:off x="6461607" y="3337560"/>
            <a:ext cx="3794760" cy="320040"/>
          </a:xfrm>
          <a:prstGeom prst="rect">
            <a:avLst/>
          </a:prstGeom>
          <a:noFill/>
        </p:spPr>
        <p:txBody>
          <a:bodyPr wrap="square" lIns="0" rIns="0" tIns="0" bIns="0" anchor="t">
            <a:spAutoFit/>
          </a:bodyPr>
          <a:lstStyle/>
          <a:p>
            <a:pPr algn="ctr">
              <a:spcAft>
                <a:spcPts val="300"/>
              </a:spcAft>
            </a:pPr>
            <a:r>
              <a:rPr sz="1050" b="0">
                <a:solidFill>
                  <a:srgbClr val="5F6B7A"/>
                </a:solidFill>
                <a:latin typeface="Arial"/>
              </a:rPr>
              <a:t>Editable evidence file</a:t>
            </a:r>
          </a:p>
        </p:txBody>
      </p:sp>
      <p:sp>
        <p:nvSpPr>
          <p:cNvPr id="17" name="Rounded Rectangle 16"/>
          <p:cNvSpPr/>
          <p:nvPr/>
        </p:nvSpPr>
        <p:spPr>
          <a:xfrm>
            <a:off x="749808" y="4343400"/>
            <a:ext cx="10698480" cy="1143000"/>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544568"/>
            <a:ext cx="182880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DECISION ENABLED</a:t>
            </a:r>
          </a:p>
        </p:txBody>
      </p:sp>
      <p:sp>
        <p:nvSpPr>
          <p:cNvPr id="19" name="TextBox 18"/>
          <p:cNvSpPr txBox="1"/>
          <p:nvPr/>
        </p:nvSpPr>
        <p:spPr>
          <a:xfrm>
            <a:off x="2788920" y="4453128"/>
            <a:ext cx="8229600" cy="685800"/>
          </a:xfrm>
          <a:prstGeom prst="rect">
            <a:avLst/>
          </a:prstGeom>
          <a:noFill/>
        </p:spPr>
        <p:txBody>
          <a:bodyPr wrap="square" lIns="0" rIns="0" tIns="0" bIns="0" anchor="ctr">
            <a:spAutoFit/>
          </a:bodyPr>
          <a:lstStyle/>
          <a:p>
            <a:pPr algn="l">
              <a:spcAft>
                <a:spcPts val="300"/>
              </a:spcAft>
            </a:pPr>
            <a:r>
              <a:rPr sz="1250" b="1">
                <a:solidFill>
                  <a:srgbClr val="131B2A"/>
                </a:solidFill>
                <a:latin typeface="Arial"/>
              </a:rPr>
              <a:t>Signed acceptance matrix, handover and training evidence, unresolved-item disposition, contract closeout, lessons register, benefits tracker and formal closure recommendation.</a:t>
            </a:r>
          </a:p>
        </p:txBody>
      </p:sp>
      <p:sp>
        <p:nvSpPr>
          <p:cNvPr id="20" name="TextBox 19"/>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1" name="TextBox 20"/>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TOOL-BASED PRACTICE</a:t>
            </a:r>
          </a:p>
        </p:txBody>
      </p:sp>
      <p:sp>
        <p:nvSpPr>
          <p:cNvPr id="22" name="TextBox 21"/>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TOPIC 07 · HANDS-ON ACTIVITY</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Accept, Handover and Close the Project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034272" y="384048"/>
            <a:ext cx="2377440" cy="402336"/>
          </a:xfrm>
          <a:prstGeom prst="roundRect">
            <a:avLst>
              <a:gd name="adj" fmla="val 8000"/>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4272" y="384048"/>
            <a:ext cx="2377440" cy="402336"/>
          </a:xfrm>
          <a:prstGeom prst="rect">
            <a:avLst/>
          </a:prstGeom>
          <a:noFill/>
        </p:spPr>
        <p:txBody>
          <a:bodyPr wrap="square" lIns="0" rIns="0" tIns="0" bIns="0" anchor="ctr">
            <a:spAutoFit/>
          </a:bodyPr>
          <a:lstStyle/>
          <a:p>
            <a:pPr algn="ctr">
              <a:spcAft>
                <a:spcPts val="300"/>
              </a:spcAft>
            </a:pPr>
            <a:r>
              <a:rPr sz="1050" b="1">
                <a:solidFill>
                  <a:srgbClr val="FFFFFF"/>
                </a:solidFill>
                <a:latin typeface="Arial"/>
              </a:rPr>
              <a:t>ACTIVITY 12 · 35 MIN</a:t>
            </a:r>
          </a:p>
        </p:txBody>
      </p:sp>
      <p:sp>
        <p:nvSpPr>
          <p:cNvPr id="9" name="Rounded Rectangle 8"/>
          <p:cNvSpPr/>
          <p:nvPr/>
        </p:nvSpPr>
        <p:spPr>
          <a:xfrm>
            <a:off x="749808" y="1773936"/>
            <a:ext cx="10698480" cy="12344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73936"/>
            <a:ext cx="91440" cy="123444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74519"/>
            <a:ext cx="10149840" cy="256032"/>
          </a:xfrm>
          <a:prstGeom prst="rect">
            <a:avLst/>
          </a:prstGeom>
          <a:noFill/>
        </p:spPr>
        <p:txBody>
          <a:bodyPr wrap="square" lIns="0" rIns="0" tIns="0" bIns="0" anchor="t">
            <a:spAutoFit/>
          </a:bodyPr>
          <a:lstStyle/>
          <a:p>
            <a:pPr algn="l">
              <a:spcAft>
                <a:spcPts val="300"/>
              </a:spcAft>
            </a:pPr>
            <a:r>
              <a:rPr sz="1050" b="1">
                <a:solidFill>
                  <a:srgbClr val="703CC3"/>
                </a:solidFill>
                <a:latin typeface="Arial"/>
              </a:rPr>
              <a:t>THE SITUATION</a:t>
            </a:r>
          </a:p>
        </p:txBody>
      </p:sp>
      <p:sp>
        <p:nvSpPr>
          <p:cNvPr id="12" name="TextBox 11"/>
          <p:cNvSpPr txBox="1"/>
          <p:nvPr/>
        </p:nvSpPr>
        <p:spPr>
          <a:xfrm>
            <a:off x="1005840" y="2139696"/>
            <a:ext cx="10149840" cy="731520"/>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All three outlets are live, but final payment is requested before complete acceptance evidence, support ownership, training records and unresolved-item decisions are consolidated. Benefits will continue after project closure.</a:t>
            </a:r>
          </a:p>
        </p:txBody>
      </p:sp>
      <p:sp>
        <p:nvSpPr>
          <p:cNvPr id="13" name="Rounded Rectangle 12"/>
          <p:cNvSpPr/>
          <p:nvPr/>
        </p:nvSpPr>
        <p:spPr>
          <a:xfrm>
            <a:off x="749808"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218688"/>
            <a:ext cx="3419856" cy="9144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401568"/>
            <a:ext cx="3017520" cy="274320"/>
          </a:xfrm>
          <a:prstGeom prst="rect">
            <a:avLst/>
          </a:prstGeom>
          <a:noFill/>
        </p:spPr>
        <p:txBody>
          <a:bodyPr wrap="square" lIns="0" rIns="0" tIns="0" bIns="0" anchor="t">
            <a:spAutoFit/>
          </a:bodyPr>
          <a:lstStyle/>
          <a:p>
            <a:pPr algn="l">
              <a:spcAft>
                <a:spcPts val="300"/>
              </a:spcAft>
            </a:pPr>
            <a:r>
              <a:rPr sz="1050" b="1">
                <a:solidFill>
                  <a:srgbClr val="1655D1"/>
                </a:solidFill>
                <a:latin typeface="Arial"/>
              </a:rPr>
              <a:t>WHAT YOU'LL DO</a:t>
            </a:r>
          </a:p>
        </p:txBody>
      </p:sp>
      <p:sp>
        <p:nvSpPr>
          <p:cNvPr id="16" name="TextBox 15"/>
          <p:cNvSpPr txBox="1"/>
          <p:nvPr/>
        </p:nvSpPr>
        <p:spPr>
          <a:xfrm>
            <a:off x="950976"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Validate acceptance, transfer operations and knowledge, resolve contracts and open items, capture lessons and assign post-project benefits measures before recommending closure.</a:t>
            </a:r>
          </a:p>
        </p:txBody>
      </p:sp>
      <p:sp>
        <p:nvSpPr>
          <p:cNvPr id="17" name="Rounded Rectangle 16"/>
          <p:cNvSpPr/>
          <p:nvPr/>
        </p:nvSpPr>
        <p:spPr>
          <a:xfrm>
            <a:off x="4389120"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218688"/>
            <a:ext cx="341985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401568"/>
            <a:ext cx="3017520" cy="274320"/>
          </a:xfrm>
          <a:prstGeom prst="rect">
            <a:avLst/>
          </a:prstGeom>
          <a:noFill/>
        </p:spPr>
        <p:txBody>
          <a:bodyPr wrap="square" lIns="0" rIns="0" tIns="0" bIns="0" anchor="t">
            <a:spAutoFit/>
          </a:bodyPr>
          <a:lstStyle/>
          <a:p>
            <a:pPr algn="l">
              <a:spcAft>
                <a:spcPts val="300"/>
              </a:spcAft>
            </a:pPr>
            <a:r>
              <a:rPr sz="1050" b="1">
                <a:solidFill>
                  <a:srgbClr val="0F9D8A"/>
                </a:solidFill>
                <a:latin typeface="Arial"/>
              </a:rPr>
              <a:t>YOU'LL PRODUCE</a:t>
            </a:r>
          </a:p>
        </p:txBody>
      </p:sp>
      <p:sp>
        <p:nvSpPr>
          <p:cNvPr id="20" name="TextBox 19"/>
          <p:cNvSpPr txBox="1"/>
          <p:nvPr/>
        </p:nvSpPr>
        <p:spPr>
          <a:xfrm>
            <a:off x="4590288"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Signed acceptance matrix, handover and training evidence, unresolved-item disposition, contract closeout, lessons register, benefits tracker and formal closure recommendation.</a:t>
            </a:r>
          </a:p>
        </p:txBody>
      </p:sp>
      <p:sp>
        <p:nvSpPr>
          <p:cNvPr id="21" name="Rounded Rectangle 20"/>
          <p:cNvSpPr/>
          <p:nvPr/>
        </p:nvSpPr>
        <p:spPr>
          <a:xfrm>
            <a:off x="8028431" y="3218688"/>
            <a:ext cx="3419856"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28431" y="3218688"/>
            <a:ext cx="341985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01568"/>
            <a:ext cx="3017520" cy="274320"/>
          </a:xfrm>
          <a:prstGeom prst="rect">
            <a:avLst/>
          </a:prstGeom>
          <a:noFill/>
        </p:spPr>
        <p:txBody>
          <a:bodyPr wrap="square" lIns="0" rIns="0" tIns="0" bIns="0" anchor="t">
            <a:spAutoFit/>
          </a:bodyPr>
          <a:lstStyle/>
          <a:p>
            <a:pPr algn="l">
              <a:spcAft>
                <a:spcPts val="300"/>
              </a:spcAft>
            </a:pPr>
            <a:r>
              <a:rPr sz="1050" b="1">
                <a:solidFill>
                  <a:srgbClr val="F59E0B"/>
                </a:solidFill>
                <a:latin typeface="Arial"/>
              </a:rPr>
              <a:t>DONE WHEN</a:t>
            </a:r>
          </a:p>
        </p:txBody>
      </p:sp>
      <p:sp>
        <p:nvSpPr>
          <p:cNvPr id="24" name="TextBox 23"/>
          <p:cNvSpPr txBox="1"/>
          <p:nvPr/>
        </p:nvSpPr>
        <p:spPr>
          <a:xfrm>
            <a:off x="8229600" y="3712463"/>
            <a:ext cx="3017520" cy="1389888"/>
          </a:xfrm>
          <a:prstGeom prst="rect">
            <a:avLst/>
          </a:prstGeom>
          <a:noFill/>
        </p:spPr>
        <p:txBody>
          <a:bodyPr wrap="square" lIns="0" rIns="0" tIns="0" bIns="0" anchor="ctr">
            <a:spAutoFit/>
          </a:bodyPr>
          <a:lstStyle/>
          <a:p>
            <a:pPr algn="l">
              <a:spcAft>
                <a:spcPts val="300"/>
              </a:spcAft>
            </a:pPr>
            <a:r>
              <a:rPr sz="1050" b="0">
                <a:solidFill>
                  <a:srgbClr val="131B2A"/>
                </a:solidFill>
                <a:latin typeface="Arial"/>
              </a:rPr>
              <a:t>Acceptance is traceable, handover ownership is explicit, open items have formal disposition, contracts and records reconcile, and benefits continue under named operational owners.</a:t>
            </a:r>
          </a:p>
        </p:txBody>
      </p:sp>
      <p:sp>
        <p:nvSpPr>
          <p:cNvPr id="25" name="Rounded Rectangle 24"/>
          <p:cNvSpPr/>
          <p:nvPr/>
        </p:nvSpPr>
        <p:spPr>
          <a:xfrm>
            <a:off x="749808" y="548640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577840"/>
            <a:ext cx="10195560" cy="256032"/>
          </a:xfrm>
          <a:prstGeom prst="rect">
            <a:avLst/>
          </a:prstGeom>
          <a:noFill/>
        </p:spPr>
        <p:txBody>
          <a:bodyPr wrap="square" lIns="0" rIns="0" tIns="0" bIns="0" anchor="t">
            <a:spAutoFit/>
          </a:bodyPr>
          <a:lstStyle/>
          <a:p>
            <a:pPr algn="l">
              <a:spcAft>
                <a:spcPts val="300"/>
              </a:spcAft>
            </a:pPr>
            <a:r>
              <a:rPr sz="1100" b="1">
                <a:solidFill>
                  <a:srgbClr val="131B2A"/>
                </a:solidFill>
                <a:latin typeface="Arial"/>
              </a:rPr>
              <a:t>Tool: Acceptance, Handover, Closure and Benefits Tracker plus Retrospective</a:t>
            </a:r>
          </a:p>
        </p:txBody>
      </p:sp>
      <p:sp>
        <p:nvSpPr>
          <p:cNvPr id="27" name="TextBox 26"/>
          <p:cNvSpPr txBox="1"/>
          <p:nvPr/>
        </p:nvSpPr>
        <p:spPr>
          <a:xfrm>
            <a:off x="960120" y="5843016"/>
            <a:ext cx="10195560" cy="219456"/>
          </a:xfrm>
          <a:prstGeom prst="rect">
            <a:avLst/>
          </a:prstGeom>
          <a:noFill/>
        </p:spPr>
        <p:txBody>
          <a:bodyPr wrap="square" lIns="0" rIns="0" tIns="0" bIns="0" anchor="t">
            <a:spAutoFit/>
          </a:bodyPr>
          <a:lstStyle/>
          <a:p>
            <a:pPr algn="l">
              <a:spcAft>
                <a:spcPts val="300"/>
              </a:spcAft>
            </a:pPr>
            <a:r>
              <a:rPr sz="950" b="0">
                <a:solidFill>
                  <a:srgbClr val="5F6B7A"/>
                </a:solidFill>
                <a:latin typeface="Arial"/>
              </a:rPr>
              <a:t>Full procedure, evidence fields and acceptance criteria: Learner Guide and Activity 12 folder.</a:t>
            </a:r>
          </a:p>
        </p:txBody>
      </p:sp>
      <p:sp>
        <p:nvSpPr>
          <p:cNvPr id="28" name="TextBox 27"/>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9" name="TextBox 28"/>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Activity 12 · LO7</a:t>
            </a:r>
          </a:p>
        </p:txBody>
      </p:sp>
      <p:sp>
        <p:nvSpPr>
          <p:cNvPr id="30" name="TextBox 29"/>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703CC3"/>
                </a:solidFill>
                <a:latin typeface="Arial"/>
              </a:rPr>
              <a:t>TOPIC 07 · ACTIVITY DEBRIEF</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Debrief — Activity 12: What It Proves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1024128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1</a:t>
            </a:r>
          </a:p>
        </p:txBody>
      </p:sp>
      <p:sp>
        <p:nvSpPr>
          <p:cNvPr id="10" name="TextBox 9"/>
          <p:cNvSpPr txBox="1"/>
          <p:nvPr/>
        </p:nvSpPr>
        <p:spPr>
          <a:xfrm>
            <a:off x="1005840" y="2313432"/>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Elapsed time does not close a project; complete evidence and transferred accountability do.</a:t>
            </a:r>
          </a:p>
        </p:txBody>
      </p:sp>
      <p:sp>
        <p:nvSpPr>
          <p:cNvPr id="11" name="Rounded Rectangle 10"/>
          <p:cNvSpPr/>
          <p:nvPr/>
        </p:nvSpPr>
        <p:spPr>
          <a:xfrm>
            <a:off x="749808" y="3340608"/>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340608"/>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05200"/>
            <a:ext cx="1024128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2</a:t>
            </a:r>
          </a:p>
        </p:txBody>
      </p:sp>
      <p:sp>
        <p:nvSpPr>
          <p:cNvPr id="14" name="TextBox 13"/>
          <p:cNvSpPr txBox="1"/>
          <p:nvPr/>
        </p:nvSpPr>
        <p:spPr>
          <a:xfrm>
            <a:off x="1005840" y="3870960"/>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Lessons become assets only when future owners can find and use them.</a:t>
            </a:r>
          </a:p>
        </p:txBody>
      </p:sp>
      <p:sp>
        <p:nvSpPr>
          <p:cNvPr id="15" name="Rounded Rectangle 14"/>
          <p:cNvSpPr/>
          <p:nvPr/>
        </p:nvSpPr>
        <p:spPr>
          <a:xfrm>
            <a:off x="749808" y="4898136"/>
            <a:ext cx="10698480"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898136"/>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62728"/>
            <a:ext cx="1024128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3</a:t>
            </a:r>
          </a:p>
        </p:txBody>
      </p:sp>
      <p:sp>
        <p:nvSpPr>
          <p:cNvPr id="18" name="TextBox 17"/>
          <p:cNvSpPr txBox="1"/>
          <p:nvPr/>
        </p:nvSpPr>
        <p:spPr>
          <a:xfrm>
            <a:off x="1005840" y="5428488"/>
            <a:ext cx="10241280"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Project work ends before benefits measurement ends.</a:t>
            </a:r>
          </a:p>
        </p:txBody>
      </p:sp>
      <p:sp>
        <p:nvSpPr>
          <p:cNvPr id="19" name="TextBox 1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0" name="TextBox 1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ACTIVITY DEBRIEF</a:t>
            </a:r>
          </a:p>
        </p:txBody>
      </p:sp>
      <p:sp>
        <p:nvSpPr>
          <p:cNvPr id="21" name="TextBox 2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TOPIC 07 · A7 · LO7</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Topic 07 Recap</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Decision</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Work performance data becomes information only after comparison with the approved baseline and thresholds.</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Method</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CPI = EV/AC and SPI = EV/PV; indices below 1.00 signal inefficiency against the baseline.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Evidence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200" b="0">
                <a:solidFill>
                  <a:srgbClr val="131B2A"/>
                </a:solidFill>
                <a:latin typeface="Arial"/>
              </a:rPr>
              <a:t>Signed acceptance matrix, handover and training evidence, unresolved-item disposition, contract closeout, lessons register, benefits tracker and formal closure recommendation.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Capability</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Close only when deliverables, transition, contracts, records and benefits ownership are evidenced (A7).</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TOPIC 07 · A7 · LO7</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554480"/>
            <a:ext cx="10881360" cy="3611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554480"/>
            <a:ext cx="128016" cy="3611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1901952"/>
            <a:ext cx="7955279" cy="365760"/>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WRAP-UP</a:t>
            </a:r>
          </a:p>
        </p:txBody>
      </p:sp>
      <p:sp>
        <p:nvSpPr>
          <p:cNvPr id="6" name="TextBox 5"/>
          <p:cNvSpPr txBox="1"/>
          <p:nvPr/>
        </p:nvSpPr>
        <p:spPr>
          <a:xfrm>
            <a:off x="1170432" y="2395728"/>
            <a:ext cx="9052560" cy="914400"/>
          </a:xfrm>
          <a:prstGeom prst="rect">
            <a:avLst/>
          </a:prstGeom>
          <a:noFill/>
        </p:spPr>
        <p:txBody>
          <a:bodyPr wrap="square" lIns="0" rIns="0" tIns="0" bIns="0" anchor="ctr">
            <a:spAutoFit/>
          </a:bodyPr>
          <a:lstStyle/>
          <a:p>
            <a:pPr algn="l">
              <a:spcAft>
                <a:spcPts val="300"/>
              </a:spcAft>
            </a:pPr>
            <a:r>
              <a:rPr sz="3400" b="1">
                <a:solidFill>
                  <a:srgbClr val="131B2A"/>
                </a:solidFill>
                <a:latin typeface="Arial"/>
              </a:rPr>
              <a:t>Course Wrap-Up</a:t>
            </a:r>
          </a:p>
        </p:txBody>
      </p:sp>
      <p:sp>
        <p:nvSpPr>
          <p:cNvPr id="7" name="TextBox 6"/>
          <p:cNvSpPr txBox="1"/>
          <p:nvPr/>
        </p:nvSpPr>
        <p:spPr>
          <a:xfrm>
            <a:off x="1170432" y="3474720"/>
            <a:ext cx="9052560" cy="777240"/>
          </a:xfrm>
          <a:prstGeom prst="rect">
            <a:avLst/>
          </a:prstGeom>
          <a:noFill/>
        </p:spPr>
        <p:txBody>
          <a:bodyPr wrap="square" lIns="0" rIns="0" tIns="0" bIns="0" anchor="t">
            <a:spAutoFit/>
          </a:bodyPr>
          <a:lstStyle/>
          <a:p>
            <a:pPr algn="l">
              <a:spcAft>
                <a:spcPts val="300"/>
              </a:spcAft>
            </a:pPr>
            <a:r>
              <a:rPr sz="1600" b="0">
                <a:solidFill>
                  <a:srgbClr val="5F6B7A"/>
                </a:solidFill>
                <a:latin typeface="Arial"/>
              </a:rPr>
              <a:t>From authorisation to controlled handover—one connected evidence chain.</a:t>
            </a:r>
          </a:p>
        </p:txBody>
      </p:sp>
      <p:sp>
        <p:nvSpPr>
          <p:cNvPr id="8" name="TextBox 7"/>
          <p:cNvSpPr txBox="1"/>
          <p:nvPr/>
        </p:nvSpPr>
        <p:spPr>
          <a:xfrm>
            <a:off x="9308592" y="594360"/>
            <a:ext cx="1920240" cy="1097280"/>
          </a:xfrm>
          <a:prstGeom prst="rect">
            <a:avLst/>
          </a:prstGeom>
          <a:noFill/>
        </p:spPr>
        <p:txBody>
          <a:bodyPr wrap="square" lIns="0" rIns="0" tIns="0" bIns="0" anchor="t">
            <a:spAutoFit/>
          </a:bodyPr>
          <a:lstStyle/>
          <a:p>
            <a:pPr algn="r">
              <a:spcAft>
                <a:spcPts val="300"/>
              </a:spcAft>
            </a:pPr>
            <a:r>
              <a:rPr sz="6200" b="1">
                <a:solidFill>
                  <a:srgbClr val="DAE2EC"/>
                </a:solidFill>
                <a:latin typeface="Arial"/>
              </a:rPr>
              <a:t/>
            </a:r>
          </a:p>
        </p:txBody>
      </p:sp>
      <p:sp>
        <p:nvSpPr>
          <p:cNvPr id="9" name="TextBox 8"/>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10" name="TextBox 9"/>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WRAP-UP</a:t>
            </a:r>
          </a:p>
        </p:txBody>
      </p:sp>
      <p:sp>
        <p:nvSpPr>
          <p:cNvPr id="11" name="TextBox 10"/>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WRAP-UP · END-TO-END</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The Small-Project Delivery System</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965960"/>
            <a:ext cx="1645919" cy="13716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40279"/>
            <a:ext cx="1389887" cy="457200"/>
          </a:xfrm>
          <a:prstGeom prst="rect">
            <a:avLst/>
          </a:prstGeom>
          <a:noFill/>
        </p:spPr>
        <p:txBody>
          <a:bodyPr wrap="square" lIns="0" rIns="0" tIns="0" bIns="0" anchor="t">
            <a:spAutoFit/>
          </a:bodyPr>
          <a:lstStyle/>
          <a:p>
            <a:pPr algn="ctr">
              <a:spcAft>
                <a:spcPts val="300"/>
              </a:spcAft>
            </a:pPr>
            <a:r>
              <a:rPr sz="1400" b="1">
                <a:solidFill>
                  <a:srgbClr val="1655D1"/>
                </a:solidFill>
                <a:latin typeface="Arial"/>
              </a:rPr>
              <a:t>01</a:t>
            </a:r>
          </a:p>
        </p:txBody>
      </p:sp>
      <p:sp>
        <p:nvSpPr>
          <p:cNvPr id="10" name="TextBox 9"/>
          <p:cNvSpPr txBox="1"/>
          <p:nvPr/>
        </p:nvSpPr>
        <p:spPr>
          <a:xfrm>
            <a:off x="87782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Initiate</a:t>
            </a:r>
          </a:p>
        </p:txBody>
      </p:sp>
      <p:sp>
        <p:nvSpPr>
          <p:cNvPr id="11" name="TextBox 10"/>
          <p:cNvSpPr txBox="1"/>
          <p:nvPr/>
        </p:nvSpPr>
        <p:spPr>
          <a:xfrm>
            <a:off x="89611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value, boundaries and authority</a:t>
            </a:r>
          </a:p>
        </p:txBody>
      </p:sp>
      <p:cxnSp>
        <p:nvCxnSpPr>
          <p:cNvPr id="12" name="Connector 11"/>
          <p:cNvCxnSpPr/>
          <p:nvPr/>
        </p:nvCxnSpPr>
        <p:spPr>
          <a:xfrm>
            <a:off x="2395727" y="3474720"/>
            <a:ext cx="164593"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0" y="1965960"/>
            <a:ext cx="1645919" cy="13716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8336" y="2240279"/>
            <a:ext cx="1389887" cy="457200"/>
          </a:xfrm>
          <a:prstGeom prst="rect">
            <a:avLst/>
          </a:prstGeom>
          <a:noFill/>
        </p:spPr>
        <p:txBody>
          <a:bodyPr wrap="square" lIns="0" rIns="0" tIns="0" bIns="0" anchor="t">
            <a:spAutoFit/>
          </a:bodyPr>
          <a:lstStyle/>
          <a:p>
            <a:pPr algn="ctr">
              <a:spcAft>
                <a:spcPts val="300"/>
              </a:spcAft>
            </a:pPr>
            <a:r>
              <a:rPr sz="1400" b="1">
                <a:solidFill>
                  <a:srgbClr val="0F9D8A"/>
                </a:solidFill>
                <a:latin typeface="Arial"/>
              </a:rPr>
              <a:t>02</a:t>
            </a:r>
          </a:p>
        </p:txBody>
      </p:sp>
      <p:sp>
        <p:nvSpPr>
          <p:cNvPr id="16" name="TextBox 15"/>
          <p:cNvSpPr txBox="1"/>
          <p:nvPr/>
        </p:nvSpPr>
        <p:spPr>
          <a:xfrm>
            <a:off x="2688336"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Plan</a:t>
            </a:r>
          </a:p>
        </p:txBody>
      </p:sp>
      <p:sp>
        <p:nvSpPr>
          <p:cNvPr id="17" name="TextBox 16"/>
          <p:cNvSpPr txBox="1"/>
          <p:nvPr/>
        </p:nvSpPr>
        <p:spPr>
          <a:xfrm>
            <a:off x="2706624"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scope, sequence, resources and cost</a:t>
            </a:r>
          </a:p>
        </p:txBody>
      </p:sp>
      <p:cxnSp>
        <p:nvCxnSpPr>
          <p:cNvPr id="18" name="Connector 17"/>
          <p:cNvCxnSpPr/>
          <p:nvPr/>
        </p:nvCxnSpPr>
        <p:spPr>
          <a:xfrm>
            <a:off x="4206240" y="3474720"/>
            <a:ext cx="164591"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831"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70831" y="1965960"/>
            <a:ext cx="1645919" cy="137160"/>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7" y="2240279"/>
            <a:ext cx="1389887" cy="457200"/>
          </a:xfrm>
          <a:prstGeom prst="rect">
            <a:avLst/>
          </a:prstGeom>
          <a:noFill/>
        </p:spPr>
        <p:txBody>
          <a:bodyPr wrap="square" lIns="0" rIns="0" tIns="0" bIns="0" anchor="t">
            <a:spAutoFit/>
          </a:bodyPr>
          <a:lstStyle/>
          <a:p>
            <a:pPr algn="ctr">
              <a:spcAft>
                <a:spcPts val="300"/>
              </a:spcAft>
            </a:pPr>
            <a:r>
              <a:rPr sz="1400" b="1">
                <a:solidFill>
                  <a:srgbClr val="703CC3"/>
                </a:solidFill>
                <a:latin typeface="Arial"/>
              </a:rPr>
              <a:t>03</a:t>
            </a:r>
          </a:p>
        </p:txBody>
      </p:sp>
      <p:sp>
        <p:nvSpPr>
          <p:cNvPr id="22" name="TextBox 21"/>
          <p:cNvSpPr txBox="1"/>
          <p:nvPr/>
        </p:nvSpPr>
        <p:spPr>
          <a:xfrm>
            <a:off x="4498847"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Drive</a:t>
            </a:r>
          </a:p>
        </p:txBody>
      </p:sp>
      <p:sp>
        <p:nvSpPr>
          <p:cNvPr id="23" name="TextBox 22"/>
          <p:cNvSpPr txBox="1"/>
          <p:nvPr/>
        </p:nvSpPr>
        <p:spPr>
          <a:xfrm>
            <a:off x="4517136"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tools, quality and flow</a:t>
            </a:r>
          </a:p>
        </p:txBody>
      </p:sp>
      <p:cxnSp>
        <p:nvCxnSpPr>
          <p:cNvPr id="24" name="Connector 23"/>
          <p:cNvCxnSpPr/>
          <p:nvPr/>
        </p:nvCxnSpPr>
        <p:spPr>
          <a:xfrm>
            <a:off x="6016751"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965960"/>
            <a:ext cx="1645919"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2240279"/>
            <a:ext cx="1389887" cy="457200"/>
          </a:xfrm>
          <a:prstGeom prst="rect">
            <a:avLst/>
          </a:prstGeom>
          <a:noFill/>
        </p:spPr>
        <p:txBody>
          <a:bodyPr wrap="square" lIns="0" rIns="0" tIns="0" bIns="0" anchor="t">
            <a:spAutoFit/>
          </a:bodyPr>
          <a:lstStyle/>
          <a:p>
            <a:pPr algn="ctr">
              <a:spcAft>
                <a:spcPts val="300"/>
              </a:spcAft>
            </a:pPr>
            <a:r>
              <a:rPr sz="1400" b="1">
                <a:solidFill>
                  <a:srgbClr val="F59E0B"/>
                </a:solidFill>
                <a:latin typeface="Arial"/>
              </a:rPr>
              <a:t>04</a:t>
            </a:r>
          </a:p>
        </p:txBody>
      </p:sp>
      <p:sp>
        <p:nvSpPr>
          <p:cNvPr id="28" name="TextBox 27"/>
          <p:cNvSpPr txBox="1"/>
          <p:nvPr/>
        </p:nvSpPr>
        <p:spPr>
          <a:xfrm>
            <a:off x="6309359"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Protect</a:t>
            </a:r>
          </a:p>
        </p:txBody>
      </p:sp>
      <p:sp>
        <p:nvSpPr>
          <p:cNvPr id="29" name="TextBox 28"/>
          <p:cNvSpPr txBox="1"/>
          <p:nvPr/>
        </p:nvSpPr>
        <p:spPr>
          <a:xfrm>
            <a:off x="6327648"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risk and stakeholder alignment</a:t>
            </a:r>
          </a:p>
        </p:txBody>
      </p:sp>
      <p:cxnSp>
        <p:nvCxnSpPr>
          <p:cNvPr id="30" name="Connector 29"/>
          <p:cNvCxnSpPr/>
          <p:nvPr/>
        </p:nvCxnSpPr>
        <p:spPr>
          <a:xfrm>
            <a:off x="7827263" y="3474720"/>
            <a:ext cx="164592"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91855"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91855" y="1965960"/>
            <a:ext cx="1645919" cy="13716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2240279"/>
            <a:ext cx="1389887" cy="457200"/>
          </a:xfrm>
          <a:prstGeom prst="rect">
            <a:avLst/>
          </a:prstGeom>
          <a:noFill/>
        </p:spPr>
        <p:txBody>
          <a:bodyPr wrap="square" lIns="0" rIns="0" tIns="0" bIns="0" anchor="t">
            <a:spAutoFit/>
          </a:bodyPr>
          <a:lstStyle/>
          <a:p>
            <a:pPr algn="ctr">
              <a:spcAft>
                <a:spcPts val="300"/>
              </a:spcAft>
            </a:pPr>
            <a:r>
              <a:rPr sz="1400" b="1">
                <a:solidFill>
                  <a:srgbClr val="1A7F4B"/>
                </a:solidFill>
                <a:latin typeface="Arial"/>
              </a:rPr>
              <a:t>05</a:t>
            </a:r>
          </a:p>
        </p:txBody>
      </p:sp>
      <p:sp>
        <p:nvSpPr>
          <p:cNvPr id="34" name="TextBox 33"/>
          <p:cNvSpPr txBox="1"/>
          <p:nvPr/>
        </p:nvSpPr>
        <p:spPr>
          <a:xfrm>
            <a:off x="8119871"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Control</a:t>
            </a:r>
          </a:p>
        </p:txBody>
      </p:sp>
      <p:sp>
        <p:nvSpPr>
          <p:cNvPr id="35" name="TextBox 34"/>
          <p:cNvSpPr txBox="1"/>
          <p:nvPr/>
        </p:nvSpPr>
        <p:spPr>
          <a:xfrm>
            <a:off x="8138159"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variance, change and action</a:t>
            </a:r>
          </a:p>
        </p:txBody>
      </p:sp>
      <p:cxnSp>
        <p:nvCxnSpPr>
          <p:cNvPr id="36" name="Connector 35"/>
          <p:cNvCxnSpPr/>
          <p:nvPr/>
        </p:nvCxnSpPr>
        <p:spPr>
          <a:xfrm>
            <a:off x="9637776" y="3474720"/>
            <a:ext cx="164591" cy="0"/>
          </a:xfrm>
          <a:prstGeom prst="line">
            <a:avLst/>
          </a:prstGeom>
          <a:ln w="25400">
            <a:solidFill>
              <a:srgbClr val="0F9D8A"/>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02367" y="1965960"/>
            <a:ext cx="1645919" cy="30632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02367" y="1965960"/>
            <a:ext cx="1645919" cy="137160"/>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240279"/>
            <a:ext cx="1389887" cy="457200"/>
          </a:xfrm>
          <a:prstGeom prst="rect">
            <a:avLst/>
          </a:prstGeom>
          <a:noFill/>
        </p:spPr>
        <p:txBody>
          <a:bodyPr wrap="square" lIns="0" rIns="0" tIns="0" bIns="0" anchor="t">
            <a:spAutoFit/>
          </a:bodyPr>
          <a:lstStyle/>
          <a:p>
            <a:pPr algn="ctr">
              <a:spcAft>
                <a:spcPts val="300"/>
              </a:spcAft>
            </a:pPr>
            <a:r>
              <a:rPr sz="1400" b="1">
                <a:solidFill>
                  <a:srgbClr val="C93131"/>
                </a:solidFill>
                <a:latin typeface="Arial"/>
              </a:rPr>
              <a:t>06</a:t>
            </a:r>
          </a:p>
        </p:txBody>
      </p:sp>
      <p:sp>
        <p:nvSpPr>
          <p:cNvPr id="40" name="TextBox 39"/>
          <p:cNvSpPr txBox="1"/>
          <p:nvPr/>
        </p:nvSpPr>
        <p:spPr>
          <a:xfrm>
            <a:off x="9930384" y="2752344"/>
            <a:ext cx="1389887" cy="658368"/>
          </a:xfrm>
          <a:prstGeom prst="rect">
            <a:avLst/>
          </a:prstGeom>
          <a:noFill/>
        </p:spPr>
        <p:txBody>
          <a:bodyPr wrap="square" lIns="0" rIns="0" tIns="0" bIns="0" anchor="t">
            <a:spAutoFit/>
          </a:bodyPr>
          <a:lstStyle/>
          <a:p>
            <a:pPr algn="ctr">
              <a:spcAft>
                <a:spcPts val="300"/>
              </a:spcAft>
            </a:pPr>
            <a:r>
              <a:rPr sz="1500" b="1">
                <a:solidFill>
                  <a:srgbClr val="131B2A"/>
                </a:solidFill>
                <a:latin typeface="Arial"/>
              </a:rPr>
              <a:t>Close</a:t>
            </a:r>
          </a:p>
        </p:txBody>
      </p:sp>
      <p:sp>
        <p:nvSpPr>
          <p:cNvPr id="41" name="TextBox 40"/>
          <p:cNvSpPr txBox="1"/>
          <p:nvPr/>
        </p:nvSpPr>
        <p:spPr>
          <a:xfrm>
            <a:off x="9948672" y="3465576"/>
            <a:ext cx="1353311" cy="1234440"/>
          </a:xfrm>
          <a:prstGeom prst="rect">
            <a:avLst/>
          </a:prstGeom>
          <a:noFill/>
        </p:spPr>
        <p:txBody>
          <a:bodyPr wrap="square" lIns="0" rIns="0" tIns="0" bIns="0" anchor="ctr">
            <a:spAutoFit/>
          </a:bodyPr>
          <a:lstStyle/>
          <a:p>
            <a:pPr algn="ctr">
              <a:spcAft>
                <a:spcPts val="300"/>
              </a:spcAft>
            </a:pPr>
            <a:r>
              <a:rPr sz="1150" b="0">
                <a:solidFill>
                  <a:srgbClr val="5F6B7A"/>
                </a:solidFill>
                <a:latin typeface="Arial"/>
              </a:rPr>
              <a:t>acceptance, transition and learning</a:t>
            </a:r>
          </a:p>
        </p:txBody>
      </p:sp>
      <p:sp>
        <p:nvSpPr>
          <p:cNvPr id="42" name="Rounded Rectangle 41"/>
          <p:cNvSpPr/>
          <p:nvPr/>
        </p:nvSpPr>
        <p:spPr>
          <a:xfrm>
            <a:off x="749808" y="5303520"/>
            <a:ext cx="10698480" cy="713232"/>
          </a:xfrm>
          <a:prstGeom prst="roundRect">
            <a:avLst>
              <a:gd name="adj" fmla="val 8000"/>
            </a:avLst>
          </a:prstGeom>
          <a:solidFill>
            <a:srgbClr val="FFFFFF"/>
          </a:solidFill>
          <a:ln w="12700">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404104"/>
            <a:ext cx="10195560" cy="502920"/>
          </a:xfrm>
          <a:prstGeom prst="rect">
            <a:avLst/>
          </a:prstGeom>
          <a:noFill/>
        </p:spPr>
        <p:txBody>
          <a:bodyPr wrap="square" lIns="0" rIns="0" tIns="0" bIns="0" anchor="ctr">
            <a:spAutoFit/>
          </a:bodyPr>
          <a:lstStyle/>
          <a:p>
            <a:pPr algn="l">
              <a:spcAft>
                <a:spcPts val="300"/>
              </a:spcAft>
            </a:pPr>
            <a:r>
              <a:rPr sz="1200" b="1">
                <a:solidFill>
                  <a:srgbClr val="131B2A"/>
                </a:solidFill>
                <a:latin typeface="Arial"/>
              </a:rPr>
              <a:t>Every output becomes an input to the next decision.</a:t>
            </a:r>
          </a:p>
        </p:txBody>
      </p:sp>
      <p:sp>
        <p:nvSpPr>
          <p:cNvPr id="44" name="TextBox 43"/>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45" name="TextBox 44"/>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WRAP-UP · END-TO-END</a:t>
            </a:r>
          </a:p>
        </p:txBody>
      </p:sp>
      <p:sp>
        <p:nvSpPr>
          <p:cNvPr id="46" name="TextBox 45"/>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A7F4B"/>
                </a:solidFill>
                <a:latin typeface="Arial"/>
              </a:rPr>
              <a:t>WRAP-UP · WHAT TO REMEMBER</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Lifecycle Takeaways</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01</a:t>
            </a:r>
          </a:p>
        </p:txBody>
      </p:sp>
      <p:sp>
        <p:nvSpPr>
          <p:cNvPr id="10" name="TextBox 9"/>
          <p:cNvSpPr txBox="1"/>
          <p:nvPr/>
        </p:nvSpPr>
        <p:spPr>
          <a:xfrm>
            <a:off x="1005840" y="2313432"/>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Start with value and measurable success, not a list of tasks.</a:t>
            </a:r>
          </a:p>
        </p:txBody>
      </p:sp>
      <p:sp>
        <p:nvSpPr>
          <p:cNvPr id="11" name="Rounded Rectangle 10"/>
          <p:cNvSpPr/>
          <p:nvPr/>
        </p:nvSpPr>
        <p:spPr>
          <a:xfrm>
            <a:off x="4392167" y="1783080"/>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2167" y="1783080"/>
            <a:ext cx="91440" cy="13289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1947672"/>
            <a:ext cx="2956559"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02</a:t>
            </a:r>
          </a:p>
        </p:txBody>
      </p:sp>
      <p:sp>
        <p:nvSpPr>
          <p:cNvPr id="14" name="TextBox 13"/>
          <p:cNvSpPr txBox="1"/>
          <p:nvPr/>
        </p:nvSpPr>
        <p:spPr>
          <a:xfrm>
            <a:off x="4648200" y="2313432"/>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Integrate scope, schedule and cost around the same work packages.</a:t>
            </a:r>
          </a:p>
        </p:txBody>
      </p:sp>
      <p:sp>
        <p:nvSpPr>
          <p:cNvPr id="15" name="Rounded Rectangle 14"/>
          <p:cNvSpPr/>
          <p:nvPr/>
        </p:nvSpPr>
        <p:spPr>
          <a:xfrm>
            <a:off x="8034527" y="1783080"/>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4527" y="1783080"/>
            <a:ext cx="91440" cy="1328928"/>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947672"/>
            <a:ext cx="2956559"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03</a:t>
            </a:r>
          </a:p>
        </p:txBody>
      </p:sp>
      <p:sp>
        <p:nvSpPr>
          <p:cNvPr id="18" name="TextBox 17"/>
          <p:cNvSpPr txBox="1"/>
          <p:nvPr/>
        </p:nvSpPr>
        <p:spPr>
          <a:xfrm>
            <a:off x="8290559" y="2313432"/>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Choose the tool that changes the next decision and retire unused reporting.</a:t>
            </a:r>
          </a:p>
        </p:txBody>
      </p:sp>
      <p:sp>
        <p:nvSpPr>
          <p:cNvPr id="19" name="Rounded Rectangle 18"/>
          <p:cNvSpPr/>
          <p:nvPr/>
        </p:nvSpPr>
        <p:spPr>
          <a:xfrm>
            <a:off x="749808" y="3340608"/>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3340608"/>
            <a:ext cx="91440" cy="1328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3505200"/>
            <a:ext cx="2956559"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04</a:t>
            </a:r>
          </a:p>
        </p:txBody>
      </p:sp>
      <p:sp>
        <p:nvSpPr>
          <p:cNvPr id="22" name="TextBox 21"/>
          <p:cNvSpPr txBox="1"/>
          <p:nvPr/>
        </p:nvSpPr>
        <p:spPr>
          <a:xfrm>
            <a:off x="1005840" y="3870960"/>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Fund risk responses before triggers become issues.</a:t>
            </a:r>
          </a:p>
        </p:txBody>
      </p:sp>
      <p:sp>
        <p:nvSpPr>
          <p:cNvPr id="23" name="Rounded Rectangle 22"/>
          <p:cNvSpPr/>
          <p:nvPr/>
        </p:nvSpPr>
        <p:spPr>
          <a:xfrm>
            <a:off x="4392167" y="3340608"/>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2167" y="3340608"/>
            <a:ext cx="91440" cy="1328928"/>
          </a:xfrm>
          <a:prstGeom prst="rect">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8200" y="3505200"/>
            <a:ext cx="2956559" cy="438912"/>
          </a:xfrm>
          <a:prstGeom prst="rect">
            <a:avLst/>
          </a:prstGeom>
          <a:noFill/>
        </p:spPr>
        <p:txBody>
          <a:bodyPr wrap="square" lIns="0" rIns="0" tIns="0" bIns="0" anchor="t">
            <a:spAutoFit/>
          </a:bodyPr>
          <a:lstStyle/>
          <a:p>
            <a:pPr algn="l">
              <a:spcAft>
                <a:spcPts val="300"/>
              </a:spcAft>
            </a:pPr>
            <a:r>
              <a:rPr sz="1300" b="1">
                <a:solidFill>
                  <a:srgbClr val="1A7F4B"/>
                </a:solidFill>
                <a:latin typeface="Arial"/>
              </a:rPr>
              <a:t>05</a:t>
            </a:r>
          </a:p>
        </p:txBody>
      </p:sp>
      <p:sp>
        <p:nvSpPr>
          <p:cNvPr id="26" name="TextBox 25"/>
          <p:cNvSpPr txBox="1"/>
          <p:nvPr/>
        </p:nvSpPr>
        <p:spPr>
          <a:xfrm>
            <a:off x="4648200" y="3870960"/>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Make accountability and stakeholder feedback visible.</a:t>
            </a:r>
          </a:p>
        </p:txBody>
      </p:sp>
      <p:sp>
        <p:nvSpPr>
          <p:cNvPr id="27" name="Rounded Rectangle 26"/>
          <p:cNvSpPr/>
          <p:nvPr/>
        </p:nvSpPr>
        <p:spPr>
          <a:xfrm>
            <a:off x="8034527" y="3340608"/>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4527" y="3340608"/>
            <a:ext cx="91440" cy="1328928"/>
          </a:xfrm>
          <a:prstGeom prst="rect">
            <a:avLst/>
          </a:prstGeom>
          <a:solidFill>
            <a:srgbClr val="C9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0559" y="3505200"/>
            <a:ext cx="2956559" cy="438912"/>
          </a:xfrm>
          <a:prstGeom prst="rect">
            <a:avLst/>
          </a:prstGeom>
          <a:noFill/>
        </p:spPr>
        <p:txBody>
          <a:bodyPr wrap="square" lIns="0" rIns="0" tIns="0" bIns="0" anchor="t">
            <a:spAutoFit/>
          </a:bodyPr>
          <a:lstStyle/>
          <a:p>
            <a:pPr algn="l">
              <a:spcAft>
                <a:spcPts val="300"/>
              </a:spcAft>
            </a:pPr>
            <a:r>
              <a:rPr sz="1300" b="1">
                <a:solidFill>
                  <a:srgbClr val="C93131"/>
                </a:solidFill>
                <a:latin typeface="Arial"/>
              </a:rPr>
              <a:t>06</a:t>
            </a:r>
          </a:p>
        </p:txBody>
      </p:sp>
      <p:sp>
        <p:nvSpPr>
          <p:cNvPr id="30" name="TextBox 29"/>
          <p:cNvSpPr txBox="1"/>
          <p:nvPr/>
        </p:nvSpPr>
        <p:spPr>
          <a:xfrm>
            <a:off x="8290559" y="3870960"/>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Plan capacity at the constraint, not by nominal headcount.</a:t>
            </a:r>
          </a:p>
        </p:txBody>
      </p:sp>
      <p:sp>
        <p:nvSpPr>
          <p:cNvPr id="31" name="Rounded Rectangle 30"/>
          <p:cNvSpPr/>
          <p:nvPr/>
        </p:nvSpPr>
        <p:spPr>
          <a:xfrm>
            <a:off x="4392168" y="4898136"/>
            <a:ext cx="3413759" cy="1328928"/>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92168" y="4898136"/>
            <a:ext cx="91440" cy="1328928"/>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8200" y="5062728"/>
            <a:ext cx="2956559"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07</a:t>
            </a:r>
          </a:p>
        </p:txBody>
      </p:sp>
      <p:sp>
        <p:nvSpPr>
          <p:cNvPr id="34" name="TextBox 33"/>
          <p:cNvSpPr txBox="1"/>
          <p:nvPr/>
        </p:nvSpPr>
        <p:spPr>
          <a:xfrm>
            <a:off x="4648200" y="5428488"/>
            <a:ext cx="2956559" cy="643128"/>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Control through forecast and action; close through evidence and transfer.</a:t>
            </a:r>
          </a:p>
        </p:txBody>
      </p:sp>
      <p:sp>
        <p:nvSpPr>
          <p:cNvPr id="35" name="TextBox 34"/>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36" name="TextBox 35"/>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WRAP-UP · WHAT TO REMEMBER</a:t>
            </a:r>
          </a:p>
        </p:txBody>
      </p:sp>
      <p:sp>
        <p:nvSpPr>
          <p:cNvPr id="37" name="TextBox 36"/>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F59E0B"/>
                </a:solidFill>
                <a:latin typeface="Arial"/>
              </a:rPr>
              <a:t>ASSESSMENT · READY WHEN</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Assessment Readiness Check</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Knowledge</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Can you explain the small-project elements, plan requirements, tools, risks and stakeholder identification?</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Application</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Can you produce and interpret the charter, baseline, quality analysis, risk register, RACI, resource plan and control evidence?</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Judgement</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Can you choose a method, explain the trade-off and recommend a proportionate action?</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Evidence</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Can you trace each recommendation to the case facts and an approved project artifact?</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ASSESSMENT · READY WHEN</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1655D1"/>
                </a:solidFill>
                <a:latin typeface="Arial"/>
              </a:rPr>
              <a:t>AFTER THE COURSE</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Support</a:t>
            </a:r>
          </a:p>
        </p:txBody>
      </p:sp>
      <p:sp>
        <p:nvSpPr>
          <p:cNvPr id="6" name="Rectangle 5"/>
          <p:cNvSpPr/>
          <p:nvPr/>
        </p:nvSpPr>
        <p:spPr>
          <a:xfrm>
            <a:off x="749808" y="1536192"/>
            <a:ext cx="10698480" cy="18288"/>
          </a:xfrm>
          <a:prstGeom prst="rect">
            <a:avLst/>
          </a:prstGeom>
          <a:solidFill>
            <a:srgbClr val="DA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91440" cy="2107692"/>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47672"/>
            <a:ext cx="4777740" cy="438912"/>
          </a:xfrm>
          <a:prstGeom prst="rect">
            <a:avLst/>
          </a:prstGeom>
          <a:noFill/>
        </p:spPr>
        <p:txBody>
          <a:bodyPr wrap="square" lIns="0" rIns="0" tIns="0" bIns="0" anchor="t">
            <a:spAutoFit/>
          </a:bodyPr>
          <a:lstStyle/>
          <a:p>
            <a:pPr algn="l">
              <a:spcAft>
                <a:spcPts val="300"/>
              </a:spcAft>
            </a:pPr>
            <a:r>
              <a:rPr sz="1300" b="1">
                <a:solidFill>
                  <a:srgbClr val="1655D1"/>
                </a:solidFill>
                <a:latin typeface="Arial"/>
              </a:rPr>
              <a:t>Email</a:t>
            </a:r>
          </a:p>
        </p:txBody>
      </p:sp>
      <p:sp>
        <p:nvSpPr>
          <p:cNvPr id="10" name="TextBox 9"/>
          <p:cNvSpPr txBox="1"/>
          <p:nvPr/>
        </p:nvSpPr>
        <p:spPr>
          <a:xfrm>
            <a:off x="100584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enquiry@tertiaryinfotech.com</a:t>
            </a:r>
          </a:p>
        </p:txBody>
      </p:sp>
      <p:sp>
        <p:nvSpPr>
          <p:cNvPr id="11" name="Rounded Rectangle 10"/>
          <p:cNvSpPr/>
          <p:nvPr/>
        </p:nvSpPr>
        <p:spPr>
          <a:xfrm>
            <a:off x="6213348" y="1783080"/>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783080"/>
            <a:ext cx="91440" cy="210769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9380" y="1947672"/>
            <a:ext cx="4777740" cy="438912"/>
          </a:xfrm>
          <a:prstGeom prst="rect">
            <a:avLst/>
          </a:prstGeom>
          <a:noFill/>
        </p:spPr>
        <p:txBody>
          <a:bodyPr wrap="square" lIns="0" rIns="0" tIns="0" bIns="0" anchor="t">
            <a:spAutoFit/>
          </a:bodyPr>
          <a:lstStyle/>
          <a:p>
            <a:pPr algn="l">
              <a:spcAft>
                <a:spcPts val="300"/>
              </a:spcAft>
            </a:pPr>
            <a:r>
              <a:rPr sz="1300" b="1">
                <a:solidFill>
                  <a:srgbClr val="0F9D8A"/>
                </a:solidFill>
                <a:latin typeface="Arial"/>
              </a:rPr>
              <a:t>Telephone</a:t>
            </a:r>
          </a:p>
        </p:txBody>
      </p:sp>
      <p:sp>
        <p:nvSpPr>
          <p:cNvPr id="14" name="TextBox 13"/>
          <p:cNvSpPr txBox="1"/>
          <p:nvPr/>
        </p:nvSpPr>
        <p:spPr>
          <a:xfrm>
            <a:off x="6469380" y="2313432"/>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+65 6100 0613</a:t>
            </a:r>
          </a:p>
        </p:txBody>
      </p:sp>
      <p:sp>
        <p:nvSpPr>
          <p:cNvPr id="15" name="Rounded Rectangle 14"/>
          <p:cNvSpPr/>
          <p:nvPr/>
        </p:nvSpPr>
        <p:spPr>
          <a:xfrm>
            <a:off x="74980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4119372"/>
            <a:ext cx="91440" cy="2107692"/>
          </a:xfrm>
          <a:prstGeom prst="rect">
            <a:avLst/>
          </a:prstGeom>
          <a:solidFill>
            <a:srgbClr val="703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83964"/>
            <a:ext cx="4777740" cy="438912"/>
          </a:xfrm>
          <a:prstGeom prst="rect">
            <a:avLst/>
          </a:prstGeom>
          <a:noFill/>
        </p:spPr>
        <p:txBody>
          <a:bodyPr wrap="square" lIns="0" rIns="0" tIns="0" bIns="0" anchor="t">
            <a:spAutoFit/>
          </a:bodyPr>
          <a:lstStyle/>
          <a:p>
            <a:pPr algn="l">
              <a:spcAft>
                <a:spcPts val="300"/>
              </a:spcAft>
            </a:pPr>
            <a:r>
              <a:rPr sz="1300" b="1">
                <a:solidFill>
                  <a:srgbClr val="703CC3"/>
                </a:solidFill>
                <a:latin typeface="Arial"/>
              </a:rPr>
              <a:t>Website</a:t>
            </a:r>
          </a:p>
        </p:txBody>
      </p:sp>
      <p:sp>
        <p:nvSpPr>
          <p:cNvPr id="18" name="TextBox 17"/>
          <p:cNvSpPr txBox="1"/>
          <p:nvPr/>
        </p:nvSpPr>
        <p:spPr>
          <a:xfrm>
            <a:off x="100584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www.tertiarycourses.com.sg</a:t>
            </a:r>
          </a:p>
        </p:txBody>
      </p:sp>
      <p:sp>
        <p:nvSpPr>
          <p:cNvPr id="19" name="Rounded Rectangle 18"/>
          <p:cNvSpPr/>
          <p:nvPr/>
        </p:nvSpPr>
        <p:spPr>
          <a:xfrm>
            <a:off x="6213348" y="4119372"/>
            <a:ext cx="5234940" cy="21076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4119372"/>
            <a:ext cx="91440" cy="21076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9380" y="4283964"/>
            <a:ext cx="4777740" cy="438912"/>
          </a:xfrm>
          <a:prstGeom prst="rect">
            <a:avLst/>
          </a:prstGeom>
          <a:noFill/>
        </p:spPr>
        <p:txBody>
          <a:bodyPr wrap="square" lIns="0" rIns="0" tIns="0" bIns="0" anchor="t">
            <a:spAutoFit/>
          </a:bodyPr>
          <a:lstStyle/>
          <a:p>
            <a:pPr algn="l">
              <a:spcAft>
                <a:spcPts val="300"/>
              </a:spcAft>
            </a:pPr>
            <a:r>
              <a:rPr sz="1300" b="1">
                <a:solidFill>
                  <a:srgbClr val="F59E0B"/>
                </a:solidFill>
                <a:latin typeface="Arial"/>
              </a:rPr>
              <a:t>LMS / TMS</a:t>
            </a:r>
          </a:p>
        </p:txBody>
      </p:sp>
      <p:sp>
        <p:nvSpPr>
          <p:cNvPr id="22" name="TextBox 21"/>
          <p:cNvSpPr txBox="1"/>
          <p:nvPr/>
        </p:nvSpPr>
        <p:spPr>
          <a:xfrm>
            <a:off x="6469380" y="4649724"/>
            <a:ext cx="4777740" cy="1421892"/>
          </a:xfrm>
          <a:prstGeom prst="rect">
            <a:avLst/>
          </a:prstGeom>
          <a:noFill/>
        </p:spPr>
        <p:txBody>
          <a:bodyPr wrap="square" lIns="0" rIns="0" tIns="0" bIns="0" anchor="ctr">
            <a:spAutoFit/>
          </a:bodyPr>
          <a:lstStyle/>
          <a:p>
            <a:pPr algn="l">
              <a:spcAft>
                <a:spcPts val="300"/>
              </a:spcAft>
            </a:pPr>
            <a:r>
              <a:rPr sz="1350" b="0">
                <a:solidFill>
                  <a:srgbClr val="131B2A"/>
                </a:solidFill>
                <a:latin typeface="Arial"/>
              </a:rPr>
              <a:t>https://lms-tms.tertiaryinfotech.com</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AFTER THE COURSE</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165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18288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331720"/>
            <a:ext cx="12191695" cy="914400"/>
          </a:xfrm>
          <a:prstGeom prst="rect">
            <a:avLst/>
          </a:prstGeom>
          <a:noFill/>
        </p:spPr>
        <p:txBody>
          <a:bodyPr wrap="square" lIns="0" rIns="0" tIns="0" bIns="0" anchor="t">
            <a:spAutoFit/>
          </a:bodyPr>
          <a:lstStyle/>
          <a:p>
            <a:pPr algn="ctr">
              <a:spcAft>
                <a:spcPts val="300"/>
              </a:spcAft>
            </a:pPr>
            <a:r>
              <a:rPr sz="5000" b="1">
                <a:solidFill>
                  <a:srgbClr val="131B2A"/>
                </a:solidFill>
                <a:latin typeface="Arial"/>
              </a:rPr>
              <a:t>Thank You!</a:t>
            </a:r>
          </a:p>
        </p:txBody>
      </p:sp>
      <p:sp>
        <p:nvSpPr>
          <p:cNvPr id="6" name="TextBox 5"/>
          <p:cNvSpPr txBox="1"/>
          <p:nvPr/>
        </p:nvSpPr>
        <p:spPr>
          <a:xfrm>
            <a:off x="0" y="3474720"/>
            <a:ext cx="12191695" cy="640080"/>
          </a:xfrm>
          <a:prstGeom prst="rect">
            <a:avLst/>
          </a:prstGeom>
          <a:noFill/>
        </p:spPr>
        <p:txBody>
          <a:bodyPr wrap="square" lIns="0" rIns="0" tIns="0" bIns="0" anchor="t">
            <a:spAutoFit/>
          </a:bodyPr>
          <a:lstStyle/>
          <a:p>
            <a:pPr algn="ctr">
              <a:spcAft>
                <a:spcPts val="300"/>
              </a:spcAft>
            </a:pPr>
            <a:r>
              <a:rPr sz="2000" b="0">
                <a:solidFill>
                  <a:srgbClr val="5F6B7A"/>
                </a:solidFill>
                <a:latin typeface="Arial"/>
              </a:rPr>
              <a:t>Effective Project Management for Small Projects</a:t>
            </a:r>
          </a:p>
        </p:txBody>
      </p:sp>
      <p:sp>
        <p:nvSpPr>
          <p:cNvPr id="7" name="TextBox 6"/>
          <p:cNvSpPr txBox="1"/>
          <p:nvPr/>
        </p:nvSpPr>
        <p:spPr>
          <a:xfrm>
            <a:off x="0" y="4187952"/>
            <a:ext cx="12191695" cy="457200"/>
          </a:xfrm>
          <a:prstGeom prst="rect">
            <a:avLst/>
          </a:prstGeom>
          <a:noFill/>
        </p:spPr>
        <p:txBody>
          <a:bodyPr wrap="square" lIns="0" rIns="0" tIns="0" bIns="0" anchor="t">
            <a:spAutoFit/>
          </a:bodyPr>
          <a:lstStyle/>
          <a:p>
            <a:pPr algn="ctr">
              <a:spcAft>
                <a:spcPts val="300"/>
              </a:spcAft>
            </a:pPr>
            <a:r>
              <a:rPr sz="1200" b="0">
                <a:solidFill>
                  <a:srgbClr val="5F6B7A"/>
                </a:solidFill>
                <a:latin typeface="Arial"/>
              </a:rPr>
              <a:t>TGS-2020505545 · Tertiary Infotech Academy Pte Ltd · UEN: 201200696W</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607040" cy="310896"/>
          </a:xfrm>
          <a:prstGeom prst="rect">
            <a:avLst/>
          </a:prstGeom>
          <a:noFill/>
        </p:spPr>
        <p:txBody>
          <a:bodyPr wrap="square" lIns="0" rIns="0" tIns="0" bIns="0" anchor="t">
            <a:spAutoFit/>
          </a:bodyPr>
          <a:lstStyle/>
          <a:p>
            <a:pPr algn="l">
              <a:spcAft>
                <a:spcPts val="300"/>
              </a:spcAft>
            </a:pPr>
            <a:r>
              <a:rPr sz="1200" b="1">
                <a:solidFill>
                  <a:srgbClr val="0F9D8A"/>
                </a:solidFill>
                <a:latin typeface="Arial"/>
              </a:rPr>
              <a:t>COURSE PORTAL</a:t>
            </a:r>
          </a:p>
        </p:txBody>
      </p:sp>
      <p:sp>
        <p:nvSpPr>
          <p:cNvPr id="5" name="TextBox 4"/>
          <p:cNvSpPr txBox="1"/>
          <p:nvPr/>
        </p:nvSpPr>
        <p:spPr>
          <a:xfrm>
            <a:off x="749808" y="722376"/>
            <a:ext cx="10789920" cy="713232"/>
          </a:xfrm>
          <a:prstGeom prst="rect">
            <a:avLst/>
          </a:prstGeom>
          <a:noFill/>
        </p:spPr>
        <p:txBody>
          <a:bodyPr wrap="square" lIns="0" rIns="0" tIns="0" bIns="0" anchor="ctr">
            <a:spAutoFit/>
          </a:bodyPr>
          <a:lstStyle/>
          <a:p>
            <a:pPr algn="l">
              <a:spcAft>
                <a:spcPts val="300"/>
              </a:spcAft>
            </a:pPr>
            <a:r>
              <a:rPr sz="3000" b="1">
                <a:solidFill>
                  <a:srgbClr val="131B2A"/>
                </a:solidFill>
                <a:latin typeface="Arial"/>
              </a:rPr>
              <a:t>Login to LMS and Download Course Material</a:t>
            </a:r>
          </a:p>
        </p:txBody>
      </p:sp>
      <p:sp>
        <p:nvSpPr>
          <p:cNvPr id="23" name="TextBox 22"/>
          <p:cNvSpPr txBox="1"/>
          <p:nvPr/>
        </p:nvSpPr>
        <p:spPr>
          <a:xfrm>
            <a:off x="411480" y="6446520"/>
            <a:ext cx="7589520" cy="256032"/>
          </a:xfrm>
          <a:prstGeom prst="rect">
            <a:avLst/>
          </a:prstGeom>
          <a:noFill/>
        </p:spPr>
        <p:txBody>
          <a:bodyPr wrap="square" lIns="0" rIns="0" tIns="0" bIns="0" anchor="t">
            <a:spAutoFit/>
          </a:bodyPr>
          <a:lstStyle/>
          <a:p>
            <a:pPr algn="l">
              <a:spcAft>
                <a:spcPts val="300"/>
              </a:spcAft>
            </a:pPr>
            <a:r>
              <a:rPr sz="900" b="0">
                <a:solidFill>
                  <a:srgbClr val="5F6B7A"/>
                </a:solidFill>
                <a:latin typeface="Arial"/>
              </a:rPr>
              <a:t>Effective Project Management for Small Projects  ·  TGS-2020505545</a:t>
            </a:r>
          </a:p>
        </p:txBody>
      </p:sp>
      <p:sp>
        <p:nvSpPr>
          <p:cNvPr id="24" name="TextBox 23"/>
          <p:cNvSpPr txBox="1"/>
          <p:nvPr/>
        </p:nvSpPr>
        <p:spPr>
          <a:xfrm>
            <a:off x="7406640" y="6446520"/>
            <a:ext cx="3383280" cy="256032"/>
          </a:xfrm>
          <a:prstGeom prst="rect">
            <a:avLst/>
          </a:prstGeom>
          <a:noFill/>
        </p:spPr>
        <p:txBody>
          <a:bodyPr wrap="square" lIns="0" rIns="0" tIns="0" bIns="0" anchor="t">
            <a:spAutoFit/>
          </a:bodyPr>
          <a:lstStyle/>
          <a:p>
            <a:pPr algn="ctr">
              <a:spcAft>
                <a:spcPts val="300"/>
              </a:spcAft>
            </a:pPr>
            <a:r>
              <a:rPr sz="850" b="0">
                <a:solidFill>
                  <a:srgbClr val="5F6B7A"/>
                </a:solidFill>
                <a:latin typeface="Arial"/>
              </a:rPr>
              <a:t>ADMIN · HOW WE WORK</a:t>
            </a:r>
          </a:p>
        </p:txBody>
      </p:sp>
      <p:sp>
        <p:nvSpPr>
          <p:cNvPr id="25" name="TextBox 24"/>
          <p:cNvSpPr txBox="1"/>
          <p:nvPr/>
        </p:nvSpPr>
        <p:spPr>
          <a:xfrm>
            <a:off x="11201400" y="6446520"/>
            <a:ext cx="548640" cy="256032"/>
          </a:xfrm>
          <a:prstGeom prst="rect">
            <a:avLst/>
          </a:prstGeom>
          <a:noFill/>
        </p:spPr>
        <p:txBody>
          <a:bodyPr wrap="square" lIns="0" rIns="0" tIns="0" bIns="0" anchor="t">
            <a:spAutoFit/>
          </a:bodyPr>
          <a:lstStyle/>
          <a:p>
            <a:pPr algn="r">
              <a:spcAft>
                <a:spcPts val="300"/>
              </a:spcAft>
            </a:pPr>
            <a:r>
              <a:rPr sz="900" b="0">
                <a:solidFill>
                  <a:srgbClr val="5F6B7A"/>
                </a:solidFill>
                <a:latin typeface="Arial"/>
              </a:rPr>
              <a:t>4</a:t>
            </a:r>
          </a:p>
        </p:txBody>
      </p:sp>
      <p:pic>
        <p:nvPicPr>
          <p:cNvPr id="26" name="Picture 25" descr="ref_login.png"/>
          <p:cNvPicPr>
            <a:picLocks noChangeAspect="1"/>
          </p:cNvPicPr>
          <p:nvPr/>
        </p:nvPicPr>
        <p:blipFill>
          <a:blip r:embed="rId2"/>
          <a:stretch>
            <a:fillRect/>
          </a:stretch>
        </p:blipFill>
        <p:spPr>
          <a:xfrm>
            <a:off x="1900635" y="1641348"/>
            <a:ext cx="8390424" cy="4174236"/>
          </a:xfrm>
          <a:prstGeom prst="rect">
            <a:avLst/>
          </a:prstGeom>
          <a:ln w="12700">
            <a:solidFill>
              <a:srgbClr val="E2E8F0"/>
            </a:solidFill>
          </a:ln>
        </p:spPr>
      </p:pic>
      <p:sp>
        <p:nvSpPr>
          <p:cNvPr id="27" name="TextBox 26"/>
          <p:cNvSpPr txBox="1"/>
          <p:nvPr/>
        </p:nvSpPr>
        <p:spPr>
          <a:xfrm>
            <a:off x="749808" y="5897880"/>
            <a:ext cx="10692079"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