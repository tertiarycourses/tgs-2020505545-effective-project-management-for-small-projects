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over-hero-v19.png"/>
          <p:cNvPicPr>
            <a:picLocks noChangeAspect="1"/>
          </p:cNvPicPr>
          <p:nvPr/>
        </p:nvPicPr>
        <p:blipFill>
          <a:blip r:embed="rId2"/>
          <a:srcRect t="2691" b="2691"/>
          <a:stretch>
            <a:fillRect/>
          </a:stretch>
        </p:blipFill>
        <p:spPr>
          <a:xfrm>
            <a:off x="0" y="182880"/>
            <a:ext cx="12191695" cy="6492240"/>
          </a:xfrm>
          <a:prstGeom prst="rect">
            <a:avLst/>
          </a:prstGeom>
        </p:spPr>
      </p:pic>
      <p:sp>
        <p:nvSpPr>
          <p:cNvPr id="4" name="Rectangle 3"/>
          <p:cNvSpPr/>
          <p:nvPr/>
        </p:nvSpPr>
        <p:spPr>
          <a:xfrm>
            <a:off x="0" y="182880"/>
            <a:ext cx="5742432" cy="6492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42432" y="182880"/>
            <a:ext cx="658368" cy="6492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0"/>
            <a:ext cx="12191695" cy="18288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675120"/>
            <a:ext cx="12191695" cy="18288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tertiary-infotech-logo.png"/>
          <p:cNvPicPr>
            <a:picLocks noChangeAspect="1"/>
          </p:cNvPicPr>
          <p:nvPr/>
        </p:nvPicPr>
        <p:blipFill>
          <a:blip r:embed="rId3"/>
          <a:stretch>
            <a:fillRect/>
          </a:stretch>
        </p:blipFill>
        <p:spPr>
          <a:xfrm>
            <a:off x="685800" y="438912"/>
            <a:ext cx="658368" cy="658368"/>
          </a:xfrm>
          <a:prstGeom prst="rect">
            <a:avLst/>
          </a:prstGeom>
        </p:spPr>
      </p:pic>
      <p:sp>
        <p:nvSpPr>
          <p:cNvPr id="9" name="TextBox 8"/>
          <p:cNvSpPr txBox="1"/>
          <p:nvPr/>
        </p:nvSpPr>
        <p:spPr>
          <a:xfrm>
            <a:off x="685800" y="1417320"/>
            <a:ext cx="5074920" cy="320040"/>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TRAINER SLIDES  ·  WSQ</a:t>
            </a:r>
          </a:p>
        </p:txBody>
      </p:sp>
      <p:sp>
        <p:nvSpPr>
          <p:cNvPr id="10" name="TextBox 9"/>
          <p:cNvSpPr txBox="1"/>
          <p:nvPr/>
        </p:nvSpPr>
        <p:spPr>
          <a:xfrm>
            <a:off x="685800" y="1847088"/>
            <a:ext cx="5138928" cy="1828800"/>
          </a:xfrm>
          <a:prstGeom prst="rect">
            <a:avLst/>
          </a:prstGeom>
          <a:noFill/>
        </p:spPr>
        <p:txBody>
          <a:bodyPr wrap="square" lIns="0" rIns="0" tIns="0" bIns="0" anchor="t">
            <a:spAutoFit/>
          </a:bodyPr>
          <a:lstStyle/>
          <a:p>
            <a:pPr algn="l">
              <a:spcAft>
                <a:spcPts val="300"/>
              </a:spcAft>
            </a:pPr>
            <a:r>
              <a:rPr sz="3400" b="1">
                <a:solidFill>
                  <a:srgbClr val="131B2A"/>
                </a:solidFill>
                <a:latin typeface="Arial"/>
              </a:rPr>
              <a:t>Effective Project Management for Small Projects</a:t>
            </a:r>
          </a:p>
        </p:txBody>
      </p:sp>
      <p:sp>
        <p:nvSpPr>
          <p:cNvPr id="11" name="Rectangle 10"/>
          <p:cNvSpPr/>
          <p:nvPr/>
        </p:nvSpPr>
        <p:spPr>
          <a:xfrm>
            <a:off x="685800" y="3886200"/>
            <a:ext cx="1417320" cy="5486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133087"/>
            <a:ext cx="5074920" cy="1097280"/>
          </a:xfrm>
          <a:prstGeom prst="rect">
            <a:avLst/>
          </a:prstGeom>
          <a:noFill/>
        </p:spPr>
        <p:txBody>
          <a:bodyPr wrap="square" lIns="0" rIns="0" tIns="0" bIns="0" anchor="t">
            <a:spAutoFit/>
          </a:bodyPr>
          <a:lstStyle/>
          <a:p>
            <a:pPr algn="l">
              <a:spcAft>
                <a:spcPts val="700"/>
              </a:spcAft>
            </a:pPr>
            <a:r>
              <a:rPr sz="1500" b="0">
                <a:solidFill>
                  <a:srgbClr val="5F6B7A"/>
                </a:solidFill>
                <a:latin typeface="Arial"/>
              </a:rPr>
              <a:t>WSQ Course Code: TGS-2020505545 ·</a:t>
            </a:r>
          </a:p>
          <a:p>
            <a:pPr algn="l">
              <a:spcAft>
                <a:spcPts val="700"/>
              </a:spcAft>
            </a:pPr>
            <a:r>
              <a:rPr sz="1400" b="0">
                <a:solidFill>
                  <a:srgbClr val="5F6B7A"/>
                </a:solidFill>
                <a:latin typeface="Arial"/>
              </a:rPr>
              <a:t>2 days · 16 training hours</a:t>
            </a:r>
          </a:p>
          <a:p>
            <a:pPr algn="l">
              <a:spcAft>
                <a:spcPts val="700"/>
              </a:spcAft>
            </a:pPr>
            <a:r>
              <a:rPr sz="1300" b="0">
                <a:solidFill>
                  <a:srgbClr val="5F6B7A"/>
                </a:solidFill>
                <a:latin typeface="Arial"/>
              </a:rPr>
              <a:t>TSC: Project Management · ICT-PMT-3026-1.1</a:t>
            </a:r>
          </a:p>
        </p:txBody>
      </p:sp>
      <p:sp>
        <p:nvSpPr>
          <p:cNvPr id="13" name="TextBox 12"/>
          <p:cNvSpPr txBox="1"/>
          <p:nvPr/>
        </p:nvSpPr>
        <p:spPr>
          <a:xfrm>
            <a:off x="685800" y="5650992"/>
            <a:ext cx="5074920" cy="502920"/>
          </a:xfrm>
          <a:prstGeom prst="rect">
            <a:avLst/>
          </a:prstGeom>
          <a:noFill/>
        </p:spPr>
        <p:txBody>
          <a:bodyPr wrap="square" lIns="0" rIns="0" tIns="0" bIns="0" anchor="t">
            <a:spAutoFit/>
          </a:bodyPr>
          <a:lstStyle/>
          <a:p>
            <a:pPr algn="l">
              <a:spcAft>
                <a:spcPts val="400"/>
              </a:spcAft>
            </a:pPr>
            <a:r>
              <a:rPr sz="1100" b="0">
                <a:solidFill>
                  <a:srgbClr val="5F6B7A"/>
                </a:solidFill>
                <a:latin typeface="Arial"/>
              </a:rPr>
              <a:t>Version v19.0 · 19 August 2026</a:t>
            </a:r>
          </a:p>
          <a:p>
            <a:pPr algn="l">
              <a:spcAft>
                <a:spcPts val="400"/>
              </a:spcAft>
            </a:pPr>
            <a:r>
              <a:rPr sz="900" b="0">
                <a:solidFill>
                  <a:srgbClr val="5F6B7A"/>
                </a:solidFill>
                <a:latin typeface="Arial"/>
              </a:rPr>
              <a:t>Tertiary Infotech Academy Pte Ltd · UEN: 201200696W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58368" y="1554480"/>
            <a:ext cx="10881360" cy="36118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554480"/>
            <a:ext cx="128016" cy="361188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70432" y="1901952"/>
            <a:ext cx="7955279" cy="365760"/>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COURSE ADMINISTRATION</a:t>
            </a:r>
          </a:p>
        </p:txBody>
      </p:sp>
      <p:sp>
        <p:nvSpPr>
          <p:cNvPr id="6" name="TextBox 5"/>
          <p:cNvSpPr txBox="1"/>
          <p:nvPr/>
        </p:nvSpPr>
        <p:spPr>
          <a:xfrm>
            <a:off x="1170432" y="2395728"/>
            <a:ext cx="9052560" cy="914400"/>
          </a:xfrm>
          <a:prstGeom prst="rect">
            <a:avLst/>
          </a:prstGeom>
          <a:noFill/>
        </p:spPr>
        <p:txBody>
          <a:bodyPr wrap="square" lIns="0" rIns="0" tIns="0" bIns="0" anchor="ctr">
            <a:spAutoFit/>
          </a:bodyPr>
          <a:lstStyle/>
          <a:p>
            <a:pPr algn="l">
              <a:spcAft>
                <a:spcPts val="300"/>
              </a:spcAft>
            </a:pPr>
            <a:r>
              <a:rPr sz="3400" b="1">
                <a:solidFill>
                  <a:srgbClr val="131B2A"/>
                </a:solidFill>
                <a:latin typeface="Arial"/>
              </a:rPr>
              <a:t>Welcome &amp; Housekeeping</a:t>
            </a:r>
          </a:p>
        </p:txBody>
      </p:sp>
      <p:sp>
        <p:nvSpPr>
          <p:cNvPr id="7" name="TextBox 6"/>
          <p:cNvSpPr txBox="1"/>
          <p:nvPr/>
        </p:nvSpPr>
        <p:spPr>
          <a:xfrm>
            <a:off x="1170432" y="3474720"/>
            <a:ext cx="9052560" cy="777240"/>
          </a:xfrm>
          <a:prstGeom prst="rect">
            <a:avLst/>
          </a:prstGeom>
          <a:noFill/>
        </p:spPr>
        <p:txBody>
          <a:bodyPr wrap="square" lIns="0" rIns="0" tIns="0" bIns="0" anchor="t">
            <a:spAutoFit/>
          </a:bodyPr>
          <a:lstStyle/>
          <a:p>
            <a:pPr algn="l">
              <a:spcAft>
                <a:spcPts val="300"/>
              </a:spcAft>
            </a:pPr>
            <a:r>
              <a:rPr sz="1600" b="0">
                <a:solidFill>
                  <a:srgbClr val="5F6B7A"/>
                </a:solidFill>
                <a:latin typeface="Arial"/>
              </a:rPr>
              <a:t>How the two days work and what evidence you will produce</a:t>
            </a:r>
          </a:p>
        </p:txBody>
      </p:sp>
      <p:sp>
        <p:nvSpPr>
          <p:cNvPr id="8" name="TextBox 7"/>
          <p:cNvSpPr txBox="1"/>
          <p:nvPr/>
        </p:nvSpPr>
        <p:spPr>
          <a:xfrm>
            <a:off x="9308592" y="594360"/>
            <a:ext cx="1920240" cy="1097280"/>
          </a:xfrm>
          <a:prstGeom prst="rect">
            <a:avLst/>
          </a:prstGeom>
          <a:noFill/>
        </p:spPr>
        <p:txBody>
          <a:bodyPr wrap="square" lIns="0" rIns="0" tIns="0" bIns="0" anchor="t">
            <a:spAutoFit/>
          </a:bodyPr>
          <a:lstStyle/>
          <a:p>
            <a:pPr algn="r">
              <a:spcAft>
                <a:spcPts val="300"/>
              </a:spcAft>
            </a:pPr>
            <a:r>
              <a:rPr sz="6200" b="1">
                <a:solidFill>
                  <a:srgbClr val="DAE2EC"/>
                </a:solidFill>
                <a:latin typeface="Arial"/>
              </a:rPr>
              <a:t/>
            </a:r>
          </a:p>
        </p:txBody>
      </p:sp>
      <p:sp>
        <p:nvSpPr>
          <p:cNvPr id="9" name="TextBox 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10" name="TextBox 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COURSE ADMINISTRATION</a:t>
            </a:r>
          </a:p>
        </p:txBody>
      </p:sp>
      <p:sp>
        <p:nvSpPr>
          <p:cNvPr id="11" name="TextBox 1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ADMIN · ATTENDANCE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Digital Attendance (Mandatory)</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AM, PM and Assessment</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Complete every required SSG digital attendance scan.</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Scan the trainer QR</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Use your mobile camera and submit the attendance record.</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75% minimum</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Attendance eligibility is calculated from the official record.</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Assessment required</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Complete the assessment and achieve Competent for funding eligibility.</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ADMIN · ATTENDANCE</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ADMIN · FACILITATOR</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Your Trainer</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Name</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Dr Alfred Ang</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Role</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Course developer and principal trainer, Tertiary Infotech Academy</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Experience</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20+ years across engineering, analytics, AI and digital transformation</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Contact</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enquiry@tertiaryinfotech.com · +65 6100 0613</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ADMIN · FACILITATOR</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ADMIN · HOW WE WORK</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Ground Rules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Participate</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Use the tools, challenge assumptions and explain your decisions.</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Respect</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One conversation at a time; disagree with evidence, not people.</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Be punctual</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Activities build on one another; missed work creates downstream gaps.</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Keep evidence</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Save every completed template for the case study and assessment review.</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ADMIN · HOW WE WORK</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COURSE ALIGNMENT</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Learning Outcomes — 1 to 4</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LO1</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Develop project scope and team to initiate the facilitation of a small project</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LO2</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Develop a realistic project plan based on the agreed project scope</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LO3</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Utilise appropriate methods and tools to track and drive a project</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LO4</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Identify, analyse and manage project risks</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COURSE ALIGNMENT</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COURSE ALIGNMENT</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Learning Outcomes — 5 to 7</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1328928"/>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1024128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LO5</a:t>
            </a:r>
          </a:p>
        </p:txBody>
      </p:sp>
      <p:sp>
        <p:nvSpPr>
          <p:cNvPr id="10" name="TextBox 9"/>
          <p:cNvSpPr txBox="1"/>
          <p:nvPr/>
        </p:nvSpPr>
        <p:spPr>
          <a:xfrm>
            <a:off x="1005840" y="2313432"/>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Collaborate effectively with project stakeholders</a:t>
            </a:r>
          </a:p>
        </p:txBody>
      </p:sp>
      <p:sp>
        <p:nvSpPr>
          <p:cNvPr id="11" name="Rounded Rectangle 10"/>
          <p:cNvSpPr/>
          <p:nvPr/>
        </p:nvSpPr>
        <p:spPr>
          <a:xfrm>
            <a:off x="749808" y="3340608"/>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 y="3340608"/>
            <a:ext cx="91440" cy="13289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505200"/>
            <a:ext cx="1024128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LO6</a:t>
            </a:r>
          </a:p>
        </p:txBody>
      </p:sp>
      <p:sp>
        <p:nvSpPr>
          <p:cNvPr id="14" name="TextBox 13"/>
          <p:cNvSpPr txBox="1"/>
          <p:nvPr/>
        </p:nvSpPr>
        <p:spPr>
          <a:xfrm>
            <a:off x="1005840" y="3870960"/>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Deploy manpower, budget and other resources for efficient completion</a:t>
            </a:r>
          </a:p>
        </p:txBody>
      </p:sp>
      <p:sp>
        <p:nvSpPr>
          <p:cNvPr id="15" name="Rounded Rectangle 14"/>
          <p:cNvSpPr/>
          <p:nvPr/>
        </p:nvSpPr>
        <p:spPr>
          <a:xfrm>
            <a:off x="749808" y="4898136"/>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898136"/>
            <a:ext cx="91440" cy="1328928"/>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5062728"/>
            <a:ext cx="1024128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LO7</a:t>
            </a:r>
          </a:p>
        </p:txBody>
      </p:sp>
      <p:sp>
        <p:nvSpPr>
          <p:cNvPr id="18" name="TextBox 17"/>
          <p:cNvSpPr txBox="1"/>
          <p:nvPr/>
        </p:nvSpPr>
        <p:spPr>
          <a:xfrm>
            <a:off x="1005840" y="5428488"/>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Track project deliverables and correct misalignments through control and closeout</a:t>
            </a:r>
          </a:p>
        </p:txBody>
      </p:sp>
      <p:sp>
        <p:nvSpPr>
          <p:cNvPr id="19" name="TextBox 1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0" name="TextBox 1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COURSE ALIGNMENT</a:t>
            </a:r>
          </a:p>
        </p:txBody>
      </p:sp>
      <p:sp>
        <p:nvSpPr>
          <p:cNvPr id="21" name="TextBox 2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703CC3"/>
                </a:solidFill>
                <a:latin typeface="Arial"/>
              </a:rPr>
              <a:t>TSC ALIGNMENT</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Skills Framework — Abilities A1 to A4</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703CC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Code</a:t>
            </a:r>
          </a:p>
        </p:txBody>
      </p:sp>
      <p:sp>
        <p:nvSpPr>
          <p:cNvPr id="9" name="Rectangle 8"/>
          <p:cNvSpPr/>
          <p:nvPr/>
        </p:nvSpPr>
        <p:spPr>
          <a:xfrm>
            <a:off x="4315968" y="1810512"/>
            <a:ext cx="3566160" cy="758952"/>
          </a:xfrm>
          <a:prstGeom prst="rect">
            <a:avLst/>
          </a:prstGeom>
          <a:solidFill>
            <a:srgbClr val="703CC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Ability</a:t>
            </a:r>
          </a:p>
        </p:txBody>
      </p:sp>
      <p:sp>
        <p:nvSpPr>
          <p:cNvPr id="11" name="Rectangle 10"/>
          <p:cNvSpPr/>
          <p:nvPr/>
        </p:nvSpPr>
        <p:spPr>
          <a:xfrm>
            <a:off x="7882127" y="1810512"/>
            <a:ext cx="3566160" cy="758952"/>
          </a:xfrm>
          <a:prstGeom prst="rect">
            <a:avLst/>
          </a:prstGeom>
          <a:solidFill>
            <a:srgbClr val="703CC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Practice</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A1</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Facilitate execution of small projects that are typically less than six months, with limited budget and interdependencies, and no significant strategic impact</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Activities 1–2</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A2</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Implement realistic project plans based on project objectives and scope</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Activities 3–5</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A3</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Utilise appropriate methods and tools to track and drive progress against plans and timelines</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Activities 6 and 10</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A4</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Identify risks to project success and take appropriate actions to manage them</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Activity 7</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703C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Every assessed ability has named tool-based evidence across the lifecycle.</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TSC ALIGNMENT</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703CC3"/>
                </a:solidFill>
                <a:latin typeface="Arial"/>
              </a:rPr>
              <a:t>TSC ALIGNMENT</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Skills Framework — Abilities A5 to A7</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948690"/>
          </a:xfrm>
          <a:prstGeom prst="rect">
            <a:avLst/>
          </a:prstGeom>
          <a:solidFill>
            <a:srgbClr val="703CC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80238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Code</a:t>
            </a:r>
          </a:p>
        </p:txBody>
      </p:sp>
      <p:sp>
        <p:nvSpPr>
          <p:cNvPr id="9" name="Rectangle 8"/>
          <p:cNvSpPr/>
          <p:nvPr/>
        </p:nvSpPr>
        <p:spPr>
          <a:xfrm>
            <a:off x="4315968" y="1810512"/>
            <a:ext cx="3566160" cy="948690"/>
          </a:xfrm>
          <a:prstGeom prst="rect">
            <a:avLst/>
          </a:prstGeom>
          <a:solidFill>
            <a:srgbClr val="703CC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80238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Ability</a:t>
            </a:r>
          </a:p>
        </p:txBody>
      </p:sp>
      <p:sp>
        <p:nvSpPr>
          <p:cNvPr id="11" name="Rectangle 10"/>
          <p:cNvSpPr/>
          <p:nvPr/>
        </p:nvSpPr>
        <p:spPr>
          <a:xfrm>
            <a:off x="7882127" y="1810512"/>
            <a:ext cx="3566160" cy="948690"/>
          </a:xfrm>
          <a:prstGeom prst="rect">
            <a:avLst/>
          </a:prstGeom>
          <a:solidFill>
            <a:srgbClr val="703CC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80238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Practice</a:t>
            </a:r>
          </a:p>
        </p:txBody>
      </p:sp>
      <p:sp>
        <p:nvSpPr>
          <p:cNvPr id="13" name="Rectangle 12"/>
          <p:cNvSpPr/>
          <p:nvPr/>
        </p:nvSpPr>
        <p:spPr>
          <a:xfrm>
            <a:off x="749808" y="2759202"/>
            <a:ext cx="3566160" cy="94869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804922"/>
            <a:ext cx="3346704" cy="85725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A5</a:t>
            </a:r>
          </a:p>
        </p:txBody>
      </p:sp>
      <p:sp>
        <p:nvSpPr>
          <p:cNvPr id="15" name="Rectangle 14"/>
          <p:cNvSpPr/>
          <p:nvPr/>
        </p:nvSpPr>
        <p:spPr>
          <a:xfrm>
            <a:off x="4315968" y="2759202"/>
            <a:ext cx="3566160" cy="94869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804922"/>
            <a:ext cx="3346704" cy="85725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Collaborate effectively with relevant internal and external stakeholders directly impacting the project</a:t>
            </a:r>
          </a:p>
        </p:txBody>
      </p:sp>
      <p:sp>
        <p:nvSpPr>
          <p:cNvPr id="17" name="Rectangle 16"/>
          <p:cNvSpPr/>
          <p:nvPr/>
        </p:nvSpPr>
        <p:spPr>
          <a:xfrm>
            <a:off x="7882127" y="2759202"/>
            <a:ext cx="3566160" cy="94869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804922"/>
            <a:ext cx="3346704" cy="85725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Activity 8</a:t>
            </a:r>
          </a:p>
        </p:txBody>
      </p:sp>
      <p:sp>
        <p:nvSpPr>
          <p:cNvPr id="19" name="Rectangle 18"/>
          <p:cNvSpPr/>
          <p:nvPr/>
        </p:nvSpPr>
        <p:spPr>
          <a:xfrm>
            <a:off x="749808" y="3707891"/>
            <a:ext cx="3566160" cy="94869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753611"/>
            <a:ext cx="3346704" cy="85725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A6</a:t>
            </a:r>
          </a:p>
        </p:txBody>
      </p:sp>
      <p:sp>
        <p:nvSpPr>
          <p:cNvPr id="21" name="Rectangle 20"/>
          <p:cNvSpPr/>
          <p:nvPr/>
        </p:nvSpPr>
        <p:spPr>
          <a:xfrm>
            <a:off x="4315968" y="3707891"/>
            <a:ext cx="3566160" cy="94869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753611"/>
            <a:ext cx="3346704" cy="85725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Deploy manpower, financial budgets and relevant resources for efficient and effective completion</a:t>
            </a:r>
          </a:p>
        </p:txBody>
      </p:sp>
      <p:sp>
        <p:nvSpPr>
          <p:cNvPr id="23" name="Rectangle 22"/>
          <p:cNvSpPr/>
          <p:nvPr/>
        </p:nvSpPr>
        <p:spPr>
          <a:xfrm>
            <a:off x="7882127" y="3707891"/>
            <a:ext cx="3566160" cy="94869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753611"/>
            <a:ext cx="3346704" cy="85725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Activity 9</a:t>
            </a:r>
          </a:p>
        </p:txBody>
      </p:sp>
      <p:sp>
        <p:nvSpPr>
          <p:cNvPr id="25" name="Rectangle 24"/>
          <p:cNvSpPr/>
          <p:nvPr/>
        </p:nvSpPr>
        <p:spPr>
          <a:xfrm>
            <a:off x="749808" y="4656582"/>
            <a:ext cx="3566160" cy="94869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702302"/>
            <a:ext cx="3346704" cy="85725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A7</a:t>
            </a:r>
          </a:p>
        </p:txBody>
      </p:sp>
      <p:sp>
        <p:nvSpPr>
          <p:cNvPr id="27" name="Rectangle 26"/>
          <p:cNvSpPr/>
          <p:nvPr/>
        </p:nvSpPr>
        <p:spPr>
          <a:xfrm>
            <a:off x="4315968" y="4656582"/>
            <a:ext cx="3566160" cy="94869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702302"/>
            <a:ext cx="3346704" cy="85725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Track deliverables against schedules, monitor costs, timescales and resources, and take basic corrective actions when misaligned</a:t>
            </a:r>
          </a:p>
        </p:txBody>
      </p:sp>
      <p:sp>
        <p:nvSpPr>
          <p:cNvPr id="29" name="Rectangle 28"/>
          <p:cNvSpPr/>
          <p:nvPr/>
        </p:nvSpPr>
        <p:spPr>
          <a:xfrm>
            <a:off x="7882127" y="4656582"/>
            <a:ext cx="3566160" cy="94869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702302"/>
            <a:ext cx="3346704" cy="85725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Activities 11–12</a:t>
            </a:r>
          </a:p>
        </p:txBody>
      </p:sp>
      <p:sp>
        <p:nvSpPr>
          <p:cNvPr id="31" name="Rounded Rectangle 30"/>
          <p:cNvSpPr/>
          <p:nvPr/>
        </p:nvSpPr>
        <p:spPr>
          <a:xfrm>
            <a:off x="749808" y="5815584"/>
            <a:ext cx="10698480" cy="420624"/>
          </a:xfrm>
          <a:prstGeom prst="roundRect">
            <a:avLst>
              <a:gd name="adj" fmla="val 8000"/>
            </a:avLst>
          </a:prstGeom>
          <a:solidFill>
            <a:srgbClr val="F4F7FB"/>
          </a:solidFill>
          <a:ln w="12700">
            <a:solidFill>
              <a:srgbClr val="703C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The twelve activities form one connected project evidence trail.</a:t>
            </a:r>
          </a:p>
        </p:txBody>
      </p:sp>
      <p:sp>
        <p:nvSpPr>
          <p:cNvPr id="33" name="TextBox 3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4" name="TextBox 3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TSC ALIGNMENT</a:t>
            </a:r>
          </a:p>
        </p:txBody>
      </p:sp>
      <p:sp>
        <p:nvSpPr>
          <p:cNvPr id="35" name="TextBox 3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703CC3"/>
                </a:solidFill>
                <a:latin typeface="Arial"/>
              </a:rPr>
              <a:t>TSC ALIGNMENT</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Skills Framework — Knowledge</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632460"/>
          </a:xfrm>
          <a:prstGeom prst="rect">
            <a:avLst/>
          </a:prstGeom>
          <a:solidFill>
            <a:srgbClr val="703CC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Code</a:t>
            </a:r>
          </a:p>
        </p:txBody>
      </p:sp>
      <p:sp>
        <p:nvSpPr>
          <p:cNvPr id="9" name="Rectangle 8"/>
          <p:cNvSpPr/>
          <p:nvPr/>
        </p:nvSpPr>
        <p:spPr>
          <a:xfrm>
            <a:off x="4315968" y="1810512"/>
            <a:ext cx="3566160" cy="632460"/>
          </a:xfrm>
          <a:prstGeom prst="rect">
            <a:avLst/>
          </a:prstGeom>
          <a:solidFill>
            <a:srgbClr val="703CC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Knowledge</a:t>
            </a:r>
          </a:p>
        </p:txBody>
      </p:sp>
      <p:sp>
        <p:nvSpPr>
          <p:cNvPr id="11" name="Rectangle 10"/>
          <p:cNvSpPr/>
          <p:nvPr/>
        </p:nvSpPr>
        <p:spPr>
          <a:xfrm>
            <a:off x="7882127" y="1810512"/>
            <a:ext cx="3566160" cy="632460"/>
          </a:xfrm>
          <a:prstGeom prst="rect">
            <a:avLst/>
          </a:prstGeom>
          <a:solidFill>
            <a:srgbClr val="703CC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Taught in</a:t>
            </a:r>
          </a:p>
        </p:txBody>
      </p:sp>
      <p:sp>
        <p:nvSpPr>
          <p:cNvPr id="13" name="Rectangle 12"/>
          <p:cNvSpPr/>
          <p:nvPr/>
        </p:nvSpPr>
        <p:spPr>
          <a:xfrm>
            <a:off x="74980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48869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K1</a:t>
            </a:r>
          </a:p>
        </p:txBody>
      </p:sp>
      <p:sp>
        <p:nvSpPr>
          <p:cNvPr id="15" name="Rectangle 14"/>
          <p:cNvSpPr/>
          <p:nvPr/>
        </p:nvSpPr>
        <p:spPr>
          <a:xfrm>
            <a:off x="431596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Elements of a small project</a:t>
            </a:r>
          </a:p>
        </p:txBody>
      </p:sp>
      <p:sp>
        <p:nvSpPr>
          <p:cNvPr id="17" name="Rectangle 16"/>
          <p:cNvSpPr/>
          <p:nvPr/>
        </p:nvSpPr>
        <p:spPr>
          <a:xfrm>
            <a:off x="7882127"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Topic 1</a:t>
            </a:r>
          </a:p>
        </p:txBody>
      </p:sp>
      <p:sp>
        <p:nvSpPr>
          <p:cNvPr id="19" name="Rectangle 18"/>
          <p:cNvSpPr/>
          <p:nvPr/>
        </p:nvSpPr>
        <p:spPr>
          <a:xfrm>
            <a:off x="74980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12115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K2</a:t>
            </a:r>
          </a:p>
        </p:txBody>
      </p:sp>
      <p:sp>
        <p:nvSpPr>
          <p:cNvPr id="21" name="Rectangle 20"/>
          <p:cNvSpPr/>
          <p:nvPr/>
        </p:nvSpPr>
        <p:spPr>
          <a:xfrm>
            <a:off x="431596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Requirements of a project plan</a:t>
            </a:r>
          </a:p>
        </p:txBody>
      </p:sp>
      <p:sp>
        <p:nvSpPr>
          <p:cNvPr id="23" name="Rectangle 22"/>
          <p:cNvSpPr/>
          <p:nvPr/>
        </p:nvSpPr>
        <p:spPr>
          <a:xfrm>
            <a:off x="7882127"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Topic 2</a:t>
            </a:r>
          </a:p>
        </p:txBody>
      </p:sp>
      <p:sp>
        <p:nvSpPr>
          <p:cNvPr id="25" name="Rectangle 24"/>
          <p:cNvSpPr/>
          <p:nvPr/>
        </p:nvSpPr>
        <p:spPr>
          <a:xfrm>
            <a:off x="74980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3753611"/>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K3</a:t>
            </a:r>
          </a:p>
        </p:txBody>
      </p:sp>
      <p:sp>
        <p:nvSpPr>
          <p:cNvPr id="27" name="Rectangle 26"/>
          <p:cNvSpPr/>
          <p:nvPr/>
        </p:nvSpPr>
        <p:spPr>
          <a:xfrm>
            <a:off x="431596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Application of appropriate project management methodologies and tools</a:t>
            </a:r>
          </a:p>
        </p:txBody>
      </p:sp>
      <p:sp>
        <p:nvSpPr>
          <p:cNvPr id="29" name="Rectangle 28"/>
          <p:cNvSpPr/>
          <p:nvPr/>
        </p:nvSpPr>
        <p:spPr>
          <a:xfrm>
            <a:off x="7882127"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Topic 3</a:t>
            </a:r>
          </a:p>
        </p:txBody>
      </p:sp>
      <p:sp>
        <p:nvSpPr>
          <p:cNvPr id="31" name="Rectangle 30"/>
          <p:cNvSpPr/>
          <p:nvPr/>
        </p:nvSpPr>
        <p:spPr>
          <a:xfrm>
            <a:off x="74980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38607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K4</a:t>
            </a:r>
          </a:p>
        </p:txBody>
      </p:sp>
      <p:sp>
        <p:nvSpPr>
          <p:cNvPr id="33" name="Rectangle 32"/>
          <p:cNvSpPr/>
          <p:nvPr/>
        </p:nvSpPr>
        <p:spPr>
          <a:xfrm>
            <a:off x="431596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Project risks</a:t>
            </a:r>
          </a:p>
        </p:txBody>
      </p:sp>
      <p:sp>
        <p:nvSpPr>
          <p:cNvPr id="35" name="Rectangle 34"/>
          <p:cNvSpPr/>
          <p:nvPr/>
        </p:nvSpPr>
        <p:spPr>
          <a:xfrm>
            <a:off x="7882127"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Topic 4</a:t>
            </a:r>
          </a:p>
        </p:txBody>
      </p:sp>
      <p:sp>
        <p:nvSpPr>
          <p:cNvPr id="37" name="Rectangle 36"/>
          <p:cNvSpPr/>
          <p:nvPr/>
        </p:nvSpPr>
        <p:spPr>
          <a:xfrm>
            <a:off x="74980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 y="501853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K5</a:t>
            </a:r>
          </a:p>
        </p:txBody>
      </p:sp>
      <p:sp>
        <p:nvSpPr>
          <p:cNvPr id="39" name="Rectangle 38"/>
          <p:cNvSpPr/>
          <p:nvPr/>
        </p:nvSpPr>
        <p:spPr>
          <a:xfrm>
            <a:off x="431596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25696"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Project stakeholder identification</a:t>
            </a:r>
          </a:p>
        </p:txBody>
      </p:sp>
      <p:sp>
        <p:nvSpPr>
          <p:cNvPr id="41" name="Rectangle 40"/>
          <p:cNvSpPr/>
          <p:nvPr/>
        </p:nvSpPr>
        <p:spPr>
          <a:xfrm>
            <a:off x="7882127"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91855"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Topic 5</a:t>
            </a:r>
          </a:p>
        </p:txBody>
      </p:sp>
      <p:sp>
        <p:nvSpPr>
          <p:cNvPr id="43" name="Rounded Rectangle 42"/>
          <p:cNvSpPr/>
          <p:nvPr/>
        </p:nvSpPr>
        <p:spPr>
          <a:xfrm>
            <a:off x="749808" y="5815584"/>
            <a:ext cx="10698480" cy="420624"/>
          </a:xfrm>
          <a:prstGeom prst="roundRect">
            <a:avLst>
              <a:gd name="adj" fmla="val 8000"/>
            </a:avLst>
          </a:prstGeom>
          <a:solidFill>
            <a:srgbClr val="F4F7FB"/>
          </a:solidFill>
          <a:ln w="12700">
            <a:solidFill>
              <a:srgbClr val="703C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Knowledge is applied in the activity immediately following its topic.</a:t>
            </a:r>
          </a:p>
        </p:txBody>
      </p:sp>
      <p:sp>
        <p:nvSpPr>
          <p:cNvPr id="45" name="TextBox 44"/>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6" name="TextBox 45"/>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TSC ALIGNMENT</a:t>
            </a:r>
          </a:p>
        </p:txBody>
      </p:sp>
      <p:sp>
        <p:nvSpPr>
          <p:cNvPr id="47" name="TextBox 46"/>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DAY 1 · FROM IDEA TO AN INTEGRATED, RISK-AWARE BASELINE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Lesson Plan — Day 1</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10698480" cy="939546"/>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939546"/>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1024128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Initiate with value</a:t>
            </a:r>
          </a:p>
        </p:txBody>
      </p:sp>
      <p:sp>
        <p:nvSpPr>
          <p:cNvPr id="10" name="TextBox 9"/>
          <p:cNvSpPr txBox="1"/>
          <p:nvPr/>
        </p:nvSpPr>
        <p:spPr>
          <a:xfrm>
            <a:off x="1005840" y="2313432"/>
            <a:ext cx="10241280" cy="253746"/>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Topic 1 · charter, boundaries, team and kickoff</a:t>
            </a:r>
          </a:p>
        </p:txBody>
      </p:sp>
      <p:sp>
        <p:nvSpPr>
          <p:cNvPr id="11" name="Rounded Rectangle 10"/>
          <p:cNvSpPr/>
          <p:nvPr/>
        </p:nvSpPr>
        <p:spPr>
          <a:xfrm>
            <a:off x="749808" y="2951226"/>
            <a:ext cx="10698480" cy="939546"/>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 y="2951226"/>
            <a:ext cx="91440" cy="939546"/>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115818"/>
            <a:ext cx="1024128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Plan the work</a:t>
            </a:r>
          </a:p>
        </p:txBody>
      </p:sp>
      <p:sp>
        <p:nvSpPr>
          <p:cNvPr id="14" name="TextBox 13"/>
          <p:cNvSpPr txBox="1"/>
          <p:nvPr/>
        </p:nvSpPr>
        <p:spPr>
          <a:xfrm>
            <a:off x="1005840" y="3481578"/>
            <a:ext cx="10241280" cy="253746"/>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Topic 2 · requirements, WBS, schedule, critical path and budget</a:t>
            </a:r>
          </a:p>
        </p:txBody>
      </p:sp>
      <p:sp>
        <p:nvSpPr>
          <p:cNvPr id="15" name="Rounded Rectangle 14"/>
          <p:cNvSpPr/>
          <p:nvPr/>
        </p:nvSpPr>
        <p:spPr>
          <a:xfrm>
            <a:off x="749808" y="4119372"/>
            <a:ext cx="10698480" cy="939546"/>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939546"/>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1024128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Drive quality and flow</a:t>
            </a:r>
          </a:p>
        </p:txBody>
      </p:sp>
      <p:sp>
        <p:nvSpPr>
          <p:cNvPr id="18" name="TextBox 17"/>
          <p:cNvSpPr txBox="1"/>
          <p:nvPr/>
        </p:nvSpPr>
        <p:spPr>
          <a:xfrm>
            <a:off x="1005840" y="4649724"/>
            <a:ext cx="10241280" cy="253746"/>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Topic 3 · visual management, root-cause and prioritisation tools</a:t>
            </a:r>
          </a:p>
        </p:txBody>
      </p:sp>
      <p:sp>
        <p:nvSpPr>
          <p:cNvPr id="19" name="Rounded Rectangle 18"/>
          <p:cNvSpPr/>
          <p:nvPr/>
        </p:nvSpPr>
        <p:spPr>
          <a:xfrm>
            <a:off x="749808" y="5287518"/>
            <a:ext cx="10698480" cy="939546"/>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9808" y="5287518"/>
            <a:ext cx="91440" cy="93954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5452110"/>
            <a:ext cx="1024128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Manage uncertainty</a:t>
            </a:r>
          </a:p>
        </p:txBody>
      </p:sp>
      <p:sp>
        <p:nvSpPr>
          <p:cNvPr id="22" name="TextBox 21"/>
          <p:cNvSpPr txBox="1"/>
          <p:nvPr/>
        </p:nvSpPr>
        <p:spPr>
          <a:xfrm>
            <a:off x="1005840" y="5817870"/>
            <a:ext cx="10241280" cy="253746"/>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Topic 4 · risk register, responses, contingency and decision analysis</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DAY 1 · FROM IDEA TO AN INTEGRATED, RISK-AWARE BASELINE</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DAY 2 · FROM STAKEHOLDER ALIGNMENT TO CONTROLLED DELIVERY AND CLOSURE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Lesson Plan — Day 2</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10698480" cy="939546"/>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939546"/>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1024128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Engage stakeholders</a:t>
            </a:r>
          </a:p>
        </p:txBody>
      </p:sp>
      <p:sp>
        <p:nvSpPr>
          <p:cNvPr id="10" name="TextBox 9"/>
          <p:cNvSpPr txBox="1"/>
          <p:nvPr/>
        </p:nvSpPr>
        <p:spPr>
          <a:xfrm>
            <a:off x="1005840" y="2313432"/>
            <a:ext cx="10241280" cy="253746"/>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Topic 5 · mapping, RACI, communication and engagement</a:t>
            </a:r>
          </a:p>
        </p:txBody>
      </p:sp>
      <p:sp>
        <p:nvSpPr>
          <p:cNvPr id="11" name="Rounded Rectangle 10"/>
          <p:cNvSpPr/>
          <p:nvPr/>
        </p:nvSpPr>
        <p:spPr>
          <a:xfrm>
            <a:off x="749808" y="2951226"/>
            <a:ext cx="10698480" cy="939546"/>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 y="2951226"/>
            <a:ext cx="91440" cy="939546"/>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115818"/>
            <a:ext cx="1024128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Deploy resources</a:t>
            </a:r>
          </a:p>
        </p:txBody>
      </p:sp>
      <p:sp>
        <p:nvSpPr>
          <p:cNvPr id="14" name="TextBox 13"/>
          <p:cNvSpPr txBox="1"/>
          <p:nvPr/>
        </p:nvSpPr>
        <p:spPr>
          <a:xfrm>
            <a:off x="1005840" y="3481578"/>
            <a:ext cx="10241280" cy="253746"/>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Topic 6 · capacity, optimisation, procurement and team performance</a:t>
            </a:r>
          </a:p>
        </p:txBody>
      </p:sp>
      <p:sp>
        <p:nvSpPr>
          <p:cNvPr id="15" name="Rounded Rectangle 14"/>
          <p:cNvSpPr/>
          <p:nvPr/>
        </p:nvSpPr>
        <p:spPr>
          <a:xfrm>
            <a:off x="749808" y="4119372"/>
            <a:ext cx="10698480" cy="939546"/>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939546"/>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1024128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Control and close</a:t>
            </a:r>
          </a:p>
        </p:txBody>
      </p:sp>
      <p:sp>
        <p:nvSpPr>
          <p:cNvPr id="18" name="TextBox 17"/>
          <p:cNvSpPr txBox="1"/>
          <p:nvPr/>
        </p:nvSpPr>
        <p:spPr>
          <a:xfrm>
            <a:off x="1005840" y="4649724"/>
            <a:ext cx="10241280" cy="253746"/>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Topic 7 · status, earned value, change, corrective action and handover</a:t>
            </a:r>
          </a:p>
        </p:txBody>
      </p:sp>
      <p:sp>
        <p:nvSpPr>
          <p:cNvPr id="19" name="Rounded Rectangle 18"/>
          <p:cNvSpPr/>
          <p:nvPr/>
        </p:nvSpPr>
        <p:spPr>
          <a:xfrm>
            <a:off x="749808" y="5287518"/>
            <a:ext cx="10698480" cy="939546"/>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9808" y="5287518"/>
            <a:ext cx="91440" cy="93954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5452110"/>
            <a:ext cx="1024128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Assessment</a:t>
            </a:r>
          </a:p>
        </p:txBody>
      </p:sp>
      <p:sp>
        <p:nvSpPr>
          <p:cNvPr id="22" name="TextBox 21"/>
          <p:cNvSpPr txBox="1"/>
          <p:nvPr/>
        </p:nvSpPr>
        <p:spPr>
          <a:xfrm>
            <a:off x="1005840" y="5817870"/>
            <a:ext cx="10241280" cy="253746"/>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Written Case Study and Oral Questioning, open book</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DAY 2 · FROM STAKEHOLDER ALIGNMENT TO CONTROLLED DELIVERY AND CLOSURE</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SEVEN-TOPIC SYLLABUS FROM v17</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Course Outline — Topics 1 to 4</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10698480" cy="939546"/>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939546"/>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10241280" cy="438912"/>
          </a:xfrm>
          <a:prstGeom prst="rect">
            <a:avLst/>
          </a:prstGeom>
          <a:noFill/>
        </p:spPr>
        <p:txBody>
          <a:bodyPr wrap="square" lIns="0" rIns="0" tIns="0" bIns="0" anchor="t">
            <a:spAutoFit/>
          </a:bodyPr>
          <a:lstStyle/>
          <a:p>
            <a:pPr algn="l">
              <a:spcAft>
                <a:spcPts val="300"/>
              </a:spcAft>
            </a:pPr>
            <a:r>
              <a:rPr sz="1150" b="1">
                <a:solidFill>
                  <a:srgbClr val="1655D1"/>
                </a:solidFill>
                <a:latin typeface="Arial"/>
              </a:rPr>
              <a:t>Topic 01 · Initiation of a Project</a:t>
            </a:r>
          </a:p>
        </p:txBody>
      </p:sp>
      <p:sp>
        <p:nvSpPr>
          <p:cNvPr id="10" name="TextBox 9"/>
          <p:cNvSpPr txBox="1"/>
          <p:nvPr/>
        </p:nvSpPr>
        <p:spPr>
          <a:xfrm>
            <a:off x="1005840" y="2313432"/>
            <a:ext cx="10241280" cy="253746"/>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Small-project fit · value · charter · scope · team · kickoff · A1, K1</a:t>
            </a:r>
          </a:p>
        </p:txBody>
      </p:sp>
      <p:sp>
        <p:nvSpPr>
          <p:cNvPr id="11" name="Rounded Rectangle 10"/>
          <p:cNvSpPr/>
          <p:nvPr/>
        </p:nvSpPr>
        <p:spPr>
          <a:xfrm>
            <a:off x="749808" y="2951226"/>
            <a:ext cx="10698480" cy="939546"/>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 y="2951226"/>
            <a:ext cx="91440" cy="939546"/>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115818"/>
            <a:ext cx="1024128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Topic 02 · Develop a Project Plan</a:t>
            </a:r>
          </a:p>
        </p:txBody>
      </p:sp>
      <p:sp>
        <p:nvSpPr>
          <p:cNvPr id="14" name="TextBox 13"/>
          <p:cNvSpPr txBox="1"/>
          <p:nvPr/>
        </p:nvSpPr>
        <p:spPr>
          <a:xfrm>
            <a:off x="1005840" y="3481578"/>
            <a:ext cx="10241280" cy="253746"/>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Requirements · scope baseline · WBS · network · schedule · budget · A2, K2</a:t>
            </a:r>
          </a:p>
        </p:txBody>
      </p:sp>
      <p:sp>
        <p:nvSpPr>
          <p:cNvPr id="15" name="Rounded Rectangle 14"/>
          <p:cNvSpPr/>
          <p:nvPr/>
        </p:nvSpPr>
        <p:spPr>
          <a:xfrm>
            <a:off x="749808" y="4119372"/>
            <a:ext cx="10698480" cy="939546"/>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939546"/>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10241280" cy="438912"/>
          </a:xfrm>
          <a:prstGeom prst="rect">
            <a:avLst/>
          </a:prstGeom>
          <a:noFill/>
        </p:spPr>
        <p:txBody>
          <a:bodyPr wrap="square" lIns="0" rIns="0" tIns="0" bIns="0" anchor="t">
            <a:spAutoFit/>
          </a:bodyPr>
          <a:lstStyle/>
          <a:p>
            <a:pPr algn="l">
              <a:spcAft>
                <a:spcPts val="300"/>
              </a:spcAft>
            </a:pPr>
            <a:r>
              <a:rPr sz="1050" b="1">
                <a:solidFill>
                  <a:srgbClr val="703CC3"/>
                </a:solidFill>
                <a:latin typeface="Arial"/>
              </a:rPr>
              <a:t>Topic 03 · Apply Methods and Tools to Drive a Project</a:t>
            </a:r>
          </a:p>
        </p:txBody>
      </p:sp>
      <p:sp>
        <p:nvSpPr>
          <p:cNvPr id="18" name="TextBox 17"/>
          <p:cNvSpPr txBox="1"/>
          <p:nvPr/>
        </p:nvSpPr>
        <p:spPr>
          <a:xfrm>
            <a:off x="1005840" y="4649724"/>
            <a:ext cx="10241280" cy="253746"/>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Quality planning · flow · root cause · Pareto · improvement · A3, K3</a:t>
            </a:r>
          </a:p>
        </p:txBody>
      </p:sp>
      <p:sp>
        <p:nvSpPr>
          <p:cNvPr id="19" name="Rounded Rectangle 18"/>
          <p:cNvSpPr/>
          <p:nvPr/>
        </p:nvSpPr>
        <p:spPr>
          <a:xfrm>
            <a:off x="749808" y="5287518"/>
            <a:ext cx="10698480" cy="939546"/>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9808" y="5287518"/>
            <a:ext cx="91440" cy="93954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5452110"/>
            <a:ext cx="1024128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Topic 04 · Manage Project Risk</a:t>
            </a:r>
          </a:p>
        </p:txBody>
      </p:sp>
      <p:sp>
        <p:nvSpPr>
          <p:cNvPr id="22" name="TextBox 21"/>
          <p:cNvSpPr txBox="1"/>
          <p:nvPr/>
        </p:nvSpPr>
        <p:spPr>
          <a:xfrm>
            <a:off x="1005840" y="5817870"/>
            <a:ext cx="10241280" cy="253746"/>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Identify · assess · respond · contingency · monitor · A4, K4</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SEVEN-TOPIC SYLLABUS FROM v17</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SEVEN-TOPIC SYLLABUS FROM v17</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Course Outline — Topics 5 to 7</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1328928"/>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10241280" cy="438912"/>
          </a:xfrm>
          <a:prstGeom prst="rect">
            <a:avLst/>
          </a:prstGeom>
          <a:noFill/>
        </p:spPr>
        <p:txBody>
          <a:bodyPr wrap="square" lIns="0" rIns="0" tIns="0" bIns="0" anchor="t">
            <a:spAutoFit/>
          </a:bodyPr>
          <a:lstStyle/>
          <a:p>
            <a:pPr algn="l">
              <a:spcAft>
                <a:spcPts val="300"/>
              </a:spcAft>
            </a:pPr>
            <a:r>
              <a:rPr sz="1150" b="1">
                <a:solidFill>
                  <a:srgbClr val="1655D1"/>
                </a:solidFill>
                <a:latin typeface="Arial"/>
              </a:rPr>
              <a:t>Topic 05 · Collaborate with Stakeholders</a:t>
            </a:r>
          </a:p>
        </p:txBody>
      </p:sp>
      <p:sp>
        <p:nvSpPr>
          <p:cNvPr id="10" name="TextBox 9"/>
          <p:cNvSpPr txBox="1"/>
          <p:nvPr/>
        </p:nvSpPr>
        <p:spPr>
          <a:xfrm>
            <a:off x="1005840" y="2313432"/>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Identify · analyse · communicate · engage · allocate accountability · A5, K5</a:t>
            </a:r>
          </a:p>
        </p:txBody>
      </p:sp>
      <p:sp>
        <p:nvSpPr>
          <p:cNvPr id="11" name="Rounded Rectangle 10"/>
          <p:cNvSpPr/>
          <p:nvPr/>
        </p:nvSpPr>
        <p:spPr>
          <a:xfrm>
            <a:off x="749808" y="3340608"/>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 y="3340608"/>
            <a:ext cx="91440" cy="13289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505200"/>
            <a:ext cx="1024128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Topic 06 · Deploy Resources</a:t>
            </a:r>
          </a:p>
        </p:txBody>
      </p:sp>
      <p:sp>
        <p:nvSpPr>
          <p:cNvPr id="14" name="TextBox 13"/>
          <p:cNvSpPr txBox="1"/>
          <p:nvPr/>
        </p:nvSpPr>
        <p:spPr>
          <a:xfrm>
            <a:off x="1005840" y="3870960"/>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People · budget · equipment · procurement · team performance · A6</a:t>
            </a:r>
          </a:p>
        </p:txBody>
      </p:sp>
      <p:sp>
        <p:nvSpPr>
          <p:cNvPr id="15" name="Rounded Rectangle 14"/>
          <p:cNvSpPr/>
          <p:nvPr/>
        </p:nvSpPr>
        <p:spPr>
          <a:xfrm>
            <a:off x="749808" y="4898136"/>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898136"/>
            <a:ext cx="91440" cy="1328928"/>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5062728"/>
            <a:ext cx="10241280" cy="438912"/>
          </a:xfrm>
          <a:prstGeom prst="rect">
            <a:avLst/>
          </a:prstGeom>
          <a:noFill/>
        </p:spPr>
        <p:txBody>
          <a:bodyPr wrap="square" lIns="0" rIns="0" tIns="0" bIns="0" anchor="t">
            <a:spAutoFit/>
          </a:bodyPr>
          <a:lstStyle/>
          <a:p>
            <a:pPr algn="l">
              <a:spcAft>
                <a:spcPts val="300"/>
              </a:spcAft>
            </a:pPr>
            <a:r>
              <a:rPr sz="1050" b="1">
                <a:solidFill>
                  <a:srgbClr val="703CC3"/>
                </a:solidFill>
                <a:latin typeface="Arial"/>
              </a:rPr>
              <a:t>Topic 07 · Track Project Deliverables and Correct Misalignments</a:t>
            </a:r>
          </a:p>
        </p:txBody>
      </p:sp>
      <p:sp>
        <p:nvSpPr>
          <p:cNvPr id="18" name="TextBox 17"/>
          <p:cNvSpPr txBox="1"/>
          <p:nvPr/>
        </p:nvSpPr>
        <p:spPr>
          <a:xfrm>
            <a:off x="1005840" y="5428488"/>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Performance · earned value · change · corrective action · handover · closure · A7</a:t>
            </a:r>
          </a:p>
        </p:txBody>
      </p:sp>
      <p:sp>
        <p:nvSpPr>
          <p:cNvPr id="19" name="TextBox 1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0" name="TextBox 1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SEVEN-TOPIC SYLLABUS FROM v17</a:t>
            </a:r>
          </a:p>
        </p:txBody>
      </p:sp>
      <p:sp>
        <p:nvSpPr>
          <p:cNvPr id="21" name="TextBox 2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EDITABLE OFFICE TOOLS · ONE CONNECTED EVIDENCE PACK</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The Twelve Tool Packs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3413759" cy="939546"/>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939546"/>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2956559"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Activity 1</a:t>
            </a:r>
          </a:p>
        </p:txBody>
      </p:sp>
      <p:sp>
        <p:nvSpPr>
          <p:cNvPr id="10" name="TextBox 9"/>
          <p:cNvSpPr txBox="1"/>
          <p:nvPr/>
        </p:nvSpPr>
        <p:spPr>
          <a:xfrm>
            <a:off x="1005840" y="2313432"/>
            <a:ext cx="2956559" cy="253746"/>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Selection &amp; Cost-Benefit — Screen and select the project</a:t>
            </a:r>
          </a:p>
        </p:txBody>
      </p:sp>
      <p:sp>
        <p:nvSpPr>
          <p:cNvPr id="11" name="Rounded Rectangle 10"/>
          <p:cNvSpPr/>
          <p:nvPr/>
        </p:nvSpPr>
        <p:spPr>
          <a:xfrm>
            <a:off x="4392167" y="1783080"/>
            <a:ext cx="3413759" cy="939546"/>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92167" y="1783080"/>
            <a:ext cx="91440" cy="939546"/>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8200" y="1947672"/>
            <a:ext cx="2956559"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Activity 2</a:t>
            </a:r>
          </a:p>
        </p:txBody>
      </p:sp>
      <p:sp>
        <p:nvSpPr>
          <p:cNvPr id="14" name="TextBox 13"/>
          <p:cNvSpPr txBox="1"/>
          <p:nvPr/>
        </p:nvSpPr>
        <p:spPr>
          <a:xfrm>
            <a:off x="4648200" y="2313432"/>
            <a:ext cx="2956559" cy="253746"/>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Business Case &amp; Charter — Authorise and kick off</a:t>
            </a:r>
          </a:p>
        </p:txBody>
      </p:sp>
      <p:sp>
        <p:nvSpPr>
          <p:cNvPr id="15" name="Rounded Rectangle 14"/>
          <p:cNvSpPr/>
          <p:nvPr/>
        </p:nvSpPr>
        <p:spPr>
          <a:xfrm>
            <a:off x="8034527" y="1783080"/>
            <a:ext cx="3413759" cy="939546"/>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34527" y="1783080"/>
            <a:ext cx="91440" cy="939546"/>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559" y="1947672"/>
            <a:ext cx="2956559"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Activity 3</a:t>
            </a:r>
          </a:p>
        </p:txBody>
      </p:sp>
      <p:sp>
        <p:nvSpPr>
          <p:cNvPr id="18" name="TextBox 17"/>
          <p:cNvSpPr txBox="1"/>
          <p:nvPr/>
        </p:nvSpPr>
        <p:spPr>
          <a:xfrm>
            <a:off x="8290559" y="2313432"/>
            <a:ext cx="2956559" cy="253746"/>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Requirements Workshop &amp; RTM — Discover and trace needs</a:t>
            </a:r>
          </a:p>
        </p:txBody>
      </p:sp>
      <p:sp>
        <p:nvSpPr>
          <p:cNvPr id="19" name="Rounded Rectangle 18"/>
          <p:cNvSpPr/>
          <p:nvPr/>
        </p:nvSpPr>
        <p:spPr>
          <a:xfrm>
            <a:off x="749808" y="2951226"/>
            <a:ext cx="3413759" cy="939546"/>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9808" y="2951226"/>
            <a:ext cx="91440" cy="93954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3115818"/>
            <a:ext cx="2956559"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Activity 4</a:t>
            </a:r>
          </a:p>
        </p:txBody>
      </p:sp>
      <p:sp>
        <p:nvSpPr>
          <p:cNvPr id="22" name="TextBox 21"/>
          <p:cNvSpPr txBox="1"/>
          <p:nvPr/>
        </p:nvSpPr>
        <p:spPr>
          <a:xfrm>
            <a:off x="1005840" y="3481578"/>
            <a:ext cx="2956559" cy="253746"/>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WBS &amp; Dictionary — Build the scope baseline</a:t>
            </a:r>
          </a:p>
        </p:txBody>
      </p:sp>
      <p:sp>
        <p:nvSpPr>
          <p:cNvPr id="23" name="Rounded Rectangle 22"/>
          <p:cNvSpPr/>
          <p:nvPr/>
        </p:nvSpPr>
        <p:spPr>
          <a:xfrm>
            <a:off x="4392167" y="2951226"/>
            <a:ext cx="3413759" cy="939546"/>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92167" y="2951226"/>
            <a:ext cx="91440" cy="939546"/>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48200" y="3115818"/>
            <a:ext cx="2956559" cy="438912"/>
          </a:xfrm>
          <a:prstGeom prst="rect">
            <a:avLst/>
          </a:prstGeom>
          <a:noFill/>
        </p:spPr>
        <p:txBody>
          <a:bodyPr wrap="square" lIns="0" rIns="0" tIns="0" bIns="0" anchor="t">
            <a:spAutoFit/>
          </a:bodyPr>
          <a:lstStyle/>
          <a:p>
            <a:pPr algn="l">
              <a:spcAft>
                <a:spcPts val="300"/>
              </a:spcAft>
            </a:pPr>
            <a:r>
              <a:rPr sz="1300" b="1">
                <a:solidFill>
                  <a:srgbClr val="1A7F4B"/>
                </a:solidFill>
                <a:latin typeface="Arial"/>
              </a:rPr>
              <a:t>Activity 5</a:t>
            </a:r>
          </a:p>
        </p:txBody>
      </p:sp>
      <p:sp>
        <p:nvSpPr>
          <p:cNvPr id="26" name="TextBox 25"/>
          <p:cNvSpPr txBox="1"/>
          <p:nvPr/>
        </p:nvSpPr>
        <p:spPr>
          <a:xfrm>
            <a:off x="4648200" y="3481578"/>
            <a:ext cx="2956559" cy="253746"/>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Network, Gantt &amp; Budget — Integrate schedule and cost</a:t>
            </a:r>
          </a:p>
        </p:txBody>
      </p:sp>
      <p:sp>
        <p:nvSpPr>
          <p:cNvPr id="27" name="Rounded Rectangle 26"/>
          <p:cNvSpPr/>
          <p:nvPr/>
        </p:nvSpPr>
        <p:spPr>
          <a:xfrm>
            <a:off x="8034527" y="2951226"/>
            <a:ext cx="3413759" cy="939546"/>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34527" y="2951226"/>
            <a:ext cx="91440" cy="939546"/>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90559" y="3115818"/>
            <a:ext cx="2956559" cy="438912"/>
          </a:xfrm>
          <a:prstGeom prst="rect">
            <a:avLst/>
          </a:prstGeom>
          <a:noFill/>
        </p:spPr>
        <p:txBody>
          <a:bodyPr wrap="square" lIns="0" rIns="0" tIns="0" bIns="0" anchor="t">
            <a:spAutoFit/>
          </a:bodyPr>
          <a:lstStyle/>
          <a:p>
            <a:pPr algn="l">
              <a:spcAft>
                <a:spcPts val="300"/>
              </a:spcAft>
            </a:pPr>
            <a:r>
              <a:rPr sz="1300" b="1">
                <a:solidFill>
                  <a:srgbClr val="C93131"/>
                </a:solidFill>
                <a:latin typeface="Arial"/>
              </a:rPr>
              <a:t>Activity 6</a:t>
            </a:r>
          </a:p>
        </p:txBody>
      </p:sp>
      <p:sp>
        <p:nvSpPr>
          <p:cNvPr id="30" name="TextBox 29"/>
          <p:cNvSpPr txBox="1"/>
          <p:nvPr/>
        </p:nvSpPr>
        <p:spPr>
          <a:xfrm>
            <a:off x="8290559" y="3481578"/>
            <a:ext cx="2956559" cy="253746"/>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Delivery &amp; Quality Plan — Tailor execution and quality</a:t>
            </a:r>
          </a:p>
        </p:txBody>
      </p:sp>
      <p:sp>
        <p:nvSpPr>
          <p:cNvPr id="31" name="Rounded Rectangle 30"/>
          <p:cNvSpPr/>
          <p:nvPr/>
        </p:nvSpPr>
        <p:spPr>
          <a:xfrm>
            <a:off x="749808" y="4119372"/>
            <a:ext cx="3413759" cy="939546"/>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49808" y="4119372"/>
            <a:ext cx="91440" cy="939546"/>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 y="4283964"/>
            <a:ext cx="2956559"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Activity 7</a:t>
            </a:r>
          </a:p>
        </p:txBody>
      </p:sp>
      <p:sp>
        <p:nvSpPr>
          <p:cNvPr id="34" name="TextBox 33"/>
          <p:cNvSpPr txBox="1"/>
          <p:nvPr/>
        </p:nvSpPr>
        <p:spPr>
          <a:xfrm>
            <a:off x="1005840" y="4649724"/>
            <a:ext cx="2956559" cy="253746"/>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Risk Decision Tools — Fund risk responses</a:t>
            </a:r>
          </a:p>
        </p:txBody>
      </p:sp>
      <p:sp>
        <p:nvSpPr>
          <p:cNvPr id="35" name="Rounded Rectangle 34"/>
          <p:cNvSpPr/>
          <p:nvPr/>
        </p:nvSpPr>
        <p:spPr>
          <a:xfrm>
            <a:off x="4392167" y="4119372"/>
            <a:ext cx="3413759" cy="939546"/>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92167" y="4119372"/>
            <a:ext cx="91440" cy="939546"/>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48200" y="4283964"/>
            <a:ext cx="2956559"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Activity 8</a:t>
            </a:r>
          </a:p>
        </p:txBody>
      </p:sp>
      <p:sp>
        <p:nvSpPr>
          <p:cNvPr id="38" name="TextBox 37"/>
          <p:cNvSpPr txBox="1"/>
          <p:nvPr/>
        </p:nvSpPr>
        <p:spPr>
          <a:xfrm>
            <a:off x="4648200" y="4649724"/>
            <a:ext cx="2956559" cy="253746"/>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Stakeholder, RACI &amp; SEAM — Align decisions and engagement</a:t>
            </a:r>
          </a:p>
        </p:txBody>
      </p:sp>
      <p:sp>
        <p:nvSpPr>
          <p:cNvPr id="39" name="Rounded Rectangle 38"/>
          <p:cNvSpPr/>
          <p:nvPr/>
        </p:nvSpPr>
        <p:spPr>
          <a:xfrm>
            <a:off x="8034527" y="4119372"/>
            <a:ext cx="3413759" cy="939546"/>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034527" y="4119372"/>
            <a:ext cx="91440" cy="939546"/>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90559" y="4283964"/>
            <a:ext cx="2956559"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Activity 9</a:t>
            </a:r>
          </a:p>
        </p:txBody>
      </p:sp>
      <p:sp>
        <p:nvSpPr>
          <p:cNvPr id="42" name="TextBox 41"/>
          <p:cNvSpPr txBox="1"/>
          <p:nvPr/>
        </p:nvSpPr>
        <p:spPr>
          <a:xfrm>
            <a:off x="8290559" y="4649724"/>
            <a:ext cx="2956559" cy="253746"/>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Capacity &amp; Procurement — Deploy resources</a:t>
            </a:r>
          </a:p>
        </p:txBody>
      </p:sp>
      <p:sp>
        <p:nvSpPr>
          <p:cNvPr id="43" name="Rounded Rectangle 42"/>
          <p:cNvSpPr/>
          <p:nvPr/>
        </p:nvSpPr>
        <p:spPr>
          <a:xfrm>
            <a:off x="749808" y="5287518"/>
            <a:ext cx="3413759" cy="939546"/>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49808" y="5287518"/>
            <a:ext cx="91440" cy="93954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05840" y="5452110"/>
            <a:ext cx="2956559"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Activity 10</a:t>
            </a:r>
          </a:p>
        </p:txBody>
      </p:sp>
      <p:sp>
        <p:nvSpPr>
          <p:cNvPr id="46" name="TextBox 45"/>
          <p:cNvSpPr txBox="1"/>
          <p:nvPr/>
        </p:nvSpPr>
        <p:spPr>
          <a:xfrm>
            <a:off x="1005840" y="5817870"/>
            <a:ext cx="2956559" cy="253746"/>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Root-Cause Toolchain — Diagnose quality</a:t>
            </a:r>
          </a:p>
        </p:txBody>
      </p:sp>
      <p:sp>
        <p:nvSpPr>
          <p:cNvPr id="47" name="Rounded Rectangle 46"/>
          <p:cNvSpPr/>
          <p:nvPr/>
        </p:nvSpPr>
        <p:spPr>
          <a:xfrm>
            <a:off x="4392167" y="5287518"/>
            <a:ext cx="3413759" cy="939546"/>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392167" y="5287518"/>
            <a:ext cx="91440" cy="939546"/>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648200" y="5452110"/>
            <a:ext cx="2956559" cy="438912"/>
          </a:xfrm>
          <a:prstGeom prst="rect">
            <a:avLst/>
          </a:prstGeom>
          <a:noFill/>
        </p:spPr>
        <p:txBody>
          <a:bodyPr wrap="square" lIns="0" rIns="0" tIns="0" bIns="0" anchor="t">
            <a:spAutoFit/>
          </a:bodyPr>
          <a:lstStyle/>
          <a:p>
            <a:pPr algn="l">
              <a:spcAft>
                <a:spcPts val="300"/>
              </a:spcAft>
            </a:pPr>
            <a:r>
              <a:rPr sz="1300" b="1">
                <a:solidFill>
                  <a:srgbClr val="1A7F4B"/>
                </a:solidFill>
                <a:latin typeface="Arial"/>
              </a:rPr>
              <a:t>Activity 11</a:t>
            </a:r>
          </a:p>
        </p:txBody>
      </p:sp>
      <p:sp>
        <p:nvSpPr>
          <p:cNvPr id="50" name="TextBox 49"/>
          <p:cNvSpPr txBox="1"/>
          <p:nvPr/>
        </p:nvSpPr>
        <p:spPr>
          <a:xfrm>
            <a:off x="4648200" y="5817870"/>
            <a:ext cx="2956559" cy="253746"/>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Status, EVM, Issue &amp; Change — Control performance</a:t>
            </a:r>
          </a:p>
        </p:txBody>
      </p:sp>
      <p:sp>
        <p:nvSpPr>
          <p:cNvPr id="51" name="Rounded Rectangle 50"/>
          <p:cNvSpPr/>
          <p:nvPr/>
        </p:nvSpPr>
        <p:spPr>
          <a:xfrm>
            <a:off x="8034527" y="5287518"/>
            <a:ext cx="3413759" cy="939546"/>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034527" y="5287518"/>
            <a:ext cx="91440" cy="939546"/>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290559" y="5452110"/>
            <a:ext cx="2956559" cy="438912"/>
          </a:xfrm>
          <a:prstGeom prst="rect">
            <a:avLst/>
          </a:prstGeom>
          <a:noFill/>
        </p:spPr>
        <p:txBody>
          <a:bodyPr wrap="square" lIns="0" rIns="0" tIns="0" bIns="0" anchor="t">
            <a:spAutoFit/>
          </a:bodyPr>
          <a:lstStyle/>
          <a:p>
            <a:pPr algn="l">
              <a:spcAft>
                <a:spcPts val="300"/>
              </a:spcAft>
            </a:pPr>
            <a:r>
              <a:rPr sz="1300" b="1">
                <a:solidFill>
                  <a:srgbClr val="C93131"/>
                </a:solidFill>
                <a:latin typeface="Arial"/>
              </a:rPr>
              <a:t>Activity 12</a:t>
            </a:r>
          </a:p>
        </p:txBody>
      </p:sp>
      <p:sp>
        <p:nvSpPr>
          <p:cNvPr id="54" name="TextBox 53"/>
          <p:cNvSpPr txBox="1"/>
          <p:nvPr/>
        </p:nvSpPr>
        <p:spPr>
          <a:xfrm>
            <a:off x="8290559" y="5817870"/>
            <a:ext cx="2956559" cy="253746"/>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Acceptance, Handover &amp; Benefits — Close and transfer</a:t>
            </a:r>
          </a:p>
        </p:txBody>
      </p:sp>
      <p:sp>
        <p:nvSpPr>
          <p:cNvPr id="55" name="TextBox 54"/>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56" name="TextBox 55"/>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EDITABLE OFFICE TOOLS · ONE CONNECTED EVIDENCE PACK</a:t>
            </a:r>
          </a:p>
        </p:txBody>
      </p:sp>
      <p:sp>
        <p:nvSpPr>
          <p:cNvPr id="57" name="TextBox 56"/>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703CC3"/>
                </a:solidFill>
                <a:latin typeface="Arial"/>
              </a:rPr>
              <a:t>THE RUNNING CASE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One Small Project Runs Through All Twelve Activities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Scope</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 three-outlet click-and-collect pilot for HarbourHub Retail.</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Time &amp; money</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Five months, a S$180,000 cap and a seven-person core team.</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Interfaces</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Two vendors plus outlet operations, finance, IT and customers.</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Success</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Launch on date; 120 orders/week; 98% accuracy; 4.2/5 satisfaction; within cap.</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THE RUNNING CASE</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F59E0B"/>
                </a:solidFill>
                <a:latin typeface="Arial"/>
              </a:rPr>
              <a:t>ASSESSMENT · BRIEFING</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Briefing for Assessment</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Individual work</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No discussion once assessment begins.</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Open book</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Slides, Learner Guide and approved materials only.</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Protect the paper</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No photographs, recording or unauthorised materials.</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Answer with evidence</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State the method, decision, rationale and expected result.</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ASSESSMENT · BRIEFING</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F59E0B"/>
                </a:solidFill>
                <a:latin typeface="Arial"/>
              </a:rPr>
              <a:t>ASSESSMENT · WHAT TO EXPECT</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Final Assessment</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10698480" cy="939546"/>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939546"/>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1024128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Written Case Study</a:t>
            </a:r>
          </a:p>
        </p:txBody>
      </p:sp>
      <p:sp>
        <p:nvSpPr>
          <p:cNvPr id="10" name="TextBox 9"/>
          <p:cNvSpPr txBox="1"/>
          <p:nvPr/>
        </p:nvSpPr>
        <p:spPr>
          <a:xfrm>
            <a:off x="1005840" y="2313432"/>
            <a:ext cx="10241280" cy="253746"/>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Written Assessment (Case Study) — apply project management judgement to a small-project scenario.</a:t>
            </a:r>
          </a:p>
        </p:txBody>
      </p:sp>
      <p:sp>
        <p:nvSpPr>
          <p:cNvPr id="11" name="Rounded Rectangle 10"/>
          <p:cNvSpPr/>
          <p:nvPr/>
        </p:nvSpPr>
        <p:spPr>
          <a:xfrm>
            <a:off x="749808" y="2951226"/>
            <a:ext cx="10698480" cy="939546"/>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 y="2951226"/>
            <a:ext cx="91440" cy="939546"/>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115818"/>
            <a:ext cx="1024128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Oral Questioning</a:t>
            </a:r>
          </a:p>
        </p:txBody>
      </p:sp>
      <p:sp>
        <p:nvSpPr>
          <p:cNvPr id="14" name="TextBox 13"/>
          <p:cNvSpPr txBox="1"/>
          <p:nvPr/>
        </p:nvSpPr>
        <p:spPr>
          <a:xfrm>
            <a:off x="1005840" y="3481578"/>
            <a:ext cx="10241280" cy="253746"/>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Oral Questioning — explain and justify decisions against the course methods and evidence.</a:t>
            </a:r>
          </a:p>
        </p:txBody>
      </p:sp>
      <p:sp>
        <p:nvSpPr>
          <p:cNvPr id="15" name="Rounded Rectangle 14"/>
          <p:cNvSpPr/>
          <p:nvPr/>
        </p:nvSpPr>
        <p:spPr>
          <a:xfrm>
            <a:off x="749808" y="4119372"/>
            <a:ext cx="10698480" cy="939546"/>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939546"/>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1024128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Conditions</a:t>
            </a:r>
          </a:p>
        </p:txBody>
      </p:sp>
      <p:sp>
        <p:nvSpPr>
          <p:cNvPr id="18" name="TextBox 17"/>
          <p:cNvSpPr txBox="1"/>
          <p:nvPr/>
        </p:nvSpPr>
        <p:spPr>
          <a:xfrm>
            <a:off x="1005840" y="4649724"/>
            <a:ext cx="10241280" cy="253746"/>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Open book: course slides, Learner Guide and approved course materials only.</a:t>
            </a:r>
          </a:p>
        </p:txBody>
      </p:sp>
      <p:sp>
        <p:nvSpPr>
          <p:cNvPr id="19" name="Rounded Rectangle 18"/>
          <p:cNvSpPr/>
          <p:nvPr/>
        </p:nvSpPr>
        <p:spPr>
          <a:xfrm>
            <a:off x="749808" y="5287518"/>
            <a:ext cx="10698480" cy="939546"/>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9808" y="5287518"/>
            <a:ext cx="91440" cy="93954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5452110"/>
            <a:ext cx="1024128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Competency</a:t>
            </a:r>
          </a:p>
        </p:txBody>
      </p:sp>
      <p:sp>
        <p:nvSpPr>
          <p:cNvPr id="22" name="TextBox 21"/>
          <p:cNvSpPr txBox="1"/>
          <p:nvPr/>
        </p:nvSpPr>
        <p:spPr>
          <a:xfrm>
            <a:off x="1005840" y="5817870"/>
            <a:ext cx="10241280" cy="253746"/>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 minimum of 75% attendance and a Competent result are required for funding eligibility.</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ASSESSMENT · WHAT TO EXPECT</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END-TO-END LIFECYCLE · v17 + PMP + AGILE REFERENCES</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The Complete Project Lifecycle</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2008022"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1751990"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Initiation</a:t>
            </a:r>
          </a:p>
        </p:txBody>
      </p:sp>
      <p:sp>
        <p:nvSpPr>
          <p:cNvPr id="11" name="TextBox 10"/>
          <p:cNvSpPr txBox="1"/>
          <p:nvPr/>
        </p:nvSpPr>
        <p:spPr>
          <a:xfrm>
            <a:off x="896112"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select, justify and authorise</a:t>
            </a:r>
          </a:p>
        </p:txBody>
      </p:sp>
      <p:cxnSp>
        <p:nvCxnSpPr>
          <p:cNvPr id="12" name="Connector 11"/>
          <p:cNvCxnSpPr/>
          <p:nvPr/>
        </p:nvCxnSpPr>
        <p:spPr>
          <a:xfrm>
            <a:off x="2757830" y="3474720"/>
            <a:ext cx="164592"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22422"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22422" y="1965960"/>
            <a:ext cx="2008022"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50438" y="2240279"/>
            <a:ext cx="1751990"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3050438"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Planning</a:t>
            </a:r>
          </a:p>
        </p:txBody>
      </p:sp>
      <p:sp>
        <p:nvSpPr>
          <p:cNvPr id="17" name="TextBox 16"/>
          <p:cNvSpPr txBox="1"/>
          <p:nvPr/>
        </p:nvSpPr>
        <p:spPr>
          <a:xfrm>
            <a:off x="3068726"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integrate scope, schedule, cost and risk</a:t>
            </a:r>
          </a:p>
        </p:txBody>
      </p:sp>
      <p:cxnSp>
        <p:nvCxnSpPr>
          <p:cNvPr id="18" name="Connector 17"/>
          <p:cNvCxnSpPr/>
          <p:nvPr/>
        </p:nvCxnSpPr>
        <p:spPr>
          <a:xfrm>
            <a:off x="4930444" y="3474720"/>
            <a:ext cx="164592"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95036"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95036" y="1965960"/>
            <a:ext cx="2008022"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23052" y="2240279"/>
            <a:ext cx="1751990"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5223052"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Execution</a:t>
            </a:r>
          </a:p>
        </p:txBody>
      </p:sp>
      <p:sp>
        <p:nvSpPr>
          <p:cNvPr id="23" name="TextBox 22"/>
          <p:cNvSpPr txBox="1"/>
          <p:nvPr/>
        </p:nvSpPr>
        <p:spPr>
          <a:xfrm>
            <a:off x="5241340"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coordinate people, suppliers, quality and work</a:t>
            </a:r>
          </a:p>
        </p:txBody>
      </p:sp>
      <p:cxnSp>
        <p:nvCxnSpPr>
          <p:cNvPr id="24" name="Connector 23"/>
          <p:cNvCxnSpPr/>
          <p:nvPr/>
        </p:nvCxnSpPr>
        <p:spPr>
          <a:xfrm>
            <a:off x="7103059" y="3474720"/>
            <a:ext cx="164592"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267651"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67651" y="1965960"/>
            <a:ext cx="2008022"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95667" y="2240279"/>
            <a:ext cx="1751990"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7395667"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Monitor &amp; Control</a:t>
            </a:r>
          </a:p>
        </p:txBody>
      </p:sp>
      <p:sp>
        <p:nvSpPr>
          <p:cNvPr id="29" name="TextBox 28"/>
          <p:cNvSpPr txBox="1"/>
          <p:nvPr/>
        </p:nvSpPr>
        <p:spPr>
          <a:xfrm>
            <a:off x="7413955"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compare, forecast, decide and correct</a:t>
            </a:r>
          </a:p>
        </p:txBody>
      </p:sp>
      <p:cxnSp>
        <p:nvCxnSpPr>
          <p:cNvPr id="30" name="Connector 29"/>
          <p:cNvCxnSpPr/>
          <p:nvPr/>
        </p:nvCxnSpPr>
        <p:spPr>
          <a:xfrm>
            <a:off x="9275673" y="3474720"/>
            <a:ext cx="164592"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440265"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40265" y="1965960"/>
            <a:ext cx="2008022" cy="13716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68281" y="2240279"/>
            <a:ext cx="1751990" cy="457200"/>
          </a:xfrm>
          <a:prstGeom prst="rect">
            <a:avLst/>
          </a:prstGeom>
          <a:noFill/>
        </p:spPr>
        <p:txBody>
          <a:bodyPr wrap="square" lIns="0" rIns="0" tIns="0" bIns="0" anchor="t">
            <a:spAutoFit/>
          </a:bodyPr>
          <a:lstStyle/>
          <a:p>
            <a:pPr algn="ctr">
              <a:spcAft>
                <a:spcPts val="300"/>
              </a:spcAft>
            </a:pPr>
            <a:r>
              <a:rPr sz="1400" b="1">
                <a:solidFill>
                  <a:srgbClr val="1A7F4B"/>
                </a:solidFill>
                <a:latin typeface="Arial"/>
              </a:rPr>
              <a:t>05</a:t>
            </a:r>
          </a:p>
        </p:txBody>
      </p:sp>
      <p:sp>
        <p:nvSpPr>
          <p:cNvPr id="34" name="TextBox 33"/>
          <p:cNvSpPr txBox="1"/>
          <p:nvPr/>
        </p:nvSpPr>
        <p:spPr>
          <a:xfrm>
            <a:off x="9568281"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Closure</a:t>
            </a:r>
          </a:p>
        </p:txBody>
      </p:sp>
      <p:sp>
        <p:nvSpPr>
          <p:cNvPr id="35" name="TextBox 34"/>
          <p:cNvSpPr txBox="1"/>
          <p:nvPr/>
        </p:nvSpPr>
        <p:spPr>
          <a:xfrm>
            <a:off x="9586569"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accept, transition, learn and transfer benefits</a:t>
            </a:r>
          </a:p>
        </p:txBody>
      </p:sp>
      <p:sp>
        <p:nvSpPr>
          <p:cNvPr id="36" name="Rounded Rectangle 35"/>
          <p:cNvSpPr/>
          <p:nvPr/>
        </p:nvSpPr>
        <p:spPr>
          <a:xfrm>
            <a:off x="749808" y="5303520"/>
            <a:ext cx="10698480" cy="713232"/>
          </a:xfrm>
          <a:prstGeom prst="roundRect">
            <a:avLst>
              <a:gd name="adj" fmla="val 8000"/>
            </a:avLst>
          </a:prstGeom>
          <a:solidFill>
            <a:srgbClr val="FFFFFF"/>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The phases overlap in practice; control and engagement operate from authorisation to closure.</a:t>
            </a:r>
          </a:p>
        </p:txBody>
      </p:sp>
      <p:sp>
        <p:nvSpPr>
          <p:cNvPr id="38" name="TextBox 37"/>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9" name="TextBox 38"/>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END-TO-END LIFECYCLE · v17 + PMP + AGILE REFERENCES</a:t>
            </a:r>
          </a:p>
        </p:txBody>
      </p:sp>
      <p:sp>
        <p:nvSpPr>
          <p:cNvPr id="40" name="TextBox 39"/>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END-TO-END LIFECYCLE · v17 + PMP + AGILE REFERENCES</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Lifecycle Phases and WSQ Topics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632460"/>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Phase</a:t>
            </a:r>
          </a:p>
        </p:txBody>
      </p:sp>
      <p:sp>
        <p:nvSpPr>
          <p:cNvPr id="9" name="Rectangle 8"/>
          <p:cNvSpPr/>
          <p:nvPr/>
        </p:nvSpPr>
        <p:spPr>
          <a:xfrm>
            <a:off x="4315968" y="1810512"/>
            <a:ext cx="3566160" cy="632460"/>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Primary course topics</a:t>
            </a:r>
          </a:p>
        </p:txBody>
      </p:sp>
      <p:sp>
        <p:nvSpPr>
          <p:cNvPr id="11" name="Rectangle 10"/>
          <p:cNvSpPr/>
          <p:nvPr/>
        </p:nvSpPr>
        <p:spPr>
          <a:xfrm>
            <a:off x="7882127" y="1810512"/>
            <a:ext cx="3566160" cy="632460"/>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Evidence produced</a:t>
            </a:r>
          </a:p>
        </p:txBody>
      </p:sp>
      <p:sp>
        <p:nvSpPr>
          <p:cNvPr id="13" name="Rectangle 12"/>
          <p:cNvSpPr/>
          <p:nvPr/>
        </p:nvSpPr>
        <p:spPr>
          <a:xfrm>
            <a:off x="74980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48869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Initiation</a:t>
            </a:r>
          </a:p>
        </p:txBody>
      </p:sp>
      <p:sp>
        <p:nvSpPr>
          <p:cNvPr id="15" name="Rectangle 14"/>
          <p:cNvSpPr/>
          <p:nvPr/>
        </p:nvSpPr>
        <p:spPr>
          <a:xfrm>
            <a:off x="431596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Topic 1</a:t>
            </a:r>
          </a:p>
        </p:txBody>
      </p:sp>
      <p:sp>
        <p:nvSpPr>
          <p:cNvPr id="17" name="Rectangle 16"/>
          <p:cNvSpPr/>
          <p:nvPr/>
        </p:nvSpPr>
        <p:spPr>
          <a:xfrm>
            <a:off x="7882127"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Selection, business case, charter, kickoff</a:t>
            </a:r>
          </a:p>
        </p:txBody>
      </p:sp>
      <p:sp>
        <p:nvSpPr>
          <p:cNvPr id="19" name="Rectangle 18"/>
          <p:cNvSpPr/>
          <p:nvPr/>
        </p:nvSpPr>
        <p:spPr>
          <a:xfrm>
            <a:off x="74980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12115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Planning</a:t>
            </a:r>
          </a:p>
        </p:txBody>
      </p:sp>
      <p:sp>
        <p:nvSpPr>
          <p:cNvPr id="21" name="Rectangle 20"/>
          <p:cNvSpPr/>
          <p:nvPr/>
        </p:nvSpPr>
        <p:spPr>
          <a:xfrm>
            <a:off x="431596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Topics 2 and 4</a:t>
            </a:r>
          </a:p>
        </p:txBody>
      </p:sp>
      <p:sp>
        <p:nvSpPr>
          <p:cNvPr id="23" name="Rectangle 22"/>
          <p:cNvSpPr/>
          <p:nvPr/>
        </p:nvSpPr>
        <p:spPr>
          <a:xfrm>
            <a:off x="7882127"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Requirements, baselines, risk responses</a:t>
            </a:r>
          </a:p>
        </p:txBody>
      </p:sp>
      <p:sp>
        <p:nvSpPr>
          <p:cNvPr id="25" name="Rectangle 24"/>
          <p:cNvSpPr/>
          <p:nvPr/>
        </p:nvSpPr>
        <p:spPr>
          <a:xfrm>
            <a:off x="74980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3753611"/>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Execution</a:t>
            </a:r>
          </a:p>
        </p:txBody>
      </p:sp>
      <p:sp>
        <p:nvSpPr>
          <p:cNvPr id="27" name="Rectangle 26"/>
          <p:cNvSpPr/>
          <p:nvPr/>
        </p:nvSpPr>
        <p:spPr>
          <a:xfrm>
            <a:off x="431596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Topics 3, 5 and 6</a:t>
            </a:r>
          </a:p>
        </p:txBody>
      </p:sp>
      <p:sp>
        <p:nvSpPr>
          <p:cNvPr id="29" name="Rectangle 28"/>
          <p:cNvSpPr/>
          <p:nvPr/>
        </p:nvSpPr>
        <p:spPr>
          <a:xfrm>
            <a:off x="7882127"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Work, quality, engagement, resources</a:t>
            </a:r>
          </a:p>
        </p:txBody>
      </p:sp>
      <p:sp>
        <p:nvSpPr>
          <p:cNvPr id="31" name="Rectangle 30"/>
          <p:cNvSpPr/>
          <p:nvPr/>
        </p:nvSpPr>
        <p:spPr>
          <a:xfrm>
            <a:off x="74980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38607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Monitoring &amp; Controlling</a:t>
            </a:r>
          </a:p>
        </p:txBody>
      </p:sp>
      <p:sp>
        <p:nvSpPr>
          <p:cNvPr id="33" name="Rectangle 32"/>
          <p:cNvSpPr/>
          <p:nvPr/>
        </p:nvSpPr>
        <p:spPr>
          <a:xfrm>
            <a:off x="431596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Topics 3, 4, 5 and 7</a:t>
            </a:r>
          </a:p>
        </p:txBody>
      </p:sp>
      <p:sp>
        <p:nvSpPr>
          <p:cNvPr id="35" name="Rectangle 34"/>
          <p:cNvSpPr/>
          <p:nvPr/>
        </p:nvSpPr>
        <p:spPr>
          <a:xfrm>
            <a:off x="7882127"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Status, forecasts, issues, change, action</a:t>
            </a:r>
          </a:p>
        </p:txBody>
      </p:sp>
      <p:sp>
        <p:nvSpPr>
          <p:cNvPr id="37" name="Rectangle 36"/>
          <p:cNvSpPr/>
          <p:nvPr/>
        </p:nvSpPr>
        <p:spPr>
          <a:xfrm>
            <a:off x="74980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 y="501853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Closure</a:t>
            </a:r>
          </a:p>
        </p:txBody>
      </p:sp>
      <p:sp>
        <p:nvSpPr>
          <p:cNvPr id="39" name="Rectangle 38"/>
          <p:cNvSpPr/>
          <p:nvPr/>
        </p:nvSpPr>
        <p:spPr>
          <a:xfrm>
            <a:off x="431596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25696"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Topic 7</a:t>
            </a:r>
          </a:p>
        </p:txBody>
      </p:sp>
      <p:sp>
        <p:nvSpPr>
          <p:cNvPr id="41" name="Rectangle 40"/>
          <p:cNvSpPr/>
          <p:nvPr/>
        </p:nvSpPr>
        <p:spPr>
          <a:xfrm>
            <a:off x="7882127"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91855"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Acceptance, handover, lessons, benefits ownership</a:t>
            </a:r>
          </a:p>
        </p:txBody>
      </p:sp>
      <p:sp>
        <p:nvSpPr>
          <p:cNvPr id="43" name="Rounded Rectangle 42"/>
          <p:cNvSpPr/>
          <p:nvPr/>
        </p:nvSpPr>
        <p:spPr>
          <a:xfrm>
            <a:off x="749808" y="5815584"/>
            <a:ext cx="10698480" cy="420624"/>
          </a:xfrm>
          <a:prstGeom prst="roundRect">
            <a:avLst>
              <a:gd name="adj" fmla="val 8000"/>
            </a:avLst>
          </a:prstGeom>
          <a:solidFill>
            <a:srgbClr val="F4F7FB"/>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The seven-topic syllabus is preserved while the lifecycle makes the end-to-end operating system visible.</a:t>
            </a:r>
          </a:p>
        </p:txBody>
      </p:sp>
      <p:sp>
        <p:nvSpPr>
          <p:cNvPr id="45" name="TextBox 44"/>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6" name="TextBox 45"/>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END-TO-END LIFECYCLE · v17 + PMP + AGILE REFERENCES</a:t>
            </a:r>
          </a:p>
        </p:txBody>
      </p:sp>
      <p:sp>
        <p:nvSpPr>
          <p:cNvPr id="47" name="TextBox 46"/>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END-TO-END LIFECYCLE · v17 + PMP + AGILE REFERENCES</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What Runs Across Every Phase</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2956559"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Integration</a:t>
            </a:r>
          </a:p>
        </p:txBody>
      </p:sp>
      <p:sp>
        <p:nvSpPr>
          <p:cNvPr id="10" name="TextBox 9"/>
          <p:cNvSpPr txBox="1"/>
          <p:nvPr/>
        </p:nvSpPr>
        <p:spPr>
          <a:xfrm>
            <a:off x="100584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Keep decisions and artefacts consistent.</a:t>
            </a:r>
          </a:p>
        </p:txBody>
      </p:sp>
      <p:sp>
        <p:nvSpPr>
          <p:cNvPr id="11" name="Rounded Rectangle 10"/>
          <p:cNvSpPr/>
          <p:nvPr/>
        </p:nvSpPr>
        <p:spPr>
          <a:xfrm>
            <a:off x="439216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92167"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8200" y="1947672"/>
            <a:ext cx="2956559"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Stakeholders</a:t>
            </a:r>
          </a:p>
        </p:txBody>
      </p:sp>
      <p:sp>
        <p:nvSpPr>
          <p:cNvPr id="14" name="TextBox 13"/>
          <p:cNvSpPr txBox="1"/>
          <p:nvPr/>
        </p:nvSpPr>
        <p:spPr>
          <a:xfrm>
            <a:off x="464820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Engage before decisions become resistance.</a:t>
            </a:r>
          </a:p>
        </p:txBody>
      </p:sp>
      <p:sp>
        <p:nvSpPr>
          <p:cNvPr id="15" name="Rounded Rectangle 14"/>
          <p:cNvSpPr/>
          <p:nvPr/>
        </p:nvSpPr>
        <p:spPr>
          <a:xfrm>
            <a:off x="803452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34527" y="1783080"/>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559" y="1947672"/>
            <a:ext cx="2956559"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Risk</a:t>
            </a:r>
          </a:p>
        </p:txBody>
      </p:sp>
      <p:sp>
        <p:nvSpPr>
          <p:cNvPr id="18" name="TextBox 17"/>
          <p:cNvSpPr txBox="1"/>
          <p:nvPr/>
        </p:nvSpPr>
        <p:spPr>
          <a:xfrm>
            <a:off x="8290559"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Refresh uncertainty as facts change.</a:t>
            </a:r>
          </a:p>
        </p:txBody>
      </p:sp>
      <p:sp>
        <p:nvSpPr>
          <p:cNvPr id="19" name="Rounded Rectangle 18"/>
          <p:cNvSpPr/>
          <p:nvPr/>
        </p:nvSpPr>
        <p:spPr>
          <a:xfrm>
            <a:off x="749808"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980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4283964"/>
            <a:ext cx="2956559"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Quality</a:t>
            </a:r>
          </a:p>
        </p:txBody>
      </p:sp>
      <p:sp>
        <p:nvSpPr>
          <p:cNvPr id="22" name="TextBox 21"/>
          <p:cNvSpPr txBox="1"/>
          <p:nvPr/>
        </p:nvSpPr>
        <p:spPr>
          <a:xfrm>
            <a:off x="100584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Define, assure and control fitness for use.</a:t>
            </a:r>
          </a:p>
        </p:txBody>
      </p:sp>
      <p:sp>
        <p:nvSpPr>
          <p:cNvPr id="23" name="Rounded Rectangle 22"/>
          <p:cNvSpPr/>
          <p:nvPr/>
        </p:nvSpPr>
        <p:spPr>
          <a:xfrm>
            <a:off x="4392167"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92167" y="4119372"/>
            <a:ext cx="91440" cy="2107692"/>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48200" y="4283964"/>
            <a:ext cx="2956559" cy="438912"/>
          </a:xfrm>
          <a:prstGeom prst="rect">
            <a:avLst/>
          </a:prstGeom>
          <a:noFill/>
        </p:spPr>
        <p:txBody>
          <a:bodyPr wrap="square" lIns="0" rIns="0" tIns="0" bIns="0" anchor="t">
            <a:spAutoFit/>
          </a:bodyPr>
          <a:lstStyle/>
          <a:p>
            <a:pPr algn="l">
              <a:spcAft>
                <a:spcPts val="300"/>
              </a:spcAft>
            </a:pPr>
            <a:r>
              <a:rPr sz="1300" b="1">
                <a:solidFill>
                  <a:srgbClr val="1A7F4B"/>
                </a:solidFill>
                <a:latin typeface="Arial"/>
              </a:rPr>
              <a:t>Resources</a:t>
            </a:r>
          </a:p>
        </p:txBody>
      </p:sp>
      <p:sp>
        <p:nvSpPr>
          <p:cNvPr id="26" name="TextBox 25"/>
          <p:cNvSpPr txBox="1"/>
          <p:nvPr/>
        </p:nvSpPr>
        <p:spPr>
          <a:xfrm>
            <a:off x="464820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Match skills and capacity to priority work.</a:t>
            </a:r>
          </a:p>
        </p:txBody>
      </p:sp>
      <p:sp>
        <p:nvSpPr>
          <p:cNvPr id="27" name="Rounded Rectangle 26"/>
          <p:cNvSpPr/>
          <p:nvPr/>
        </p:nvSpPr>
        <p:spPr>
          <a:xfrm>
            <a:off x="8034527"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34527" y="4119372"/>
            <a:ext cx="91440" cy="2107692"/>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90559" y="4283964"/>
            <a:ext cx="2956559" cy="438912"/>
          </a:xfrm>
          <a:prstGeom prst="rect">
            <a:avLst/>
          </a:prstGeom>
          <a:noFill/>
        </p:spPr>
        <p:txBody>
          <a:bodyPr wrap="square" lIns="0" rIns="0" tIns="0" bIns="0" anchor="t">
            <a:spAutoFit/>
          </a:bodyPr>
          <a:lstStyle/>
          <a:p>
            <a:pPr algn="l">
              <a:spcAft>
                <a:spcPts val="300"/>
              </a:spcAft>
            </a:pPr>
            <a:r>
              <a:rPr sz="1300" b="1">
                <a:solidFill>
                  <a:srgbClr val="C93131"/>
                </a:solidFill>
                <a:latin typeface="Arial"/>
              </a:rPr>
              <a:t>Governance</a:t>
            </a:r>
          </a:p>
        </p:txBody>
      </p:sp>
      <p:sp>
        <p:nvSpPr>
          <p:cNvPr id="30" name="TextBox 29"/>
          <p:cNvSpPr txBox="1"/>
          <p:nvPr/>
        </p:nvSpPr>
        <p:spPr>
          <a:xfrm>
            <a:off x="8290559"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Escalate outside agreed tolerances.</a:t>
            </a:r>
          </a:p>
        </p:txBody>
      </p:sp>
      <p:sp>
        <p:nvSpPr>
          <p:cNvPr id="31" name="TextBox 30"/>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2" name="TextBox 31"/>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END-TO-END LIFECYCLE · v17 + PMP + AGILE REFERENCES</a:t>
            </a:r>
          </a:p>
        </p:txBody>
      </p:sp>
      <p:sp>
        <p:nvSpPr>
          <p:cNvPr id="33" name="TextBox 32"/>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END-TO-END LIFECYCLE · v17 + PMP + AGILE REFERENCES</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Five Phase Gates for a Small Project</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2008022"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1751990"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Select</a:t>
            </a:r>
          </a:p>
        </p:txBody>
      </p:sp>
      <p:sp>
        <p:nvSpPr>
          <p:cNvPr id="11" name="TextBox 10"/>
          <p:cNvSpPr txBox="1"/>
          <p:nvPr/>
        </p:nvSpPr>
        <p:spPr>
          <a:xfrm>
            <a:off x="896112"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Is this the right investment?</a:t>
            </a:r>
          </a:p>
        </p:txBody>
      </p:sp>
      <p:cxnSp>
        <p:nvCxnSpPr>
          <p:cNvPr id="12" name="Connector 11"/>
          <p:cNvCxnSpPr/>
          <p:nvPr/>
        </p:nvCxnSpPr>
        <p:spPr>
          <a:xfrm>
            <a:off x="2757830" y="3474720"/>
            <a:ext cx="164592"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22422"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22422" y="1965960"/>
            <a:ext cx="2008022"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50438" y="2240279"/>
            <a:ext cx="1751990"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3050438"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Authorise</a:t>
            </a:r>
          </a:p>
        </p:txBody>
      </p:sp>
      <p:sp>
        <p:nvSpPr>
          <p:cNvPr id="17" name="TextBox 16"/>
          <p:cNvSpPr txBox="1"/>
          <p:nvPr/>
        </p:nvSpPr>
        <p:spPr>
          <a:xfrm>
            <a:off x="3068726"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Are boundaries and authority clear?</a:t>
            </a:r>
          </a:p>
        </p:txBody>
      </p:sp>
      <p:cxnSp>
        <p:nvCxnSpPr>
          <p:cNvPr id="18" name="Connector 17"/>
          <p:cNvCxnSpPr/>
          <p:nvPr/>
        </p:nvCxnSpPr>
        <p:spPr>
          <a:xfrm>
            <a:off x="4930444" y="3474720"/>
            <a:ext cx="164592"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95036"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95036" y="1965960"/>
            <a:ext cx="2008022"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23052" y="2240279"/>
            <a:ext cx="1751990"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5223052"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Baseline</a:t>
            </a:r>
          </a:p>
        </p:txBody>
      </p:sp>
      <p:sp>
        <p:nvSpPr>
          <p:cNvPr id="23" name="TextBox 22"/>
          <p:cNvSpPr txBox="1"/>
          <p:nvPr/>
        </p:nvSpPr>
        <p:spPr>
          <a:xfrm>
            <a:off x="5241340"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Is the plan realistic and funded?</a:t>
            </a:r>
          </a:p>
        </p:txBody>
      </p:sp>
      <p:cxnSp>
        <p:nvCxnSpPr>
          <p:cNvPr id="24" name="Connector 23"/>
          <p:cNvCxnSpPr/>
          <p:nvPr/>
        </p:nvCxnSpPr>
        <p:spPr>
          <a:xfrm>
            <a:off x="7103059" y="3474720"/>
            <a:ext cx="164592"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267651"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67651" y="1965960"/>
            <a:ext cx="2008022"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95667" y="2240279"/>
            <a:ext cx="1751990"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7395667"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Release</a:t>
            </a:r>
          </a:p>
        </p:txBody>
      </p:sp>
      <p:sp>
        <p:nvSpPr>
          <p:cNvPr id="29" name="TextBox 28"/>
          <p:cNvSpPr txBox="1"/>
          <p:nvPr/>
        </p:nvSpPr>
        <p:spPr>
          <a:xfrm>
            <a:off x="7413955"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Is the output accepted and operationally ready?</a:t>
            </a:r>
          </a:p>
        </p:txBody>
      </p:sp>
      <p:cxnSp>
        <p:nvCxnSpPr>
          <p:cNvPr id="30" name="Connector 29"/>
          <p:cNvCxnSpPr/>
          <p:nvPr/>
        </p:nvCxnSpPr>
        <p:spPr>
          <a:xfrm>
            <a:off x="9275673" y="3474720"/>
            <a:ext cx="164592"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440265"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40265" y="1965960"/>
            <a:ext cx="2008022" cy="13716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68281" y="2240279"/>
            <a:ext cx="1751990" cy="457200"/>
          </a:xfrm>
          <a:prstGeom prst="rect">
            <a:avLst/>
          </a:prstGeom>
          <a:noFill/>
        </p:spPr>
        <p:txBody>
          <a:bodyPr wrap="square" lIns="0" rIns="0" tIns="0" bIns="0" anchor="t">
            <a:spAutoFit/>
          </a:bodyPr>
          <a:lstStyle/>
          <a:p>
            <a:pPr algn="ctr">
              <a:spcAft>
                <a:spcPts val="300"/>
              </a:spcAft>
            </a:pPr>
            <a:r>
              <a:rPr sz="1400" b="1">
                <a:solidFill>
                  <a:srgbClr val="1A7F4B"/>
                </a:solidFill>
                <a:latin typeface="Arial"/>
              </a:rPr>
              <a:t>05</a:t>
            </a:r>
          </a:p>
        </p:txBody>
      </p:sp>
      <p:sp>
        <p:nvSpPr>
          <p:cNvPr id="34" name="TextBox 33"/>
          <p:cNvSpPr txBox="1"/>
          <p:nvPr/>
        </p:nvSpPr>
        <p:spPr>
          <a:xfrm>
            <a:off x="9568281"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Close</a:t>
            </a:r>
          </a:p>
        </p:txBody>
      </p:sp>
      <p:sp>
        <p:nvSpPr>
          <p:cNvPr id="35" name="TextBox 34"/>
          <p:cNvSpPr txBox="1"/>
          <p:nvPr/>
        </p:nvSpPr>
        <p:spPr>
          <a:xfrm>
            <a:off x="9586569"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Are obligations complete and benefits owned?</a:t>
            </a:r>
          </a:p>
        </p:txBody>
      </p:sp>
      <p:sp>
        <p:nvSpPr>
          <p:cNvPr id="36" name="Rounded Rectangle 35"/>
          <p:cNvSpPr/>
          <p:nvPr/>
        </p:nvSpPr>
        <p:spPr>
          <a:xfrm>
            <a:off x="749808" y="5303520"/>
            <a:ext cx="10698480" cy="713232"/>
          </a:xfrm>
          <a:prstGeom prst="roundRect">
            <a:avLst>
              <a:gd name="adj" fmla="val 8000"/>
            </a:avLst>
          </a:prstGeom>
          <a:solidFill>
            <a:srgbClr val="FFFFFF"/>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A gate is a decision with evidence and conditions—not a ceremonial meeting.</a:t>
            </a:r>
          </a:p>
        </p:txBody>
      </p:sp>
      <p:sp>
        <p:nvSpPr>
          <p:cNvPr id="38" name="TextBox 37"/>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9" name="TextBox 38"/>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END-TO-END LIFECYCLE · v17 + PMP + AGILE REFERENCES</a:t>
            </a:r>
          </a:p>
        </p:txBody>
      </p:sp>
      <p:sp>
        <p:nvSpPr>
          <p:cNvPr id="40" name="TextBox 39"/>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END-TO-END LIFECYCLE · v17 + PMP + AGILE REFERENCES</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Tailoring Control to a Small Project</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632460"/>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Need</a:t>
            </a:r>
          </a:p>
        </p:txBody>
      </p:sp>
      <p:sp>
        <p:nvSpPr>
          <p:cNvPr id="9" name="Rectangle 8"/>
          <p:cNvSpPr/>
          <p:nvPr/>
        </p:nvSpPr>
        <p:spPr>
          <a:xfrm>
            <a:off x="4315968" y="1810512"/>
            <a:ext cx="3566160" cy="632460"/>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Lean control</a:t>
            </a:r>
          </a:p>
        </p:txBody>
      </p:sp>
      <p:sp>
        <p:nvSpPr>
          <p:cNvPr id="11" name="Rectangle 10"/>
          <p:cNvSpPr/>
          <p:nvPr/>
        </p:nvSpPr>
        <p:spPr>
          <a:xfrm>
            <a:off x="7882127" y="1810512"/>
            <a:ext cx="3566160" cy="632460"/>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Escalate when</a:t>
            </a:r>
          </a:p>
        </p:txBody>
      </p:sp>
      <p:sp>
        <p:nvSpPr>
          <p:cNvPr id="13" name="Rectangle 12"/>
          <p:cNvSpPr/>
          <p:nvPr/>
        </p:nvSpPr>
        <p:spPr>
          <a:xfrm>
            <a:off x="74980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48869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Scope</a:t>
            </a:r>
          </a:p>
        </p:txBody>
      </p:sp>
      <p:sp>
        <p:nvSpPr>
          <p:cNvPr id="15" name="Rectangle 14"/>
          <p:cNvSpPr/>
          <p:nvPr/>
        </p:nvSpPr>
        <p:spPr>
          <a:xfrm>
            <a:off x="431596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One charter, WBS and RTM</a:t>
            </a:r>
          </a:p>
        </p:txBody>
      </p:sp>
      <p:sp>
        <p:nvSpPr>
          <p:cNvPr id="17" name="Rectangle 16"/>
          <p:cNvSpPr/>
          <p:nvPr/>
        </p:nvSpPr>
        <p:spPr>
          <a:xfrm>
            <a:off x="7882127"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Success criteria or exclusions move</a:t>
            </a:r>
          </a:p>
        </p:txBody>
      </p:sp>
      <p:sp>
        <p:nvSpPr>
          <p:cNvPr id="19" name="Rectangle 18"/>
          <p:cNvSpPr/>
          <p:nvPr/>
        </p:nvSpPr>
        <p:spPr>
          <a:xfrm>
            <a:off x="74980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12115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Schedule</a:t>
            </a:r>
          </a:p>
        </p:txBody>
      </p:sp>
      <p:sp>
        <p:nvSpPr>
          <p:cNvPr id="21" name="Rectangle 20"/>
          <p:cNvSpPr/>
          <p:nvPr/>
        </p:nvSpPr>
        <p:spPr>
          <a:xfrm>
            <a:off x="431596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Milestones plus critical path</a:t>
            </a:r>
          </a:p>
        </p:txBody>
      </p:sp>
      <p:sp>
        <p:nvSpPr>
          <p:cNvPr id="23" name="Rectangle 22"/>
          <p:cNvSpPr/>
          <p:nvPr/>
        </p:nvSpPr>
        <p:spPr>
          <a:xfrm>
            <a:off x="7882127"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Tolerance or launch date is threatened</a:t>
            </a:r>
          </a:p>
        </p:txBody>
      </p:sp>
      <p:sp>
        <p:nvSpPr>
          <p:cNvPr id="25" name="Rectangle 24"/>
          <p:cNvSpPr/>
          <p:nvPr/>
        </p:nvSpPr>
        <p:spPr>
          <a:xfrm>
            <a:off x="74980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3753611"/>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Cost</a:t>
            </a:r>
          </a:p>
        </p:txBody>
      </p:sp>
      <p:sp>
        <p:nvSpPr>
          <p:cNvPr id="27" name="Rectangle 26"/>
          <p:cNvSpPr/>
          <p:nvPr/>
        </p:nvSpPr>
        <p:spPr>
          <a:xfrm>
            <a:off x="431596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Time-phased budget</a:t>
            </a:r>
          </a:p>
        </p:txBody>
      </p:sp>
      <p:sp>
        <p:nvSpPr>
          <p:cNvPr id="29" name="Rectangle 28"/>
          <p:cNvSpPr/>
          <p:nvPr/>
        </p:nvSpPr>
        <p:spPr>
          <a:xfrm>
            <a:off x="7882127"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Forecast exceeds authority</a:t>
            </a:r>
          </a:p>
        </p:txBody>
      </p:sp>
      <p:sp>
        <p:nvSpPr>
          <p:cNvPr id="31" name="Rectangle 30"/>
          <p:cNvSpPr/>
          <p:nvPr/>
        </p:nvSpPr>
        <p:spPr>
          <a:xfrm>
            <a:off x="74980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38607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Risk</a:t>
            </a:r>
          </a:p>
        </p:txBody>
      </p:sp>
      <p:sp>
        <p:nvSpPr>
          <p:cNvPr id="33" name="Rectangle 32"/>
          <p:cNvSpPr/>
          <p:nvPr/>
        </p:nvSpPr>
        <p:spPr>
          <a:xfrm>
            <a:off x="431596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Prioritised register</a:t>
            </a:r>
          </a:p>
        </p:txBody>
      </p:sp>
      <p:sp>
        <p:nvSpPr>
          <p:cNvPr id="35" name="Rectangle 34"/>
          <p:cNvSpPr/>
          <p:nvPr/>
        </p:nvSpPr>
        <p:spPr>
          <a:xfrm>
            <a:off x="7882127"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Trigger, exposure or reserve changes materially</a:t>
            </a:r>
          </a:p>
        </p:txBody>
      </p:sp>
      <p:sp>
        <p:nvSpPr>
          <p:cNvPr id="37" name="Rectangle 36"/>
          <p:cNvSpPr/>
          <p:nvPr/>
        </p:nvSpPr>
        <p:spPr>
          <a:xfrm>
            <a:off x="74980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 y="501853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Change</a:t>
            </a:r>
          </a:p>
        </p:txBody>
      </p:sp>
      <p:sp>
        <p:nvSpPr>
          <p:cNvPr id="39" name="Rectangle 38"/>
          <p:cNvSpPr/>
          <p:nvPr/>
        </p:nvSpPr>
        <p:spPr>
          <a:xfrm>
            <a:off x="431596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25696"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One log and named approver</a:t>
            </a:r>
          </a:p>
        </p:txBody>
      </p:sp>
      <p:sp>
        <p:nvSpPr>
          <p:cNvPr id="41" name="Rectangle 40"/>
          <p:cNvSpPr/>
          <p:nvPr/>
        </p:nvSpPr>
        <p:spPr>
          <a:xfrm>
            <a:off x="7882127"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91855"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Trade-off crosses a tolerance</a:t>
            </a:r>
          </a:p>
        </p:txBody>
      </p:sp>
      <p:sp>
        <p:nvSpPr>
          <p:cNvPr id="43" name="Rounded Rectangle 42"/>
          <p:cNvSpPr/>
          <p:nvPr/>
        </p:nvSpPr>
        <p:spPr>
          <a:xfrm>
            <a:off x="749808" y="5815584"/>
            <a:ext cx="10698480" cy="420624"/>
          </a:xfrm>
          <a:prstGeom prst="roundRect">
            <a:avLst>
              <a:gd name="adj" fmla="val 8000"/>
            </a:avLst>
          </a:prstGeom>
          <a:solidFill>
            <a:srgbClr val="F4F7FB"/>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Tailoring removes low-value ceremony while preserving decision integrity.</a:t>
            </a:r>
          </a:p>
        </p:txBody>
      </p:sp>
      <p:sp>
        <p:nvSpPr>
          <p:cNvPr id="45" name="TextBox 44"/>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6" name="TextBox 45"/>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END-TO-END LIFECYCLE · v17 + PMP + AGILE REFERENCES</a:t>
            </a:r>
          </a:p>
        </p:txBody>
      </p:sp>
      <p:sp>
        <p:nvSpPr>
          <p:cNvPr id="47" name="TextBox 46"/>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END-TO-END LIFECYCLE · v17 + PMP + AGILE REFERENCES</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The Connected Evidence Chain</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2008022"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1751990"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Why</a:t>
            </a:r>
          </a:p>
        </p:txBody>
      </p:sp>
      <p:sp>
        <p:nvSpPr>
          <p:cNvPr id="11" name="TextBox 10"/>
          <p:cNvSpPr txBox="1"/>
          <p:nvPr/>
        </p:nvSpPr>
        <p:spPr>
          <a:xfrm>
            <a:off x="896112"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selection and business case</a:t>
            </a:r>
          </a:p>
        </p:txBody>
      </p:sp>
      <p:cxnSp>
        <p:nvCxnSpPr>
          <p:cNvPr id="12" name="Connector 11"/>
          <p:cNvCxnSpPr/>
          <p:nvPr/>
        </p:nvCxnSpPr>
        <p:spPr>
          <a:xfrm>
            <a:off x="2757830" y="3474720"/>
            <a:ext cx="164592"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22422"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22422" y="1965960"/>
            <a:ext cx="2008022"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50438" y="2240279"/>
            <a:ext cx="1751990"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3050438"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What</a:t>
            </a:r>
          </a:p>
        </p:txBody>
      </p:sp>
      <p:sp>
        <p:nvSpPr>
          <p:cNvPr id="17" name="TextBox 16"/>
          <p:cNvSpPr txBox="1"/>
          <p:nvPr/>
        </p:nvSpPr>
        <p:spPr>
          <a:xfrm>
            <a:off x="3068726"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charter, requirements and scope</a:t>
            </a:r>
          </a:p>
        </p:txBody>
      </p:sp>
      <p:cxnSp>
        <p:nvCxnSpPr>
          <p:cNvPr id="18" name="Connector 17"/>
          <p:cNvCxnSpPr/>
          <p:nvPr/>
        </p:nvCxnSpPr>
        <p:spPr>
          <a:xfrm>
            <a:off x="4930444" y="3474720"/>
            <a:ext cx="164592"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95036"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95036" y="1965960"/>
            <a:ext cx="2008022"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23052" y="2240279"/>
            <a:ext cx="1751990"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5223052"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How</a:t>
            </a:r>
          </a:p>
        </p:txBody>
      </p:sp>
      <p:sp>
        <p:nvSpPr>
          <p:cNvPr id="23" name="TextBox 22"/>
          <p:cNvSpPr txBox="1"/>
          <p:nvPr/>
        </p:nvSpPr>
        <p:spPr>
          <a:xfrm>
            <a:off x="5241340"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schedule, budget, quality and risk</a:t>
            </a:r>
          </a:p>
        </p:txBody>
      </p:sp>
      <p:cxnSp>
        <p:nvCxnSpPr>
          <p:cNvPr id="24" name="Connector 23"/>
          <p:cNvCxnSpPr/>
          <p:nvPr/>
        </p:nvCxnSpPr>
        <p:spPr>
          <a:xfrm>
            <a:off x="7103059" y="3474720"/>
            <a:ext cx="164592"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267651"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67651" y="1965960"/>
            <a:ext cx="2008022"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95667" y="2240279"/>
            <a:ext cx="1751990"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7395667"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Now</a:t>
            </a:r>
          </a:p>
        </p:txBody>
      </p:sp>
      <p:sp>
        <p:nvSpPr>
          <p:cNvPr id="29" name="TextBox 28"/>
          <p:cNvSpPr txBox="1"/>
          <p:nvPr/>
        </p:nvSpPr>
        <p:spPr>
          <a:xfrm>
            <a:off x="7413955"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status, issues, forecasts and change</a:t>
            </a:r>
          </a:p>
        </p:txBody>
      </p:sp>
      <p:cxnSp>
        <p:nvCxnSpPr>
          <p:cNvPr id="30" name="Connector 29"/>
          <p:cNvCxnSpPr/>
          <p:nvPr/>
        </p:nvCxnSpPr>
        <p:spPr>
          <a:xfrm>
            <a:off x="9275673" y="3474720"/>
            <a:ext cx="164592"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440265"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40265" y="1965960"/>
            <a:ext cx="2008022" cy="13716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68281" y="2240279"/>
            <a:ext cx="1751990" cy="457200"/>
          </a:xfrm>
          <a:prstGeom prst="rect">
            <a:avLst/>
          </a:prstGeom>
          <a:noFill/>
        </p:spPr>
        <p:txBody>
          <a:bodyPr wrap="square" lIns="0" rIns="0" tIns="0" bIns="0" anchor="t">
            <a:spAutoFit/>
          </a:bodyPr>
          <a:lstStyle/>
          <a:p>
            <a:pPr algn="ctr">
              <a:spcAft>
                <a:spcPts val="300"/>
              </a:spcAft>
            </a:pPr>
            <a:r>
              <a:rPr sz="1400" b="1">
                <a:solidFill>
                  <a:srgbClr val="1A7F4B"/>
                </a:solidFill>
                <a:latin typeface="Arial"/>
              </a:rPr>
              <a:t>05</a:t>
            </a:r>
          </a:p>
        </p:txBody>
      </p:sp>
      <p:sp>
        <p:nvSpPr>
          <p:cNvPr id="34" name="TextBox 33"/>
          <p:cNvSpPr txBox="1"/>
          <p:nvPr/>
        </p:nvSpPr>
        <p:spPr>
          <a:xfrm>
            <a:off x="9568281"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Done</a:t>
            </a:r>
          </a:p>
        </p:txBody>
      </p:sp>
      <p:sp>
        <p:nvSpPr>
          <p:cNvPr id="35" name="TextBox 34"/>
          <p:cNvSpPr txBox="1"/>
          <p:nvPr/>
        </p:nvSpPr>
        <p:spPr>
          <a:xfrm>
            <a:off x="9586569"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acceptance, handover and benefits</a:t>
            </a:r>
          </a:p>
        </p:txBody>
      </p:sp>
      <p:sp>
        <p:nvSpPr>
          <p:cNvPr id="36" name="Rounded Rectangle 35"/>
          <p:cNvSpPr/>
          <p:nvPr/>
        </p:nvSpPr>
        <p:spPr>
          <a:xfrm>
            <a:off x="749808" y="5303520"/>
            <a:ext cx="10698480" cy="713232"/>
          </a:xfrm>
          <a:prstGeom prst="roundRect">
            <a:avLst>
              <a:gd name="adj" fmla="val 8000"/>
            </a:avLst>
          </a:prstGeom>
          <a:solidFill>
            <a:srgbClr val="FFFFFF"/>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Each artefact must feed the next decision; isolated templates are administration, not management.</a:t>
            </a:r>
          </a:p>
        </p:txBody>
      </p:sp>
      <p:sp>
        <p:nvSpPr>
          <p:cNvPr id="38" name="TextBox 37"/>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9" name="TextBox 38"/>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END-TO-END LIFECYCLE · v17 + PMP + AGILE REFERENCES</a:t>
            </a:r>
          </a:p>
        </p:txBody>
      </p:sp>
      <p:sp>
        <p:nvSpPr>
          <p:cNvPr id="40" name="TextBox 39"/>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END-TO-END LIFECYCLE · v17 + PMP + AGILE REFERENCES</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Twelve Activities, One Project</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2956559"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Initiate</a:t>
            </a:r>
          </a:p>
        </p:txBody>
      </p:sp>
      <p:sp>
        <p:nvSpPr>
          <p:cNvPr id="10" name="TextBox 9"/>
          <p:cNvSpPr txBox="1"/>
          <p:nvPr/>
        </p:nvSpPr>
        <p:spPr>
          <a:xfrm>
            <a:off x="100584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Activities 1–2</a:t>
            </a:r>
          </a:p>
        </p:txBody>
      </p:sp>
      <p:sp>
        <p:nvSpPr>
          <p:cNvPr id="11" name="Rounded Rectangle 10"/>
          <p:cNvSpPr/>
          <p:nvPr/>
        </p:nvSpPr>
        <p:spPr>
          <a:xfrm>
            <a:off x="439216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92167"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8200" y="1947672"/>
            <a:ext cx="2956559"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Plan</a:t>
            </a:r>
          </a:p>
        </p:txBody>
      </p:sp>
      <p:sp>
        <p:nvSpPr>
          <p:cNvPr id="14" name="TextBox 13"/>
          <p:cNvSpPr txBox="1"/>
          <p:nvPr/>
        </p:nvSpPr>
        <p:spPr>
          <a:xfrm>
            <a:off x="464820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Activities 3–5 and 7</a:t>
            </a:r>
          </a:p>
        </p:txBody>
      </p:sp>
      <p:sp>
        <p:nvSpPr>
          <p:cNvPr id="15" name="Rounded Rectangle 14"/>
          <p:cNvSpPr/>
          <p:nvPr/>
        </p:nvSpPr>
        <p:spPr>
          <a:xfrm>
            <a:off x="803452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34527" y="1783080"/>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559" y="1947672"/>
            <a:ext cx="2956559"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Execute</a:t>
            </a:r>
          </a:p>
        </p:txBody>
      </p:sp>
      <p:sp>
        <p:nvSpPr>
          <p:cNvPr id="18" name="TextBox 17"/>
          <p:cNvSpPr txBox="1"/>
          <p:nvPr/>
        </p:nvSpPr>
        <p:spPr>
          <a:xfrm>
            <a:off x="8290559"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Activities 6, 8 and 9</a:t>
            </a:r>
          </a:p>
        </p:txBody>
      </p:sp>
      <p:sp>
        <p:nvSpPr>
          <p:cNvPr id="19" name="Rounded Rectangle 18"/>
          <p:cNvSpPr/>
          <p:nvPr/>
        </p:nvSpPr>
        <p:spPr>
          <a:xfrm>
            <a:off x="2570988"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7098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27020" y="4283964"/>
            <a:ext cx="2956559"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Control</a:t>
            </a:r>
          </a:p>
        </p:txBody>
      </p:sp>
      <p:sp>
        <p:nvSpPr>
          <p:cNvPr id="22" name="TextBox 21"/>
          <p:cNvSpPr txBox="1"/>
          <p:nvPr/>
        </p:nvSpPr>
        <p:spPr>
          <a:xfrm>
            <a:off x="282702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Activities 10–11</a:t>
            </a:r>
          </a:p>
        </p:txBody>
      </p:sp>
      <p:sp>
        <p:nvSpPr>
          <p:cNvPr id="23" name="Rounded Rectangle 22"/>
          <p:cNvSpPr/>
          <p:nvPr/>
        </p:nvSpPr>
        <p:spPr>
          <a:xfrm>
            <a:off x="6213348"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3348" y="4119372"/>
            <a:ext cx="91440" cy="2107692"/>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283964"/>
            <a:ext cx="2956559" cy="438912"/>
          </a:xfrm>
          <a:prstGeom prst="rect">
            <a:avLst/>
          </a:prstGeom>
          <a:noFill/>
        </p:spPr>
        <p:txBody>
          <a:bodyPr wrap="square" lIns="0" rIns="0" tIns="0" bIns="0" anchor="t">
            <a:spAutoFit/>
          </a:bodyPr>
          <a:lstStyle/>
          <a:p>
            <a:pPr algn="l">
              <a:spcAft>
                <a:spcPts val="300"/>
              </a:spcAft>
            </a:pPr>
            <a:r>
              <a:rPr sz="1300" b="1">
                <a:solidFill>
                  <a:srgbClr val="1A7F4B"/>
                </a:solidFill>
                <a:latin typeface="Arial"/>
              </a:rPr>
              <a:t>Close</a:t>
            </a:r>
          </a:p>
        </p:txBody>
      </p:sp>
      <p:sp>
        <p:nvSpPr>
          <p:cNvPr id="26" name="TextBox 25"/>
          <p:cNvSpPr txBox="1"/>
          <p:nvPr/>
        </p:nvSpPr>
        <p:spPr>
          <a:xfrm>
            <a:off x="646938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Activity 12</a:t>
            </a:r>
          </a:p>
        </p:txBody>
      </p:sp>
      <p:sp>
        <p:nvSpPr>
          <p:cNvPr id="27" name="TextBox 26"/>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8" name="TextBox 27"/>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END-TO-END LIFECYCLE · v17 + PMP + AGILE REFERENCES</a:t>
            </a:r>
          </a:p>
        </p:txBody>
      </p:sp>
      <p:sp>
        <p:nvSpPr>
          <p:cNvPr id="29" name="TextBox 28"/>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58368" y="1554480"/>
            <a:ext cx="10881360" cy="36118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554480"/>
            <a:ext cx="128016" cy="361188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70432" y="1901952"/>
            <a:ext cx="7955279" cy="365760"/>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TOPIC 01 · A1, K1 · LO1</a:t>
            </a:r>
          </a:p>
        </p:txBody>
      </p:sp>
      <p:sp>
        <p:nvSpPr>
          <p:cNvPr id="6" name="TextBox 5"/>
          <p:cNvSpPr txBox="1"/>
          <p:nvPr/>
        </p:nvSpPr>
        <p:spPr>
          <a:xfrm>
            <a:off x="1170432" y="2395728"/>
            <a:ext cx="9052560" cy="914400"/>
          </a:xfrm>
          <a:prstGeom prst="rect">
            <a:avLst/>
          </a:prstGeom>
          <a:noFill/>
        </p:spPr>
        <p:txBody>
          <a:bodyPr wrap="square" lIns="0" rIns="0" tIns="0" bIns="0" anchor="ctr">
            <a:spAutoFit/>
          </a:bodyPr>
          <a:lstStyle/>
          <a:p>
            <a:pPr algn="l">
              <a:spcAft>
                <a:spcPts val="300"/>
              </a:spcAft>
            </a:pPr>
            <a:r>
              <a:rPr sz="3400" b="1">
                <a:solidFill>
                  <a:srgbClr val="131B2A"/>
                </a:solidFill>
                <a:latin typeface="Arial"/>
              </a:rPr>
              <a:t>Initiation of a Project</a:t>
            </a:r>
          </a:p>
        </p:txBody>
      </p:sp>
      <p:sp>
        <p:nvSpPr>
          <p:cNvPr id="7" name="TextBox 6"/>
          <p:cNvSpPr txBox="1"/>
          <p:nvPr/>
        </p:nvSpPr>
        <p:spPr>
          <a:xfrm>
            <a:off x="1170432" y="3474720"/>
            <a:ext cx="9052560" cy="777240"/>
          </a:xfrm>
          <a:prstGeom prst="rect">
            <a:avLst/>
          </a:prstGeom>
          <a:noFill/>
        </p:spPr>
        <p:txBody>
          <a:bodyPr wrap="square" lIns="0" rIns="0" tIns="0" bIns="0" anchor="t">
            <a:spAutoFit/>
          </a:bodyPr>
          <a:lstStyle/>
          <a:p>
            <a:pPr algn="l">
              <a:spcAft>
                <a:spcPts val="300"/>
              </a:spcAft>
            </a:pPr>
            <a:r>
              <a:rPr sz="1600" b="0">
                <a:solidFill>
                  <a:srgbClr val="5F6B7A"/>
                </a:solidFill>
                <a:latin typeface="Arial"/>
              </a:rPr>
              <a:t>Small-project fit · value · charter · scope · team · kickoff</a:t>
            </a:r>
          </a:p>
        </p:txBody>
      </p:sp>
      <p:sp>
        <p:nvSpPr>
          <p:cNvPr id="8" name="TextBox 7"/>
          <p:cNvSpPr txBox="1"/>
          <p:nvPr/>
        </p:nvSpPr>
        <p:spPr>
          <a:xfrm>
            <a:off x="9308592" y="594360"/>
            <a:ext cx="1920240" cy="1097280"/>
          </a:xfrm>
          <a:prstGeom prst="rect">
            <a:avLst/>
          </a:prstGeom>
          <a:noFill/>
        </p:spPr>
        <p:txBody>
          <a:bodyPr wrap="square" lIns="0" rIns="0" tIns="0" bIns="0" anchor="t">
            <a:spAutoFit/>
          </a:bodyPr>
          <a:lstStyle/>
          <a:p>
            <a:pPr algn="r">
              <a:spcAft>
                <a:spcPts val="300"/>
              </a:spcAft>
            </a:pPr>
            <a:r>
              <a:rPr sz="6200" b="1">
                <a:solidFill>
                  <a:srgbClr val="DAE2EC"/>
                </a:solidFill>
                <a:latin typeface="Arial"/>
              </a:rPr>
              <a:t>01</a:t>
            </a:r>
          </a:p>
        </p:txBody>
      </p:sp>
      <p:sp>
        <p:nvSpPr>
          <p:cNvPr id="9" name="TextBox 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10" name="TextBox 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01 · A1, K1 · LO1</a:t>
            </a:r>
          </a:p>
        </p:txBody>
      </p:sp>
      <p:sp>
        <p:nvSpPr>
          <p:cNvPr id="11" name="TextBox 1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01 · CENTRAL IDEA</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Small does not mean informal.</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847088"/>
            <a:ext cx="10698480" cy="3977639"/>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847088"/>
            <a:ext cx="128016" cy="3977639"/>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2359152"/>
            <a:ext cx="9738360" cy="2834640"/>
          </a:xfrm>
          <a:prstGeom prst="rect">
            <a:avLst/>
          </a:prstGeom>
          <a:noFill/>
        </p:spPr>
        <p:txBody>
          <a:bodyPr wrap="square" lIns="0" rIns="0" tIns="0" bIns="0" anchor="ctr">
            <a:spAutoFit/>
          </a:bodyPr>
          <a:lstStyle/>
          <a:p>
            <a:pPr algn="l">
              <a:spcAft>
                <a:spcPts val="300"/>
              </a:spcAft>
            </a:pPr>
            <a:r>
              <a:rPr sz="2400" b="1">
                <a:solidFill>
                  <a:srgbClr val="131B2A"/>
                </a:solidFill>
                <a:latin typeface="Arial"/>
              </a:rPr>
              <a:t>The smaller the project, the less waste it can absorb. A short charter, sharp boundaries and visible decision rights are the control system—not bureaucracy.</a:t>
            </a:r>
          </a:p>
        </p:txBody>
      </p:sp>
      <p:sp>
        <p:nvSpPr>
          <p:cNvPr id="10" name="TextBox 9"/>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11" name="TextBox 10"/>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01 · CENTRAL IDEA</a:t>
            </a:r>
          </a:p>
        </p:txBody>
      </p:sp>
      <p:sp>
        <p:nvSpPr>
          <p:cNvPr id="12" name="TextBox 11"/>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01 · CONCEPT MAP</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Initiation of a Project — Core Concepts I</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01</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 project is temporary, unique and value-seeking; operations are ongoing and repetitive.</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02</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 small project is normally under six months, has a limited budget and team, few dependencies and no significant strategic impact.</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03</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The project manager integrates people, decisions and trade-offs; they do not merely maintain a schedule.</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04</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Success balances value and outcomes with scope, schedule, cost, quality, resources and risk.</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01 · CONCEPT MAP</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01 · CONCEPT MAP</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Initiation of a Project — Core Concepts II</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05</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Predictive, adaptive and hybrid approaches are choices driven by uncertainty, not labels of maturity.</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06</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The business case tests whether the project should exist; the charter authorises it to exist.</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07</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 useful charter names purpose, measurable success, scope boundaries, milestones, budget, major risks, team and sponsor authority.</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08</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 kickoff creates one shared picture of why, what, who, how and what happens next.</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01 · CONCEPT MAP</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01 · APPLIED FRAMEWORK</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From Need to Authorised Work</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2551176"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2551176"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2295144"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2295144"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Need</a:t>
            </a:r>
          </a:p>
        </p:txBody>
      </p:sp>
      <p:sp>
        <p:nvSpPr>
          <p:cNvPr id="11" name="TextBox 10"/>
          <p:cNvSpPr txBox="1"/>
          <p:nvPr/>
        </p:nvSpPr>
        <p:spPr>
          <a:xfrm>
            <a:off x="896112" y="3465576"/>
            <a:ext cx="2258568"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evidence and user consequence</a:t>
            </a:r>
          </a:p>
        </p:txBody>
      </p:sp>
      <p:cxnSp>
        <p:nvCxnSpPr>
          <p:cNvPr id="12" name="Connector 11"/>
          <p:cNvCxnSpPr/>
          <p:nvPr/>
        </p:nvCxnSpPr>
        <p:spPr>
          <a:xfrm>
            <a:off x="3300984"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465576" y="1965960"/>
            <a:ext cx="2551176"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65576" y="1965960"/>
            <a:ext cx="2551176"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93592" y="2240279"/>
            <a:ext cx="2295144"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3593592" y="2752344"/>
            <a:ext cx="2295144"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Business case</a:t>
            </a:r>
          </a:p>
        </p:txBody>
      </p:sp>
      <p:sp>
        <p:nvSpPr>
          <p:cNvPr id="17" name="TextBox 16"/>
          <p:cNvSpPr txBox="1"/>
          <p:nvPr/>
        </p:nvSpPr>
        <p:spPr>
          <a:xfrm>
            <a:off x="3611880" y="3465576"/>
            <a:ext cx="2258568"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options, value and viability</a:t>
            </a:r>
          </a:p>
        </p:txBody>
      </p:sp>
      <p:cxnSp>
        <p:nvCxnSpPr>
          <p:cNvPr id="18" name="Connector 17"/>
          <p:cNvCxnSpPr/>
          <p:nvPr/>
        </p:nvCxnSpPr>
        <p:spPr>
          <a:xfrm>
            <a:off x="6016752"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181344" y="1965960"/>
            <a:ext cx="2551176"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81344" y="1965960"/>
            <a:ext cx="2551176"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2240279"/>
            <a:ext cx="2295144"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6309360" y="2752344"/>
            <a:ext cx="2295144"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Charter</a:t>
            </a:r>
          </a:p>
        </p:txBody>
      </p:sp>
      <p:sp>
        <p:nvSpPr>
          <p:cNvPr id="23" name="TextBox 22"/>
          <p:cNvSpPr txBox="1"/>
          <p:nvPr/>
        </p:nvSpPr>
        <p:spPr>
          <a:xfrm>
            <a:off x="6327648" y="3465576"/>
            <a:ext cx="2258568"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authority, boundaries and success</a:t>
            </a:r>
          </a:p>
        </p:txBody>
      </p:sp>
      <p:cxnSp>
        <p:nvCxnSpPr>
          <p:cNvPr id="24" name="Connector 23"/>
          <p:cNvCxnSpPr/>
          <p:nvPr/>
        </p:nvCxnSpPr>
        <p:spPr>
          <a:xfrm>
            <a:off x="8732520"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897112" y="1965960"/>
            <a:ext cx="2551176"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97112" y="1965960"/>
            <a:ext cx="2551176"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25128" y="2240279"/>
            <a:ext cx="2295144"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9025128" y="2752344"/>
            <a:ext cx="2295144"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Kickoff</a:t>
            </a:r>
          </a:p>
        </p:txBody>
      </p:sp>
      <p:sp>
        <p:nvSpPr>
          <p:cNvPr id="29" name="TextBox 28"/>
          <p:cNvSpPr txBox="1"/>
          <p:nvPr/>
        </p:nvSpPr>
        <p:spPr>
          <a:xfrm>
            <a:off x="9043416" y="3465576"/>
            <a:ext cx="2258568"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shared picture and first decisions</a:t>
            </a:r>
          </a:p>
        </p:txBody>
      </p:sp>
      <p:sp>
        <p:nvSpPr>
          <p:cNvPr id="30" name="Rounded Rectangle 29"/>
          <p:cNvSpPr/>
          <p:nvPr/>
        </p:nvSpPr>
        <p:spPr>
          <a:xfrm>
            <a:off x="749808" y="5303520"/>
            <a:ext cx="10698480" cy="713232"/>
          </a:xfrm>
          <a:prstGeom prst="roundRect">
            <a:avLst>
              <a:gd name="adj" fmla="val 8000"/>
            </a:avLst>
          </a:prstGeom>
          <a:solidFill>
            <a:srgbClr val="FFFFFF"/>
          </a:solidFill>
          <a:ln w="12700">
            <a:solidFill>
              <a:srgbClr val="1655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Do not plan an unauthorised idea as though it were already a project.</a:t>
            </a:r>
          </a:p>
        </p:txBody>
      </p:sp>
      <p:sp>
        <p:nvSpPr>
          <p:cNvPr id="32" name="TextBox 31"/>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3" name="TextBox 32"/>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01 · APPLIED FRAMEWORK</a:t>
            </a:r>
          </a:p>
        </p:txBody>
      </p:sp>
      <p:sp>
        <p:nvSpPr>
          <p:cNvPr id="34" name="TextBox 33"/>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01 · DECISION TOOL</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Business Case vs Project Charter</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Dimension</a:t>
            </a:r>
          </a:p>
        </p:txBody>
      </p:sp>
      <p:sp>
        <p:nvSpPr>
          <p:cNvPr id="9" name="Rectangle 8"/>
          <p:cNvSpPr/>
          <p:nvPr/>
        </p:nvSpPr>
        <p:spPr>
          <a:xfrm>
            <a:off x="4315968"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Business Case</a:t>
            </a:r>
          </a:p>
        </p:txBody>
      </p:sp>
      <p:sp>
        <p:nvSpPr>
          <p:cNvPr id="11" name="Rectangle 10"/>
          <p:cNvSpPr/>
          <p:nvPr/>
        </p:nvSpPr>
        <p:spPr>
          <a:xfrm>
            <a:off x="7882127"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Project Charter</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Core question</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Should we invest?</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Are we authorised to proceed?</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Focus</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Options, benefits, costs, risk</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Purpose, scope, team, milestones</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Owner</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Sponsor / business owner</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Sponsor with project manager</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Decision</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Select or reject option</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Authorize and delegate</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Both are living decision records; neither is a ceremonial form.</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01 · DECISION TOOL</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01 · DECISION TOOL</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Choosing a Development Approach</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Signal</a:t>
            </a:r>
          </a:p>
        </p:txBody>
      </p:sp>
      <p:sp>
        <p:nvSpPr>
          <p:cNvPr id="9" name="Rectangle 8"/>
          <p:cNvSpPr/>
          <p:nvPr/>
        </p:nvSpPr>
        <p:spPr>
          <a:xfrm>
            <a:off x="4315968"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Predictive</a:t>
            </a:r>
          </a:p>
        </p:txBody>
      </p:sp>
      <p:sp>
        <p:nvSpPr>
          <p:cNvPr id="11" name="Rectangle 10"/>
          <p:cNvSpPr/>
          <p:nvPr/>
        </p:nvSpPr>
        <p:spPr>
          <a:xfrm>
            <a:off x="7882127"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Adaptive / Hybrid</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Requirements</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Stable and testable upfront</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Evolving or discovery-heavy</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Feedback</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Available late or at gates</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Available in short cycles</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Change cost</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High after commitment</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Reduced through increments</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Governance</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Baseline and stage gates</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Timeboxes plus control points</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Approach follows uncertainty and reversibility—not fashion.</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01 · DECISION TOOL</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01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Project Work versus Operations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1655D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Dimension</a:t>
            </a:r>
          </a:p>
        </p:txBody>
      </p:sp>
      <p:sp>
        <p:nvSpPr>
          <p:cNvPr id="9" name="Rectangle 8"/>
          <p:cNvSpPr/>
          <p:nvPr/>
        </p:nvSpPr>
        <p:spPr>
          <a:xfrm>
            <a:off x="4315968" y="1810512"/>
            <a:ext cx="3566160" cy="758952"/>
          </a:xfrm>
          <a:prstGeom prst="rect">
            <a:avLst/>
          </a:prstGeom>
          <a:solidFill>
            <a:srgbClr val="1655D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Project</a:t>
            </a:r>
          </a:p>
        </p:txBody>
      </p:sp>
      <p:sp>
        <p:nvSpPr>
          <p:cNvPr id="11" name="Rectangle 10"/>
          <p:cNvSpPr/>
          <p:nvPr/>
        </p:nvSpPr>
        <p:spPr>
          <a:xfrm>
            <a:off x="7882127" y="1810512"/>
            <a:ext cx="3566160" cy="758952"/>
          </a:xfrm>
          <a:prstGeom prst="rect">
            <a:avLst/>
          </a:prstGeom>
          <a:solidFill>
            <a:srgbClr val="1655D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Operations</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Purpose</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Create a unique result</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Sustain recurring value</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Duration</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Temporary</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Ongoing</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Change</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Introduces change</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Stabilises and improves work</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Closure</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Formal endpoint</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Continues until redesigned</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1655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The same people may do both; the management system changes with the nature of the work.</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01 · REFERENCE-SOURCED DEEP DIVE</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01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The Small-Project Qualification Test</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2956559"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Time</a:t>
            </a:r>
          </a:p>
        </p:txBody>
      </p:sp>
      <p:sp>
        <p:nvSpPr>
          <p:cNvPr id="10" name="TextBox 9"/>
          <p:cNvSpPr txBox="1"/>
          <p:nvPr/>
        </p:nvSpPr>
        <p:spPr>
          <a:xfrm>
            <a:off x="100584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Normally less than six months.</a:t>
            </a:r>
          </a:p>
        </p:txBody>
      </p:sp>
      <p:sp>
        <p:nvSpPr>
          <p:cNvPr id="11" name="Rounded Rectangle 10"/>
          <p:cNvSpPr/>
          <p:nvPr/>
        </p:nvSpPr>
        <p:spPr>
          <a:xfrm>
            <a:off x="439216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92167"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8200" y="1947672"/>
            <a:ext cx="2956559"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Budget</a:t>
            </a:r>
          </a:p>
        </p:txBody>
      </p:sp>
      <p:sp>
        <p:nvSpPr>
          <p:cNvPr id="14" name="TextBox 13"/>
          <p:cNvSpPr txBox="1"/>
          <p:nvPr/>
        </p:nvSpPr>
        <p:spPr>
          <a:xfrm>
            <a:off x="464820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Limited enough for proportionate governance.</a:t>
            </a:r>
          </a:p>
        </p:txBody>
      </p:sp>
      <p:sp>
        <p:nvSpPr>
          <p:cNvPr id="15" name="Rounded Rectangle 14"/>
          <p:cNvSpPr/>
          <p:nvPr/>
        </p:nvSpPr>
        <p:spPr>
          <a:xfrm>
            <a:off x="803452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34527" y="1783080"/>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559" y="1947672"/>
            <a:ext cx="2956559"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Team</a:t>
            </a:r>
          </a:p>
        </p:txBody>
      </p:sp>
      <p:sp>
        <p:nvSpPr>
          <p:cNvPr id="18" name="TextBox 17"/>
          <p:cNvSpPr txBox="1"/>
          <p:nvPr/>
        </p:nvSpPr>
        <p:spPr>
          <a:xfrm>
            <a:off x="8290559"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Small core team with clear interfaces.</a:t>
            </a:r>
          </a:p>
        </p:txBody>
      </p:sp>
      <p:sp>
        <p:nvSpPr>
          <p:cNvPr id="19" name="Rounded Rectangle 18"/>
          <p:cNvSpPr/>
          <p:nvPr/>
        </p:nvSpPr>
        <p:spPr>
          <a:xfrm>
            <a:off x="749808"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980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4283964"/>
            <a:ext cx="2956559"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Dependencies</a:t>
            </a:r>
          </a:p>
        </p:txBody>
      </p:sp>
      <p:sp>
        <p:nvSpPr>
          <p:cNvPr id="22" name="TextBox 21"/>
          <p:cNvSpPr txBox="1"/>
          <p:nvPr/>
        </p:nvSpPr>
        <p:spPr>
          <a:xfrm>
            <a:off x="100584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Few and manageable.</a:t>
            </a:r>
          </a:p>
        </p:txBody>
      </p:sp>
      <p:sp>
        <p:nvSpPr>
          <p:cNvPr id="23" name="Rounded Rectangle 22"/>
          <p:cNvSpPr/>
          <p:nvPr/>
        </p:nvSpPr>
        <p:spPr>
          <a:xfrm>
            <a:off x="4392167"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92167" y="4119372"/>
            <a:ext cx="91440" cy="2107692"/>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48200" y="4283964"/>
            <a:ext cx="2956559" cy="438912"/>
          </a:xfrm>
          <a:prstGeom prst="rect">
            <a:avLst/>
          </a:prstGeom>
          <a:noFill/>
        </p:spPr>
        <p:txBody>
          <a:bodyPr wrap="square" lIns="0" rIns="0" tIns="0" bIns="0" anchor="t">
            <a:spAutoFit/>
          </a:bodyPr>
          <a:lstStyle/>
          <a:p>
            <a:pPr algn="l">
              <a:spcAft>
                <a:spcPts val="300"/>
              </a:spcAft>
            </a:pPr>
            <a:r>
              <a:rPr sz="1300" b="1">
                <a:solidFill>
                  <a:srgbClr val="1A7F4B"/>
                </a:solidFill>
                <a:latin typeface="Arial"/>
              </a:rPr>
              <a:t>Impact</a:t>
            </a:r>
          </a:p>
        </p:txBody>
      </p:sp>
      <p:sp>
        <p:nvSpPr>
          <p:cNvPr id="26" name="TextBox 25"/>
          <p:cNvSpPr txBox="1"/>
          <p:nvPr/>
        </p:nvSpPr>
        <p:spPr>
          <a:xfrm>
            <a:off x="464820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No significant strategic or enterprise-wide effect.</a:t>
            </a:r>
          </a:p>
        </p:txBody>
      </p:sp>
      <p:sp>
        <p:nvSpPr>
          <p:cNvPr id="27" name="Rounded Rectangle 26"/>
          <p:cNvSpPr/>
          <p:nvPr/>
        </p:nvSpPr>
        <p:spPr>
          <a:xfrm>
            <a:off x="8034527"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34527" y="4119372"/>
            <a:ext cx="91440" cy="2107692"/>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90559" y="4283964"/>
            <a:ext cx="2956559" cy="438912"/>
          </a:xfrm>
          <a:prstGeom prst="rect">
            <a:avLst/>
          </a:prstGeom>
          <a:noFill/>
        </p:spPr>
        <p:txBody>
          <a:bodyPr wrap="square" lIns="0" rIns="0" tIns="0" bIns="0" anchor="t">
            <a:spAutoFit/>
          </a:bodyPr>
          <a:lstStyle/>
          <a:p>
            <a:pPr algn="l">
              <a:spcAft>
                <a:spcPts val="300"/>
              </a:spcAft>
            </a:pPr>
            <a:r>
              <a:rPr sz="1300" b="1">
                <a:solidFill>
                  <a:srgbClr val="C93131"/>
                </a:solidFill>
                <a:latin typeface="Arial"/>
              </a:rPr>
              <a:t>Uncertainty</a:t>
            </a:r>
          </a:p>
        </p:txBody>
      </p:sp>
      <p:sp>
        <p:nvSpPr>
          <p:cNvPr id="30" name="TextBox 29"/>
          <p:cNvSpPr txBox="1"/>
          <p:nvPr/>
        </p:nvSpPr>
        <p:spPr>
          <a:xfrm>
            <a:off x="8290559"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Can be bounded through short learning cycles.</a:t>
            </a:r>
          </a:p>
        </p:txBody>
      </p:sp>
      <p:sp>
        <p:nvSpPr>
          <p:cNvPr id="31" name="TextBox 30"/>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2" name="TextBox 31"/>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01 · REFERENCE-SOURCED DEEP DIVE</a:t>
            </a:r>
          </a:p>
        </p:txBody>
      </p:sp>
      <p:sp>
        <p:nvSpPr>
          <p:cNvPr id="33" name="TextBox 32"/>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01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From Output to Benefits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2551176"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2551176"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2295144"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2295144"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Output</a:t>
            </a:r>
          </a:p>
        </p:txBody>
      </p:sp>
      <p:sp>
        <p:nvSpPr>
          <p:cNvPr id="11" name="TextBox 10"/>
          <p:cNvSpPr txBox="1"/>
          <p:nvPr/>
        </p:nvSpPr>
        <p:spPr>
          <a:xfrm>
            <a:off x="896112" y="3465576"/>
            <a:ext cx="2258568"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click-and-collect capability</a:t>
            </a:r>
          </a:p>
        </p:txBody>
      </p:sp>
      <p:cxnSp>
        <p:nvCxnSpPr>
          <p:cNvPr id="12" name="Connector 11"/>
          <p:cNvCxnSpPr/>
          <p:nvPr/>
        </p:nvCxnSpPr>
        <p:spPr>
          <a:xfrm>
            <a:off x="3300984"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465576" y="1965960"/>
            <a:ext cx="2551176"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65576" y="1965960"/>
            <a:ext cx="2551176"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93592" y="2240279"/>
            <a:ext cx="2295144"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3593592" y="2752344"/>
            <a:ext cx="2295144"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Outcome</a:t>
            </a:r>
          </a:p>
        </p:txBody>
      </p:sp>
      <p:sp>
        <p:nvSpPr>
          <p:cNvPr id="17" name="TextBox 16"/>
          <p:cNvSpPr txBox="1"/>
          <p:nvPr/>
        </p:nvSpPr>
        <p:spPr>
          <a:xfrm>
            <a:off x="3611880" y="3465576"/>
            <a:ext cx="2258568"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orders collected predictably</a:t>
            </a:r>
          </a:p>
        </p:txBody>
      </p:sp>
      <p:cxnSp>
        <p:nvCxnSpPr>
          <p:cNvPr id="18" name="Connector 17"/>
          <p:cNvCxnSpPr/>
          <p:nvPr/>
        </p:nvCxnSpPr>
        <p:spPr>
          <a:xfrm>
            <a:off x="6016752"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181344" y="1965960"/>
            <a:ext cx="2551176"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81344" y="1965960"/>
            <a:ext cx="2551176"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2240279"/>
            <a:ext cx="2295144"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6309360" y="2752344"/>
            <a:ext cx="2295144"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Benefit</a:t>
            </a:r>
          </a:p>
        </p:txBody>
      </p:sp>
      <p:sp>
        <p:nvSpPr>
          <p:cNvPr id="23" name="TextBox 22"/>
          <p:cNvSpPr txBox="1"/>
          <p:nvPr/>
        </p:nvSpPr>
        <p:spPr>
          <a:xfrm>
            <a:off x="6327648" y="3465576"/>
            <a:ext cx="2258568"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revenue, satisfaction and efficiency</a:t>
            </a:r>
          </a:p>
        </p:txBody>
      </p:sp>
      <p:cxnSp>
        <p:nvCxnSpPr>
          <p:cNvPr id="24" name="Connector 23"/>
          <p:cNvCxnSpPr/>
          <p:nvPr/>
        </p:nvCxnSpPr>
        <p:spPr>
          <a:xfrm>
            <a:off x="8732520"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897112" y="1965960"/>
            <a:ext cx="2551176"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97112" y="1965960"/>
            <a:ext cx="2551176"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25128" y="2240279"/>
            <a:ext cx="2295144"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9025128" y="2752344"/>
            <a:ext cx="2295144"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Measure</a:t>
            </a:r>
          </a:p>
        </p:txBody>
      </p:sp>
      <p:sp>
        <p:nvSpPr>
          <p:cNvPr id="29" name="TextBox 28"/>
          <p:cNvSpPr txBox="1"/>
          <p:nvPr/>
        </p:nvSpPr>
        <p:spPr>
          <a:xfrm>
            <a:off x="9043416" y="3465576"/>
            <a:ext cx="2258568"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owner, baseline, target and date</a:t>
            </a:r>
          </a:p>
        </p:txBody>
      </p:sp>
      <p:sp>
        <p:nvSpPr>
          <p:cNvPr id="30" name="Rounded Rectangle 29"/>
          <p:cNvSpPr/>
          <p:nvPr/>
        </p:nvSpPr>
        <p:spPr>
          <a:xfrm>
            <a:off x="749808" y="5303520"/>
            <a:ext cx="10698480" cy="713232"/>
          </a:xfrm>
          <a:prstGeom prst="roundRect">
            <a:avLst>
              <a:gd name="adj" fmla="val 8000"/>
            </a:avLst>
          </a:prstGeom>
          <a:solidFill>
            <a:srgbClr val="FFFFFF"/>
          </a:solidFill>
          <a:ln w="12700">
            <a:solidFill>
              <a:srgbClr val="1655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Deliverables are produced by the project; benefits are usually realised with operations.</a:t>
            </a:r>
          </a:p>
        </p:txBody>
      </p:sp>
      <p:sp>
        <p:nvSpPr>
          <p:cNvPr id="32" name="TextBox 31"/>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3" name="TextBox 32"/>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01 · REFERENCE-SOURCED DEEP DIVE</a:t>
            </a:r>
          </a:p>
        </p:txBody>
      </p:sp>
      <p:sp>
        <p:nvSpPr>
          <p:cNvPr id="34" name="TextBox 33"/>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01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Project Selection Methods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1655D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Method</a:t>
            </a:r>
          </a:p>
        </p:txBody>
      </p:sp>
      <p:sp>
        <p:nvSpPr>
          <p:cNvPr id="9" name="Rectangle 8"/>
          <p:cNvSpPr/>
          <p:nvPr/>
        </p:nvSpPr>
        <p:spPr>
          <a:xfrm>
            <a:off x="4315968" y="1810512"/>
            <a:ext cx="3566160" cy="758952"/>
          </a:xfrm>
          <a:prstGeom prst="rect">
            <a:avLst/>
          </a:prstGeom>
          <a:solidFill>
            <a:srgbClr val="1655D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Best for</a:t>
            </a:r>
          </a:p>
        </p:txBody>
      </p:sp>
      <p:sp>
        <p:nvSpPr>
          <p:cNvPr id="11" name="Rectangle 10"/>
          <p:cNvSpPr/>
          <p:nvPr/>
        </p:nvSpPr>
        <p:spPr>
          <a:xfrm>
            <a:off x="7882127" y="1810512"/>
            <a:ext cx="3566160" cy="758952"/>
          </a:xfrm>
          <a:prstGeom prst="rect">
            <a:avLst/>
          </a:prstGeom>
          <a:solidFill>
            <a:srgbClr val="1655D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Watch for</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Cost-benefit</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Financial viability</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Unsupported benefit assumptions</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Weighted scoring</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Multiple criteria</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Biased weights</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Payback</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Liquidity and speed</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Ignores later value</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Mandatory driver</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Compliance or safety</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Treating obligation as optional</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1655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Use more than one lens when a small financial difference hides a major operational consequence.</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01 · REFERENCE-SOURCED DEEP DIVE</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01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Sponsor and Project Manager—Different Accountability</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Sponsor</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Owns investment, priority and escalation.</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Project manager</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Integrates delivery and advises decisions.</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Business owner</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Owns adoption and benefits after handover.</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Functional manager</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Provides capability and resolves resource conflicts.</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01 · REFERENCE-SOURCED DEEP DIVE</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01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Business Documents at Initiation</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1655D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Artefact</a:t>
            </a:r>
          </a:p>
        </p:txBody>
      </p:sp>
      <p:sp>
        <p:nvSpPr>
          <p:cNvPr id="9" name="Rectangle 8"/>
          <p:cNvSpPr/>
          <p:nvPr/>
        </p:nvSpPr>
        <p:spPr>
          <a:xfrm>
            <a:off x="4315968" y="1810512"/>
            <a:ext cx="3566160" cy="758952"/>
          </a:xfrm>
          <a:prstGeom prst="rect">
            <a:avLst/>
          </a:prstGeom>
          <a:solidFill>
            <a:srgbClr val="1655D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Decision supported</a:t>
            </a:r>
          </a:p>
        </p:txBody>
      </p:sp>
      <p:sp>
        <p:nvSpPr>
          <p:cNvPr id="11" name="Rectangle 10"/>
          <p:cNvSpPr/>
          <p:nvPr/>
        </p:nvSpPr>
        <p:spPr>
          <a:xfrm>
            <a:off x="7882127" y="1810512"/>
            <a:ext cx="3566160" cy="758952"/>
          </a:xfrm>
          <a:prstGeom prst="rect">
            <a:avLst/>
          </a:prstGeom>
          <a:solidFill>
            <a:srgbClr val="1655D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Owner</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Business case</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Invest, hold or reject</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Sponsor / business owner</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Benefits plan</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How value will be measured</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Benefits owner</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Project charter</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Authorise and delegate</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Sponsor with PM</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Assumptions log</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What must be validated</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Project manager</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1655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Keep documents brief, but never combine ownership so completely that accountability disappears.</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01 · REFERENCE-SOURCED DEEP DIVE</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01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A Charter That Can Govern</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2956559"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Purpose</a:t>
            </a:r>
          </a:p>
        </p:txBody>
      </p:sp>
      <p:sp>
        <p:nvSpPr>
          <p:cNvPr id="10" name="TextBox 9"/>
          <p:cNvSpPr txBox="1"/>
          <p:nvPr/>
        </p:nvSpPr>
        <p:spPr>
          <a:xfrm>
            <a:off x="100584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The problem and desired outcome.</a:t>
            </a:r>
          </a:p>
        </p:txBody>
      </p:sp>
      <p:sp>
        <p:nvSpPr>
          <p:cNvPr id="11" name="Rounded Rectangle 10"/>
          <p:cNvSpPr/>
          <p:nvPr/>
        </p:nvSpPr>
        <p:spPr>
          <a:xfrm>
            <a:off x="439216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92167"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8200" y="1947672"/>
            <a:ext cx="2956559"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Success</a:t>
            </a:r>
          </a:p>
        </p:txBody>
      </p:sp>
      <p:sp>
        <p:nvSpPr>
          <p:cNvPr id="14" name="TextBox 13"/>
          <p:cNvSpPr txBox="1"/>
          <p:nvPr/>
        </p:nvSpPr>
        <p:spPr>
          <a:xfrm>
            <a:off x="464820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Measures, targets and dates.</a:t>
            </a:r>
          </a:p>
        </p:txBody>
      </p:sp>
      <p:sp>
        <p:nvSpPr>
          <p:cNvPr id="15" name="Rounded Rectangle 14"/>
          <p:cNvSpPr/>
          <p:nvPr/>
        </p:nvSpPr>
        <p:spPr>
          <a:xfrm>
            <a:off x="803452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34527" y="1783080"/>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559" y="1947672"/>
            <a:ext cx="2956559"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Boundaries</a:t>
            </a:r>
          </a:p>
        </p:txBody>
      </p:sp>
      <p:sp>
        <p:nvSpPr>
          <p:cNvPr id="18" name="TextBox 17"/>
          <p:cNvSpPr txBox="1"/>
          <p:nvPr/>
        </p:nvSpPr>
        <p:spPr>
          <a:xfrm>
            <a:off x="8290559"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Deliverables and exclusions.</a:t>
            </a:r>
          </a:p>
        </p:txBody>
      </p:sp>
      <p:sp>
        <p:nvSpPr>
          <p:cNvPr id="19" name="Rounded Rectangle 18"/>
          <p:cNvSpPr/>
          <p:nvPr/>
        </p:nvSpPr>
        <p:spPr>
          <a:xfrm>
            <a:off x="749808"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980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4283964"/>
            <a:ext cx="2956559"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Authority</a:t>
            </a:r>
          </a:p>
        </p:txBody>
      </p:sp>
      <p:sp>
        <p:nvSpPr>
          <p:cNvPr id="22" name="TextBox 21"/>
          <p:cNvSpPr txBox="1"/>
          <p:nvPr/>
        </p:nvSpPr>
        <p:spPr>
          <a:xfrm>
            <a:off x="100584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Sponsor, PM and tolerances.</a:t>
            </a:r>
          </a:p>
        </p:txBody>
      </p:sp>
      <p:sp>
        <p:nvSpPr>
          <p:cNvPr id="23" name="Rounded Rectangle 22"/>
          <p:cNvSpPr/>
          <p:nvPr/>
        </p:nvSpPr>
        <p:spPr>
          <a:xfrm>
            <a:off x="4392167"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92167" y="4119372"/>
            <a:ext cx="91440" cy="2107692"/>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48200" y="4283964"/>
            <a:ext cx="2956559" cy="438912"/>
          </a:xfrm>
          <a:prstGeom prst="rect">
            <a:avLst/>
          </a:prstGeom>
          <a:noFill/>
        </p:spPr>
        <p:txBody>
          <a:bodyPr wrap="square" lIns="0" rIns="0" tIns="0" bIns="0" anchor="t">
            <a:spAutoFit/>
          </a:bodyPr>
          <a:lstStyle/>
          <a:p>
            <a:pPr algn="l">
              <a:spcAft>
                <a:spcPts val="300"/>
              </a:spcAft>
            </a:pPr>
            <a:r>
              <a:rPr sz="1300" b="1">
                <a:solidFill>
                  <a:srgbClr val="1A7F4B"/>
                </a:solidFill>
                <a:latin typeface="Arial"/>
              </a:rPr>
              <a:t>Frame</a:t>
            </a:r>
          </a:p>
        </p:txBody>
      </p:sp>
      <p:sp>
        <p:nvSpPr>
          <p:cNvPr id="26" name="TextBox 25"/>
          <p:cNvSpPr txBox="1"/>
          <p:nvPr/>
        </p:nvSpPr>
        <p:spPr>
          <a:xfrm>
            <a:off x="464820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Milestones, budget and constraints.</a:t>
            </a:r>
          </a:p>
        </p:txBody>
      </p:sp>
      <p:sp>
        <p:nvSpPr>
          <p:cNvPr id="27" name="Rounded Rectangle 26"/>
          <p:cNvSpPr/>
          <p:nvPr/>
        </p:nvSpPr>
        <p:spPr>
          <a:xfrm>
            <a:off x="8034527"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34527" y="4119372"/>
            <a:ext cx="91440" cy="2107692"/>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90559" y="4283964"/>
            <a:ext cx="2956559" cy="438912"/>
          </a:xfrm>
          <a:prstGeom prst="rect">
            <a:avLst/>
          </a:prstGeom>
          <a:noFill/>
        </p:spPr>
        <p:txBody>
          <a:bodyPr wrap="square" lIns="0" rIns="0" tIns="0" bIns="0" anchor="t">
            <a:spAutoFit/>
          </a:bodyPr>
          <a:lstStyle/>
          <a:p>
            <a:pPr algn="l">
              <a:spcAft>
                <a:spcPts val="300"/>
              </a:spcAft>
            </a:pPr>
            <a:r>
              <a:rPr sz="1300" b="1">
                <a:solidFill>
                  <a:srgbClr val="C93131"/>
                </a:solidFill>
                <a:latin typeface="Arial"/>
              </a:rPr>
              <a:t>Exposure</a:t>
            </a:r>
          </a:p>
        </p:txBody>
      </p:sp>
      <p:sp>
        <p:nvSpPr>
          <p:cNvPr id="30" name="TextBox 29"/>
          <p:cNvSpPr txBox="1"/>
          <p:nvPr/>
        </p:nvSpPr>
        <p:spPr>
          <a:xfrm>
            <a:off x="8290559"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Assumptions, dependencies and high risks.</a:t>
            </a:r>
          </a:p>
        </p:txBody>
      </p:sp>
      <p:sp>
        <p:nvSpPr>
          <p:cNvPr id="31" name="TextBox 30"/>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2" name="TextBox 31"/>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01 · REFERENCE-SOURCED DEEP DIVE</a:t>
            </a:r>
          </a:p>
        </p:txBody>
      </p:sp>
      <p:sp>
        <p:nvSpPr>
          <p:cNvPr id="33" name="TextBox 32"/>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01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Assumption, Constraint, Dependency or Risk?</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1655D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Type</a:t>
            </a:r>
          </a:p>
        </p:txBody>
      </p:sp>
      <p:sp>
        <p:nvSpPr>
          <p:cNvPr id="9" name="Rectangle 8"/>
          <p:cNvSpPr/>
          <p:nvPr/>
        </p:nvSpPr>
        <p:spPr>
          <a:xfrm>
            <a:off x="4315968" y="1810512"/>
            <a:ext cx="3566160" cy="758952"/>
          </a:xfrm>
          <a:prstGeom prst="rect">
            <a:avLst/>
          </a:prstGeom>
          <a:solidFill>
            <a:srgbClr val="1655D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Meaning</a:t>
            </a:r>
          </a:p>
        </p:txBody>
      </p:sp>
      <p:sp>
        <p:nvSpPr>
          <p:cNvPr id="11" name="Rectangle 10"/>
          <p:cNvSpPr/>
          <p:nvPr/>
        </p:nvSpPr>
        <p:spPr>
          <a:xfrm>
            <a:off x="7882127" y="1810512"/>
            <a:ext cx="3566160" cy="758952"/>
          </a:xfrm>
          <a:prstGeom prst="rect">
            <a:avLst/>
          </a:prstGeom>
          <a:solidFill>
            <a:srgbClr val="1655D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Example</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Assumption</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Believed true for planning</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Outlet Wi-Fi capacity is sufficient</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Constraint</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Fixed limitation</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S$180,000 ceiling</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Dependency</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Reliance on other work</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POS API access before integration</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Risk</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Uncertain event and impact</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API access may be late</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1655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Classify correctly because each item needs a different response.</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01 · REFERENCE-SOURCED DEEP DIVE</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01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Lightweight Governance with Tolerances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2551176"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2551176"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2295144"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2295144"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Set</a:t>
            </a:r>
          </a:p>
        </p:txBody>
      </p:sp>
      <p:sp>
        <p:nvSpPr>
          <p:cNvPr id="11" name="TextBox 10"/>
          <p:cNvSpPr txBox="1"/>
          <p:nvPr/>
        </p:nvSpPr>
        <p:spPr>
          <a:xfrm>
            <a:off x="896112" y="3465576"/>
            <a:ext cx="2258568"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scope, time, cost and risk limits</a:t>
            </a:r>
          </a:p>
        </p:txBody>
      </p:sp>
      <p:cxnSp>
        <p:nvCxnSpPr>
          <p:cNvPr id="12" name="Connector 11"/>
          <p:cNvCxnSpPr/>
          <p:nvPr/>
        </p:nvCxnSpPr>
        <p:spPr>
          <a:xfrm>
            <a:off x="3300984"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465576" y="1965960"/>
            <a:ext cx="2551176"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65576" y="1965960"/>
            <a:ext cx="2551176"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93592" y="2240279"/>
            <a:ext cx="2295144"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3593592" y="2752344"/>
            <a:ext cx="2295144"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Measure</a:t>
            </a:r>
          </a:p>
        </p:txBody>
      </p:sp>
      <p:sp>
        <p:nvSpPr>
          <p:cNvPr id="17" name="TextBox 16"/>
          <p:cNvSpPr txBox="1"/>
          <p:nvPr/>
        </p:nvSpPr>
        <p:spPr>
          <a:xfrm>
            <a:off x="3611880" y="3465576"/>
            <a:ext cx="2258568"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compare current forecast</a:t>
            </a:r>
          </a:p>
        </p:txBody>
      </p:sp>
      <p:cxnSp>
        <p:nvCxnSpPr>
          <p:cNvPr id="18" name="Connector 17"/>
          <p:cNvCxnSpPr/>
          <p:nvPr/>
        </p:nvCxnSpPr>
        <p:spPr>
          <a:xfrm>
            <a:off x="6016752"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181344" y="1965960"/>
            <a:ext cx="2551176"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81344" y="1965960"/>
            <a:ext cx="2551176"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2240279"/>
            <a:ext cx="2295144"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6309360" y="2752344"/>
            <a:ext cx="2295144"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Act</a:t>
            </a:r>
          </a:p>
        </p:txBody>
      </p:sp>
      <p:sp>
        <p:nvSpPr>
          <p:cNvPr id="23" name="TextBox 22"/>
          <p:cNvSpPr txBox="1"/>
          <p:nvPr/>
        </p:nvSpPr>
        <p:spPr>
          <a:xfrm>
            <a:off x="6327648" y="3465576"/>
            <a:ext cx="2258568"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PM decides within authority</a:t>
            </a:r>
          </a:p>
        </p:txBody>
      </p:sp>
      <p:cxnSp>
        <p:nvCxnSpPr>
          <p:cNvPr id="24" name="Connector 23"/>
          <p:cNvCxnSpPr/>
          <p:nvPr/>
        </p:nvCxnSpPr>
        <p:spPr>
          <a:xfrm>
            <a:off x="8732520"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897112" y="1965960"/>
            <a:ext cx="2551176"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97112" y="1965960"/>
            <a:ext cx="2551176"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25128" y="2240279"/>
            <a:ext cx="2295144"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9025128" y="2752344"/>
            <a:ext cx="2295144"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Escalate</a:t>
            </a:r>
          </a:p>
        </p:txBody>
      </p:sp>
      <p:sp>
        <p:nvSpPr>
          <p:cNvPr id="29" name="TextBox 28"/>
          <p:cNvSpPr txBox="1"/>
          <p:nvPr/>
        </p:nvSpPr>
        <p:spPr>
          <a:xfrm>
            <a:off x="9043416" y="3465576"/>
            <a:ext cx="2258568"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sponsor decides beyond tolerance</a:t>
            </a:r>
          </a:p>
        </p:txBody>
      </p:sp>
      <p:sp>
        <p:nvSpPr>
          <p:cNvPr id="30" name="Rounded Rectangle 29"/>
          <p:cNvSpPr/>
          <p:nvPr/>
        </p:nvSpPr>
        <p:spPr>
          <a:xfrm>
            <a:off x="749808" y="5303520"/>
            <a:ext cx="10698480" cy="713232"/>
          </a:xfrm>
          <a:prstGeom prst="roundRect">
            <a:avLst>
              <a:gd name="adj" fmla="val 8000"/>
            </a:avLst>
          </a:prstGeom>
          <a:solidFill>
            <a:srgbClr val="FFFFFF"/>
          </a:solidFill>
          <a:ln w="12700">
            <a:solidFill>
              <a:srgbClr val="1655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Authority without tolerances creates hesitation; tolerances without reporting create surprise.</a:t>
            </a:r>
          </a:p>
        </p:txBody>
      </p:sp>
      <p:sp>
        <p:nvSpPr>
          <p:cNvPr id="32" name="TextBox 31"/>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3" name="TextBox 32"/>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01 · REFERENCE-SOURCED DEEP DIVE</a:t>
            </a:r>
          </a:p>
        </p:txBody>
      </p:sp>
      <p:sp>
        <p:nvSpPr>
          <p:cNvPr id="34" name="TextBox 33"/>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01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Kickoff as an Alignment Decision</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2008022"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1751990"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Why</a:t>
            </a:r>
          </a:p>
        </p:txBody>
      </p:sp>
      <p:sp>
        <p:nvSpPr>
          <p:cNvPr id="11" name="TextBox 10"/>
          <p:cNvSpPr txBox="1"/>
          <p:nvPr/>
        </p:nvSpPr>
        <p:spPr>
          <a:xfrm>
            <a:off x="896112"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value and success</a:t>
            </a:r>
          </a:p>
        </p:txBody>
      </p:sp>
      <p:cxnSp>
        <p:nvCxnSpPr>
          <p:cNvPr id="12" name="Connector 11"/>
          <p:cNvCxnSpPr/>
          <p:nvPr/>
        </p:nvCxnSpPr>
        <p:spPr>
          <a:xfrm>
            <a:off x="2757830"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22422"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22422" y="1965960"/>
            <a:ext cx="2008022"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50438" y="2240279"/>
            <a:ext cx="1751990"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3050438"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What</a:t>
            </a:r>
          </a:p>
        </p:txBody>
      </p:sp>
      <p:sp>
        <p:nvSpPr>
          <p:cNvPr id="17" name="TextBox 16"/>
          <p:cNvSpPr txBox="1"/>
          <p:nvPr/>
        </p:nvSpPr>
        <p:spPr>
          <a:xfrm>
            <a:off x="3068726"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scope and exclusions</a:t>
            </a:r>
          </a:p>
        </p:txBody>
      </p:sp>
      <p:cxnSp>
        <p:nvCxnSpPr>
          <p:cNvPr id="18" name="Connector 17"/>
          <p:cNvCxnSpPr/>
          <p:nvPr/>
        </p:nvCxnSpPr>
        <p:spPr>
          <a:xfrm>
            <a:off x="4930444"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95036"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95036" y="1965960"/>
            <a:ext cx="2008022"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23052" y="2240279"/>
            <a:ext cx="1751990"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5223052"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Who</a:t>
            </a:r>
          </a:p>
        </p:txBody>
      </p:sp>
      <p:sp>
        <p:nvSpPr>
          <p:cNvPr id="23" name="TextBox 22"/>
          <p:cNvSpPr txBox="1"/>
          <p:nvPr/>
        </p:nvSpPr>
        <p:spPr>
          <a:xfrm>
            <a:off x="5241340"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roles and decisions</a:t>
            </a:r>
          </a:p>
        </p:txBody>
      </p:sp>
      <p:cxnSp>
        <p:nvCxnSpPr>
          <p:cNvPr id="24" name="Connector 23"/>
          <p:cNvCxnSpPr/>
          <p:nvPr/>
        </p:nvCxnSpPr>
        <p:spPr>
          <a:xfrm>
            <a:off x="7103059"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267651"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67651" y="1965960"/>
            <a:ext cx="2008022"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95667" y="2240279"/>
            <a:ext cx="1751990"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7395667"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How</a:t>
            </a:r>
          </a:p>
        </p:txBody>
      </p:sp>
      <p:sp>
        <p:nvSpPr>
          <p:cNvPr id="29" name="TextBox 28"/>
          <p:cNvSpPr txBox="1"/>
          <p:nvPr/>
        </p:nvSpPr>
        <p:spPr>
          <a:xfrm>
            <a:off x="7413955"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method, rhythm and evidence</a:t>
            </a:r>
          </a:p>
        </p:txBody>
      </p:sp>
      <p:cxnSp>
        <p:nvCxnSpPr>
          <p:cNvPr id="30" name="Connector 29"/>
          <p:cNvCxnSpPr/>
          <p:nvPr/>
        </p:nvCxnSpPr>
        <p:spPr>
          <a:xfrm>
            <a:off x="9275673"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440265"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40265" y="1965960"/>
            <a:ext cx="2008022" cy="13716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68281" y="2240279"/>
            <a:ext cx="1751990" cy="457200"/>
          </a:xfrm>
          <a:prstGeom prst="rect">
            <a:avLst/>
          </a:prstGeom>
          <a:noFill/>
        </p:spPr>
        <p:txBody>
          <a:bodyPr wrap="square" lIns="0" rIns="0" tIns="0" bIns="0" anchor="t">
            <a:spAutoFit/>
          </a:bodyPr>
          <a:lstStyle/>
          <a:p>
            <a:pPr algn="ctr">
              <a:spcAft>
                <a:spcPts val="300"/>
              </a:spcAft>
            </a:pPr>
            <a:r>
              <a:rPr sz="1400" b="1">
                <a:solidFill>
                  <a:srgbClr val="1A7F4B"/>
                </a:solidFill>
                <a:latin typeface="Arial"/>
              </a:rPr>
              <a:t>05</a:t>
            </a:r>
          </a:p>
        </p:txBody>
      </p:sp>
      <p:sp>
        <p:nvSpPr>
          <p:cNvPr id="34" name="TextBox 33"/>
          <p:cNvSpPr txBox="1"/>
          <p:nvPr/>
        </p:nvSpPr>
        <p:spPr>
          <a:xfrm>
            <a:off x="9568281"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Next</a:t>
            </a:r>
          </a:p>
        </p:txBody>
      </p:sp>
      <p:sp>
        <p:nvSpPr>
          <p:cNvPr id="35" name="TextBox 34"/>
          <p:cNvSpPr txBox="1"/>
          <p:nvPr/>
        </p:nvSpPr>
        <p:spPr>
          <a:xfrm>
            <a:off x="9586569"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48-hour actions and owners</a:t>
            </a:r>
          </a:p>
        </p:txBody>
      </p:sp>
      <p:sp>
        <p:nvSpPr>
          <p:cNvPr id="36" name="Rounded Rectangle 35"/>
          <p:cNvSpPr/>
          <p:nvPr/>
        </p:nvSpPr>
        <p:spPr>
          <a:xfrm>
            <a:off x="749808" y="5303520"/>
            <a:ext cx="10698480" cy="713232"/>
          </a:xfrm>
          <a:prstGeom prst="roundRect">
            <a:avLst>
              <a:gd name="adj" fmla="val 8000"/>
            </a:avLst>
          </a:prstGeom>
          <a:solidFill>
            <a:srgbClr val="FFFFFF"/>
          </a:solidFill>
          <a:ln w="12700">
            <a:solidFill>
              <a:srgbClr val="1655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A good kickoff reveals mismatched assumptions early enough to repair them cheaply.</a:t>
            </a:r>
          </a:p>
        </p:txBody>
      </p:sp>
      <p:sp>
        <p:nvSpPr>
          <p:cNvPr id="38" name="TextBox 37"/>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9" name="TextBox 38"/>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01 · REFERENCE-SOURCED DEEP DIVE</a:t>
            </a:r>
          </a:p>
        </p:txBody>
      </p:sp>
      <p:sp>
        <p:nvSpPr>
          <p:cNvPr id="40" name="TextBox 39"/>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01 · TOOL-BASED PRACTICE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Activity 1 Tool Pack</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706727" y="2057400"/>
            <a:ext cx="4251960" cy="1874519"/>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706727" y="2057400"/>
            <a:ext cx="4251960" cy="109728"/>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935327" y="2304288"/>
            <a:ext cx="3794760" cy="292608"/>
          </a:xfrm>
          <a:prstGeom prst="rect">
            <a:avLst/>
          </a:prstGeom>
          <a:noFill/>
        </p:spPr>
        <p:txBody>
          <a:bodyPr wrap="square" lIns="0" rIns="0" tIns="0" bIns="0" anchor="t">
            <a:spAutoFit/>
          </a:bodyPr>
          <a:lstStyle/>
          <a:p>
            <a:pPr algn="ctr">
              <a:spcAft>
                <a:spcPts val="300"/>
              </a:spcAft>
            </a:pPr>
            <a:r>
              <a:rPr sz="1100" b="1">
                <a:solidFill>
                  <a:srgbClr val="1655D1"/>
                </a:solidFill>
                <a:latin typeface="Arial"/>
              </a:rPr>
              <a:t>XLSX</a:t>
            </a:r>
          </a:p>
        </p:txBody>
      </p:sp>
      <p:sp>
        <p:nvSpPr>
          <p:cNvPr id="10" name="TextBox 9"/>
          <p:cNvSpPr txBox="1"/>
          <p:nvPr/>
        </p:nvSpPr>
        <p:spPr>
          <a:xfrm>
            <a:off x="1935327" y="2624328"/>
            <a:ext cx="3794760" cy="640080"/>
          </a:xfrm>
          <a:prstGeom prst="rect">
            <a:avLst/>
          </a:prstGeom>
          <a:noFill/>
        </p:spPr>
        <p:txBody>
          <a:bodyPr wrap="square" lIns="0" rIns="0" tIns="0" bIns="0" anchor="ctr">
            <a:spAutoFit/>
          </a:bodyPr>
          <a:lstStyle/>
          <a:p>
            <a:pPr algn="ctr">
              <a:spcAft>
                <a:spcPts val="300"/>
              </a:spcAft>
            </a:pPr>
            <a:r>
              <a:rPr sz="1250" b="1">
                <a:solidFill>
                  <a:srgbClr val="131B2A"/>
                </a:solidFill>
                <a:latin typeface="Arial"/>
              </a:rPr>
              <a:t>02 Cost Benefit Analysis</a:t>
            </a:r>
          </a:p>
        </p:txBody>
      </p:sp>
      <p:sp>
        <p:nvSpPr>
          <p:cNvPr id="11" name="TextBox 10"/>
          <p:cNvSpPr txBox="1"/>
          <p:nvPr/>
        </p:nvSpPr>
        <p:spPr>
          <a:xfrm>
            <a:off x="1935327" y="3337560"/>
            <a:ext cx="3794760" cy="320040"/>
          </a:xfrm>
          <a:prstGeom prst="rect">
            <a:avLst/>
          </a:prstGeom>
          <a:noFill/>
        </p:spPr>
        <p:txBody>
          <a:bodyPr wrap="square" lIns="0" rIns="0" tIns="0" bIns="0" anchor="t">
            <a:spAutoFit/>
          </a:bodyPr>
          <a:lstStyle/>
          <a:p>
            <a:pPr algn="ctr">
              <a:spcAft>
                <a:spcPts val="300"/>
              </a:spcAft>
            </a:pPr>
            <a:r>
              <a:rPr sz="1050" b="0">
                <a:solidFill>
                  <a:srgbClr val="5F6B7A"/>
                </a:solidFill>
                <a:latin typeface="Arial"/>
              </a:rPr>
              <a:t>Editable evidence file</a:t>
            </a:r>
          </a:p>
        </p:txBody>
      </p:sp>
      <p:sp>
        <p:nvSpPr>
          <p:cNvPr id="12" name="Rounded Rectangle 11"/>
          <p:cNvSpPr/>
          <p:nvPr/>
        </p:nvSpPr>
        <p:spPr>
          <a:xfrm>
            <a:off x="6233007" y="2057400"/>
            <a:ext cx="4251960" cy="1874519"/>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2057400"/>
            <a:ext cx="4251960" cy="1097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1607" y="2304288"/>
            <a:ext cx="3794760" cy="292608"/>
          </a:xfrm>
          <a:prstGeom prst="rect">
            <a:avLst/>
          </a:prstGeom>
          <a:noFill/>
        </p:spPr>
        <p:txBody>
          <a:bodyPr wrap="square" lIns="0" rIns="0" tIns="0" bIns="0" anchor="t">
            <a:spAutoFit/>
          </a:bodyPr>
          <a:lstStyle/>
          <a:p>
            <a:pPr algn="ctr">
              <a:spcAft>
                <a:spcPts val="300"/>
              </a:spcAft>
            </a:pPr>
            <a:r>
              <a:rPr sz="1100" b="1">
                <a:solidFill>
                  <a:srgbClr val="0F9D8A"/>
                </a:solidFill>
                <a:latin typeface="Arial"/>
              </a:rPr>
              <a:t>XLSX</a:t>
            </a:r>
          </a:p>
        </p:txBody>
      </p:sp>
      <p:sp>
        <p:nvSpPr>
          <p:cNvPr id="15" name="TextBox 14"/>
          <p:cNvSpPr txBox="1"/>
          <p:nvPr/>
        </p:nvSpPr>
        <p:spPr>
          <a:xfrm>
            <a:off x="6461607" y="2624328"/>
            <a:ext cx="3794760" cy="640080"/>
          </a:xfrm>
          <a:prstGeom prst="rect">
            <a:avLst/>
          </a:prstGeom>
          <a:noFill/>
        </p:spPr>
        <p:txBody>
          <a:bodyPr wrap="square" lIns="0" rIns="0" tIns="0" bIns="0" anchor="ctr">
            <a:spAutoFit/>
          </a:bodyPr>
          <a:lstStyle/>
          <a:p>
            <a:pPr algn="ctr">
              <a:spcAft>
                <a:spcPts val="300"/>
              </a:spcAft>
            </a:pPr>
            <a:r>
              <a:rPr sz="1250" b="1">
                <a:solidFill>
                  <a:srgbClr val="131B2A"/>
                </a:solidFill>
                <a:latin typeface="Arial"/>
              </a:rPr>
              <a:t>01 Small Project Screening and Selection</a:t>
            </a:r>
          </a:p>
        </p:txBody>
      </p:sp>
      <p:sp>
        <p:nvSpPr>
          <p:cNvPr id="16" name="TextBox 15"/>
          <p:cNvSpPr txBox="1"/>
          <p:nvPr/>
        </p:nvSpPr>
        <p:spPr>
          <a:xfrm>
            <a:off x="6461607" y="3337560"/>
            <a:ext cx="3794760" cy="320040"/>
          </a:xfrm>
          <a:prstGeom prst="rect">
            <a:avLst/>
          </a:prstGeom>
          <a:noFill/>
        </p:spPr>
        <p:txBody>
          <a:bodyPr wrap="square" lIns="0" rIns="0" tIns="0" bIns="0" anchor="t">
            <a:spAutoFit/>
          </a:bodyPr>
          <a:lstStyle/>
          <a:p>
            <a:pPr algn="ctr">
              <a:spcAft>
                <a:spcPts val="300"/>
              </a:spcAft>
            </a:pPr>
            <a:r>
              <a:rPr sz="1050" b="0">
                <a:solidFill>
                  <a:srgbClr val="5F6B7A"/>
                </a:solidFill>
                <a:latin typeface="Arial"/>
              </a:rPr>
              <a:t>Editable evidence file</a:t>
            </a:r>
          </a:p>
        </p:txBody>
      </p:sp>
      <p:sp>
        <p:nvSpPr>
          <p:cNvPr id="17" name="Rounded Rectangle 16"/>
          <p:cNvSpPr/>
          <p:nvPr/>
        </p:nvSpPr>
        <p:spPr>
          <a:xfrm>
            <a:off x="749808" y="4343400"/>
            <a:ext cx="10698480" cy="1143000"/>
          </a:xfrm>
          <a:prstGeom prst="roundRect">
            <a:avLst>
              <a:gd name="adj" fmla="val 8000"/>
            </a:avLst>
          </a:prstGeom>
          <a:solidFill>
            <a:srgbClr val="FFFFFF"/>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4544568"/>
            <a:ext cx="1828800" cy="274320"/>
          </a:xfrm>
          <a:prstGeom prst="rect">
            <a:avLst/>
          </a:prstGeom>
          <a:noFill/>
        </p:spPr>
        <p:txBody>
          <a:bodyPr wrap="square" lIns="0" rIns="0" tIns="0" bIns="0" anchor="t">
            <a:spAutoFit/>
          </a:bodyPr>
          <a:lstStyle/>
          <a:p>
            <a:pPr algn="l">
              <a:spcAft>
                <a:spcPts val="300"/>
              </a:spcAft>
            </a:pPr>
            <a:r>
              <a:rPr sz="1050" b="1">
                <a:solidFill>
                  <a:srgbClr val="0F9D8A"/>
                </a:solidFill>
                <a:latin typeface="Arial"/>
              </a:rPr>
              <a:t>DECISION ENABLED</a:t>
            </a:r>
          </a:p>
        </p:txBody>
      </p:sp>
      <p:sp>
        <p:nvSpPr>
          <p:cNvPr id="19" name="TextBox 18"/>
          <p:cNvSpPr txBox="1"/>
          <p:nvPr/>
        </p:nvSpPr>
        <p:spPr>
          <a:xfrm>
            <a:off x="2788920" y="4453128"/>
            <a:ext cx="8229600" cy="685800"/>
          </a:xfrm>
          <a:prstGeom prst="rect">
            <a:avLst/>
          </a:prstGeom>
          <a:noFill/>
        </p:spPr>
        <p:txBody>
          <a:bodyPr wrap="square" lIns="0" rIns="0" tIns="0" bIns="0" anchor="ctr">
            <a:spAutoFit/>
          </a:bodyPr>
          <a:lstStyle/>
          <a:p>
            <a:pPr algn="l">
              <a:spcAft>
                <a:spcPts val="300"/>
              </a:spcAft>
            </a:pPr>
            <a:r>
              <a:rPr sz="1250" b="1">
                <a:solidFill>
                  <a:srgbClr val="131B2A"/>
                </a:solidFill>
                <a:latin typeface="Arial"/>
              </a:rPr>
              <a:t>A completed small-project screen, weighted option scorecard, cost-benefit check and sponsor-ready selection recommendation.</a:t>
            </a:r>
          </a:p>
        </p:txBody>
      </p:sp>
      <p:sp>
        <p:nvSpPr>
          <p:cNvPr id="20" name="TextBox 19"/>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1" name="TextBox 20"/>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01 · TOOL-BASED PRACTICE</a:t>
            </a:r>
          </a:p>
        </p:txBody>
      </p:sp>
      <p:sp>
        <p:nvSpPr>
          <p:cNvPr id="22" name="TextBox 21"/>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01 · HANDS-ON ACTIVITY</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Screen and Select the HarbourHub Pilot</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034272" y="384048"/>
            <a:ext cx="2377440" cy="402336"/>
          </a:xfrm>
          <a:prstGeom prst="roundRect">
            <a:avLst>
              <a:gd name="adj" fmla="val 8000"/>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34272" y="384048"/>
            <a:ext cx="2377440" cy="402336"/>
          </a:xfrm>
          <a:prstGeom prst="rect">
            <a:avLst/>
          </a:prstGeom>
          <a:noFill/>
        </p:spPr>
        <p:txBody>
          <a:bodyPr wrap="square" lIns="0" rIns="0" tIns="0" bIns="0" anchor="ctr">
            <a:spAutoFit/>
          </a:bodyPr>
          <a:lstStyle/>
          <a:p>
            <a:pPr algn="ctr">
              <a:spcAft>
                <a:spcPts val="300"/>
              </a:spcAft>
            </a:pPr>
            <a:r>
              <a:rPr sz="1050" b="1">
                <a:solidFill>
                  <a:srgbClr val="FFFFFF"/>
                </a:solidFill>
                <a:latin typeface="Arial"/>
              </a:rPr>
              <a:t>ACTIVITY 1 · 35 MIN</a:t>
            </a:r>
          </a:p>
        </p:txBody>
      </p:sp>
      <p:sp>
        <p:nvSpPr>
          <p:cNvPr id="9" name="Rounded Rectangle 8"/>
          <p:cNvSpPr/>
          <p:nvPr/>
        </p:nvSpPr>
        <p:spPr>
          <a:xfrm>
            <a:off x="749808" y="1773936"/>
            <a:ext cx="10698480" cy="12344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773936"/>
            <a:ext cx="91440" cy="123444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874519"/>
            <a:ext cx="10149840" cy="256032"/>
          </a:xfrm>
          <a:prstGeom prst="rect">
            <a:avLst/>
          </a:prstGeom>
          <a:noFill/>
        </p:spPr>
        <p:txBody>
          <a:bodyPr wrap="square" lIns="0" rIns="0" tIns="0" bIns="0" anchor="t">
            <a:spAutoFit/>
          </a:bodyPr>
          <a:lstStyle/>
          <a:p>
            <a:pPr algn="l">
              <a:spcAft>
                <a:spcPts val="300"/>
              </a:spcAft>
            </a:pPr>
            <a:r>
              <a:rPr sz="1050" b="1">
                <a:solidFill>
                  <a:srgbClr val="703CC3"/>
                </a:solidFill>
                <a:latin typeface="Arial"/>
              </a:rPr>
              <a:t>THE SITUATION</a:t>
            </a:r>
          </a:p>
        </p:txBody>
      </p:sp>
      <p:sp>
        <p:nvSpPr>
          <p:cNvPr id="12" name="TextBox 11"/>
          <p:cNvSpPr txBox="1"/>
          <p:nvPr/>
        </p:nvSpPr>
        <p:spPr>
          <a:xfrm>
            <a:off x="1005840" y="2139696"/>
            <a:ext cx="10149840" cy="731520"/>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HarbourHub Fresh has three competing improvement ideas: click-and-collect, a loyalty app, and a warehouse automation study. Only one can be funded this quarter. The sponsor needs a transparent selection decision and evidence that the selected work fits the small-project profile.</a:t>
            </a:r>
          </a:p>
        </p:txBody>
      </p:sp>
      <p:sp>
        <p:nvSpPr>
          <p:cNvPr id="13" name="Rounded Rectangle 12"/>
          <p:cNvSpPr/>
          <p:nvPr/>
        </p:nvSpPr>
        <p:spPr>
          <a:xfrm>
            <a:off x="749808"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9808" y="3218688"/>
            <a:ext cx="3419856" cy="9144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 y="3401568"/>
            <a:ext cx="3017520" cy="274320"/>
          </a:xfrm>
          <a:prstGeom prst="rect">
            <a:avLst/>
          </a:prstGeom>
          <a:noFill/>
        </p:spPr>
        <p:txBody>
          <a:bodyPr wrap="square" lIns="0" rIns="0" tIns="0" bIns="0" anchor="t">
            <a:spAutoFit/>
          </a:bodyPr>
          <a:lstStyle/>
          <a:p>
            <a:pPr algn="l">
              <a:spcAft>
                <a:spcPts val="300"/>
              </a:spcAft>
            </a:pPr>
            <a:r>
              <a:rPr sz="1050" b="1">
                <a:solidFill>
                  <a:srgbClr val="1655D1"/>
                </a:solidFill>
                <a:latin typeface="Arial"/>
              </a:rPr>
              <a:t>WHAT YOU'LL DO</a:t>
            </a:r>
          </a:p>
        </p:txBody>
      </p:sp>
      <p:sp>
        <p:nvSpPr>
          <p:cNvPr id="16" name="TextBox 15"/>
          <p:cNvSpPr txBox="1"/>
          <p:nvPr/>
        </p:nvSpPr>
        <p:spPr>
          <a:xfrm>
            <a:off x="950976"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Apply the small-project screen, compare options using weighted criteria, test the financial case and document the recommendation, assumptions and rejection reasons.</a:t>
            </a:r>
          </a:p>
        </p:txBody>
      </p:sp>
      <p:sp>
        <p:nvSpPr>
          <p:cNvPr id="17" name="Rounded Rectangle 16"/>
          <p:cNvSpPr/>
          <p:nvPr/>
        </p:nvSpPr>
        <p:spPr>
          <a:xfrm>
            <a:off x="4389120"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89120" y="3218688"/>
            <a:ext cx="341985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90288" y="3401568"/>
            <a:ext cx="3017520" cy="274320"/>
          </a:xfrm>
          <a:prstGeom prst="rect">
            <a:avLst/>
          </a:prstGeom>
          <a:noFill/>
        </p:spPr>
        <p:txBody>
          <a:bodyPr wrap="square" lIns="0" rIns="0" tIns="0" bIns="0" anchor="t">
            <a:spAutoFit/>
          </a:bodyPr>
          <a:lstStyle/>
          <a:p>
            <a:pPr algn="l">
              <a:spcAft>
                <a:spcPts val="300"/>
              </a:spcAft>
            </a:pPr>
            <a:r>
              <a:rPr sz="1050" b="1">
                <a:solidFill>
                  <a:srgbClr val="0F9D8A"/>
                </a:solidFill>
                <a:latin typeface="Arial"/>
              </a:rPr>
              <a:t>YOU'LL PRODUCE</a:t>
            </a:r>
          </a:p>
        </p:txBody>
      </p:sp>
      <p:sp>
        <p:nvSpPr>
          <p:cNvPr id="20" name="TextBox 19"/>
          <p:cNvSpPr txBox="1"/>
          <p:nvPr/>
        </p:nvSpPr>
        <p:spPr>
          <a:xfrm>
            <a:off x="4590288"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A completed small-project screen, weighted option scorecard, cost-benefit check and sponsor-ready selection recommendation.</a:t>
            </a:r>
          </a:p>
        </p:txBody>
      </p:sp>
      <p:sp>
        <p:nvSpPr>
          <p:cNvPr id="21" name="Rounded Rectangle 20"/>
          <p:cNvSpPr/>
          <p:nvPr/>
        </p:nvSpPr>
        <p:spPr>
          <a:xfrm>
            <a:off x="8028431"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28431" y="3218688"/>
            <a:ext cx="3419856"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0" y="3401568"/>
            <a:ext cx="3017520" cy="274320"/>
          </a:xfrm>
          <a:prstGeom prst="rect">
            <a:avLst/>
          </a:prstGeom>
          <a:noFill/>
        </p:spPr>
        <p:txBody>
          <a:bodyPr wrap="square" lIns="0" rIns="0" tIns="0" bIns="0" anchor="t">
            <a:spAutoFit/>
          </a:bodyPr>
          <a:lstStyle/>
          <a:p>
            <a:pPr algn="l">
              <a:spcAft>
                <a:spcPts val="300"/>
              </a:spcAft>
            </a:pPr>
            <a:r>
              <a:rPr sz="1050" b="1">
                <a:solidFill>
                  <a:srgbClr val="F59E0B"/>
                </a:solidFill>
                <a:latin typeface="Arial"/>
              </a:rPr>
              <a:t>DONE WHEN</a:t>
            </a:r>
          </a:p>
        </p:txBody>
      </p:sp>
      <p:sp>
        <p:nvSpPr>
          <p:cNvPr id="24" name="TextBox 23"/>
          <p:cNvSpPr txBox="1"/>
          <p:nvPr/>
        </p:nvSpPr>
        <p:spPr>
          <a:xfrm>
            <a:off x="8229600"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The selected option satisfies every small-project criterion, the weighted score reconciles, the financial downside is visible and the recommendation states a clear gate decision.</a:t>
            </a:r>
          </a:p>
        </p:txBody>
      </p:sp>
      <p:sp>
        <p:nvSpPr>
          <p:cNvPr id="25" name="Rounded Rectangle 24"/>
          <p:cNvSpPr/>
          <p:nvPr/>
        </p:nvSpPr>
        <p:spPr>
          <a:xfrm>
            <a:off x="749808" y="5486400"/>
            <a:ext cx="10698480" cy="713232"/>
          </a:xfrm>
          <a:prstGeom prst="roundRect">
            <a:avLst>
              <a:gd name="adj" fmla="val 8000"/>
            </a:avLst>
          </a:prstGeom>
          <a:solidFill>
            <a:srgbClr val="FFFFFF"/>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577840"/>
            <a:ext cx="10195560" cy="256032"/>
          </a:xfrm>
          <a:prstGeom prst="rect">
            <a:avLst/>
          </a:prstGeom>
          <a:noFill/>
        </p:spPr>
        <p:txBody>
          <a:bodyPr wrap="square" lIns="0" rIns="0" tIns="0" bIns="0" anchor="t">
            <a:spAutoFit/>
          </a:bodyPr>
          <a:lstStyle/>
          <a:p>
            <a:pPr algn="l">
              <a:spcAft>
                <a:spcPts val="300"/>
              </a:spcAft>
            </a:pPr>
            <a:r>
              <a:rPr sz="1100" b="1">
                <a:solidFill>
                  <a:srgbClr val="131B2A"/>
                </a:solidFill>
                <a:latin typeface="Arial"/>
              </a:rPr>
              <a:t>Tool: Small Project Screening, Multi-Criteria Selection and Cost-Benefit Analysis</a:t>
            </a:r>
          </a:p>
        </p:txBody>
      </p:sp>
      <p:sp>
        <p:nvSpPr>
          <p:cNvPr id="27" name="TextBox 26"/>
          <p:cNvSpPr txBox="1"/>
          <p:nvPr/>
        </p:nvSpPr>
        <p:spPr>
          <a:xfrm>
            <a:off x="960120" y="5843016"/>
            <a:ext cx="10195560" cy="219456"/>
          </a:xfrm>
          <a:prstGeom prst="rect">
            <a:avLst/>
          </a:prstGeom>
          <a:noFill/>
        </p:spPr>
        <p:txBody>
          <a:bodyPr wrap="square" lIns="0" rIns="0" tIns="0" bIns="0" anchor="t">
            <a:spAutoFit/>
          </a:bodyPr>
          <a:lstStyle/>
          <a:p>
            <a:pPr algn="l">
              <a:spcAft>
                <a:spcPts val="300"/>
              </a:spcAft>
            </a:pPr>
            <a:r>
              <a:rPr sz="950" b="0">
                <a:solidFill>
                  <a:srgbClr val="5F6B7A"/>
                </a:solidFill>
                <a:latin typeface="Arial"/>
              </a:rPr>
              <a:t>Full procedure, evidence fields and acceptance criteria: Learner Guide and Activity 1 folder.</a:t>
            </a:r>
          </a:p>
        </p:txBody>
      </p:sp>
      <p:sp>
        <p:nvSpPr>
          <p:cNvPr id="28" name="TextBox 27"/>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9" name="TextBox 28"/>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Activity 1 · LO1</a:t>
            </a:r>
          </a:p>
        </p:txBody>
      </p:sp>
      <p:sp>
        <p:nvSpPr>
          <p:cNvPr id="30" name="TextBox 29"/>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703CC3"/>
                </a:solidFill>
                <a:latin typeface="Arial"/>
              </a:rPr>
              <a:t>TOPIC 01 · ACTIVITY DEBRIEF</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Debrief — Activity 1: What It Proves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1328928"/>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1024128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1</a:t>
            </a:r>
          </a:p>
        </p:txBody>
      </p:sp>
      <p:sp>
        <p:nvSpPr>
          <p:cNvPr id="10" name="TextBox 9"/>
          <p:cNvSpPr txBox="1"/>
          <p:nvPr/>
        </p:nvSpPr>
        <p:spPr>
          <a:xfrm>
            <a:off x="1005840" y="2313432"/>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Selection prevents the team from efficiently delivering the wrong project.</a:t>
            </a:r>
          </a:p>
        </p:txBody>
      </p:sp>
      <p:sp>
        <p:nvSpPr>
          <p:cNvPr id="11" name="Rounded Rectangle 10"/>
          <p:cNvSpPr/>
          <p:nvPr/>
        </p:nvSpPr>
        <p:spPr>
          <a:xfrm>
            <a:off x="749808" y="3340608"/>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 y="3340608"/>
            <a:ext cx="91440" cy="13289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505200"/>
            <a:ext cx="1024128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2</a:t>
            </a:r>
          </a:p>
        </p:txBody>
      </p:sp>
      <p:sp>
        <p:nvSpPr>
          <p:cNvPr id="14" name="TextBox 13"/>
          <p:cNvSpPr txBox="1"/>
          <p:nvPr/>
        </p:nvSpPr>
        <p:spPr>
          <a:xfrm>
            <a:off x="1005840" y="3870960"/>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Weights expose priorities; narrative rationale prevents false precision.</a:t>
            </a:r>
          </a:p>
        </p:txBody>
      </p:sp>
      <p:sp>
        <p:nvSpPr>
          <p:cNvPr id="15" name="Rounded Rectangle 14"/>
          <p:cNvSpPr/>
          <p:nvPr/>
        </p:nvSpPr>
        <p:spPr>
          <a:xfrm>
            <a:off x="749808" y="4898136"/>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898136"/>
            <a:ext cx="91440" cy="1328928"/>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5062728"/>
            <a:ext cx="1024128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3</a:t>
            </a:r>
          </a:p>
        </p:txBody>
      </p:sp>
      <p:sp>
        <p:nvSpPr>
          <p:cNvPr id="18" name="TextBox 17"/>
          <p:cNvSpPr txBox="1"/>
          <p:nvPr/>
        </p:nvSpPr>
        <p:spPr>
          <a:xfrm>
            <a:off x="1005840" y="5428488"/>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 selected idea is still not authorised work until the charter gate is passed.</a:t>
            </a:r>
          </a:p>
        </p:txBody>
      </p:sp>
      <p:sp>
        <p:nvSpPr>
          <p:cNvPr id="19" name="TextBox 1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0" name="TextBox 1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01 · ACTIVITY DEBRIEF</a:t>
            </a:r>
          </a:p>
        </p:txBody>
      </p:sp>
      <p:sp>
        <p:nvSpPr>
          <p:cNvPr id="21" name="TextBox 2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01 · TOOL-BASED PRACTICE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Activity 2 Tool Pack</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706727" y="2057400"/>
            <a:ext cx="4251960" cy="1874519"/>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706727" y="2057400"/>
            <a:ext cx="4251960" cy="109728"/>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935327" y="2304288"/>
            <a:ext cx="3794760" cy="292608"/>
          </a:xfrm>
          <a:prstGeom prst="rect">
            <a:avLst/>
          </a:prstGeom>
          <a:noFill/>
        </p:spPr>
        <p:txBody>
          <a:bodyPr wrap="square" lIns="0" rIns="0" tIns="0" bIns="0" anchor="t">
            <a:spAutoFit/>
          </a:bodyPr>
          <a:lstStyle/>
          <a:p>
            <a:pPr algn="ctr">
              <a:spcAft>
                <a:spcPts val="300"/>
              </a:spcAft>
            </a:pPr>
            <a:r>
              <a:rPr sz="1100" b="1">
                <a:solidFill>
                  <a:srgbClr val="1655D1"/>
                </a:solidFill>
                <a:latin typeface="Arial"/>
              </a:rPr>
              <a:t>DOCX</a:t>
            </a:r>
          </a:p>
        </p:txBody>
      </p:sp>
      <p:sp>
        <p:nvSpPr>
          <p:cNvPr id="10" name="TextBox 9"/>
          <p:cNvSpPr txBox="1"/>
          <p:nvPr/>
        </p:nvSpPr>
        <p:spPr>
          <a:xfrm>
            <a:off x="1935327" y="2624328"/>
            <a:ext cx="3794760" cy="640080"/>
          </a:xfrm>
          <a:prstGeom prst="rect">
            <a:avLst/>
          </a:prstGeom>
          <a:noFill/>
        </p:spPr>
        <p:txBody>
          <a:bodyPr wrap="square" lIns="0" rIns="0" tIns="0" bIns="0" anchor="ctr">
            <a:spAutoFit/>
          </a:bodyPr>
          <a:lstStyle/>
          <a:p>
            <a:pPr algn="ctr">
              <a:spcAft>
                <a:spcPts val="300"/>
              </a:spcAft>
            </a:pPr>
            <a:r>
              <a:rPr sz="1250" b="1">
                <a:solidFill>
                  <a:srgbClr val="131B2A"/>
                </a:solidFill>
                <a:latin typeface="Arial"/>
              </a:rPr>
              <a:t>05 Business Case on a Page</a:t>
            </a:r>
          </a:p>
        </p:txBody>
      </p:sp>
      <p:sp>
        <p:nvSpPr>
          <p:cNvPr id="11" name="TextBox 10"/>
          <p:cNvSpPr txBox="1"/>
          <p:nvPr/>
        </p:nvSpPr>
        <p:spPr>
          <a:xfrm>
            <a:off x="1935327" y="3337560"/>
            <a:ext cx="3794760" cy="320040"/>
          </a:xfrm>
          <a:prstGeom prst="rect">
            <a:avLst/>
          </a:prstGeom>
          <a:noFill/>
        </p:spPr>
        <p:txBody>
          <a:bodyPr wrap="square" lIns="0" rIns="0" tIns="0" bIns="0" anchor="t">
            <a:spAutoFit/>
          </a:bodyPr>
          <a:lstStyle/>
          <a:p>
            <a:pPr algn="ctr">
              <a:spcAft>
                <a:spcPts val="300"/>
              </a:spcAft>
            </a:pPr>
            <a:r>
              <a:rPr sz="1050" b="0">
                <a:solidFill>
                  <a:srgbClr val="5F6B7A"/>
                </a:solidFill>
                <a:latin typeface="Arial"/>
              </a:rPr>
              <a:t>Editable evidence file</a:t>
            </a:r>
          </a:p>
        </p:txBody>
      </p:sp>
      <p:sp>
        <p:nvSpPr>
          <p:cNvPr id="12" name="Rounded Rectangle 11"/>
          <p:cNvSpPr/>
          <p:nvPr/>
        </p:nvSpPr>
        <p:spPr>
          <a:xfrm>
            <a:off x="6233007" y="2057400"/>
            <a:ext cx="4251960" cy="1874519"/>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2057400"/>
            <a:ext cx="4251960" cy="1097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1607" y="2304288"/>
            <a:ext cx="3794760" cy="292608"/>
          </a:xfrm>
          <a:prstGeom prst="rect">
            <a:avLst/>
          </a:prstGeom>
          <a:noFill/>
        </p:spPr>
        <p:txBody>
          <a:bodyPr wrap="square" lIns="0" rIns="0" tIns="0" bIns="0" anchor="t">
            <a:spAutoFit/>
          </a:bodyPr>
          <a:lstStyle/>
          <a:p>
            <a:pPr algn="ctr">
              <a:spcAft>
                <a:spcPts val="300"/>
              </a:spcAft>
            </a:pPr>
            <a:r>
              <a:rPr sz="1100" b="1">
                <a:solidFill>
                  <a:srgbClr val="0F9D8A"/>
                </a:solidFill>
                <a:latin typeface="Arial"/>
              </a:rPr>
              <a:t>XLSX</a:t>
            </a:r>
          </a:p>
        </p:txBody>
      </p:sp>
      <p:sp>
        <p:nvSpPr>
          <p:cNvPr id="15" name="TextBox 14"/>
          <p:cNvSpPr txBox="1"/>
          <p:nvPr/>
        </p:nvSpPr>
        <p:spPr>
          <a:xfrm>
            <a:off x="6461607" y="2624328"/>
            <a:ext cx="3794760" cy="640080"/>
          </a:xfrm>
          <a:prstGeom prst="rect">
            <a:avLst/>
          </a:prstGeom>
          <a:noFill/>
        </p:spPr>
        <p:txBody>
          <a:bodyPr wrap="square" lIns="0" rIns="0" tIns="0" bIns="0" anchor="ctr">
            <a:spAutoFit/>
          </a:bodyPr>
          <a:lstStyle/>
          <a:p>
            <a:pPr algn="ctr">
              <a:spcAft>
                <a:spcPts val="300"/>
              </a:spcAft>
            </a:pPr>
            <a:r>
              <a:rPr sz="1250" b="1">
                <a:solidFill>
                  <a:srgbClr val="131B2A"/>
                </a:solidFill>
                <a:latin typeface="Arial"/>
              </a:rPr>
              <a:t>08 Project Charter Template</a:t>
            </a:r>
          </a:p>
        </p:txBody>
      </p:sp>
      <p:sp>
        <p:nvSpPr>
          <p:cNvPr id="16" name="TextBox 15"/>
          <p:cNvSpPr txBox="1"/>
          <p:nvPr/>
        </p:nvSpPr>
        <p:spPr>
          <a:xfrm>
            <a:off x="6461607" y="3337560"/>
            <a:ext cx="3794760" cy="320040"/>
          </a:xfrm>
          <a:prstGeom prst="rect">
            <a:avLst/>
          </a:prstGeom>
          <a:noFill/>
        </p:spPr>
        <p:txBody>
          <a:bodyPr wrap="square" lIns="0" rIns="0" tIns="0" bIns="0" anchor="t">
            <a:spAutoFit/>
          </a:bodyPr>
          <a:lstStyle/>
          <a:p>
            <a:pPr algn="ctr">
              <a:spcAft>
                <a:spcPts val="300"/>
              </a:spcAft>
            </a:pPr>
            <a:r>
              <a:rPr sz="1050" b="0">
                <a:solidFill>
                  <a:srgbClr val="5F6B7A"/>
                </a:solidFill>
                <a:latin typeface="Arial"/>
              </a:rPr>
              <a:t>Editable evidence file</a:t>
            </a:r>
          </a:p>
        </p:txBody>
      </p:sp>
      <p:sp>
        <p:nvSpPr>
          <p:cNvPr id="17" name="Rounded Rectangle 16"/>
          <p:cNvSpPr/>
          <p:nvPr/>
        </p:nvSpPr>
        <p:spPr>
          <a:xfrm>
            <a:off x="749808" y="4343400"/>
            <a:ext cx="10698480" cy="1143000"/>
          </a:xfrm>
          <a:prstGeom prst="roundRect">
            <a:avLst>
              <a:gd name="adj" fmla="val 8000"/>
            </a:avLst>
          </a:prstGeom>
          <a:solidFill>
            <a:srgbClr val="FFFFFF"/>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4544568"/>
            <a:ext cx="1828800" cy="274320"/>
          </a:xfrm>
          <a:prstGeom prst="rect">
            <a:avLst/>
          </a:prstGeom>
          <a:noFill/>
        </p:spPr>
        <p:txBody>
          <a:bodyPr wrap="square" lIns="0" rIns="0" tIns="0" bIns="0" anchor="t">
            <a:spAutoFit/>
          </a:bodyPr>
          <a:lstStyle/>
          <a:p>
            <a:pPr algn="l">
              <a:spcAft>
                <a:spcPts val="300"/>
              </a:spcAft>
            </a:pPr>
            <a:r>
              <a:rPr sz="1050" b="1">
                <a:solidFill>
                  <a:srgbClr val="0F9D8A"/>
                </a:solidFill>
                <a:latin typeface="Arial"/>
              </a:rPr>
              <a:t>DECISION ENABLED</a:t>
            </a:r>
          </a:p>
        </p:txBody>
      </p:sp>
      <p:sp>
        <p:nvSpPr>
          <p:cNvPr id="19" name="TextBox 18"/>
          <p:cNvSpPr txBox="1"/>
          <p:nvPr/>
        </p:nvSpPr>
        <p:spPr>
          <a:xfrm>
            <a:off x="2788920" y="4453128"/>
            <a:ext cx="8229600" cy="685800"/>
          </a:xfrm>
          <a:prstGeom prst="rect">
            <a:avLst/>
          </a:prstGeom>
          <a:noFill/>
        </p:spPr>
        <p:txBody>
          <a:bodyPr wrap="square" lIns="0" rIns="0" tIns="0" bIns="0" anchor="ctr">
            <a:spAutoFit/>
          </a:bodyPr>
          <a:lstStyle/>
          <a:p>
            <a:pPr algn="l">
              <a:spcAft>
                <a:spcPts val="300"/>
              </a:spcAft>
            </a:pPr>
            <a:r>
              <a:rPr sz="1250" b="1">
                <a:solidFill>
                  <a:srgbClr val="131B2A"/>
                </a:solidFill>
                <a:latin typeface="Arial"/>
              </a:rPr>
              <a:t>A one-page business case, signed-ready charter, assumptions and constraints log, milestone frame, decision tolerances and kickoff action list.</a:t>
            </a:r>
          </a:p>
        </p:txBody>
      </p:sp>
      <p:sp>
        <p:nvSpPr>
          <p:cNvPr id="20" name="TextBox 19"/>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1" name="TextBox 20"/>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01 · TOOL-BASED PRACTICE</a:t>
            </a:r>
          </a:p>
        </p:txBody>
      </p:sp>
      <p:sp>
        <p:nvSpPr>
          <p:cNvPr id="22" name="TextBox 21"/>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01 · HANDS-ON ACTIVITY</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Authorise the Pilot and Run the Kickoff Gate</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034272" y="384048"/>
            <a:ext cx="2377440" cy="402336"/>
          </a:xfrm>
          <a:prstGeom prst="roundRect">
            <a:avLst>
              <a:gd name="adj" fmla="val 8000"/>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34272" y="384048"/>
            <a:ext cx="2377440" cy="402336"/>
          </a:xfrm>
          <a:prstGeom prst="rect">
            <a:avLst/>
          </a:prstGeom>
          <a:noFill/>
        </p:spPr>
        <p:txBody>
          <a:bodyPr wrap="square" lIns="0" rIns="0" tIns="0" bIns="0" anchor="ctr">
            <a:spAutoFit/>
          </a:bodyPr>
          <a:lstStyle/>
          <a:p>
            <a:pPr algn="ctr">
              <a:spcAft>
                <a:spcPts val="300"/>
              </a:spcAft>
            </a:pPr>
            <a:r>
              <a:rPr sz="1050" b="1">
                <a:solidFill>
                  <a:srgbClr val="FFFFFF"/>
                </a:solidFill>
                <a:latin typeface="Arial"/>
              </a:rPr>
              <a:t>ACTIVITY 2 · 45 MIN</a:t>
            </a:r>
          </a:p>
        </p:txBody>
      </p:sp>
      <p:sp>
        <p:nvSpPr>
          <p:cNvPr id="9" name="Rounded Rectangle 8"/>
          <p:cNvSpPr/>
          <p:nvPr/>
        </p:nvSpPr>
        <p:spPr>
          <a:xfrm>
            <a:off x="749808" y="1773936"/>
            <a:ext cx="10698480" cy="12344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773936"/>
            <a:ext cx="91440" cy="123444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874519"/>
            <a:ext cx="10149840" cy="256032"/>
          </a:xfrm>
          <a:prstGeom prst="rect">
            <a:avLst/>
          </a:prstGeom>
          <a:noFill/>
        </p:spPr>
        <p:txBody>
          <a:bodyPr wrap="square" lIns="0" rIns="0" tIns="0" bIns="0" anchor="t">
            <a:spAutoFit/>
          </a:bodyPr>
          <a:lstStyle/>
          <a:p>
            <a:pPr algn="l">
              <a:spcAft>
                <a:spcPts val="300"/>
              </a:spcAft>
            </a:pPr>
            <a:r>
              <a:rPr sz="1050" b="1">
                <a:solidFill>
                  <a:srgbClr val="703CC3"/>
                </a:solidFill>
                <a:latin typeface="Arial"/>
              </a:rPr>
              <a:t>THE SITUATION</a:t>
            </a:r>
          </a:p>
        </p:txBody>
      </p:sp>
      <p:sp>
        <p:nvSpPr>
          <p:cNvPr id="12" name="TextBox 11"/>
          <p:cNvSpPr txBox="1"/>
          <p:nvPr/>
        </p:nvSpPr>
        <p:spPr>
          <a:xfrm>
            <a:off x="1005840" y="2139696"/>
            <a:ext cx="10149840" cy="731520"/>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The click-and-collect pilot has been selected, but Operations, Finance and the two vendors hold different assumptions about success, exclusions and decision authority. The sponsor will authorise delivery only after a concise gate review.</a:t>
            </a:r>
          </a:p>
        </p:txBody>
      </p:sp>
      <p:sp>
        <p:nvSpPr>
          <p:cNvPr id="13" name="Rounded Rectangle 12"/>
          <p:cNvSpPr/>
          <p:nvPr/>
        </p:nvSpPr>
        <p:spPr>
          <a:xfrm>
            <a:off x="749808"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9808" y="3218688"/>
            <a:ext cx="3419856" cy="9144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 y="3401568"/>
            <a:ext cx="3017520" cy="274320"/>
          </a:xfrm>
          <a:prstGeom prst="rect">
            <a:avLst/>
          </a:prstGeom>
          <a:noFill/>
        </p:spPr>
        <p:txBody>
          <a:bodyPr wrap="square" lIns="0" rIns="0" tIns="0" bIns="0" anchor="t">
            <a:spAutoFit/>
          </a:bodyPr>
          <a:lstStyle/>
          <a:p>
            <a:pPr algn="l">
              <a:spcAft>
                <a:spcPts val="300"/>
              </a:spcAft>
            </a:pPr>
            <a:r>
              <a:rPr sz="1050" b="1">
                <a:solidFill>
                  <a:srgbClr val="1655D1"/>
                </a:solidFill>
                <a:latin typeface="Arial"/>
              </a:rPr>
              <a:t>WHAT YOU'LL DO</a:t>
            </a:r>
          </a:p>
        </p:txBody>
      </p:sp>
      <p:sp>
        <p:nvSpPr>
          <p:cNvPr id="16" name="TextBox 15"/>
          <p:cNvSpPr txBox="1"/>
          <p:nvPr/>
        </p:nvSpPr>
        <p:spPr>
          <a:xfrm>
            <a:off x="950976"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Convert the selected option into a measurable business case and charter, define boundaries, name decision rights and conduct a short sponsor gate and kickoff.</a:t>
            </a:r>
          </a:p>
        </p:txBody>
      </p:sp>
      <p:sp>
        <p:nvSpPr>
          <p:cNvPr id="17" name="Rounded Rectangle 16"/>
          <p:cNvSpPr/>
          <p:nvPr/>
        </p:nvSpPr>
        <p:spPr>
          <a:xfrm>
            <a:off x="4389120"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89120" y="3218688"/>
            <a:ext cx="341985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90288" y="3401568"/>
            <a:ext cx="3017520" cy="274320"/>
          </a:xfrm>
          <a:prstGeom prst="rect">
            <a:avLst/>
          </a:prstGeom>
          <a:noFill/>
        </p:spPr>
        <p:txBody>
          <a:bodyPr wrap="square" lIns="0" rIns="0" tIns="0" bIns="0" anchor="t">
            <a:spAutoFit/>
          </a:bodyPr>
          <a:lstStyle/>
          <a:p>
            <a:pPr algn="l">
              <a:spcAft>
                <a:spcPts val="300"/>
              </a:spcAft>
            </a:pPr>
            <a:r>
              <a:rPr sz="1050" b="1">
                <a:solidFill>
                  <a:srgbClr val="0F9D8A"/>
                </a:solidFill>
                <a:latin typeface="Arial"/>
              </a:rPr>
              <a:t>YOU'LL PRODUCE</a:t>
            </a:r>
          </a:p>
        </p:txBody>
      </p:sp>
      <p:sp>
        <p:nvSpPr>
          <p:cNvPr id="20" name="TextBox 19"/>
          <p:cNvSpPr txBox="1"/>
          <p:nvPr/>
        </p:nvSpPr>
        <p:spPr>
          <a:xfrm>
            <a:off x="4590288"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A one-page business case, signed-ready charter, assumptions and constraints log, milestone frame, decision tolerances and kickoff action list.</a:t>
            </a:r>
          </a:p>
        </p:txBody>
      </p:sp>
      <p:sp>
        <p:nvSpPr>
          <p:cNvPr id="21" name="Rounded Rectangle 20"/>
          <p:cNvSpPr/>
          <p:nvPr/>
        </p:nvSpPr>
        <p:spPr>
          <a:xfrm>
            <a:off x="8028431"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28431" y="3218688"/>
            <a:ext cx="3419856"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0" y="3401568"/>
            <a:ext cx="3017520" cy="274320"/>
          </a:xfrm>
          <a:prstGeom prst="rect">
            <a:avLst/>
          </a:prstGeom>
          <a:noFill/>
        </p:spPr>
        <p:txBody>
          <a:bodyPr wrap="square" lIns="0" rIns="0" tIns="0" bIns="0" anchor="t">
            <a:spAutoFit/>
          </a:bodyPr>
          <a:lstStyle/>
          <a:p>
            <a:pPr algn="l">
              <a:spcAft>
                <a:spcPts val="300"/>
              </a:spcAft>
            </a:pPr>
            <a:r>
              <a:rPr sz="1050" b="1">
                <a:solidFill>
                  <a:srgbClr val="F59E0B"/>
                </a:solidFill>
                <a:latin typeface="Arial"/>
              </a:rPr>
              <a:t>DONE WHEN</a:t>
            </a:r>
          </a:p>
        </p:txBody>
      </p:sp>
      <p:sp>
        <p:nvSpPr>
          <p:cNvPr id="24" name="TextBox 23"/>
          <p:cNvSpPr txBox="1"/>
          <p:nvPr/>
        </p:nvSpPr>
        <p:spPr>
          <a:xfrm>
            <a:off x="8229600"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The charter names one accountable sponsor, measurable success, explicit exclusions, decision tolerances and an unambiguous authorisation decision within the small-project constraints.</a:t>
            </a:r>
          </a:p>
        </p:txBody>
      </p:sp>
      <p:sp>
        <p:nvSpPr>
          <p:cNvPr id="25" name="Rounded Rectangle 24"/>
          <p:cNvSpPr/>
          <p:nvPr/>
        </p:nvSpPr>
        <p:spPr>
          <a:xfrm>
            <a:off x="749808" y="5486400"/>
            <a:ext cx="10698480" cy="713232"/>
          </a:xfrm>
          <a:prstGeom prst="roundRect">
            <a:avLst>
              <a:gd name="adj" fmla="val 8000"/>
            </a:avLst>
          </a:prstGeom>
          <a:solidFill>
            <a:srgbClr val="FFFFFF"/>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577840"/>
            <a:ext cx="10195560" cy="256032"/>
          </a:xfrm>
          <a:prstGeom prst="rect">
            <a:avLst/>
          </a:prstGeom>
          <a:noFill/>
        </p:spPr>
        <p:txBody>
          <a:bodyPr wrap="square" lIns="0" rIns="0" tIns="0" bIns="0" anchor="t">
            <a:spAutoFit/>
          </a:bodyPr>
          <a:lstStyle/>
          <a:p>
            <a:pPr algn="l">
              <a:spcAft>
                <a:spcPts val="300"/>
              </a:spcAft>
            </a:pPr>
            <a:r>
              <a:rPr sz="1100" b="1">
                <a:solidFill>
                  <a:srgbClr val="131B2A"/>
                </a:solidFill>
                <a:latin typeface="Arial"/>
              </a:rPr>
              <a:t>Tool: Business Case on a Page and Project Charter</a:t>
            </a:r>
          </a:p>
        </p:txBody>
      </p:sp>
      <p:sp>
        <p:nvSpPr>
          <p:cNvPr id="27" name="TextBox 26"/>
          <p:cNvSpPr txBox="1"/>
          <p:nvPr/>
        </p:nvSpPr>
        <p:spPr>
          <a:xfrm>
            <a:off x="960120" y="5843016"/>
            <a:ext cx="10195560" cy="219456"/>
          </a:xfrm>
          <a:prstGeom prst="rect">
            <a:avLst/>
          </a:prstGeom>
          <a:noFill/>
        </p:spPr>
        <p:txBody>
          <a:bodyPr wrap="square" lIns="0" rIns="0" tIns="0" bIns="0" anchor="t">
            <a:spAutoFit/>
          </a:bodyPr>
          <a:lstStyle/>
          <a:p>
            <a:pPr algn="l">
              <a:spcAft>
                <a:spcPts val="300"/>
              </a:spcAft>
            </a:pPr>
            <a:r>
              <a:rPr sz="950" b="0">
                <a:solidFill>
                  <a:srgbClr val="5F6B7A"/>
                </a:solidFill>
                <a:latin typeface="Arial"/>
              </a:rPr>
              <a:t>Full procedure, evidence fields and acceptance criteria: Learner Guide and Activity 2 folder.</a:t>
            </a:r>
          </a:p>
        </p:txBody>
      </p:sp>
      <p:sp>
        <p:nvSpPr>
          <p:cNvPr id="28" name="TextBox 27"/>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9" name="TextBox 28"/>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Activity 2 · LO1</a:t>
            </a:r>
          </a:p>
        </p:txBody>
      </p:sp>
      <p:sp>
        <p:nvSpPr>
          <p:cNvPr id="30" name="TextBox 29"/>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703CC3"/>
                </a:solidFill>
                <a:latin typeface="Arial"/>
              </a:rPr>
              <a:t>TOPIC 01 · ACTIVITY DEBRIEF</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Debrief — Activity 2: What It Proves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1328928"/>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1024128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1</a:t>
            </a:r>
          </a:p>
        </p:txBody>
      </p:sp>
      <p:sp>
        <p:nvSpPr>
          <p:cNvPr id="10" name="TextBox 9"/>
          <p:cNvSpPr txBox="1"/>
          <p:nvPr/>
        </p:nvSpPr>
        <p:spPr>
          <a:xfrm>
            <a:off x="1005840" y="2313432"/>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The business case justifies investment; the charter grants authority.</a:t>
            </a:r>
          </a:p>
        </p:txBody>
      </p:sp>
      <p:sp>
        <p:nvSpPr>
          <p:cNvPr id="11" name="Rounded Rectangle 10"/>
          <p:cNvSpPr/>
          <p:nvPr/>
        </p:nvSpPr>
        <p:spPr>
          <a:xfrm>
            <a:off x="749808" y="3340608"/>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 y="3340608"/>
            <a:ext cx="91440" cy="13289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505200"/>
            <a:ext cx="1024128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2</a:t>
            </a:r>
          </a:p>
        </p:txBody>
      </p:sp>
      <p:sp>
        <p:nvSpPr>
          <p:cNvPr id="14" name="TextBox 13"/>
          <p:cNvSpPr txBox="1"/>
          <p:nvPr/>
        </p:nvSpPr>
        <p:spPr>
          <a:xfrm>
            <a:off x="1005840" y="3870960"/>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Decision tolerances make lightweight governance possible.</a:t>
            </a:r>
          </a:p>
        </p:txBody>
      </p:sp>
      <p:sp>
        <p:nvSpPr>
          <p:cNvPr id="15" name="Rounded Rectangle 14"/>
          <p:cNvSpPr/>
          <p:nvPr/>
        </p:nvSpPr>
        <p:spPr>
          <a:xfrm>
            <a:off x="749808" y="4898136"/>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898136"/>
            <a:ext cx="91440" cy="1328928"/>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5062728"/>
            <a:ext cx="1024128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3</a:t>
            </a:r>
          </a:p>
        </p:txBody>
      </p:sp>
      <p:sp>
        <p:nvSpPr>
          <p:cNvPr id="18" name="TextBox 17"/>
          <p:cNvSpPr txBox="1"/>
          <p:nvPr/>
        </p:nvSpPr>
        <p:spPr>
          <a:xfrm>
            <a:off x="1005840" y="5428488"/>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Kickoff converts signed paper into shared commitments and immediate action.</a:t>
            </a:r>
          </a:p>
        </p:txBody>
      </p:sp>
      <p:sp>
        <p:nvSpPr>
          <p:cNvPr id="19" name="TextBox 1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0" name="TextBox 1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01 · ACTIVITY DEBRIEF</a:t>
            </a:r>
          </a:p>
        </p:txBody>
      </p:sp>
      <p:sp>
        <p:nvSpPr>
          <p:cNvPr id="21" name="TextBox 2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A7F4B"/>
                </a:solidFill>
                <a:latin typeface="Arial"/>
              </a:rPr>
              <a:t>TOPIC 01 · A1, K1 · LO1</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Topic 01 Recap</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Decision</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 project is temporary, unique and value-seeking; operations are ongoing and repetitive.</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Method</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Success balances value and outcomes with scope, schedule, cost, quality, resources and risk.</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Evidence</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200" b="0">
                <a:solidFill>
                  <a:srgbClr val="131B2A"/>
                </a:solidFill>
                <a:latin typeface="Arial"/>
              </a:rPr>
              <a:t>A one-page business case, signed-ready charter, assumptions and constraints log, milestone frame, decision tolerances and kickoff action list.</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Capability</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Define scope, success, authority and team arrangements for an executable small-project start (A1, K1).</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01 · A1, K1 · LO1</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58368" y="1554480"/>
            <a:ext cx="10881360" cy="36118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554480"/>
            <a:ext cx="128016" cy="361188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70432" y="1901952"/>
            <a:ext cx="7955279" cy="365760"/>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TOPIC 02 · A2, K2 · LO2</a:t>
            </a:r>
          </a:p>
        </p:txBody>
      </p:sp>
      <p:sp>
        <p:nvSpPr>
          <p:cNvPr id="6" name="TextBox 5"/>
          <p:cNvSpPr txBox="1"/>
          <p:nvPr/>
        </p:nvSpPr>
        <p:spPr>
          <a:xfrm>
            <a:off x="1170432" y="2395728"/>
            <a:ext cx="9052560" cy="914400"/>
          </a:xfrm>
          <a:prstGeom prst="rect">
            <a:avLst/>
          </a:prstGeom>
          <a:noFill/>
        </p:spPr>
        <p:txBody>
          <a:bodyPr wrap="square" lIns="0" rIns="0" tIns="0" bIns="0" anchor="ctr">
            <a:spAutoFit/>
          </a:bodyPr>
          <a:lstStyle/>
          <a:p>
            <a:pPr algn="l">
              <a:spcAft>
                <a:spcPts val="300"/>
              </a:spcAft>
            </a:pPr>
            <a:r>
              <a:rPr sz="3400" b="1">
                <a:solidFill>
                  <a:srgbClr val="131B2A"/>
                </a:solidFill>
                <a:latin typeface="Arial"/>
              </a:rPr>
              <a:t>Develop a Project Plan</a:t>
            </a:r>
          </a:p>
        </p:txBody>
      </p:sp>
      <p:sp>
        <p:nvSpPr>
          <p:cNvPr id="7" name="TextBox 6"/>
          <p:cNvSpPr txBox="1"/>
          <p:nvPr/>
        </p:nvSpPr>
        <p:spPr>
          <a:xfrm>
            <a:off x="1170432" y="3474720"/>
            <a:ext cx="9052560" cy="777240"/>
          </a:xfrm>
          <a:prstGeom prst="rect">
            <a:avLst/>
          </a:prstGeom>
          <a:noFill/>
        </p:spPr>
        <p:txBody>
          <a:bodyPr wrap="square" lIns="0" rIns="0" tIns="0" bIns="0" anchor="t">
            <a:spAutoFit/>
          </a:bodyPr>
          <a:lstStyle/>
          <a:p>
            <a:pPr algn="l">
              <a:spcAft>
                <a:spcPts val="300"/>
              </a:spcAft>
            </a:pPr>
            <a:r>
              <a:rPr sz="1600" b="0">
                <a:solidFill>
                  <a:srgbClr val="5F6B7A"/>
                </a:solidFill>
                <a:latin typeface="Arial"/>
              </a:rPr>
              <a:t>Requirements · scope baseline · WBS · network · schedule · budget</a:t>
            </a:r>
          </a:p>
        </p:txBody>
      </p:sp>
      <p:sp>
        <p:nvSpPr>
          <p:cNvPr id="8" name="TextBox 7"/>
          <p:cNvSpPr txBox="1"/>
          <p:nvPr/>
        </p:nvSpPr>
        <p:spPr>
          <a:xfrm>
            <a:off x="9308592" y="594360"/>
            <a:ext cx="1920240" cy="1097280"/>
          </a:xfrm>
          <a:prstGeom prst="rect">
            <a:avLst/>
          </a:prstGeom>
          <a:noFill/>
        </p:spPr>
        <p:txBody>
          <a:bodyPr wrap="square" lIns="0" rIns="0" tIns="0" bIns="0" anchor="t">
            <a:spAutoFit/>
          </a:bodyPr>
          <a:lstStyle/>
          <a:p>
            <a:pPr algn="r">
              <a:spcAft>
                <a:spcPts val="300"/>
              </a:spcAft>
            </a:pPr>
            <a:r>
              <a:rPr sz="6200" b="1">
                <a:solidFill>
                  <a:srgbClr val="DAE2EC"/>
                </a:solidFill>
                <a:latin typeface="Arial"/>
              </a:rPr>
              <a:t>02</a:t>
            </a:r>
          </a:p>
        </p:txBody>
      </p:sp>
      <p:sp>
        <p:nvSpPr>
          <p:cNvPr id="9" name="TextBox 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10" name="TextBox 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02 · A2, K2 · LO2</a:t>
            </a:r>
          </a:p>
        </p:txBody>
      </p:sp>
      <p:sp>
        <p:nvSpPr>
          <p:cNvPr id="11" name="TextBox 1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02 · CENTRAL IDEA</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A plan is a connected model, not a collection of files.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847088"/>
            <a:ext cx="10698480" cy="3977639"/>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847088"/>
            <a:ext cx="128016" cy="3977639"/>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2359152"/>
            <a:ext cx="9738360" cy="2834640"/>
          </a:xfrm>
          <a:prstGeom prst="rect">
            <a:avLst/>
          </a:prstGeom>
          <a:noFill/>
        </p:spPr>
        <p:txBody>
          <a:bodyPr wrap="square" lIns="0" rIns="0" tIns="0" bIns="0" anchor="ctr">
            <a:spAutoFit/>
          </a:bodyPr>
          <a:lstStyle/>
          <a:p>
            <a:pPr algn="l">
              <a:spcAft>
                <a:spcPts val="300"/>
              </a:spcAft>
            </a:pPr>
            <a:r>
              <a:rPr sz="2400" b="1">
                <a:solidFill>
                  <a:srgbClr val="131B2A"/>
                </a:solidFill>
                <a:latin typeface="Arial"/>
              </a:rPr>
              <a:t>Requirements, WBS, dependencies, dates, resources and money must describe the same work. If one changes, the others must move with it.</a:t>
            </a:r>
          </a:p>
        </p:txBody>
      </p:sp>
      <p:sp>
        <p:nvSpPr>
          <p:cNvPr id="10" name="TextBox 9"/>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11" name="TextBox 10"/>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02 · CENTRAL IDEA</a:t>
            </a:r>
          </a:p>
        </p:txBody>
      </p:sp>
      <p:sp>
        <p:nvSpPr>
          <p:cNvPr id="12" name="TextBox 11"/>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02 · CONCEPT MAP</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Develop a Project Plan — Core Concepts I</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01</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The plan integrates subsidiary decisions; separate scope, schedule and cost files are not yet a project plan.</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02</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Progressive elaboration and rolling-wave planning add detail as uncertainty reduces without abandoning control.</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03</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Requirements must be testable, prioritised and traceable from need through deliverable and acceptance evidence.</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04</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The scope statement defines deliverables, exclusions, constraints, assumptions and acceptance criteria.</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02 · CONCEPT MAP</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02 · CONCEPT MAP</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Develop a Project Plan — Core Concepts II</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05</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The WBS decomposes deliverables to manageable work packages; the WBS dictionary removes ambiguity.</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06</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Dependencies create the network; the longest path sets the earliest finish and carries zero or least float.</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07</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200" b="0">
                <a:solidFill>
                  <a:srgbClr val="131B2A"/>
                </a:solidFill>
                <a:latin typeface="Arial"/>
              </a:rPr>
              <a:t>Duration estimates should separate work, waiting, risk and resource availability; use analogous, parametric, bottom-up or three-point methods deliberately.</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08</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The cost baseline is time-phased; contingency reserve covers known-unknowns while management reserve covers unknown-unknowns.</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02 · CONCEPT MAP</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02 · APPLIED FRAMEWORK</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The Planning Chain</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1645919"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1389887"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Need</a:t>
            </a:r>
          </a:p>
        </p:txBody>
      </p:sp>
      <p:sp>
        <p:nvSpPr>
          <p:cNvPr id="11" name="TextBox 10"/>
          <p:cNvSpPr txBox="1"/>
          <p:nvPr/>
        </p:nvSpPr>
        <p:spPr>
          <a:xfrm>
            <a:off x="896112"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stakeholder source</a:t>
            </a:r>
          </a:p>
        </p:txBody>
      </p:sp>
      <p:cxnSp>
        <p:nvCxnSpPr>
          <p:cNvPr id="12" name="Connector 11"/>
          <p:cNvCxnSpPr/>
          <p:nvPr/>
        </p:nvCxnSpPr>
        <p:spPr>
          <a:xfrm>
            <a:off x="2395727" y="3474720"/>
            <a:ext cx="164593"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560320"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60320" y="1965960"/>
            <a:ext cx="1645919"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88336" y="2240279"/>
            <a:ext cx="1389887"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2688336"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Requirement</a:t>
            </a:r>
          </a:p>
        </p:txBody>
      </p:sp>
      <p:sp>
        <p:nvSpPr>
          <p:cNvPr id="17" name="TextBox 16"/>
          <p:cNvSpPr txBox="1"/>
          <p:nvPr/>
        </p:nvSpPr>
        <p:spPr>
          <a:xfrm>
            <a:off x="2706624"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testable and prioritised</a:t>
            </a:r>
          </a:p>
        </p:txBody>
      </p:sp>
      <p:cxnSp>
        <p:nvCxnSpPr>
          <p:cNvPr id="18" name="Connector 17"/>
          <p:cNvCxnSpPr/>
          <p:nvPr/>
        </p:nvCxnSpPr>
        <p:spPr>
          <a:xfrm>
            <a:off x="4206240" y="3474720"/>
            <a:ext cx="164591"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370831"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70831" y="1965960"/>
            <a:ext cx="1645919"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98847" y="2240279"/>
            <a:ext cx="1389887"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4498847"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Deliverable</a:t>
            </a:r>
          </a:p>
        </p:txBody>
      </p:sp>
      <p:sp>
        <p:nvSpPr>
          <p:cNvPr id="23" name="TextBox 22"/>
          <p:cNvSpPr txBox="1"/>
          <p:nvPr/>
        </p:nvSpPr>
        <p:spPr>
          <a:xfrm>
            <a:off x="4517136"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scope statement and WBS</a:t>
            </a:r>
          </a:p>
        </p:txBody>
      </p:sp>
      <p:cxnSp>
        <p:nvCxnSpPr>
          <p:cNvPr id="24" name="Connector 23"/>
          <p:cNvCxnSpPr/>
          <p:nvPr/>
        </p:nvCxnSpPr>
        <p:spPr>
          <a:xfrm>
            <a:off x="6016751"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181344"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81344" y="1965960"/>
            <a:ext cx="1645919"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59" y="2240279"/>
            <a:ext cx="1389887"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6309359"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Activity</a:t>
            </a:r>
          </a:p>
        </p:txBody>
      </p:sp>
      <p:sp>
        <p:nvSpPr>
          <p:cNvPr id="29" name="TextBox 28"/>
          <p:cNvSpPr txBox="1"/>
          <p:nvPr/>
        </p:nvSpPr>
        <p:spPr>
          <a:xfrm>
            <a:off x="6327648"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dependency and duration</a:t>
            </a:r>
          </a:p>
        </p:txBody>
      </p:sp>
      <p:cxnSp>
        <p:nvCxnSpPr>
          <p:cNvPr id="30" name="Connector 29"/>
          <p:cNvCxnSpPr/>
          <p:nvPr/>
        </p:nvCxnSpPr>
        <p:spPr>
          <a:xfrm>
            <a:off x="7827263"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991855"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91855" y="1965960"/>
            <a:ext cx="1645919" cy="13716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19871" y="2240279"/>
            <a:ext cx="1389887" cy="457200"/>
          </a:xfrm>
          <a:prstGeom prst="rect">
            <a:avLst/>
          </a:prstGeom>
          <a:noFill/>
        </p:spPr>
        <p:txBody>
          <a:bodyPr wrap="square" lIns="0" rIns="0" tIns="0" bIns="0" anchor="t">
            <a:spAutoFit/>
          </a:bodyPr>
          <a:lstStyle/>
          <a:p>
            <a:pPr algn="ctr">
              <a:spcAft>
                <a:spcPts val="300"/>
              </a:spcAft>
            </a:pPr>
            <a:r>
              <a:rPr sz="1400" b="1">
                <a:solidFill>
                  <a:srgbClr val="1A7F4B"/>
                </a:solidFill>
                <a:latin typeface="Arial"/>
              </a:rPr>
              <a:t>05</a:t>
            </a:r>
          </a:p>
        </p:txBody>
      </p:sp>
      <p:sp>
        <p:nvSpPr>
          <p:cNvPr id="34" name="TextBox 33"/>
          <p:cNvSpPr txBox="1"/>
          <p:nvPr/>
        </p:nvSpPr>
        <p:spPr>
          <a:xfrm>
            <a:off x="8119871"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Baseline</a:t>
            </a:r>
          </a:p>
        </p:txBody>
      </p:sp>
      <p:sp>
        <p:nvSpPr>
          <p:cNvPr id="35" name="TextBox 34"/>
          <p:cNvSpPr txBox="1"/>
          <p:nvPr/>
        </p:nvSpPr>
        <p:spPr>
          <a:xfrm>
            <a:off x="8138159"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schedule and budget</a:t>
            </a:r>
          </a:p>
        </p:txBody>
      </p:sp>
      <p:cxnSp>
        <p:nvCxnSpPr>
          <p:cNvPr id="36" name="Connector 35"/>
          <p:cNvCxnSpPr/>
          <p:nvPr/>
        </p:nvCxnSpPr>
        <p:spPr>
          <a:xfrm>
            <a:off x="9637776" y="3474720"/>
            <a:ext cx="164591"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802367"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02367" y="1965960"/>
            <a:ext cx="1645919" cy="137160"/>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930384" y="2240279"/>
            <a:ext cx="1389887" cy="457200"/>
          </a:xfrm>
          <a:prstGeom prst="rect">
            <a:avLst/>
          </a:prstGeom>
          <a:noFill/>
        </p:spPr>
        <p:txBody>
          <a:bodyPr wrap="square" lIns="0" rIns="0" tIns="0" bIns="0" anchor="t">
            <a:spAutoFit/>
          </a:bodyPr>
          <a:lstStyle/>
          <a:p>
            <a:pPr algn="ctr">
              <a:spcAft>
                <a:spcPts val="300"/>
              </a:spcAft>
            </a:pPr>
            <a:r>
              <a:rPr sz="1400" b="1">
                <a:solidFill>
                  <a:srgbClr val="C93131"/>
                </a:solidFill>
                <a:latin typeface="Arial"/>
              </a:rPr>
              <a:t>06</a:t>
            </a:r>
          </a:p>
        </p:txBody>
      </p:sp>
      <p:sp>
        <p:nvSpPr>
          <p:cNvPr id="40" name="TextBox 39"/>
          <p:cNvSpPr txBox="1"/>
          <p:nvPr/>
        </p:nvSpPr>
        <p:spPr>
          <a:xfrm>
            <a:off x="9930384"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Evidence</a:t>
            </a:r>
          </a:p>
        </p:txBody>
      </p:sp>
      <p:sp>
        <p:nvSpPr>
          <p:cNvPr id="41" name="TextBox 40"/>
          <p:cNvSpPr txBox="1"/>
          <p:nvPr/>
        </p:nvSpPr>
        <p:spPr>
          <a:xfrm>
            <a:off x="9948672"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acceptance and traceability</a:t>
            </a:r>
          </a:p>
        </p:txBody>
      </p:sp>
      <p:sp>
        <p:nvSpPr>
          <p:cNvPr id="42" name="Rounded Rectangle 41"/>
          <p:cNvSpPr/>
          <p:nvPr/>
        </p:nvSpPr>
        <p:spPr>
          <a:xfrm>
            <a:off x="749808" y="5303520"/>
            <a:ext cx="10698480" cy="713232"/>
          </a:xfrm>
          <a:prstGeom prst="roundRect">
            <a:avLst>
              <a:gd name="adj" fmla="val 8000"/>
            </a:avLst>
          </a:prstGeom>
          <a:solidFill>
            <a:srgbClr val="FFFFFF"/>
          </a:solidFill>
          <a:ln w="12700">
            <a:solidFill>
              <a:srgbClr val="1655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A broken link creates either orphan scope or unplanned work.</a:t>
            </a:r>
          </a:p>
        </p:txBody>
      </p:sp>
      <p:sp>
        <p:nvSpPr>
          <p:cNvPr id="44" name="TextBox 43"/>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5" name="TextBox 44"/>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02 · APPLIED FRAMEWORK</a:t>
            </a:r>
          </a:p>
        </p:txBody>
      </p:sp>
      <p:sp>
        <p:nvSpPr>
          <p:cNvPr id="46" name="TextBox 45"/>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02 · DECISION TOOL</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Estimating Methods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Method</a:t>
            </a:r>
          </a:p>
        </p:txBody>
      </p:sp>
      <p:sp>
        <p:nvSpPr>
          <p:cNvPr id="9" name="Rectangle 8"/>
          <p:cNvSpPr/>
          <p:nvPr/>
        </p:nvSpPr>
        <p:spPr>
          <a:xfrm>
            <a:off x="4315968"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Best use</a:t>
            </a:r>
          </a:p>
        </p:txBody>
      </p:sp>
      <p:sp>
        <p:nvSpPr>
          <p:cNvPr id="11" name="Rectangle 10"/>
          <p:cNvSpPr/>
          <p:nvPr/>
        </p:nvSpPr>
        <p:spPr>
          <a:xfrm>
            <a:off x="7882127"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Main risk</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Analogous</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Early estimate from similar work</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False similarity</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Parametric</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Repeatable unit rates</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Bad rate or scale</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Bottom-up</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Defined work packages</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Time and detail cost</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Three-point</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Uncertain durations/costs</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Optimism in inputs</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Record the basis of estimate so future variance can be explained.</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02 · DECISION TOOL</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02 · APPLIED FRAMEWORK</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Critical Path Logic</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1645919"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1389887"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List</a:t>
            </a:r>
          </a:p>
        </p:txBody>
      </p:sp>
      <p:sp>
        <p:nvSpPr>
          <p:cNvPr id="11" name="TextBox 10"/>
          <p:cNvSpPr txBox="1"/>
          <p:nvPr/>
        </p:nvSpPr>
        <p:spPr>
          <a:xfrm>
            <a:off x="896112"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activities and milestones</a:t>
            </a:r>
          </a:p>
        </p:txBody>
      </p:sp>
      <p:cxnSp>
        <p:nvCxnSpPr>
          <p:cNvPr id="12" name="Connector 11"/>
          <p:cNvCxnSpPr/>
          <p:nvPr/>
        </p:nvCxnSpPr>
        <p:spPr>
          <a:xfrm>
            <a:off x="2395727" y="3474720"/>
            <a:ext cx="164593"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560320"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60320" y="1965960"/>
            <a:ext cx="1645919"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88336" y="2240279"/>
            <a:ext cx="1389887"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2688336"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Link</a:t>
            </a:r>
          </a:p>
        </p:txBody>
      </p:sp>
      <p:sp>
        <p:nvSpPr>
          <p:cNvPr id="17" name="TextBox 16"/>
          <p:cNvSpPr txBox="1"/>
          <p:nvPr/>
        </p:nvSpPr>
        <p:spPr>
          <a:xfrm>
            <a:off x="2706624"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predecessors and lags</a:t>
            </a:r>
          </a:p>
        </p:txBody>
      </p:sp>
      <p:cxnSp>
        <p:nvCxnSpPr>
          <p:cNvPr id="18" name="Connector 17"/>
          <p:cNvCxnSpPr/>
          <p:nvPr/>
        </p:nvCxnSpPr>
        <p:spPr>
          <a:xfrm>
            <a:off x="4206240" y="3474720"/>
            <a:ext cx="164591"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370831"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70831" y="1965960"/>
            <a:ext cx="1645919"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98847" y="2240279"/>
            <a:ext cx="1389887"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4498847"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Forward pass</a:t>
            </a:r>
          </a:p>
        </p:txBody>
      </p:sp>
      <p:sp>
        <p:nvSpPr>
          <p:cNvPr id="23" name="TextBox 22"/>
          <p:cNvSpPr txBox="1"/>
          <p:nvPr/>
        </p:nvSpPr>
        <p:spPr>
          <a:xfrm>
            <a:off x="4517136"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earliest start/finish</a:t>
            </a:r>
          </a:p>
        </p:txBody>
      </p:sp>
      <p:cxnSp>
        <p:nvCxnSpPr>
          <p:cNvPr id="24" name="Connector 23"/>
          <p:cNvCxnSpPr/>
          <p:nvPr/>
        </p:nvCxnSpPr>
        <p:spPr>
          <a:xfrm>
            <a:off x="6016751"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181344"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81344" y="1965960"/>
            <a:ext cx="1645919"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59" y="2240279"/>
            <a:ext cx="1389887"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6309359"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Backward pass</a:t>
            </a:r>
          </a:p>
        </p:txBody>
      </p:sp>
      <p:sp>
        <p:nvSpPr>
          <p:cNvPr id="29" name="TextBox 28"/>
          <p:cNvSpPr txBox="1"/>
          <p:nvPr/>
        </p:nvSpPr>
        <p:spPr>
          <a:xfrm>
            <a:off x="6327648"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latest start/finish</a:t>
            </a:r>
          </a:p>
        </p:txBody>
      </p:sp>
      <p:cxnSp>
        <p:nvCxnSpPr>
          <p:cNvPr id="30" name="Connector 29"/>
          <p:cNvCxnSpPr/>
          <p:nvPr/>
        </p:nvCxnSpPr>
        <p:spPr>
          <a:xfrm>
            <a:off x="7827263"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991855"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91855" y="1965960"/>
            <a:ext cx="1645919" cy="13716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19871" y="2240279"/>
            <a:ext cx="1389887" cy="457200"/>
          </a:xfrm>
          <a:prstGeom prst="rect">
            <a:avLst/>
          </a:prstGeom>
          <a:noFill/>
        </p:spPr>
        <p:txBody>
          <a:bodyPr wrap="square" lIns="0" rIns="0" tIns="0" bIns="0" anchor="t">
            <a:spAutoFit/>
          </a:bodyPr>
          <a:lstStyle/>
          <a:p>
            <a:pPr algn="ctr">
              <a:spcAft>
                <a:spcPts val="300"/>
              </a:spcAft>
            </a:pPr>
            <a:r>
              <a:rPr sz="1400" b="1">
                <a:solidFill>
                  <a:srgbClr val="1A7F4B"/>
                </a:solidFill>
                <a:latin typeface="Arial"/>
              </a:rPr>
              <a:t>05</a:t>
            </a:r>
          </a:p>
        </p:txBody>
      </p:sp>
      <p:sp>
        <p:nvSpPr>
          <p:cNvPr id="34" name="TextBox 33"/>
          <p:cNvSpPr txBox="1"/>
          <p:nvPr/>
        </p:nvSpPr>
        <p:spPr>
          <a:xfrm>
            <a:off x="8119871"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Float</a:t>
            </a:r>
          </a:p>
        </p:txBody>
      </p:sp>
      <p:sp>
        <p:nvSpPr>
          <p:cNvPr id="35" name="TextBox 34"/>
          <p:cNvSpPr txBox="1"/>
          <p:nvPr/>
        </p:nvSpPr>
        <p:spPr>
          <a:xfrm>
            <a:off x="8138159"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identify scheduling flexibility</a:t>
            </a:r>
          </a:p>
        </p:txBody>
      </p:sp>
      <p:cxnSp>
        <p:nvCxnSpPr>
          <p:cNvPr id="36" name="Connector 35"/>
          <p:cNvCxnSpPr/>
          <p:nvPr/>
        </p:nvCxnSpPr>
        <p:spPr>
          <a:xfrm>
            <a:off x="9637776" y="3474720"/>
            <a:ext cx="164591"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802367"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02367" y="1965960"/>
            <a:ext cx="1645919" cy="137160"/>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930384" y="2240279"/>
            <a:ext cx="1389887" cy="457200"/>
          </a:xfrm>
          <a:prstGeom prst="rect">
            <a:avLst/>
          </a:prstGeom>
          <a:noFill/>
        </p:spPr>
        <p:txBody>
          <a:bodyPr wrap="square" lIns="0" rIns="0" tIns="0" bIns="0" anchor="t">
            <a:spAutoFit/>
          </a:bodyPr>
          <a:lstStyle/>
          <a:p>
            <a:pPr algn="ctr">
              <a:spcAft>
                <a:spcPts val="300"/>
              </a:spcAft>
            </a:pPr>
            <a:r>
              <a:rPr sz="1400" b="1">
                <a:solidFill>
                  <a:srgbClr val="C93131"/>
                </a:solidFill>
                <a:latin typeface="Arial"/>
              </a:rPr>
              <a:t>06</a:t>
            </a:r>
          </a:p>
        </p:txBody>
      </p:sp>
      <p:sp>
        <p:nvSpPr>
          <p:cNvPr id="40" name="TextBox 39"/>
          <p:cNvSpPr txBox="1"/>
          <p:nvPr/>
        </p:nvSpPr>
        <p:spPr>
          <a:xfrm>
            <a:off x="9930384"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Critical path</a:t>
            </a:r>
          </a:p>
        </p:txBody>
      </p:sp>
      <p:sp>
        <p:nvSpPr>
          <p:cNvPr id="41" name="TextBox 40"/>
          <p:cNvSpPr txBox="1"/>
          <p:nvPr/>
        </p:nvSpPr>
        <p:spPr>
          <a:xfrm>
            <a:off x="9948672"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focus control and compression</a:t>
            </a:r>
          </a:p>
        </p:txBody>
      </p:sp>
      <p:sp>
        <p:nvSpPr>
          <p:cNvPr id="42" name="Rounded Rectangle 41"/>
          <p:cNvSpPr/>
          <p:nvPr/>
        </p:nvSpPr>
        <p:spPr>
          <a:xfrm>
            <a:off x="749808" y="5303520"/>
            <a:ext cx="10698480" cy="713232"/>
          </a:xfrm>
          <a:prstGeom prst="roundRect">
            <a:avLst>
              <a:gd name="adj" fmla="val 8000"/>
            </a:avLst>
          </a:prstGeom>
          <a:solidFill>
            <a:srgbClr val="FFFFFF"/>
          </a:solidFill>
          <a:ln w="12700">
            <a:solidFill>
              <a:srgbClr val="1655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Recalculate after every approved change—the critical path can move.</a:t>
            </a:r>
          </a:p>
        </p:txBody>
      </p:sp>
      <p:sp>
        <p:nvSpPr>
          <p:cNvPr id="44" name="TextBox 43"/>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5" name="TextBox 44"/>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02 · APPLIED FRAMEWORK</a:t>
            </a:r>
          </a:p>
        </p:txBody>
      </p:sp>
      <p:sp>
        <p:nvSpPr>
          <p:cNvPr id="46" name="TextBox 45"/>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02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The Integrated Project Plan</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2956559"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Scope</a:t>
            </a:r>
          </a:p>
        </p:txBody>
      </p:sp>
      <p:sp>
        <p:nvSpPr>
          <p:cNvPr id="10" name="TextBox 9"/>
          <p:cNvSpPr txBox="1"/>
          <p:nvPr/>
        </p:nvSpPr>
        <p:spPr>
          <a:xfrm>
            <a:off x="100584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What is authorised and accepted.</a:t>
            </a:r>
          </a:p>
        </p:txBody>
      </p:sp>
      <p:sp>
        <p:nvSpPr>
          <p:cNvPr id="11" name="Rounded Rectangle 10"/>
          <p:cNvSpPr/>
          <p:nvPr/>
        </p:nvSpPr>
        <p:spPr>
          <a:xfrm>
            <a:off x="439216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92167"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8200" y="1947672"/>
            <a:ext cx="2956559"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Schedule</a:t>
            </a:r>
          </a:p>
        </p:txBody>
      </p:sp>
      <p:sp>
        <p:nvSpPr>
          <p:cNvPr id="14" name="TextBox 13"/>
          <p:cNvSpPr txBox="1"/>
          <p:nvPr/>
        </p:nvSpPr>
        <p:spPr>
          <a:xfrm>
            <a:off x="464820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Sequence, duration and milestones.</a:t>
            </a:r>
          </a:p>
        </p:txBody>
      </p:sp>
      <p:sp>
        <p:nvSpPr>
          <p:cNvPr id="15" name="Rounded Rectangle 14"/>
          <p:cNvSpPr/>
          <p:nvPr/>
        </p:nvSpPr>
        <p:spPr>
          <a:xfrm>
            <a:off x="803452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34527" y="1783080"/>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559" y="1947672"/>
            <a:ext cx="2956559"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Cost</a:t>
            </a:r>
          </a:p>
        </p:txBody>
      </p:sp>
      <p:sp>
        <p:nvSpPr>
          <p:cNvPr id="18" name="TextBox 17"/>
          <p:cNvSpPr txBox="1"/>
          <p:nvPr/>
        </p:nvSpPr>
        <p:spPr>
          <a:xfrm>
            <a:off x="8290559"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Time-phased funding and reserves.</a:t>
            </a:r>
          </a:p>
        </p:txBody>
      </p:sp>
      <p:sp>
        <p:nvSpPr>
          <p:cNvPr id="19" name="Rounded Rectangle 18"/>
          <p:cNvSpPr/>
          <p:nvPr/>
        </p:nvSpPr>
        <p:spPr>
          <a:xfrm>
            <a:off x="749808"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980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4283964"/>
            <a:ext cx="2956559"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Quality</a:t>
            </a:r>
          </a:p>
        </p:txBody>
      </p:sp>
      <p:sp>
        <p:nvSpPr>
          <p:cNvPr id="22" name="TextBox 21"/>
          <p:cNvSpPr txBox="1"/>
          <p:nvPr/>
        </p:nvSpPr>
        <p:spPr>
          <a:xfrm>
            <a:off x="100584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Measures, assurance and control.</a:t>
            </a:r>
          </a:p>
        </p:txBody>
      </p:sp>
      <p:sp>
        <p:nvSpPr>
          <p:cNvPr id="23" name="Rounded Rectangle 22"/>
          <p:cNvSpPr/>
          <p:nvPr/>
        </p:nvSpPr>
        <p:spPr>
          <a:xfrm>
            <a:off x="4392167"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92167" y="4119372"/>
            <a:ext cx="91440" cy="2107692"/>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48200" y="4283964"/>
            <a:ext cx="2956559" cy="438912"/>
          </a:xfrm>
          <a:prstGeom prst="rect">
            <a:avLst/>
          </a:prstGeom>
          <a:noFill/>
        </p:spPr>
        <p:txBody>
          <a:bodyPr wrap="square" lIns="0" rIns="0" tIns="0" bIns="0" anchor="t">
            <a:spAutoFit/>
          </a:bodyPr>
          <a:lstStyle/>
          <a:p>
            <a:pPr algn="l">
              <a:spcAft>
                <a:spcPts val="300"/>
              </a:spcAft>
            </a:pPr>
            <a:r>
              <a:rPr sz="1300" b="1">
                <a:solidFill>
                  <a:srgbClr val="1A7F4B"/>
                </a:solidFill>
                <a:latin typeface="Arial"/>
              </a:rPr>
              <a:t>Resources</a:t>
            </a:r>
          </a:p>
        </p:txBody>
      </p:sp>
      <p:sp>
        <p:nvSpPr>
          <p:cNvPr id="26" name="TextBox 25"/>
          <p:cNvSpPr txBox="1"/>
          <p:nvPr/>
        </p:nvSpPr>
        <p:spPr>
          <a:xfrm>
            <a:off x="464820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Skills, capacity and procurement.</a:t>
            </a:r>
          </a:p>
        </p:txBody>
      </p:sp>
      <p:sp>
        <p:nvSpPr>
          <p:cNvPr id="27" name="Rounded Rectangle 26"/>
          <p:cNvSpPr/>
          <p:nvPr/>
        </p:nvSpPr>
        <p:spPr>
          <a:xfrm>
            <a:off x="8034527"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34527" y="4119372"/>
            <a:ext cx="91440" cy="2107692"/>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90559" y="4283964"/>
            <a:ext cx="2956559" cy="438912"/>
          </a:xfrm>
          <a:prstGeom prst="rect">
            <a:avLst/>
          </a:prstGeom>
          <a:noFill/>
        </p:spPr>
        <p:txBody>
          <a:bodyPr wrap="square" lIns="0" rIns="0" tIns="0" bIns="0" anchor="t">
            <a:spAutoFit/>
          </a:bodyPr>
          <a:lstStyle/>
          <a:p>
            <a:pPr algn="l">
              <a:spcAft>
                <a:spcPts val="300"/>
              </a:spcAft>
            </a:pPr>
            <a:r>
              <a:rPr sz="1300" b="1">
                <a:solidFill>
                  <a:srgbClr val="C93131"/>
                </a:solidFill>
                <a:latin typeface="Arial"/>
              </a:rPr>
              <a:t>Risk &amp; stakeholders</a:t>
            </a:r>
          </a:p>
        </p:txBody>
      </p:sp>
      <p:sp>
        <p:nvSpPr>
          <p:cNvPr id="30" name="TextBox 29"/>
          <p:cNvSpPr txBox="1"/>
          <p:nvPr/>
        </p:nvSpPr>
        <p:spPr>
          <a:xfrm>
            <a:off x="8290559"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Responses, engagement and governance.</a:t>
            </a:r>
          </a:p>
        </p:txBody>
      </p:sp>
      <p:sp>
        <p:nvSpPr>
          <p:cNvPr id="31" name="TextBox 30"/>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2" name="TextBox 31"/>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02 · REFERENCE-SOURCED DEEP DIVE</a:t>
            </a:r>
          </a:p>
        </p:txBody>
      </p:sp>
      <p:sp>
        <p:nvSpPr>
          <p:cNvPr id="33" name="TextBox 32"/>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02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Requirements Elicitation</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2008022"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1751990"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Identify</a:t>
            </a:r>
          </a:p>
        </p:txBody>
      </p:sp>
      <p:sp>
        <p:nvSpPr>
          <p:cNvPr id="11" name="TextBox 10"/>
          <p:cNvSpPr txBox="1"/>
          <p:nvPr/>
        </p:nvSpPr>
        <p:spPr>
          <a:xfrm>
            <a:off x="896112"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sources and decision roles</a:t>
            </a:r>
          </a:p>
        </p:txBody>
      </p:sp>
      <p:cxnSp>
        <p:nvCxnSpPr>
          <p:cNvPr id="12" name="Connector 11"/>
          <p:cNvCxnSpPr/>
          <p:nvPr/>
        </p:nvCxnSpPr>
        <p:spPr>
          <a:xfrm>
            <a:off x="2757830" y="3474720"/>
            <a:ext cx="164592"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22422"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22422" y="1965960"/>
            <a:ext cx="2008022"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50438" y="2240279"/>
            <a:ext cx="1751990"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3050438"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Gather</a:t>
            </a:r>
          </a:p>
        </p:txBody>
      </p:sp>
      <p:sp>
        <p:nvSpPr>
          <p:cNvPr id="17" name="TextBox 16"/>
          <p:cNvSpPr txBox="1"/>
          <p:nvPr/>
        </p:nvSpPr>
        <p:spPr>
          <a:xfrm>
            <a:off x="3068726"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interview, observe, workshop</a:t>
            </a:r>
          </a:p>
        </p:txBody>
      </p:sp>
      <p:cxnSp>
        <p:nvCxnSpPr>
          <p:cNvPr id="18" name="Connector 17"/>
          <p:cNvCxnSpPr/>
          <p:nvPr/>
        </p:nvCxnSpPr>
        <p:spPr>
          <a:xfrm>
            <a:off x="4930444" y="3474720"/>
            <a:ext cx="164592"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95036"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95036" y="1965960"/>
            <a:ext cx="2008022"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23052" y="2240279"/>
            <a:ext cx="1751990"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5223052"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Analyse</a:t>
            </a:r>
          </a:p>
        </p:txBody>
      </p:sp>
      <p:sp>
        <p:nvSpPr>
          <p:cNvPr id="23" name="TextBox 22"/>
          <p:cNvSpPr txBox="1"/>
          <p:nvPr/>
        </p:nvSpPr>
        <p:spPr>
          <a:xfrm>
            <a:off x="5241340"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conflicts, constraints and value</a:t>
            </a:r>
          </a:p>
        </p:txBody>
      </p:sp>
      <p:cxnSp>
        <p:nvCxnSpPr>
          <p:cNvPr id="24" name="Connector 23"/>
          <p:cNvCxnSpPr/>
          <p:nvPr/>
        </p:nvCxnSpPr>
        <p:spPr>
          <a:xfrm>
            <a:off x="7103059" y="3474720"/>
            <a:ext cx="164592"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267651"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67651" y="1965960"/>
            <a:ext cx="2008022"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95667" y="2240279"/>
            <a:ext cx="1751990"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7395667"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Specify</a:t>
            </a:r>
          </a:p>
        </p:txBody>
      </p:sp>
      <p:sp>
        <p:nvSpPr>
          <p:cNvPr id="29" name="TextBox 28"/>
          <p:cNvSpPr txBox="1"/>
          <p:nvPr/>
        </p:nvSpPr>
        <p:spPr>
          <a:xfrm>
            <a:off x="7413955"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testable requirement</a:t>
            </a:r>
          </a:p>
        </p:txBody>
      </p:sp>
      <p:cxnSp>
        <p:nvCxnSpPr>
          <p:cNvPr id="30" name="Connector 29"/>
          <p:cNvCxnSpPr/>
          <p:nvPr/>
        </p:nvCxnSpPr>
        <p:spPr>
          <a:xfrm>
            <a:off x="9275673" y="3474720"/>
            <a:ext cx="164592"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440265"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40265" y="1965960"/>
            <a:ext cx="2008022" cy="13716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68281" y="2240279"/>
            <a:ext cx="1751990" cy="457200"/>
          </a:xfrm>
          <a:prstGeom prst="rect">
            <a:avLst/>
          </a:prstGeom>
          <a:noFill/>
        </p:spPr>
        <p:txBody>
          <a:bodyPr wrap="square" lIns="0" rIns="0" tIns="0" bIns="0" anchor="t">
            <a:spAutoFit/>
          </a:bodyPr>
          <a:lstStyle/>
          <a:p>
            <a:pPr algn="ctr">
              <a:spcAft>
                <a:spcPts val="300"/>
              </a:spcAft>
            </a:pPr>
            <a:r>
              <a:rPr sz="1400" b="1">
                <a:solidFill>
                  <a:srgbClr val="1A7F4B"/>
                </a:solidFill>
                <a:latin typeface="Arial"/>
              </a:rPr>
              <a:t>05</a:t>
            </a:r>
          </a:p>
        </p:txBody>
      </p:sp>
      <p:sp>
        <p:nvSpPr>
          <p:cNvPr id="34" name="TextBox 33"/>
          <p:cNvSpPr txBox="1"/>
          <p:nvPr/>
        </p:nvSpPr>
        <p:spPr>
          <a:xfrm>
            <a:off x="9568281"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Validate</a:t>
            </a:r>
          </a:p>
        </p:txBody>
      </p:sp>
      <p:sp>
        <p:nvSpPr>
          <p:cNvPr id="35" name="TextBox 34"/>
          <p:cNvSpPr txBox="1"/>
          <p:nvPr/>
        </p:nvSpPr>
        <p:spPr>
          <a:xfrm>
            <a:off x="9586569"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source confirms meaning</a:t>
            </a:r>
          </a:p>
        </p:txBody>
      </p:sp>
      <p:sp>
        <p:nvSpPr>
          <p:cNvPr id="36" name="Rounded Rectangle 35"/>
          <p:cNvSpPr/>
          <p:nvPr/>
        </p:nvSpPr>
        <p:spPr>
          <a:xfrm>
            <a:off x="749808" y="5303520"/>
            <a:ext cx="10698480" cy="713232"/>
          </a:xfrm>
          <a:prstGeom prst="roundRect">
            <a:avLst>
              <a:gd name="adj" fmla="val 8000"/>
            </a:avLst>
          </a:prstGeom>
          <a:solidFill>
            <a:srgbClr val="FFFFFF"/>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Elicitation is discovery and negotiation—not taking an order from one stakeholder.</a:t>
            </a:r>
          </a:p>
        </p:txBody>
      </p:sp>
      <p:sp>
        <p:nvSpPr>
          <p:cNvPr id="38" name="TextBox 37"/>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9" name="TextBox 38"/>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02 · REFERENCE-SOURCED DEEP DIVE</a:t>
            </a:r>
          </a:p>
        </p:txBody>
      </p:sp>
      <p:sp>
        <p:nvSpPr>
          <p:cNvPr id="40" name="TextBox 39"/>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57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02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Weak versus Testable Requirements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Weak wording</a:t>
            </a:r>
          </a:p>
        </p:txBody>
      </p:sp>
      <p:sp>
        <p:nvSpPr>
          <p:cNvPr id="9" name="Rectangle 8"/>
          <p:cNvSpPr/>
          <p:nvPr/>
        </p:nvSpPr>
        <p:spPr>
          <a:xfrm>
            <a:off x="4315968"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Testable wording</a:t>
            </a:r>
          </a:p>
        </p:txBody>
      </p:sp>
      <p:sp>
        <p:nvSpPr>
          <p:cNvPr id="11" name="Rectangle 10"/>
          <p:cNvSpPr/>
          <p:nvPr/>
        </p:nvSpPr>
        <p:spPr>
          <a:xfrm>
            <a:off x="7882127"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Evidence</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Fast collection</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90% ready within 10 minutes</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Timestamp sample</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Accurate picking</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At least 98% line accuracy</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Check sheet</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Easy to use</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New staff completes task after 30-minute training</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Observed test</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Reliable</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99.5% availability in pilot hours</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System log</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A measure without a method or status date is still ambiguous.</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02 · REFERENCE-SOURCED DEEP DIVE</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02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Prioritisation Choices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Method</a:t>
            </a:r>
          </a:p>
        </p:txBody>
      </p:sp>
      <p:sp>
        <p:nvSpPr>
          <p:cNvPr id="9" name="Rectangle 8"/>
          <p:cNvSpPr/>
          <p:nvPr/>
        </p:nvSpPr>
        <p:spPr>
          <a:xfrm>
            <a:off x="4315968"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Decision logic</a:t>
            </a:r>
          </a:p>
        </p:txBody>
      </p:sp>
      <p:sp>
        <p:nvSpPr>
          <p:cNvPr id="11" name="Rectangle 10"/>
          <p:cNvSpPr/>
          <p:nvPr/>
        </p:nvSpPr>
        <p:spPr>
          <a:xfrm>
            <a:off x="7882127"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Use when</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MoSCoW</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Must / Should / Could / Won't</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Time-boxed scope</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Weighted scoring</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Value across criteria</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Competing options</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Kano</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Basic, performance, delight</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Customer experience</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Trade-off sliders</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Relative constraint priority</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Governance alignment</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Priorities must remain traceable to outcomes, not just stakeholder preference.</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02 · REFERENCE-SOURCED DEEP DIVE</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02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Traceability from Need to Evidence</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2008022"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1751990"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Outcome</a:t>
            </a:r>
          </a:p>
        </p:txBody>
      </p:sp>
      <p:sp>
        <p:nvSpPr>
          <p:cNvPr id="11" name="TextBox 10"/>
          <p:cNvSpPr txBox="1"/>
          <p:nvPr/>
        </p:nvSpPr>
        <p:spPr>
          <a:xfrm>
            <a:off x="896112"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what success changes</a:t>
            </a:r>
          </a:p>
        </p:txBody>
      </p:sp>
      <p:cxnSp>
        <p:nvCxnSpPr>
          <p:cNvPr id="12" name="Connector 11"/>
          <p:cNvCxnSpPr/>
          <p:nvPr/>
        </p:nvCxnSpPr>
        <p:spPr>
          <a:xfrm>
            <a:off x="2757830" y="3474720"/>
            <a:ext cx="164592"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22422"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22422" y="1965960"/>
            <a:ext cx="2008022"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50438" y="2240279"/>
            <a:ext cx="1751990"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3050438"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Requirement</a:t>
            </a:r>
          </a:p>
        </p:txBody>
      </p:sp>
      <p:sp>
        <p:nvSpPr>
          <p:cNvPr id="17" name="TextBox 16"/>
          <p:cNvSpPr txBox="1"/>
          <p:nvPr/>
        </p:nvSpPr>
        <p:spPr>
          <a:xfrm>
            <a:off x="3068726"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what must be true</a:t>
            </a:r>
          </a:p>
        </p:txBody>
      </p:sp>
      <p:cxnSp>
        <p:nvCxnSpPr>
          <p:cNvPr id="18" name="Connector 17"/>
          <p:cNvCxnSpPr/>
          <p:nvPr/>
        </p:nvCxnSpPr>
        <p:spPr>
          <a:xfrm>
            <a:off x="4930444" y="3474720"/>
            <a:ext cx="164592"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95036"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95036" y="1965960"/>
            <a:ext cx="2008022"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23052" y="2240279"/>
            <a:ext cx="1751990"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5223052"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Deliverable</a:t>
            </a:r>
          </a:p>
        </p:txBody>
      </p:sp>
      <p:sp>
        <p:nvSpPr>
          <p:cNvPr id="23" name="TextBox 22"/>
          <p:cNvSpPr txBox="1"/>
          <p:nvPr/>
        </p:nvSpPr>
        <p:spPr>
          <a:xfrm>
            <a:off x="5241340"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what is produced</a:t>
            </a:r>
          </a:p>
        </p:txBody>
      </p:sp>
      <p:cxnSp>
        <p:nvCxnSpPr>
          <p:cNvPr id="24" name="Connector 23"/>
          <p:cNvCxnSpPr/>
          <p:nvPr/>
        </p:nvCxnSpPr>
        <p:spPr>
          <a:xfrm>
            <a:off x="7103059" y="3474720"/>
            <a:ext cx="164592"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267651"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67651" y="1965960"/>
            <a:ext cx="2008022"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95667" y="2240279"/>
            <a:ext cx="1751990"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7395667"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Work package</a:t>
            </a:r>
          </a:p>
        </p:txBody>
      </p:sp>
      <p:sp>
        <p:nvSpPr>
          <p:cNvPr id="29" name="TextBox 28"/>
          <p:cNvSpPr txBox="1"/>
          <p:nvPr/>
        </p:nvSpPr>
        <p:spPr>
          <a:xfrm>
            <a:off x="7413955"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what the team performs</a:t>
            </a:r>
          </a:p>
        </p:txBody>
      </p:sp>
      <p:cxnSp>
        <p:nvCxnSpPr>
          <p:cNvPr id="30" name="Connector 29"/>
          <p:cNvCxnSpPr/>
          <p:nvPr/>
        </p:nvCxnSpPr>
        <p:spPr>
          <a:xfrm>
            <a:off x="9275673" y="3474720"/>
            <a:ext cx="164592"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440265"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40265" y="1965960"/>
            <a:ext cx="2008022" cy="13716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68281" y="2240279"/>
            <a:ext cx="1751990" cy="457200"/>
          </a:xfrm>
          <a:prstGeom prst="rect">
            <a:avLst/>
          </a:prstGeom>
          <a:noFill/>
        </p:spPr>
        <p:txBody>
          <a:bodyPr wrap="square" lIns="0" rIns="0" tIns="0" bIns="0" anchor="t">
            <a:spAutoFit/>
          </a:bodyPr>
          <a:lstStyle/>
          <a:p>
            <a:pPr algn="ctr">
              <a:spcAft>
                <a:spcPts val="300"/>
              </a:spcAft>
            </a:pPr>
            <a:r>
              <a:rPr sz="1400" b="1">
                <a:solidFill>
                  <a:srgbClr val="1A7F4B"/>
                </a:solidFill>
                <a:latin typeface="Arial"/>
              </a:rPr>
              <a:t>05</a:t>
            </a:r>
          </a:p>
        </p:txBody>
      </p:sp>
      <p:sp>
        <p:nvSpPr>
          <p:cNvPr id="34" name="TextBox 33"/>
          <p:cNvSpPr txBox="1"/>
          <p:nvPr/>
        </p:nvSpPr>
        <p:spPr>
          <a:xfrm>
            <a:off x="9568281"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Acceptance</a:t>
            </a:r>
          </a:p>
        </p:txBody>
      </p:sp>
      <p:sp>
        <p:nvSpPr>
          <p:cNvPr id="35" name="TextBox 34"/>
          <p:cNvSpPr txBox="1"/>
          <p:nvPr/>
        </p:nvSpPr>
        <p:spPr>
          <a:xfrm>
            <a:off x="9586569"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how completion is proven</a:t>
            </a:r>
          </a:p>
        </p:txBody>
      </p:sp>
      <p:sp>
        <p:nvSpPr>
          <p:cNvPr id="36" name="Rounded Rectangle 35"/>
          <p:cNvSpPr/>
          <p:nvPr/>
        </p:nvSpPr>
        <p:spPr>
          <a:xfrm>
            <a:off x="749808" y="5303520"/>
            <a:ext cx="10698480" cy="713232"/>
          </a:xfrm>
          <a:prstGeom prst="roundRect">
            <a:avLst>
              <a:gd name="adj" fmla="val 8000"/>
            </a:avLst>
          </a:prstGeom>
          <a:solidFill>
            <a:srgbClr val="FFFFFF"/>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Trace both directions: every need is delivered, and every deliverable has a reason.</a:t>
            </a:r>
          </a:p>
        </p:txBody>
      </p:sp>
      <p:sp>
        <p:nvSpPr>
          <p:cNvPr id="38" name="TextBox 37"/>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9" name="TextBox 38"/>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02 · REFERENCE-SOURCED DEEP DIVE</a:t>
            </a:r>
          </a:p>
        </p:txBody>
      </p:sp>
      <p:sp>
        <p:nvSpPr>
          <p:cNvPr id="40" name="TextBox 39"/>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02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Scope Statement Essentials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2956559"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Product scope</a:t>
            </a:r>
          </a:p>
        </p:txBody>
      </p:sp>
      <p:sp>
        <p:nvSpPr>
          <p:cNvPr id="10" name="TextBox 9"/>
          <p:cNvSpPr txBox="1"/>
          <p:nvPr/>
        </p:nvSpPr>
        <p:spPr>
          <a:xfrm>
            <a:off x="100584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Characteristics of the result.</a:t>
            </a:r>
          </a:p>
        </p:txBody>
      </p:sp>
      <p:sp>
        <p:nvSpPr>
          <p:cNvPr id="11" name="Rounded Rectangle 10"/>
          <p:cNvSpPr/>
          <p:nvPr/>
        </p:nvSpPr>
        <p:spPr>
          <a:xfrm>
            <a:off x="439216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92167"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8200" y="1947672"/>
            <a:ext cx="2956559"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Project scope</a:t>
            </a:r>
          </a:p>
        </p:txBody>
      </p:sp>
      <p:sp>
        <p:nvSpPr>
          <p:cNvPr id="14" name="TextBox 13"/>
          <p:cNvSpPr txBox="1"/>
          <p:nvPr/>
        </p:nvSpPr>
        <p:spPr>
          <a:xfrm>
            <a:off x="464820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Work required to create it.</a:t>
            </a:r>
          </a:p>
        </p:txBody>
      </p:sp>
      <p:sp>
        <p:nvSpPr>
          <p:cNvPr id="15" name="Rounded Rectangle 14"/>
          <p:cNvSpPr/>
          <p:nvPr/>
        </p:nvSpPr>
        <p:spPr>
          <a:xfrm>
            <a:off x="803452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34527" y="1783080"/>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559" y="1947672"/>
            <a:ext cx="2956559"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Exclusions</a:t>
            </a:r>
          </a:p>
        </p:txBody>
      </p:sp>
      <p:sp>
        <p:nvSpPr>
          <p:cNvPr id="18" name="TextBox 17"/>
          <p:cNvSpPr txBox="1"/>
          <p:nvPr/>
        </p:nvSpPr>
        <p:spPr>
          <a:xfrm>
            <a:off x="8290559"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What is deliberately not included.</a:t>
            </a:r>
          </a:p>
        </p:txBody>
      </p:sp>
      <p:sp>
        <p:nvSpPr>
          <p:cNvPr id="19" name="Rounded Rectangle 18"/>
          <p:cNvSpPr/>
          <p:nvPr/>
        </p:nvSpPr>
        <p:spPr>
          <a:xfrm>
            <a:off x="749808"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980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4283964"/>
            <a:ext cx="2956559"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Acceptance</a:t>
            </a:r>
          </a:p>
        </p:txBody>
      </p:sp>
      <p:sp>
        <p:nvSpPr>
          <p:cNvPr id="22" name="TextBox 21"/>
          <p:cNvSpPr txBox="1"/>
          <p:nvPr/>
        </p:nvSpPr>
        <p:spPr>
          <a:xfrm>
            <a:off x="100584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Who approves against which criteria.</a:t>
            </a:r>
          </a:p>
        </p:txBody>
      </p:sp>
      <p:sp>
        <p:nvSpPr>
          <p:cNvPr id="23" name="Rounded Rectangle 22"/>
          <p:cNvSpPr/>
          <p:nvPr/>
        </p:nvSpPr>
        <p:spPr>
          <a:xfrm>
            <a:off x="4392167"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92167" y="4119372"/>
            <a:ext cx="91440" cy="2107692"/>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48200" y="4283964"/>
            <a:ext cx="2956559" cy="438912"/>
          </a:xfrm>
          <a:prstGeom prst="rect">
            <a:avLst/>
          </a:prstGeom>
          <a:noFill/>
        </p:spPr>
        <p:txBody>
          <a:bodyPr wrap="square" lIns="0" rIns="0" tIns="0" bIns="0" anchor="t">
            <a:spAutoFit/>
          </a:bodyPr>
          <a:lstStyle/>
          <a:p>
            <a:pPr algn="l">
              <a:spcAft>
                <a:spcPts val="300"/>
              </a:spcAft>
            </a:pPr>
            <a:r>
              <a:rPr sz="1300" b="1">
                <a:solidFill>
                  <a:srgbClr val="1A7F4B"/>
                </a:solidFill>
                <a:latin typeface="Arial"/>
              </a:rPr>
              <a:t>Constraints</a:t>
            </a:r>
          </a:p>
        </p:txBody>
      </p:sp>
      <p:sp>
        <p:nvSpPr>
          <p:cNvPr id="26" name="TextBox 25"/>
          <p:cNvSpPr txBox="1"/>
          <p:nvPr/>
        </p:nvSpPr>
        <p:spPr>
          <a:xfrm>
            <a:off x="464820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Limits the plan must respect.</a:t>
            </a:r>
          </a:p>
        </p:txBody>
      </p:sp>
      <p:sp>
        <p:nvSpPr>
          <p:cNvPr id="27" name="Rounded Rectangle 26"/>
          <p:cNvSpPr/>
          <p:nvPr/>
        </p:nvSpPr>
        <p:spPr>
          <a:xfrm>
            <a:off x="8034527"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34527" y="4119372"/>
            <a:ext cx="91440" cy="2107692"/>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90559" y="4283964"/>
            <a:ext cx="2956559" cy="438912"/>
          </a:xfrm>
          <a:prstGeom prst="rect">
            <a:avLst/>
          </a:prstGeom>
          <a:noFill/>
        </p:spPr>
        <p:txBody>
          <a:bodyPr wrap="square" lIns="0" rIns="0" tIns="0" bIns="0" anchor="t">
            <a:spAutoFit/>
          </a:bodyPr>
          <a:lstStyle/>
          <a:p>
            <a:pPr algn="l">
              <a:spcAft>
                <a:spcPts val="300"/>
              </a:spcAft>
            </a:pPr>
            <a:r>
              <a:rPr sz="1300" b="1">
                <a:solidFill>
                  <a:srgbClr val="C93131"/>
                </a:solidFill>
                <a:latin typeface="Arial"/>
              </a:rPr>
              <a:t>Assumptions</a:t>
            </a:r>
          </a:p>
        </p:txBody>
      </p:sp>
      <p:sp>
        <p:nvSpPr>
          <p:cNvPr id="30" name="TextBox 29"/>
          <p:cNvSpPr txBox="1"/>
          <p:nvPr/>
        </p:nvSpPr>
        <p:spPr>
          <a:xfrm>
            <a:off x="8290559"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Planning beliefs to validate.</a:t>
            </a:r>
          </a:p>
        </p:txBody>
      </p:sp>
      <p:sp>
        <p:nvSpPr>
          <p:cNvPr id="31" name="TextBox 30"/>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2" name="TextBox 31"/>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02 · REFERENCE-SOURCED DEEP DIVE</a:t>
            </a:r>
          </a:p>
        </p:txBody>
      </p:sp>
      <p:sp>
        <p:nvSpPr>
          <p:cNvPr id="33" name="TextBox 32"/>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02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WBS Decomposition</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2008022"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1751990"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Start</a:t>
            </a:r>
          </a:p>
        </p:txBody>
      </p:sp>
      <p:sp>
        <p:nvSpPr>
          <p:cNvPr id="11" name="TextBox 10"/>
          <p:cNvSpPr txBox="1"/>
          <p:nvPr/>
        </p:nvSpPr>
        <p:spPr>
          <a:xfrm>
            <a:off x="896112"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authorised deliverables</a:t>
            </a:r>
          </a:p>
        </p:txBody>
      </p:sp>
      <p:cxnSp>
        <p:nvCxnSpPr>
          <p:cNvPr id="12" name="Connector 11"/>
          <p:cNvCxnSpPr/>
          <p:nvPr/>
        </p:nvCxnSpPr>
        <p:spPr>
          <a:xfrm>
            <a:off x="2757830" y="3474720"/>
            <a:ext cx="164592"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22422"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22422" y="1965960"/>
            <a:ext cx="2008022"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50438" y="2240279"/>
            <a:ext cx="1751990"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3050438"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Break down</a:t>
            </a:r>
          </a:p>
        </p:txBody>
      </p:sp>
      <p:sp>
        <p:nvSpPr>
          <p:cNvPr id="17" name="TextBox 16"/>
          <p:cNvSpPr txBox="1"/>
          <p:nvPr/>
        </p:nvSpPr>
        <p:spPr>
          <a:xfrm>
            <a:off x="3068726"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smaller deliverable components</a:t>
            </a:r>
          </a:p>
        </p:txBody>
      </p:sp>
      <p:cxnSp>
        <p:nvCxnSpPr>
          <p:cNvPr id="18" name="Connector 17"/>
          <p:cNvCxnSpPr/>
          <p:nvPr/>
        </p:nvCxnSpPr>
        <p:spPr>
          <a:xfrm>
            <a:off x="4930444" y="3474720"/>
            <a:ext cx="164592"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95036"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95036" y="1965960"/>
            <a:ext cx="2008022"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23052" y="2240279"/>
            <a:ext cx="1751990"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5223052"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Test 100%</a:t>
            </a:r>
          </a:p>
        </p:txBody>
      </p:sp>
      <p:sp>
        <p:nvSpPr>
          <p:cNvPr id="23" name="TextBox 22"/>
          <p:cNvSpPr txBox="1"/>
          <p:nvPr/>
        </p:nvSpPr>
        <p:spPr>
          <a:xfrm>
            <a:off x="5241340"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all work, no overlap</a:t>
            </a:r>
          </a:p>
        </p:txBody>
      </p:sp>
      <p:cxnSp>
        <p:nvCxnSpPr>
          <p:cNvPr id="24" name="Connector 23"/>
          <p:cNvCxnSpPr/>
          <p:nvPr/>
        </p:nvCxnSpPr>
        <p:spPr>
          <a:xfrm>
            <a:off x="7103059" y="3474720"/>
            <a:ext cx="164592"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267651"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67651" y="1965960"/>
            <a:ext cx="2008022"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95667" y="2240279"/>
            <a:ext cx="1751990"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7395667"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Stop</a:t>
            </a:r>
          </a:p>
        </p:txBody>
      </p:sp>
      <p:sp>
        <p:nvSpPr>
          <p:cNvPr id="29" name="TextBox 28"/>
          <p:cNvSpPr txBox="1"/>
          <p:nvPr/>
        </p:nvSpPr>
        <p:spPr>
          <a:xfrm>
            <a:off x="7413955"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estimable, assignable, sequenced, accepted</a:t>
            </a:r>
          </a:p>
        </p:txBody>
      </p:sp>
      <p:cxnSp>
        <p:nvCxnSpPr>
          <p:cNvPr id="30" name="Connector 29"/>
          <p:cNvCxnSpPr/>
          <p:nvPr/>
        </p:nvCxnSpPr>
        <p:spPr>
          <a:xfrm>
            <a:off x="9275673" y="3474720"/>
            <a:ext cx="164592"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440265"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40265" y="1965960"/>
            <a:ext cx="2008022" cy="13716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68281" y="2240279"/>
            <a:ext cx="1751990" cy="457200"/>
          </a:xfrm>
          <a:prstGeom prst="rect">
            <a:avLst/>
          </a:prstGeom>
          <a:noFill/>
        </p:spPr>
        <p:txBody>
          <a:bodyPr wrap="square" lIns="0" rIns="0" tIns="0" bIns="0" anchor="t">
            <a:spAutoFit/>
          </a:bodyPr>
          <a:lstStyle/>
          <a:p>
            <a:pPr algn="ctr">
              <a:spcAft>
                <a:spcPts val="300"/>
              </a:spcAft>
            </a:pPr>
            <a:r>
              <a:rPr sz="1400" b="1">
                <a:solidFill>
                  <a:srgbClr val="1A7F4B"/>
                </a:solidFill>
                <a:latin typeface="Arial"/>
              </a:rPr>
              <a:t>05</a:t>
            </a:r>
          </a:p>
        </p:txBody>
      </p:sp>
      <p:sp>
        <p:nvSpPr>
          <p:cNvPr id="34" name="TextBox 33"/>
          <p:cNvSpPr txBox="1"/>
          <p:nvPr/>
        </p:nvSpPr>
        <p:spPr>
          <a:xfrm>
            <a:off x="9568281"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Define</a:t>
            </a:r>
          </a:p>
        </p:txBody>
      </p:sp>
      <p:sp>
        <p:nvSpPr>
          <p:cNvPr id="35" name="TextBox 34"/>
          <p:cNvSpPr txBox="1"/>
          <p:nvPr/>
        </p:nvSpPr>
        <p:spPr>
          <a:xfrm>
            <a:off x="9586569"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dictionary entry</a:t>
            </a:r>
          </a:p>
        </p:txBody>
      </p:sp>
      <p:sp>
        <p:nvSpPr>
          <p:cNvPr id="36" name="Rounded Rectangle 35"/>
          <p:cNvSpPr/>
          <p:nvPr/>
        </p:nvSpPr>
        <p:spPr>
          <a:xfrm>
            <a:off x="749808" y="5303520"/>
            <a:ext cx="10698480" cy="713232"/>
          </a:xfrm>
          <a:prstGeom prst="roundRect">
            <a:avLst>
              <a:gd name="adj" fmla="val 8000"/>
            </a:avLst>
          </a:prstGeom>
          <a:solidFill>
            <a:srgbClr val="FFFFFF"/>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Do not decompose by department when the deliverable crosses departments.</a:t>
            </a:r>
          </a:p>
        </p:txBody>
      </p:sp>
      <p:sp>
        <p:nvSpPr>
          <p:cNvPr id="38" name="TextBox 37"/>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9" name="TextBox 38"/>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02 · REFERENCE-SOURCED DEEP DIVE</a:t>
            </a:r>
          </a:p>
        </p:txBody>
      </p:sp>
      <p:sp>
        <p:nvSpPr>
          <p:cNvPr id="40" name="TextBox 39"/>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02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WBS Dictionary—Why It Matters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632460"/>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Field</a:t>
            </a:r>
          </a:p>
        </p:txBody>
      </p:sp>
      <p:sp>
        <p:nvSpPr>
          <p:cNvPr id="9" name="Rectangle 8"/>
          <p:cNvSpPr/>
          <p:nvPr/>
        </p:nvSpPr>
        <p:spPr>
          <a:xfrm>
            <a:off x="4315968" y="1810512"/>
            <a:ext cx="3566160" cy="632460"/>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Decision enabled</a:t>
            </a:r>
          </a:p>
        </p:txBody>
      </p:sp>
      <p:sp>
        <p:nvSpPr>
          <p:cNvPr id="11" name="Rectangle 10"/>
          <p:cNvSpPr/>
          <p:nvPr/>
        </p:nvSpPr>
        <p:spPr>
          <a:xfrm>
            <a:off x="7882127" y="1810512"/>
            <a:ext cx="3566160" cy="632460"/>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Failure prevented</a:t>
            </a:r>
          </a:p>
        </p:txBody>
      </p:sp>
      <p:sp>
        <p:nvSpPr>
          <p:cNvPr id="13" name="Rectangle 12"/>
          <p:cNvSpPr/>
          <p:nvPr/>
        </p:nvSpPr>
        <p:spPr>
          <a:xfrm>
            <a:off x="74980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48869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Description</a:t>
            </a:r>
          </a:p>
        </p:txBody>
      </p:sp>
      <p:sp>
        <p:nvSpPr>
          <p:cNvPr id="15" name="Rectangle 14"/>
          <p:cNvSpPr/>
          <p:nvPr/>
        </p:nvSpPr>
        <p:spPr>
          <a:xfrm>
            <a:off x="431596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Shared meaning</a:t>
            </a:r>
          </a:p>
        </p:txBody>
      </p:sp>
      <p:sp>
        <p:nvSpPr>
          <p:cNvPr id="17" name="Rectangle 16"/>
          <p:cNvSpPr/>
          <p:nvPr/>
        </p:nvSpPr>
        <p:spPr>
          <a:xfrm>
            <a:off x="7882127"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Different estimates for different work</a:t>
            </a:r>
          </a:p>
        </p:txBody>
      </p:sp>
      <p:sp>
        <p:nvSpPr>
          <p:cNvPr id="19" name="Rectangle 18"/>
          <p:cNvSpPr/>
          <p:nvPr/>
        </p:nvSpPr>
        <p:spPr>
          <a:xfrm>
            <a:off x="74980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12115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Owner</a:t>
            </a:r>
          </a:p>
        </p:txBody>
      </p:sp>
      <p:sp>
        <p:nvSpPr>
          <p:cNvPr id="21" name="Rectangle 20"/>
          <p:cNvSpPr/>
          <p:nvPr/>
        </p:nvSpPr>
        <p:spPr>
          <a:xfrm>
            <a:off x="431596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Accountability</a:t>
            </a:r>
          </a:p>
        </p:txBody>
      </p:sp>
      <p:sp>
        <p:nvSpPr>
          <p:cNvPr id="23" name="Rectangle 22"/>
          <p:cNvSpPr/>
          <p:nvPr/>
        </p:nvSpPr>
        <p:spPr>
          <a:xfrm>
            <a:off x="7882127"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Unclaimed delivery</a:t>
            </a:r>
          </a:p>
        </p:txBody>
      </p:sp>
      <p:sp>
        <p:nvSpPr>
          <p:cNvPr id="25" name="Rectangle 24"/>
          <p:cNvSpPr/>
          <p:nvPr/>
        </p:nvSpPr>
        <p:spPr>
          <a:xfrm>
            <a:off x="74980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3753611"/>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Acceptance</a:t>
            </a:r>
          </a:p>
        </p:txBody>
      </p:sp>
      <p:sp>
        <p:nvSpPr>
          <p:cNvPr id="27" name="Rectangle 26"/>
          <p:cNvSpPr/>
          <p:nvPr/>
        </p:nvSpPr>
        <p:spPr>
          <a:xfrm>
            <a:off x="431596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Definition of complete</a:t>
            </a:r>
          </a:p>
        </p:txBody>
      </p:sp>
      <p:sp>
        <p:nvSpPr>
          <p:cNvPr id="29" name="Rectangle 28"/>
          <p:cNvSpPr/>
          <p:nvPr/>
        </p:nvSpPr>
        <p:spPr>
          <a:xfrm>
            <a:off x="7882127"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Almost done forever</a:t>
            </a:r>
          </a:p>
        </p:txBody>
      </p:sp>
      <p:sp>
        <p:nvSpPr>
          <p:cNvPr id="31" name="Rectangle 30"/>
          <p:cNvSpPr/>
          <p:nvPr/>
        </p:nvSpPr>
        <p:spPr>
          <a:xfrm>
            <a:off x="74980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38607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Dependencies</a:t>
            </a:r>
          </a:p>
        </p:txBody>
      </p:sp>
      <p:sp>
        <p:nvSpPr>
          <p:cNvPr id="33" name="Rectangle 32"/>
          <p:cNvSpPr/>
          <p:nvPr/>
        </p:nvSpPr>
        <p:spPr>
          <a:xfrm>
            <a:off x="431596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Sequence</a:t>
            </a:r>
          </a:p>
        </p:txBody>
      </p:sp>
      <p:sp>
        <p:nvSpPr>
          <p:cNvPr id="35" name="Rectangle 34"/>
          <p:cNvSpPr/>
          <p:nvPr/>
        </p:nvSpPr>
        <p:spPr>
          <a:xfrm>
            <a:off x="7882127"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Late discovery</a:t>
            </a:r>
          </a:p>
        </p:txBody>
      </p:sp>
      <p:sp>
        <p:nvSpPr>
          <p:cNvPr id="37" name="Rectangle 36"/>
          <p:cNvSpPr/>
          <p:nvPr/>
        </p:nvSpPr>
        <p:spPr>
          <a:xfrm>
            <a:off x="74980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 y="501853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Estimate basis</a:t>
            </a:r>
          </a:p>
        </p:txBody>
      </p:sp>
      <p:sp>
        <p:nvSpPr>
          <p:cNvPr id="39" name="Rectangle 38"/>
          <p:cNvSpPr/>
          <p:nvPr/>
        </p:nvSpPr>
        <p:spPr>
          <a:xfrm>
            <a:off x="431596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25696"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Confidence and revision</a:t>
            </a:r>
          </a:p>
        </p:txBody>
      </p:sp>
      <p:sp>
        <p:nvSpPr>
          <p:cNvPr id="41" name="Rectangle 40"/>
          <p:cNvSpPr/>
          <p:nvPr/>
        </p:nvSpPr>
        <p:spPr>
          <a:xfrm>
            <a:off x="7882127"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91855"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Unexplained padding</a:t>
            </a:r>
          </a:p>
        </p:txBody>
      </p:sp>
      <p:sp>
        <p:nvSpPr>
          <p:cNvPr id="43" name="Rounded Rectangle 42"/>
          <p:cNvSpPr/>
          <p:nvPr/>
        </p:nvSpPr>
        <p:spPr>
          <a:xfrm>
            <a:off x="749808" y="5815584"/>
            <a:ext cx="10698480" cy="420624"/>
          </a:xfrm>
          <a:prstGeom prst="roundRect">
            <a:avLst>
              <a:gd name="adj" fmla="val 8000"/>
            </a:avLst>
          </a:prstGeom>
          <a:solidFill>
            <a:srgbClr val="F4F7FB"/>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The diagram shows structure; the dictionary makes the structure manageable.</a:t>
            </a:r>
          </a:p>
        </p:txBody>
      </p:sp>
      <p:sp>
        <p:nvSpPr>
          <p:cNvPr id="45" name="TextBox 44"/>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6" name="TextBox 45"/>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02 · REFERENCE-SOURCED DEEP DIVE</a:t>
            </a:r>
          </a:p>
        </p:txBody>
      </p:sp>
      <p:sp>
        <p:nvSpPr>
          <p:cNvPr id="47" name="TextBox 46"/>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02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Dependency Relationships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Type</a:t>
            </a:r>
          </a:p>
        </p:txBody>
      </p:sp>
      <p:sp>
        <p:nvSpPr>
          <p:cNvPr id="9" name="Rectangle 8"/>
          <p:cNvSpPr/>
          <p:nvPr/>
        </p:nvSpPr>
        <p:spPr>
          <a:xfrm>
            <a:off x="4315968"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Logic</a:t>
            </a:r>
          </a:p>
        </p:txBody>
      </p:sp>
      <p:sp>
        <p:nvSpPr>
          <p:cNvPr id="11" name="Rectangle 10"/>
          <p:cNvSpPr/>
          <p:nvPr/>
        </p:nvSpPr>
        <p:spPr>
          <a:xfrm>
            <a:off x="7882127"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Example</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Finish-to-start</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 finishes before B starts</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Configure before integration test</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Start-to-start</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 starts before B starts</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Draft training after testing begins</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Finish-to-finish</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 finishes before B finishes</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Documentation completes with testing</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Start-to-finish</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Rare transition logic</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Old support ends after new starts</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Leads and lags change timing; they do not remove the underlying dependency.</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02 · REFERENCE-SOURCED DEEP DIVE</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02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Critical Path Calculation</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2008022"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1751990"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Forward pass</a:t>
            </a:r>
          </a:p>
        </p:txBody>
      </p:sp>
      <p:sp>
        <p:nvSpPr>
          <p:cNvPr id="11" name="TextBox 10"/>
          <p:cNvSpPr txBox="1"/>
          <p:nvPr/>
        </p:nvSpPr>
        <p:spPr>
          <a:xfrm>
            <a:off x="896112"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earliest start and finish</a:t>
            </a:r>
          </a:p>
        </p:txBody>
      </p:sp>
      <p:cxnSp>
        <p:nvCxnSpPr>
          <p:cNvPr id="12" name="Connector 11"/>
          <p:cNvCxnSpPr/>
          <p:nvPr/>
        </p:nvCxnSpPr>
        <p:spPr>
          <a:xfrm>
            <a:off x="2757830" y="3474720"/>
            <a:ext cx="164592"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22422"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22422" y="1965960"/>
            <a:ext cx="2008022"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50438" y="2240279"/>
            <a:ext cx="1751990"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3050438"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Project finish</a:t>
            </a:r>
          </a:p>
        </p:txBody>
      </p:sp>
      <p:sp>
        <p:nvSpPr>
          <p:cNvPr id="17" name="TextBox 16"/>
          <p:cNvSpPr txBox="1"/>
          <p:nvPr/>
        </p:nvSpPr>
        <p:spPr>
          <a:xfrm>
            <a:off x="3068726"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largest earliest finish</a:t>
            </a:r>
          </a:p>
        </p:txBody>
      </p:sp>
      <p:cxnSp>
        <p:nvCxnSpPr>
          <p:cNvPr id="18" name="Connector 17"/>
          <p:cNvCxnSpPr/>
          <p:nvPr/>
        </p:nvCxnSpPr>
        <p:spPr>
          <a:xfrm>
            <a:off x="4930444" y="3474720"/>
            <a:ext cx="164592"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95036"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95036" y="1965960"/>
            <a:ext cx="2008022"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23052" y="2240279"/>
            <a:ext cx="1751990"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5223052"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Backward pass</a:t>
            </a:r>
          </a:p>
        </p:txBody>
      </p:sp>
      <p:sp>
        <p:nvSpPr>
          <p:cNvPr id="23" name="TextBox 22"/>
          <p:cNvSpPr txBox="1"/>
          <p:nvPr/>
        </p:nvSpPr>
        <p:spPr>
          <a:xfrm>
            <a:off x="5241340"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latest finish and start</a:t>
            </a:r>
          </a:p>
        </p:txBody>
      </p:sp>
      <p:cxnSp>
        <p:nvCxnSpPr>
          <p:cNvPr id="24" name="Connector 23"/>
          <p:cNvCxnSpPr/>
          <p:nvPr/>
        </p:nvCxnSpPr>
        <p:spPr>
          <a:xfrm>
            <a:off x="7103059" y="3474720"/>
            <a:ext cx="164592"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267651"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67651" y="1965960"/>
            <a:ext cx="2008022"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95667" y="2240279"/>
            <a:ext cx="1751990"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7395667"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Float</a:t>
            </a:r>
          </a:p>
        </p:txBody>
      </p:sp>
      <p:sp>
        <p:nvSpPr>
          <p:cNvPr id="29" name="TextBox 28"/>
          <p:cNvSpPr txBox="1"/>
          <p:nvPr/>
        </p:nvSpPr>
        <p:spPr>
          <a:xfrm>
            <a:off x="7413955"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late start minus early start</a:t>
            </a:r>
          </a:p>
        </p:txBody>
      </p:sp>
      <p:cxnSp>
        <p:nvCxnSpPr>
          <p:cNvPr id="30" name="Connector 29"/>
          <p:cNvCxnSpPr/>
          <p:nvPr/>
        </p:nvCxnSpPr>
        <p:spPr>
          <a:xfrm>
            <a:off x="9275673" y="3474720"/>
            <a:ext cx="164592"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440265"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40265" y="1965960"/>
            <a:ext cx="2008022" cy="13716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68281" y="2240279"/>
            <a:ext cx="1751990" cy="457200"/>
          </a:xfrm>
          <a:prstGeom prst="rect">
            <a:avLst/>
          </a:prstGeom>
          <a:noFill/>
        </p:spPr>
        <p:txBody>
          <a:bodyPr wrap="square" lIns="0" rIns="0" tIns="0" bIns="0" anchor="t">
            <a:spAutoFit/>
          </a:bodyPr>
          <a:lstStyle/>
          <a:p>
            <a:pPr algn="ctr">
              <a:spcAft>
                <a:spcPts val="300"/>
              </a:spcAft>
            </a:pPr>
            <a:r>
              <a:rPr sz="1400" b="1">
                <a:solidFill>
                  <a:srgbClr val="1A7F4B"/>
                </a:solidFill>
                <a:latin typeface="Arial"/>
              </a:rPr>
              <a:t>05</a:t>
            </a:r>
          </a:p>
        </p:txBody>
      </p:sp>
      <p:sp>
        <p:nvSpPr>
          <p:cNvPr id="34" name="TextBox 33"/>
          <p:cNvSpPr txBox="1"/>
          <p:nvPr/>
        </p:nvSpPr>
        <p:spPr>
          <a:xfrm>
            <a:off x="9568281"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Critical path</a:t>
            </a:r>
          </a:p>
        </p:txBody>
      </p:sp>
      <p:sp>
        <p:nvSpPr>
          <p:cNvPr id="35" name="TextBox 34"/>
          <p:cNvSpPr txBox="1"/>
          <p:nvPr/>
        </p:nvSpPr>
        <p:spPr>
          <a:xfrm>
            <a:off x="9586569"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least-float path</a:t>
            </a:r>
          </a:p>
        </p:txBody>
      </p:sp>
      <p:sp>
        <p:nvSpPr>
          <p:cNvPr id="36" name="Rounded Rectangle 35"/>
          <p:cNvSpPr/>
          <p:nvPr/>
        </p:nvSpPr>
        <p:spPr>
          <a:xfrm>
            <a:off x="749808" y="5303520"/>
            <a:ext cx="10698480" cy="713232"/>
          </a:xfrm>
          <a:prstGeom prst="roundRect">
            <a:avLst>
              <a:gd name="adj" fmla="val 8000"/>
            </a:avLst>
          </a:prstGeom>
          <a:solidFill>
            <a:srgbClr val="FFFFFF"/>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The critical path is the longest-duration route through current logic, not the most important-looking task.</a:t>
            </a:r>
          </a:p>
        </p:txBody>
      </p:sp>
      <p:sp>
        <p:nvSpPr>
          <p:cNvPr id="38" name="TextBox 37"/>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9" name="TextBox 38"/>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02 · REFERENCE-SOURCED DEEP DIVE</a:t>
            </a:r>
          </a:p>
        </p:txBody>
      </p:sp>
      <p:sp>
        <p:nvSpPr>
          <p:cNvPr id="40" name="TextBox 39"/>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02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Estimating Methods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Method</a:t>
            </a:r>
          </a:p>
        </p:txBody>
      </p:sp>
      <p:sp>
        <p:nvSpPr>
          <p:cNvPr id="9" name="Rectangle 8"/>
          <p:cNvSpPr/>
          <p:nvPr/>
        </p:nvSpPr>
        <p:spPr>
          <a:xfrm>
            <a:off x="4315968"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Strength</a:t>
            </a:r>
          </a:p>
        </p:txBody>
      </p:sp>
      <p:sp>
        <p:nvSpPr>
          <p:cNvPr id="11" name="Rectangle 10"/>
          <p:cNvSpPr/>
          <p:nvPr/>
        </p:nvSpPr>
        <p:spPr>
          <a:xfrm>
            <a:off x="7882127"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Limitation</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Analogous</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Fast early estimate</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Lower detail</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Parametric</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Repeatable unit logic</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Needs valid relationship</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Bottom-up</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Detailed and accountable</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Time-consuming</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Three-point</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Makes uncertainty visible</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Still depends on judgement</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Record the basis so the estimate can be challenged and updated without starting over.</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02 · REFERENCE-SOURCED DEEP DIVE</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02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Cost Baseline and Reserves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2956559"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Work-package estimates</a:t>
            </a:r>
          </a:p>
        </p:txBody>
      </p:sp>
      <p:sp>
        <p:nvSpPr>
          <p:cNvPr id="10" name="TextBox 9"/>
          <p:cNvSpPr txBox="1"/>
          <p:nvPr/>
        </p:nvSpPr>
        <p:spPr>
          <a:xfrm>
            <a:off x="100584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Rolled up from authorised scope.</a:t>
            </a:r>
          </a:p>
        </p:txBody>
      </p:sp>
      <p:sp>
        <p:nvSpPr>
          <p:cNvPr id="11" name="Rounded Rectangle 10"/>
          <p:cNvSpPr/>
          <p:nvPr/>
        </p:nvSpPr>
        <p:spPr>
          <a:xfrm>
            <a:off x="439216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92167"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8200" y="1947672"/>
            <a:ext cx="2956559"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Contingency reserve</a:t>
            </a:r>
          </a:p>
        </p:txBody>
      </p:sp>
      <p:sp>
        <p:nvSpPr>
          <p:cNvPr id="14" name="TextBox 13"/>
          <p:cNvSpPr txBox="1"/>
          <p:nvPr/>
        </p:nvSpPr>
        <p:spPr>
          <a:xfrm>
            <a:off x="464820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Funded responses for identified risk.</a:t>
            </a:r>
          </a:p>
        </p:txBody>
      </p:sp>
      <p:sp>
        <p:nvSpPr>
          <p:cNvPr id="15" name="Rounded Rectangle 14"/>
          <p:cNvSpPr/>
          <p:nvPr/>
        </p:nvSpPr>
        <p:spPr>
          <a:xfrm>
            <a:off x="803452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34527" y="1783080"/>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559" y="1947672"/>
            <a:ext cx="2956559"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Cost baseline</a:t>
            </a:r>
          </a:p>
        </p:txBody>
      </p:sp>
      <p:sp>
        <p:nvSpPr>
          <p:cNvPr id="18" name="TextBox 17"/>
          <p:cNvSpPr txBox="1"/>
          <p:nvPr/>
        </p:nvSpPr>
        <p:spPr>
          <a:xfrm>
            <a:off x="8290559"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Time-phased performance reference.</a:t>
            </a:r>
          </a:p>
        </p:txBody>
      </p:sp>
      <p:sp>
        <p:nvSpPr>
          <p:cNvPr id="19" name="Rounded Rectangle 18"/>
          <p:cNvSpPr/>
          <p:nvPr/>
        </p:nvSpPr>
        <p:spPr>
          <a:xfrm>
            <a:off x="2570988"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7098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27020" y="4283964"/>
            <a:ext cx="2956559"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Management reserve</a:t>
            </a:r>
          </a:p>
        </p:txBody>
      </p:sp>
      <p:sp>
        <p:nvSpPr>
          <p:cNvPr id="22" name="TextBox 21"/>
          <p:cNvSpPr txBox="1"/>
          <p:nvPr/>
        </p:nvSpPr>
        <p:spPr>
          <a:xfrm>
            <a:off x="282702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Held outside baseline for unknown-unknowns.</a:t>
            </a:r>
          </a:p>
        </p:txBody>
      </p:sp>
      <p:sp>
        <p:nvSpPr>
          <p:cNvPr id="23" name="Rounded Rectangle 22"/>
          <p:cNvSpPr/>
          <p:nvPr/>
        </p:nvSpPr>
        <p:spPr>
          <a:xfrm>
            <a:off x="6213348"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3348" y="4119372"/>
            <a:ext cx="91440" cy="2107692"/>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283964"/>
            <a:ext cx="2956559" cy="438912"/>
          </a:xfrm>
          <a:prstGeom prst="rect">
            <a:avLst/>
          </a:prstGeom>
          <a:noFill/>
        </p:spPr>
        <p:txBody>
          <a:bodyPr wrap="square" lIns="0" rIns="0" tIns="0" bIns="0" anchor="t">
            <a:spAutoFit/>
          </a:bodyPr>
          <a:lstStyle/>
          <a:p>
            <a:pPr algn="l">
              <a:spcAft>
                <a:spcPts val="300"/>
              </a:spcAft>
            </a:pPr>
            <a:r>
              <a:rPr sz="1300" b="1">
                <a:solidFill>
                  <a:srgbClr val="1A7F4B"/>
                </a:solidFill>
                <a:latin typeface="Arial"/>
              </a:rPr>
              <a:t>Project budget</a:t>
            </a:r>
          </a:p>
        </p:txBody>
      </p:sp>
      <p:sp>
        <p:nvSpPr>
          <p:cNvPr id="26" name="TextBox 25"/>
          <p:cNvSpPr txBox="1"/>
          <p:nvPr/>
        </p:nvSpPr>
        <p:spPr>
          <a:xfrm>
            <a:off x="646938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Cost baseline plus management reserve.</a:t>
            </a:r>
          </a:p>
        </p:txBody>
      </p:sp>
      <p:sp>
        <p:nvSpPr>
          <p:cNvPr id="27" name="TextBox 26"/>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8" name="TextBox 27"/>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02 · REFERENCE-SOURCED DEEP DIVE</a:t>
            </a:r>
          </a:p>
        </p:txBody>
      </p:sp>
      <p:sp>
        <p:nvSpPr>
          <p:cNvPr id="29" name="TextBox 28"/>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02 · TOOL-BASED PRACTICE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Activity 3 Tool Pack</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706727" y="2057400"/>
            <a:ext cx="4251960" cy="1874519"/>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706727" y="2057400"/>
            <a:ext cx="4251960" cy="109728"/>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935327" y="2304288"/>
            <a:ext cx="3794760" cy="292608"/>
          </a:xfrm>
          <a:prstGeom prst="rect">
            <a:avLst/>
          </a:prstGeom>
          <a:noFill/>
        </p:spPr>
        <p:txBody>
          <a:bodyPr wrap="square" lIns="0" rIns="0" tIns="0" bIns="0" anchor="t">
            <a:spAutoFit/>
          </a:bodyPr>
          <a:lstStyle/>
          <a:p>
            <a:pPr algn="ctr">
              <a:spcAft>
                <a:spcPts val="300"/>
              </a:spcAft>
            </a:pPr>
            <a:r>
              <a:rPr sz="1100" b="1">
                <a:solidFill>
                  <a:srgbClr val="1655D1"/>
                </a:solidFill>
                <a:latin typeface="Arial"/>
              </a:rPr>
              <a:t>XLSX</a:t>
            </a:r>
          </a:p>
        </p:txBody>
      </p:sp>
      <p:sp>
        <p:nvSpPr>
          <p:cNvPr id="10" name="TextBox 9"/>
          <p:cNvSpPr txBox="1"/>
          <p:nvPr/>
        </p:nvSpPr>
        <p:spPr>
          <a:xfrm>
            <a:off x="1935327" y="2624328"/>
            <a:ext cx="3794760" cy="640080"/>
          </a:xfrm>
          <a:prstGeom prst="rect">
            <a:avLst/>
          </a:prstGeom>
          <a:noFill/>
        </p:spPr>
        <p:txBody>
          <a:bodyPr wrap="square" lIns="0" rIns="0" tIns="0" bIns="0" anchor="ctr">
            <a:spAutoFit/>
          </a:bodyPr>
          <a:lstStyle/>
          <a:p>
            <a:pPr algn="ctr">
              <a:spcAft>
                <a:spcPts val="300"/>
              </a:spcAft>
            </a:pPr>
            <a:r>
              <a:rPr sz="1250" b="1">
                <a:solidFill>
                  <a:srgbClr val="131B2A"/>
                </a:solidFill>
                <a:latin typeface="Arial"/>
              </a:rPr>
              <a:t>25 Requirements Traceability Matrix</a:t>
            </a:r>
          </a:p>
        </p:txBody>
      </p:sp>
      <p:sp>
        <p:nvSpPr>
          <p:cNvPr id="11" name="TextBox 10"/>
          <p:cNvSpPr txBox="1"/>
          <p:nvPr/>
        </p:nvSpPr>
        <p:spPr>
          <a:xfrm>
            <a:off x="1935327" y="3337560"/>
            <a:ext cx="3794760" cy="320040"/>
          </a:xfrm>
          <a:prstGeom prst="rect">
            <a:avLst/>
          </a:prstGeom>
          <a:noFill/>
        </p:spPr>
        <p:txBody>
          <a:bodyPr wrap="square" lIns="0" rIns="0" tIns="0" bIns="0" anchor="t">
            <a:spAutoFit/>
          </a:bodyPr>
          <a:lstStyle/>
          <a:p>
            <a:pPr algn="ctr">
              <a:spcAft>
                <a:spcPts val="300"/>
              </a:spcAft>
            </a:pPr>
            <a:r>
              <a:rPr sz="1050" b="0">
                <a:solidFill>
                  <a:srgbClr val="5F6B7A"/>
                </a:solidFill>
                <a:latin typeface="Arial"/>
              </a:rPr>
              <a:t>Editable evidence file</a:t>
            </a:r>
          </a:p>
        </p:txBody>
      </p:sp>
      <p:sp>
        <p:nvSpPr>
          <p:cNvPr id="12" name="Rounded Rectangle 11"/>
          <p:cNvSpPr/>
          <p:nvPr/>
        </p:nvSpPr>
        <p:spPr>
          <a:xfrm>
            <a:off x="6233007" y="2057400"/>
            <a:ext cx="4251960" cy="1874519"/>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2057400"/>
            <a:ext cx="4251960" cy="1097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1607" y="2304288"/>
            <a:ext cx="3794760" cy="292608"/>
          </a:xfrm>
          <a:prstGeom prst="rect">
            <a:avLst/>
          </a:prstGeom>
          <a:noFill/>
        </p:spPr>
        <p:txBody>
          <a:bodyPr wrap="square" lIns="0" rIns="0" tIns="0" bIns="0" anchor="t">
            <a:spAutoFit/>
          </a:bodyPr>
          <a:lstStyle/>
          <a:p>
            <a:pPr algn="ctr">
              <a:spcAft>
                <a:spcPts val="300"/>
              </a:spcAft>
            </a:pPr>
            <a:r>
              <a:rPr sz="1100" b="1">
                <a:solidFill>
                  <a:srgbClr val="0F9D8A"/>
                </a:solidFill>
                <a:latin typeface="Arial"/>
              </a:rPr>
              <a:t>XLSX</a:t>
            </a:r>
          </a:p>
        </p:txBody>
      </p:sp>
      <p:sp>
        <p:nvSpPr>
          <p:cNvPr id="15" name="TextBox 14"/>
          <p:cNvSpPr txBox="1"/>
          <p:nvPr/>
        </p:nvSpPr>
        <p:spPr>
          <a:xfrm>
            <a:off x="6461607" y="2624328"/>
            <a:ext cx="3794760" cy="640080"/>
          </a:xfrm>
          <a:prstGeom prst="rect">
            <a:avLst/>
          </a:prstGeom>
          <a:noFill/>
        </p:spPr>
        <p:txBody>
          <a:bodyPr wrap="square" lIns="0" rIns="0" tIns="0" bIns="0" anchor="ctr">
            <a:spAutoFit/>
          </a:bodyPr>
          <a:lstStyle/>
          <a:p>
            <a:pPr algn="ctr">
              <a:spcAft>
                <a:spcPts val="300"/>
              </a:spcAft>
            </a:pPr>
            <a:r>
              <a:rPr sz="1250" b="1">
                <a:solidFill>
                  <a:srgbClr val="131B2A"/>
                </a:solidFill>
                <a:latin typeface="Arial"/>
              </a:rPr>
              <a:t>03 Requirements Workshop and Stakeholder Register</a:t>
            </a:r>
          </a:p>
        </p:txBody>
      </p:sp>
      <p:sp>
        <p:nvSpPr>
          <p:cNvPr id="16" name="TextBox 15"/>
          <p:cNvSpPr txBox="1"/>
          <p:nvPr/>
        </p:nvSpPr>
        <p:spPr>
          <a:xfrm>
            <a:off x="6461607" y="3337560"/>
            <a:ext cx="3794760" cy="320040"/>
          </a:xfrm>
          <a:prstGeom prst="rect">
            <a:avLst/>
          </a:prstGeom>
          <a:noFill/>
        </p:spPr>
        <p:txBody>
          <a:bodyPr wrap="square" lIns="0" rIns="0" tIns="0" bIns="0" anchor="t">
            <a:spAutoFit/>
          </a:bodyPr>
          <a:lstStyle/>
          <a:p>
            <a:pPr algn="ctr">
              <a:spcAft>
                <a:spcPts val="300"/>
              </a:spcAft>
            </a:pPr>
            <a:r>
              <a:rPr sz="1050" b="0">
                <a:solidFill>
                  <a:srgbClr val="5F6B7A"/>
                </a:solidFill>
                <a:latin typeface="Arial"/>
              </a:rPr>
              <a:t>Editable evidence file</a:t>
            </a:r>
          </a:p>
        </p:txBody>
      </p:sp>
      <p:sp>
        <p:nvSpPr>
          <p:cNvPr id="17" name="Rounded Rectangle 16"/>
          <p:cNvSpPr/>
          <p:nvPr/>
        </p:nvSpPr>
        <p:spPr>
          <a:xfrm>
            <a:off x="749808" y="4343400"/>
            <a:ext cx="10698480" cy="1143000"/>
          </a:xfrm>
          <a:prstGeom prst="roundRect">
            <a:avLst>
              <a:gd name="adj" fmla="val 8000"/>
            </a:avLst>
          </a:prstGeom>
          <a:solidFill>
            <a:srgbClr val="FFFFFF"/>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4544568"/>
            <a:ext cx="1828800" cy="274320"/>
          </a:xfrm>
          <a:prstGeom prst="rect">
            <a:avLst/>
          </a:prstGeom>
          <a:noFill/>
        </p:spPr>
        <p:txBody>
          <a:bodyPr wrap="square" lIns="0" rIns="0" tIns="0" bIns="0" anchor="t">
            <a:spAutoFit/>
          </a:bodyPr>
          <a:lstStyle/>
          <a:p>
            <a:pPr algn="l">
              <a:spcAft>
                <a:spcPts val="300"/>
              </a:spcAft>
            </a:pPr>
            <a:r>
              <a:rPr sz="1050" b="1">
                <a:solidFill>
                  <a:srgbClr val="0F9D8A"/>
                </a:solidFill>
                <a:latin typeface="Arial"/>
              </a:rPr>
              <a:t>DECISION ENABLED</a:t>
            </a:r>
          </a:p>
        </p:txBody>
      </p:sp>
      <p:sp>
        <p:nvSpPr>
          <p:cNvPr id="19" name="TextBox 18"/>
          <p:cNvSpPr txBox="1"/>
          <p:nvPr/>
        </p:nvSpPr>
        <p:spPr>
          <a:xfrm>
            <a:off x="2788920" y="4453128"/>
            <a:ext cx="8229600" cy="685800"/>
          </a:xfrm>
          <a:prstGeom prst="rect">
            <a:avLst/>
          </a:prstGeom>
          <a:noFill/>
        </p:spPr>
        <p:txBody>
          <a:bodyPr wrap="square" lIns="0" rIns="0" tIns="0" bIns="0" anchor="ctr">
            <a:spAutoFit/>
          </a:bodyPr>
          <a:lstStyle/>
          <a:p>
            <a:pPr algn="l">
              <a:spcAft>
                <a:spcPts val="300"/>
              </a:spcAft>
            </a:pPr>
            <a:r>
              <a:rPr sz="1250" b="1">
                <a:solidFill>
                  <a:srgbClr val="131B2A"/>
                </a:solidFill>
                <a:latin typeface="Arial"/>
              </a:rPr>
              <a:t>A stakeholder register, workshop decision log and requirements traceability matrix with priorities, owners, deliverables and measurable acceptance evidence.</a:t>
            </a:r>
          </a:p>
        </p:txBody>
      </p:sp>
      <p:sp>
        <p:nvSpPr>
          <p:cNvPr id="20" name="TextBox 19"/>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1" name="TextBox 20"/>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02 · TOOL-BASED PRACTICE</a:t>
            </a:r>
          </a:p>
        </p:txBody>
      </p:sp>
      <p:sp>
        <p:nvSpPr>
          <p:cNvPr id="22" name="TextBox 21"/>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02 · HANDS-ON ACTIVITY</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Discover Requirements and Map Acceptance Evidence</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034272" y="384048"/>
            <a:ext cx="2377440" cy="402336"/>
          </a:xfrm>
          <a:prstGeom prst="roundRect">
            <a:avLst>
              <a:gd name="adj" fmla="val 8000"/>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34272" y="384048"/>
            <a:ext cx="2377440" cy="402336"/>
          </a:xfrm>
          <a:prstGeom prst="rect">
            <a:avLst/>
          </a:prstGeom>
          <a:noFill/>
        </p:spPr>
        <p:txBody>
          <a:bodyPr wrap="square" lIns="0" rIns="0" tIns="0" bIns="0" anchor="ctr">
            <a:spAutoFit/>
          </a:bodyPr>
          <a:lstStyle/>
          <a:p>
            <a:pPr algn="ctr">
              <a:spcAft>
                <a:spcPts val="300"/>
              </a:spcAft>
            </a:pPr>
            <a:r>
              <a:rPr sz="1050" b="1">
                <a:solidFill>
                  <a:srgbClr val="FFFFFF"/>
                </a:solidFill>
                <a:latin typeface="Arial"/>
              </a:rPr>
              <a:t>ACTIVITY 3 · 35 MIN</a:t>
            </a:r>
          </a:p>
        </p:txBody>
      </p:sp>
      <p:sp>
        <p:nvSpPr>
          <p:cNvPr id="9" name="Rounded Rectangle 8"/>
          <p:cNvSpPr/>
          <p:nvPr/>
        </p:nvSpPr>
        <p:spPr>
          <a:xfrm>
            <a:off x="749808" y="1773936"/>
            <a:ext cx="10698480" cy="12344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773936"/>
            <a:ext cx="91440" cy="123444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874519"/>
            <a:ext cx="10149840" cy="256032"/>
          </a:xfrm>
          <a:prstGeom prst="rect">
            <a:avLst/>
          </a:prstGeom>
          <a:noFill/>
        </p:spPr>
        <p:txBody>
          <a:bodyPr wrap="square" lIns="0" rIns="0" tIns="0" bIns="0" anchor="t">
            <a:spAutoFit/>
          </a:bodyPr>
          <a:lstStyle/>
          <a:p>
            <a:pPr algn="l">
              <a:spcAft>
                <a:spcPts val="300"/>
              </a:spcAft>
            </a:pPr>
            <a:r>
              <a:rPr sz="1050" b="1">
                <a:solidFill>
                  <a:srgbClr val="703CC3"/>
                </a:solidFill>
                <a:latin typeface="Arial"/>
              </a:rPr>
              <a:t>THE SITUATION</a:t>
            </a:r>
          </a:p>
        </p:txBody>
      </p:sp>
      <p:sp>
        <p:nvSpPr>
          <p:cNvPr id="12" name="TextBox 11"/>
          <p:cNvSpPr txBox="1"/>
          <p:nvPr/>
        </p:nvSpPr>
        <p:spPr>
          <a:xfrm>
            <a:off x="1005840" y="2139696"/>
            <a:ext cx="10149840" cy="731520"/>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Outlet supervisors want speed, Finance wants payment control, customers want predictable collection, and the POS vendor wants a stable interface. The charter is approved, but the stated needs are not testable.</a:t>
            </a:r>
          </a:p>
        </p:txBody>
      </p:sp>
      <p:sp>
        <p:nvSpPr>
          <p:cNvPr id="13" name="Rounded Rectangle 12"/>
          <p:cNvSpPr/>
          <p:nvPr/>
        </p:nvSpPr>
        <p:spPr>
          <a:xfrm>
            <a:off x="749808"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9808" y="3218688"/>
            <a:ext cx="3419856" cy="9144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 y="3401568"/>
            <a:ext cx="3017520" cy="274320"/>
          </a:xfrm>
          <a:prstGeom prst="rect">
            <a:avLst/>
          </a:prstGeom>
          <a:noFill/>
        </p:spPr>
        <p:txBody>
          <a:bodyPr wrap="square" lIns="0" rIns="0" tIns="0" bIns="0" anchor="t">
            <a:spAutoFit/>
          </a:bodyPr>
          <a:lstStyle/>
          <a:p>
            <a:pPr algn="l">
              <a:spcAft>
                <a:spcPts val="300"/>
              </a:spcAft>
            </a:pPr>
            <a:r>
              <a:rPr sz="1050" b="1">
                <a:solidFill>
                  <a:srgbClr val="1655D1"/>
                </a:solidFill>
                <a:latin typeface="Arial"/>
              </a:rPr>
              <a:t>WHAT YOU'LL DO</a:t>
            </a:r>
          </a:p>
        </p:txBody>
      </p:sp>
      <p:sp>
        <p:nvSpPr>
          <p:cNvPr id="16" name="TextBox 15"/>
          <p:cNvSpPr txBox="1"/>
          <p:nvPr/>
        </p:nvSpPr>
        <p:spPr>
          <a:xfrm>
            <a:off x="950976"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Identify sources, facilitate a structured workshop, convert needs into testable requirements, prioritise with MoSCoW and define acceptance evidence and ownership.</a:t>
            </a:r>
          </a:p>
        </p:txBody>
      </p:sp>
      <p:sp>
        <p:nvSpPr>
          <p:cNvPr id="17" name="Rounded Rectangle 16"/>
          <p:cNvSpPr/>
          <p:nvPr/>
        </p:nvSpPr>
        <p:spPr>
          <a:xfrm>
            <a:off x="4389120"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89120" y="3218688"/>
            <a:ext cx="341985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90288" y="3401568"/>
            <a:ext cx="3017520" cy="274320"/>
          </a:xfrm>
          <a:prstGeom prst="rect">
            <a:avLst/>
          </a:prstGeom>
          <a:noFill/>
        </p:spPr>
        <p:txBody>
          <a:bodyPr wrap="square" lIns="0" rIns="0" tIns="0" bIns="0" anchor="t">
            <a:spAutoFit/>
          </a:bodyPr>
          <a:lstStyle/>
          <a:p>
            <a:pPr algn="l">
              <a:spcAft>
                <a:spcPts val="300"/>
              </a:spcAft>
            </a:pPr>
            <a:r>
              <a:rPr sz="1050" b="1">
                <a:solidFill>
                  <a:srgbClr val="0F9D8A"/>
                </a:solidFill>
                <a:latin typeface="Arial"/>
              </a:rPr>
              <a:t>YOU'LL PRODUCE</a:t>
            </a:r>
          </a:p>
        </p:txBody>
      </p:sp>
      <p:sp>
        <p:nvSpPr>
          <p:cNvPr id="20" name="TextBox 19"/>
          <p:cNvSpPr txBox="1"/>
          <p:nvPr/>
        </p:nvSpPr>
        <p:spPr>
          <a:xfrm>
            <a:off x="4590288"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A stakeholder register, workshop decision log and requirements traceability matrix with priorities, owners, deliverables and measurable acceptance evidence.</a:t>
            </a:r>
          </a:p>
        </p:txBody>
      </p:sp>
      <p:sp>
        <p:nvSpPr>
          <p:cNvPr id="21" name="Rounded Rectangle 20"/>
          <p:cNvSpPr/>
          <p:nvPr/>
        </p:nvSpPr>
        <p:spPr>
          <a:xfrm>
            <a:off x="8028431"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28431" y="3218688"/>
            <a:ext cx="3419856"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0" y="3401568"/>
            <a:ext cx="3017520" cy="274320"/>
          </a:xfrm>
          <a:prstGeom prst="rect">
            <a:avLst/>
          </a:prstGeom>
          <a:noFill/>
        </p:spPr>
        <p:txBody>
          <a:bodyPr wrap="square" lIns="0" rIns="0" tIns="0" bIns="0" anchor="t">
            <a:spAutoFit/>
          </a:bodyPr>
          <a:lstStyle/>
          <a:p>
            <a:pPr algn="l">
              <a:spcAft>
                <a:spcPts val="300"/>
              </a:spcAft>
            </a:pPr>
            <a:r>
              <a:rPr sz="1050" b="1">
                <a:solidFill>
                  <a:srgbClr val="F59E0B"/>
                </a:solidFill>
                <a:latin typeface="Arial"/>
              </a:rPr>
              <a:t>DONE WHEN</a:t>
            </a:r>
          </a:p>
        </p:txBody>
      </p:sp>
      <p:sp>
        <p:nvSpPr>
          <p:cNvPr id="24" name="TextBox 23"/>
          <p:cNvSpPr txBox="1"/>
          <p:nvPr/>
        </p:nvSpPr>
        <p:spPr>
          <a:xfrm>
            <a:off x="8229600"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Every prioritised requirement has a source, rationale, owner, deliverable and testable acceptance method; unresolved conflicts have named decision owners and dates.</a:t>
            </a:r>
          </a:p>
        </p:txBody>
      </p:sp>
      <p:sp>
        <p:nvSpPr>
          <p:cNvPr id="25" name="Rounded Rectangle 24"/>
          <p:cNvSpPr/>
          <p:nvPr/>
        </p:nvSpPr>
        <p:spPr>
          <a:xfrm>
            <a:off x="749808" y="5486400"/>
            <a:ext cx="10698480" cy="713232"/>
          </a:xfrm>
          <a:prstGeom prst="roundRect">
            <a:avLst>
              <a:gd name="adj" fmla="val 8000"/>
            </a:avLst>
          </a:prstGeom>
          <a:solidFill>
            <a:srgbClr val="FFFFFF"/>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577840"/>
            <a:ext cx="10195560" cy="256032"/>
          </a:xfrm>
          <a:prstGeom prst="rect">
            <a:avLst/>
          </a:prstGeom>
          <a:noFill/>
        </p:spPr>
        <p:txBody>
          <a:bodyPr wrap="square" lIns="0" rIns="0" tIns="0" bIns="0" anchor="t">
            <a:spAutoFit/>
          </a:bodyPr>
          <a:lstStyle/>
          <a:p>
            <a:pPr algn="l">
              <a:spcAft>
                <a:spcPts val="300"/>
              </a:spcAft>
            </a:pPr>
            <a:r>
              <a:rPr sz="1100" b="1">
                <a:solidFill>
                  <a:srgbClr val="131B2A"/>
                </a:solidFill>
                <a:latin typeface="Arial"/>
              </a:rPr>
              <a:t>Tool: Requirements Workshop, Stakeholder Register and Traceability Matrix</a:t>
            </a:r>
          </a:p>
        </p:txBody>
      </p:sp>
      <p:sp>
        <p:nvSpPr>
          <p:cNvPr id="27" name="TextBox 26"/>
          <p:cNvSpPr txBox="1"/>
          <p:nvPr/>
        </p:nvSpPr>
        <p:spPr>
          <a:xfrm>
            <a:off x="960120" y="5843016"/>
            <a:ext cx="10195560" cy="219456"/>
          </a:xfrm>
          <a:prstGeom prst="rect">
            <a:avLst/>
          </a:prstGeom>
          <a:noFill/>
        </p:spPr>
        <p:txBody>
          <a:bodyPr wrap="square" lIns="0" rIns="0" tIns="0" bIns="0" anchor="t">
            <a:spAutoFit/>
          </a:bodyPr>
          <a:lstStyle/>
          <a:p>
            <a:pPr algn="l">
              <a:spcAft>
                <a:spcPts val="300"/>
              </a:spcAft>
            </a:pPr>
            <a:r>
              <a:rPr sz="950" b="0">
                <a:solidFill>
                  <a:srgbClr val="5F6B7A"/>
                </a:solidFill>
                <a:latin typeface="Arial"/>
              </a:rPr>
              <a:t>Full procedure, evidence fields and acceptance criteria: Learner Guide and Activity 3 folder.</a:t>
            </a:r>
          </a:p>
        </p:txBody>
      </p:sp>
      <p:sp>
        <p:nvSpPr>
          <p:cNvPr id="28" name="TextBox 27"/>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9" name="TextBox 28"/>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Activity 3 · LO2</a:t>
            </a:r>
          </a:p>
        </p:txBody>
      </p:sp>
      <p:sp>
        <p:nvSpPr>
          <p:cNvPr id="30" name="TextBox 29"/>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703CC3"/>
                </a:solidFill>
                <a:latin typeface="Arial"/>
              </a:rPr>
              <a:t>TOPIC 02 · ACTIVITY DEBRIEF</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Debrief — Activity 3: What It Proves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1328928"/>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1024128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1</a:t>
            </a:r>
          </a:p>
        </p:txBody>
      </p:sp>
      <p:sp>
        <p:nvSpPr>
          <p:cNvPr id="10" name="TextBox 9"/>
          <p:cNvSpPr txBox="1"/>
          <p:nvPr/>
        </p:nvSpPr>
        <p:spPr>
          <a:xfrm>
            <a:off x="1005840" y="2313432"/>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 requirement is not complete until acceptance can be observed or measured.</a:t>
            </a:r>
          </a:p>
        </p:txBody>
      </p:sp>
      <p:sp>
        <p:nvSpPr>
          <p:cNvPr id="11" name="Rounded Rectangle 10"/>
          <p:cNvSpPr/>
          <p:nvPr/>
        </p:nvSpPr>
        <p:spPr>
          <a:xfrm>
            <a:off x="749808" y="3340608"/>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 y="3340608"/>
            <a:ext cx="91440" cy="13289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505200"/>
            <a:ext cx="1024128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2</a:t>
            </a:r>
          </a:p>
        </p:txBody>
      </p:sp>
      <p:sp>
        <p:nvSpPr>
          <p:cNvPr id="14" name="TextBox 13"/>
          <p:cNvSpPr txBox="1"/>
          <p:nvPr/>
        </p:nvSpPr>
        <p:spPr>
          <a:xfrm>
            <a:off x="1005840" y="3870960"/>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Prioritisation is a trade-off decision, not a label applied by the loudest stakeholder.</a:t>
            </a:r>
          </a:p>
        </p:txBody>
      </p:sp>
      <p:sp>
        <p:nvSpPr>
          <p:cNvPr id="15" name="Rounded Rectangle 14"/>
          <p:cNvSpPr/>
          <p:nvPr/>
        </p:nvSpPr>
        <p:spPr>
          <a:xfrm>
            <a:off x="749808" y="4898136"/>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898136"/>
            <a:ext cx="91440" cy="1328928"/>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5062728"/>
            <a:ext cx="1024128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3</a:t>
            </a:r>
          </a:p>
        </p:txBody>
      </p:sp>
      <p:sp>
        <p:nvSpPr>
          <p:cNvPr id="18" name="TextBox 17"/>
          <p:cNvSpPr txBox="1"/>
          <p:nvPr/>
        </p:nvSpPr>
        <p:spPr>
          <a:xfrm>
            <a:off x="1005840" y="5428488"/>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Traceability protects value when scope changes later.</a:t>
            </a:r>
          </a:p>
        </p:txBody>
      </p:sp>
      <p:sp>
        <p:nvSpPr>
          <p:cNvPr id="19" name="TextBox 1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0" name="TextBox 1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02 · ACTIVITY DEBRIEF</a:t>
            </a:r>
          </a:p>
        </p:txBody>
      </p:sp>
      <p:sp>
        <p:nvSpPr>
          <p:cNvPr id="21" name="TextBox 2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02 · TOOL-BASED PRACTICE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Activity 4 Tool Pack</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52347" y="2057400"/>
            <a:ext cx="3246120" cy="1874519"/>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52347" y="2057400"/>
            <a:ext cx="3246120" cy="109728"/>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0947" y="2304288"/>
            <a:ext cx="2788920" cy="292608"/>
          </a:xfrm>
          <a:prstGeom prst="rect">
            <a:avLst/>
          </a:prstGeom>
          <a:noFill/>
        </p:spPr>
        <p:txBody>
          <a:bodyPr wrap="square" lIns="0" rIns="0" tIns="0" bIns="0" anchor="t">
            <a:spAutoFit/>
          </a:bodyPr>
          <a:lstStyle/>
          <a:p>
            <a:pPr algn="ctr">
              <a:spcAft>
                <a:spcPts val="300"/>
              </a:spcAft>
            </a:pPr>
            <a:r>
              <a:rPr sz="1100" b="1">
                <a:solidFill>
                  <a:srgbClr val="1655D1"/>
                </a:solidFill>
                <a:latin typeface="Arial"/>
              </a:rPr>
              <a:t>PPTX</a:t>
            </a:r>
          </a:p>
        </p:txBody>
      </p:sp>
      <p:sp>
        <p:nvSpPr>
          <p:cNvPr id="10" name="TextBox 9"/>
          <p:cNvSpPr txBox="1"/>
          <p:nvPr/>
        </p:nvSpPr>
        <p:spPr>
          <a:xfrm>
            <a:off x="1180947" y="2624328"/>
            <a:ext cx="2788920" cy="640080"/>
          </a:xfrm>
          <a:prstGeom prst="rect">
            <a:avLst/>
          </a:prstGeom>
          <a:noFill/>
        </p:spPr>
        <p:txBody>
          <a:bodyPr wrap="square" lIns="0" rIns="0" tIns="0" bIns="0" anchor="ctr">
            <a:spAutoFit/>
          </a:bodyPr>
          <a:lstStyle/>
          <a:p>
            <a:pPr algn="ctr">
              <a:spcAft>
                <a:spcPts val="300"/>
              </a:spcAft>
            </a:pPr>
            <a:r>
              <a:rPr sz="1250" b="1">
                <a:solidFill>
                  <a:srgbClr val="131B2A"/>
                </a:solidFill>
                <a:latin typeface="Arial"/>
              </a:rPr>
              <a:t>24 Work Breakdown Structure</a:t>
            </a:r>
          </a:p>
        </p:txBody>
      </p:sp>
      <p:sp>
        <p:nvSpPr>
          <p:cNvPr id="11" name="TextBox 10"/>
          <p:cNvSpPr txBox="1"/>
          <p:nvPr/>
        </p:nvSpPr>
        <p:spPr>
          <a:xfrm>
            <a:off x="1180947" y="3337560"/>
            <a:ext cx="2788920" cy="320040"/>
          </a:xfrm>
          <a:prstGeom prst="rect">
            <a:avLst/>
          </a:prstGeom>
          <a:noFill/>
        </p:spPr>
        <p:txBody>
          <a:bodyPr wrap="square" lIns="0" rIns="0" tIns="0" bIns="0" anchor="t">
            <a:spAutoFit/>
          </a:bodyPr>
          <a:lstStyle/>
          <a:p>
            <a:pPr algn="ctr">
              <a:spcAft>
                <a:spcPts val="300"/>
              </a:spcAft>
            </a:pPr>
            <a:r>
              <a:rPr sz="1050" b="0">
                <a:solidFill>
                  <a:srgbClr val="5F6B7A"/>
                </a:solidFill>
                <a:latin typeface="Arial"/>
              </a:rPr>
              <a:t>Editable evidence file</a:t>
            </a:r>
          </a:p>
        </p:txBody>
      </p:sp>
      <p:sp>
        <p:nvSpPr>
          <p:cNvPr id="12" name="Rounded Rectangle 11"/>
          <p:cNvSpPr/>
          <p:nvPr/>
        </p:nvSpPr>
        <p:spPr>
          <a:xfrm>
            <a:off x="4472787" y="2057400"/>
            <a:ext cx="3246120" cy="1874519"/>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72787" y="2057400"/>
            <a:ext cx="3246120" cy="1097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1387" y="2304288"/>
            <a:ext cx="2788920" cy="292608"/>
          </a:xfrm>
          <a:prstGeom prst="rect">
            <a:avLst/>
          </a:prstGeom>
          <a:noFill/>
        </p:spPr>
        <p:txBody>
          <a:bodyPr wrap="square" lIns="0" rIns="0" tIns="0" bIns="0" anchor="t">
            <a:spAutoFit/>
          </a:bodyPr>
          <a:lstStyle/>
          <a:p>
            <a:pPr algn="ctr">
              <a:spcAft>
                <a:spcPts val="300"/>
              </a:spcAft>
            </a:pPr>
            <a:r>
              <a:rPr sz="1100" b="1">
                <a:solidFill>
                  <a:srgbClr val="0F9D8A"/>
                </a:solidFill>
                <a:latin typeface="Arial"/>
              </a:rPr>
              <a:t>XLSX</a:t>
            </a:r>
          </a:p>
        </p:txBody>
      </p:sp>
      <p:sp>
        <p:nvSpPr>
          <p:cNvPr id="15" name="TextBox 14"/>
          <p:cNvSpPr txBox="1"/>
          <p:nvPr/>
        </p:nvSpPr>
        <p:spPr>
          <a:xfrm>
            <a:off x="4701387" y="2624328"/>
            <a:ext cx="2788920" cy="640080"/>
          </a:xfrm>
          <a:prstGeom prst="rect">
            <a:avLst/>
          </a:prstGeom>
          <a:noFill/>
        </p:spPr>
        <p:txBody>
          <a:bodyPr wrap="square" lIns="0" rIns="0" tIns="0" bIns="0" anchor="ctr">
            <a:spAutoFit/>
          </a:bodyPr>
          <a:lstStyle/>
          <a:p>
            <a:pPr algn="ctr">
              <a:spcAft>
                <a:spcPts val="300"/>
              </a:spcAft>
            </a:pPr>
            <a:r>
              <a:rPr sz="1250" b="1">
                <a:solidFill>
                  <a:srgbClr val="131B2A"/>
                </a:solidFill>
                <a:latin typeface="Arial"/>
              </a:rPr>
              <a:t>24 WBS Dictionary</a:t>
            </a:r>
          </a:p>
        </p:txBody>
      </p:sp>
      <p:sp>
        <p:nvSpPr>
          <p:cNvPr id="16" name="TextBox 15"/>
          <p:cNvSpPr txBox="1"/>
          <p:nvPr/>
        </p:nvSpPr>
        <p:spPr>
          <a:xfrm>
            <a:off x="4701387" y="3337560"/>
            <a:ext cx="2788920" cy="320040"/>
          </a:xfrm>
          <a:prstGeom prst="rect">
            <a:avLst/>
          </a:prstGeom>
          <a:noFill/>
        </p:spPr>
        <p:txBody>
          <a:bodyPr wrap="square" lIns="0" rIns="0" tIns="0" bIns="0" anchor="t">
            <a:spAutoFit/>
          </a:bodyPr>
          <a:lstStyle/>
          <a:p>
            <a:pPr algn="ctr">
              <a:spcAft>
                <a:spcPts val="300"/>
              </a:spcAft>
            </a:pPr>
            <a:r>
              <a:rPr sz="1050" b="0">
                <a:solidFill>
                  <a:srgbClr val="5F6B7A"/>
                </a:solidFill>
                <a:latin typeface="Arial"/>
              </a:rPr>
              <a:t>Editable evidence file</a:t>
            </a:r>
          </a:p>
        </p:txBody>
      </p:sp>
      <p:sp>
        <p:nvSpPr>
          <p:cNvPr id="17" name="Rounded Rectangle 16"/>
          <p:cNvSpPr/>
          <p:nvPr/>
        </p:nvSpPr>
        <p:spPr>
          <a:xfrm>
            <a:off x="7993227" y="2057400"/>
            <a:ext cx="3246120" cy="1874519"/>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93227" y="2057400"/>
            <a:ext cx="3246120" cy="109728"/>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1827" y="2304288"/>
            <a:ext cx="2788920" cy="292608"/>
          </a:xfrm>
          <a:prstGeom prst="rect">
            <a:avLst/>
          </a:prstGeom>
          <a:noFill/>
        </p:spPr>
        <p:txBody>
          <a:bodyPr wrap="square" lIns="0" rIns="0" tIns="0" bIns="0" anchor="t">
            <a:spAutoFit/>
          </a:bodyPr>
          <a:lstStyle/>
          <a:p>
            <a:pPr algn="ctr">
              <a:spcAft>
                <a:spcPts val="300"/>
              </a:spcAft>
            </a:pPr>
            <a:r>
              <a:rPr sz="1100" b="1">
                <a:solidFill>
                  <a:srgbClr val="703CC3"/>
                </a:solidFill>
                <a:latin typeface="Arial"/>
              </a:rPr>
              <a:t>XLSX</a:t>
            </a:r>
          </a:p>
        </p:txBody>
      </p:sp>
      <p:sp>
        <p:nvSpPr>
          <p:cNvPr id="20" name="TextBox 19"/>
          <p:cNvSpPr txBox="1"/>
          <p:nvPr/>
        </p:nvSpPr>
        <p:spPr>
          <a:xfrm>
            <a:off x="8221827" y="2624328"/>
            <a:ext cx="2788920" cy="640080"/>
          </a:xfrm>
          <a:prstGeom prst="rect">
            <a:avLst/>
          </a:prstGeom>
          <a:noFill/>
        </p:spPr>
        <p:txBody>
          <a:bodyPr wrap="square" lIns="0" rIns="0" tIns="0" bIns="0" anchor="ctr">
            <a:spAutoFit/>
          </a:bodyPr>
          <a:lstStyle/>
          <a:p>
            <a:pPr algn="ctr">
              <a:spcAft>
                <a:spcPts val="300"/>
              </a:spcAft>
            </a:pPr>
            <a:r>
              <a:rPr sz="1250" b="1">
                <a:solidFill>
                  <a:srgbClr val="131B2A"/>
                </a:solidFill>
                <a:latin typeface="Arial"/>
              </a:rPr>
              <a:t>25 Requirements Traceability Matrix</a:t>
            </a:r>
          </a:p>
        </p:txBody>
      </p:sp>
      <p:sp>
        <p:nvSpPr>
          <p:cNvPr id="21" name="TextBox 20"/>
          <p:cNvSpPr txBox="1"/>
          <p:nvPr/>
        </p:nvSpPr>
        <p:spPr>
          <a:xfrm>
            <a:off x="8221827" y="3337560"/>
            <a:ext cx="2788920" cy="320040"/>
          </a:xfrm>
          <a:prstGeom prst="rect">
            <a:avLst/>
          </a:prstGeom>
          <a:noFill/>
        </p:spPr>
        <p:txBody>
          <a:bodyPr wrap="square" lIns="0" rIns="0" tIns="0" bIns="0" anchor="t">
            <a:spAutoFit/>
          </a:bodyPr>
          <a:lstStyle/>
          <a:p>
            <a:pPr algn="ctr">
              <a:spcAft>
                <a:spcPts val="300"/>
              </a:spcAft>
            </a:pPr>
            <a:r>
              <a:rPr sz="1050" b="0">
                <a:solidFill>
                  <a:srgbClr val="5F6B7A"/>
                </a:solidFill>
                <a:latin typeface="Arial"/>
              </a:rPr>
              <a:t>Editable evidence file</a:t>
            </a:r>
          </a:p>
        </p:txBody>
      </p:sp>
      <p:sp>
        <p:nvSpPr>
          <p:cNvPr id="22" name="Rounded Rectangle 21"/>
          <p:cNvSpPr/>
          <p:nvPr/>
        </p:nvSpPr>
        <p:spPr>
          <a:xfrm>
            <a:off x="749808" y="4343400"/>
            <a:ext cx="10698480" cy="1143000"/>
          </a:xfrm>
          <a:prstGeom prst="roundRect">
            <a:avLst>
              <a:gd name="adj" fmla="val 8000"/>
            </a:avLst>
          </a:prstGeom>
          <a:solidFill>
            <a:srgbClr val="FFFFFF"/>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7552" y="4544568"/>
            <a:ext cx="1828800" cy="274320"/>
          </a:xfrm>
          <a:prstGeom prst="rect">
            <a:avLst/>
          </a:prstGeom>
          <a:noFill/>
        </p:spPr>
        <p:txBody>
          <a:bodyPr wrap="square" lIns="0" rIns="0" tIns="0" bIns="0" anchor="t">
            <a:spAutoFit/>
          </a:bodyPr>
          <a:lstStyle/>
          <a:p>
            <a:pPr algn="l">
              <a:spcAft>
                <a:spcPts val="300"/>
              </a:spcAft>
            </a:pPr>
            <a:r>
              <a:rPr sz="1050" b="1">
                <a:solidFill>
                  <a:srgbClr val="0F9D8A"/>
                </a:solidFill>
                <a:latin typeface="Arial"/>
              </a:rPr>
              <a:t>DECISION ENABLED</a:t>
            </a:r>
          </a:p>
        </p:txBody>
      </p:sp>
      <p:sp>
        <p:nvSpPr>
          <p:cNvPr id="24" name="TextBox 23"/>
          <p:cNvSpPr txBox="1"/>
          <p:nvPr/>
        </p:nvSpPr>
        <p:spPr>
          <a:xfrm>
            <a:off x="2788920" y="4453128"/>
            <a:ext cx="8229600" cy="685800"/>
          </a:xfrm>
          <a:prstGeom prst="rect">
            <a:avLst/>
          </a:prstGeom>
          <a:noFill/>
        </p:spPr>
        <p:txBody>
          <a:bodyPr wrap="square" lIns="0" rIns="0" tIns="0" bIns="0" anchor="ctr">
            <a:spAutoFit/>
          </a:bodyPr>
          <a:lstStyle/>
          <a:p>
            <a:pPr algn="l">
              <a:spcAft>
                <a:spcPts val="300"/>
              </a:spcAft>
            </a:pPr>
            <a:r>
              <a:rPr sz="1250" b="1">
                <a:solidFill>
                  <a:srgbClr val="131B2A"/>
                </a:solidFill>
                <a:latin typeface="Arial"/>
              </a:rPr>
              <a:t>A scope statement, WBS, WBS dictionary and repaired traceability matrix with no missing or duplicated work.</a:t>
            </a:r>
          </a:p>
        </p:txBody>
      </p:sp>
      <p:sp>
        <p:nvSpPr>
          <p:cNvPr id="25" name="TextBox 24"/>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6" name="TextBox 25"/>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02 · TOOL-BASED PRACTICE</a:t>
            </a:r>
          </a:p>
        </p:txBody>
      </p:sp>
      <p:sp>
        <p:nvSpPr>
          <p:cNvPr id="27" name="TextBox 26"/>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02 · HANDS-ON ACTIVITY</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Build the Scope Baseline with WBS and Dictionary</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034272" y="384048"/>
            <a:ext cx="2377440" cy="402336"/>
          </a:xfrm>
          <a:prstGeom prst="roundRect">
            <a:avLst>
              <a:gd name="adj" fmla="val 8000"/>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34272" y="384048"/>
            <a:ext cx="2377440" cy="402336"/>
          </a:xfrm>
          <a:prstGeom prst="rect">
            <a:avLst/>
          </a:prstGeom>
          <a:noFill/>
        </p:spPr>
        <p:txBody>
          <a:bodyPr wrap="square" lIns="0" rIns="0" tIns="0" bIns="0" anchor="ctr">
            <a:spAutoFit/>
          </a:bodyPr>
          <a:lstStyle/>
          <a:p>
            <a:pPr algn="ctr">
              <a:spcAft>
                <a:spcPts val="300"/>
              </a:spcAft>
            </a:pPr>
            <a:r>
              <a:rPr sz="1050" b="1">
                <a:solidFill>
                  <a:srgbClr val="FFFFFF"/>
                </a:solidFill>
                <a:latin typeface="Arial"/>
              </a:rPr>
              <a:t>ACTIVITY 4 · 45 MIN</a:t>
            </a:r>
          </a:p>
        </p:txBody>
      </p:sp>
      <p:sp>
        <p:nvSpPr>
          <p:cNvPr id="9" name="Rounded Rectangle 8"/>
          <p:cNvSpPr/>
          <p:nvPr/>
        </p:nvSpPr>
        <p:spPr>
          <a:xfrm>
            <a:off x="749808" y="1773936"/>
            <a:ext cx="10698480" cy="12344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773936"/>
            <a:ext cx="91440" cy="123444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874519"/>
            <a:ext cx="10149840" cy="256032"/>
          </a:xfrm>
          <a:prstGeom prst="rect">
            <a:avLst/>
          </a:prstGeom>
          <a:noFill/>
        </p:spPr>
        <p:txBody>
          <a:bodyPr wrap="square" lIns="0" rIns="0" tIns="0" bIns="0" anchor="t">
            <a:spAutoFit/>
          </a:bodyPr>
          <a:lstStyle/>
          <a:p>
            <a:pPr algn="l">
              <a:spcAft>
                <a:spcPts val="300"/>
              </a:spcAft>
            </a:pPr>
            <a:r>
              <a:rPr sz="1050" b="1">
                <a:solidFill>
                  <a:srgbClr val="703CC3"/>
                </a:solidFill>
                <a:latin typeface="Arial"/>
              </a:rPr>
              <a:t>THE SITUATION</a:t>
            </a:r>
          </a:p>
        </p:txBody>
      </p:sp>
      <p:sp>
        <p:nvSpPr>
          <p:cNvPr id="12" name="TextBox 11"/>
          <p:cNvSpPr txBox="1"/>
          <p:nvPr/>
        </p:nvSpPr>
        <p:spPr>
          <a:xfrm>
            <a:off x="1005840" y="2139696"/>
            <a:ext cx="10149840" cy="731520"/>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The team has 14 prioritised requirements, but the vendor proposal groups work by department and omits outlet readiness, training and handover. Estimates cannot be trusted until the total scope is visible.</a:t>
            </a:r>
          </a:p>
        </p:txBody>
      </p:sp>
      <p:sp>
        <p:nvSpPr>
          <p:cNvPr id="13" name="Rounded Rectangle 12"/>
          <p:cNvSpPr/>
          <p:nvPr/>
        </p:nvSpPr>
        <p:spPr>
          <a:xfrm>
            <a:off x="749808"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9808" y="3218688"/>
            <a:ext cx="3419856" cy="9144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 y="3401568"/>
            <a:ext cx="3017520" cy="274320"/>
          </a:xfrm>
          <a:prstGeom prst="rect">
            <a:avLst/>
          </a:prstGeom>
          <a:noFill/>
        </p:spPr>
        <p:txBody>
          <a:bodyPr wrap="square" lIns="0" rIns="0" tIns="0" bIns="0" anchor="t">
            <a:spAutoFit/>
          </a:bodyPr>
          <a:lstStyle/>
          <a:p>
            <a:pPr algn="l">
              <a:spcAft>
                <a:spcPts val="300"/>
              </a:spcAft>
            </a:pPr>
            <a:r>
              <a:rPr sz="1050" b="1">
                <a:solidFill>
                  <a:srgbClr val="1655D1"/>
                </a:solidFill>
                <a:latin typeface="Arial"/>
              </a:rPr>
              <a:t>WHAT YOU'LL DO</a:t>
            </a:r>
          </a:p>
        </p:txBody>
      </p:sp>
      <p:sp>
        <p:nvSpPr>
          <p:cNvPr id="16" name="TextBox 15"/>
          <p:cNvSpPr txBox="1"/>
          <p:nvPr/>
        </p:nvSpPr>
        <p:spPr>
          <a:xfrm>
            <a:off x="950976"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Create a deliverable-oriented WBS, apply the 100% rule, define work packages in the dictionary and reconcile every requirement and acceptance criterion to scope.</a:t>
            </a:r>
          </a:p>
        </p:txBody>
      </p:sp>
      <p:sp>
        <p:nvSpPr>
          <p:cNvPr id="17" name="Rounded Rectangle 16"/>
          <p:cNvSpPr/>
          <p:nvPr/>
        </p:nvSpPr>
        <p:spPr>
          <a:xfrm>
            <a:off x="4389120"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89120" y="3218688"/>
            <a:ext cx="341985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90288" y="3401568"/>
            <a:ext cx="3017520" cy="274320"/>
          </a:xfrm>
          <a:prstGeom prst="rect">
            <a:avLst/>
          </a:prstGeom>
          <a:noFill/>
        </p:spPr>
        <p:txBody>
          <a:bodyPr wrap="square" lIns="0" rIns="0" tIns="0" bIns="0" anchor="t">
            <a:spAutoFit/>
          </a:bodyPr>
          <a:lstStyle/>
          <a:p>
            <a:pPr algn="l">
              <a:spcAft>
                <a:spcPts val="300"/>
              </a:spcAft>
            </a:pPr>
            <a:r>
              <a:rPr sz="1050" b="1">
                <a:solidFill>
                  <a:srgbClr val="0F9D8A"/>
                </a:solidFill>
                <a:latin typeface="Arial"/>
              </a:rPr>
              <a:t>YOU'LL PRODUCE</a:t>
            </a:r>
          </a:p>
        </p:txBody>
      </p:sp>
      <p:sp>
        <p:nvSpPr>
          <p:cNvPr id="20" name="TextBox 19"/>
          <p:cNvSpPr txBox="1"/>
          <p:nvPr/>
        </p:nvSpPr>
        <p:spPr>
          <a:xfrm>
            <a:off x="4590288"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A scope statement, WBS, WBS dictionary and repaired traceability matrix with no missing or duplicated work.</a:t>
            </a:r>
          </a:p>
        </p:txBody>
      </p:sp>
      <p:sp>
        <p:nvSpPr>
          <p:cNvPr id="21" name="Rounded Rectangle 20"/>
          <p:cNvSpPr/>
          <p:nvPr/>
        </p:nvSpPr>
        <p:spPr>
          <a:xfrm>
            <a:off x="8028431"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28431" y="3218688"/>
            <a:ext cx="3419856"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0" y="3401568"/>
            <a:ext cx="3017520" cy="274320"/>
          </a:xfrm>
          <a:prstGeom prst="rect">
            <a:avLst/>
          </a:prstGeom>
          <a:noFill/>
        </p:spPr>
        <p:txBody>
          <a:bodyPr wrap="square" lIns="0" rIns="0" tIns="0" bIns="0" anchor="t">
            <a:spAutoFit/>
          </a:bodyPr>
          <a:lstStyle/>
          <a:p>
            <a:pPr algn="l">
              <a:spcAft>
                <a:spcPts val="300"/>
              </a:spcAft>
            </a:pPr>
            <a:r>
              <a:rPr sz="1050" b="1">
                <a:solidFill>
                  <a:srgbClr val="F59E0B"/>
                </a:solidFill>
                <a:latin typeface="Arial"/>
              </a:rPr>
              <a:t>DONE WHEN</a:t>
            </a:r>
          </a:p>
        </p:txBody>
      </p:sp>
      <p:sp>
        <p:nvSpPr>
          <p:cNvPr id="24" name="TextBox 23"/>
          <p:cNvSpPr txBox="1"/>
          <p:nvPr/>
        </p:nvSpPr>
        <p:spPr>
          <a:xfrm>
            <a:off x="8229600"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The WBS covers 100% of authorised work without overlap, each work package is manageable and every requirement traces to acceptance-ready scope.</a:t>
            </a:r>
          </a:p>
        </p:txBody>
      </p:sp>
      <p:sp>
        <p:nvSpPr>
          <p:cNvPr id="25" name="Rounded Rectangle 24"/>
          <p:cNvSpPr/>
          <p:nvPr/>
        </p:nvSpPr>
        <p:spPr>
          <a:xfrm>
            <a:off x="749808" y="5486400"/>
            <a:ext cx="10698480" cy="713232"/>
          </a:xfrm>
          <a:prstGeom prst="roundRect">
            <a:avLst>
              <a:gd name="adj" fmla="val 8000"/>
            </a:avLst>
          </a:prstGeom>
          <a:solidFill>
            <a:srgbClr val="FFFFFF"/>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577840"/>
            <a:ext cx="10195560" cy="256032"/>
          </a:xfrm>
          <a:prstGeom prst="rect">
            <a:avLst/>
          </a:prstGeom>
          <a:noFill/>
        </p:spPr>
        <p:txBody>
          <a:bodyPr wrap="square" lIns="0" rIns="0" tIns="0" bIns="0" anchor="t">
            <a:spAutoFit/>
          </a:bodyPr>
          <a:lstStyle/>
          <a:p>
            <a:pPr algn="l">
              <a:spcAft>
                <a:spcPts val="300"/>
              </a:spcAft>
            </a:pPr>
            <a:r>
              <a:rPr sz="1100" b="1">
                <a:solidFill>
                  <a:srgbClr val="131B2A"/>
                </a:solidFill>
                <a:latin typeface="Arial"/>
              </a:rPr>
              <a:t>Tool: Work Breakdown Structure, WBS Dictionary and Requirements Traceability Matrix</a:t>
            </a:r>
          </a:p>
        </p:txBody>
      </p:sp>
      <p:sp>
        <p:nvSpPr>
          <p:cNvPr id="27" name="TextBox 26"/>
          <p:cNvSpPr txBox="1"/>
          <p:nvPr/>
        </p:nvSpPr>
        <p:spPr>
          <a:xfrm>
            <a:off x="960120" y="5843016"/>
            <a:ext cx="10195560" cy="219456"/>
          </a:xfrm>
          <a:prstGeom prst="rect">
            <a:avLst/>
          </a:prstGeom>
          <a:noFill/>
        </p:spPr>
        <p:txBody>
          <a:bodyPr wrap="square" lIns="0" rIns="0" tIns="0" bIns="0" anchor="t">
            <a:spAutoFit/>
          </a:bodyPr>
          <a:lstStyle/>
          <a:p>
            <a:pPr algn="l">
              <a:spcAft>
                <a:spcPts val="300"/>
              </a:spcAft>
            </a:pPr>
            <a:r>
              <a:rPr sz="950" b="0">
                <a:solidFill>
                  <a:srgbClr val="5F6B7A"/>
                </a:solidFill>
                <a:latin typeface="Arial"/>
              </a:rPr>
              <a:t>Full procedure, evidence fields and acceptance criteria: Learner Guide and Activity 4 folder.</a:t>
            </a:r>
          </a:p>
        </p:txBody>
      </p:sp>
      <p:sp>
        <p:nvSpPr>
          <p:cNvPr id="28" name="TextBox 27"/>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9" name="TextBox 28"/>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Activity 4 · LO2</a:t>
            </a:r>
          </a:p>
        </p:txBody>
      </p:sp>
      <p:sp>
        <p:nvSpPr>
          <p:cNvPr id="30" name="TextBox 29"/>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703CC3"/>
                </a:solidFill>
                <a:latin typeface="Arial"/>
              </a:rPr>
              <a:t>TOPIC 02 · ACTIVITY DEBRIEF</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Debrief — Activity 4: What It Proves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1328928"/>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1024128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1</a:t>
            </a:r>
          </a:p>
        </p:txBody>
      </p:sp>
      <p:sp>
        <p:nvSpPr>
          <p:cNvPr id="10" name="TextBox 9"/>
          <p:cNvSpPr txBox="1"/>
          <p:nvPr/>
        </p:nvSpPr>
        <p:spPr>
          <a:xfrm>
            <a:off x="1005840" y="2313432"/>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The WBS describes all project work; the schedule describes when that work occurs.</a:t>
            </a:r>
          </a:p>
        </p:txBody>
      </p:sp>
      <p:sp>
        <p:nvSpPr>
          <p:cNvPr id="11" name="Rounded Rectangle 10"/>
          <p:cNvSpPr/>
          <p:nvPr/>
        </p:nvSpPr>
        <p:spPr>
          <a:xfrm>
            <a:off x="749808" y="3340608"/>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 y="3340608"/>
            <a:ext cx="91440" cy="13289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505200"/>
            <a:ext cx="1024128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2</a:t>
            </a:r>
          </a:p>
        </p:txBody>
      </p:sp>
      <p:sp>
        <p:nvSpPr>
          <p:cNvPr id="14" name="TextBox 13"/>
          <p:cNvSpPr txBox="1"/>
          <p:nvPr/>
        </p:nvSpPr>
        <p:spPr>
          <a:xfrm>
            <a:off x="1005840" y="3870960"/>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Transition and project-management work are real scope even when customers never see them.</a:t>
            </a:r>
          </a:p>
        </p:txBody>
      </p:sp>
      <p:sp>
        <p:nvSpPr>
          <p:cNvPr id="15" name="Rounded Rectangle 14"/>
          <p:cNvSpPr/>
          <p:nvPr/>
        </p:nvSpPr>
        <p:spPr>
          <a:xfrm>
            <a:off x="749808" y="4898136"/>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898136"/>
            <a:ext cx="91440" cy="1328928"/>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5062728"/>
            <a:ext cx="1024128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3</a:t>
            </a:r>
          </a:p>
        </p:txBody>
      </p:sp>
      <p:sp>
        <p:nvSpPr>
          <p:cNvPr id="18" name="TextBox 17"/>
          <p:cNvSpPr txBox="1"/>
          <p:nvPr/>
        </p:nvSpPr>
        <p:spPr>
          <a:xfrm>
            <a:off x="1005840" y="5428488"/>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 strong dictionary prevents different teams from estimating different meanings.</a:t>
            </a:r>
          </a:p>
        </p:txBody>
      </p:sp>
      <p:sp>
        <p:nvSpPr>
          <p:cNvPr id="19" name="TextBox 1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0" name="TextBox 1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02 · ACTIVITY DEBRIEF</a:t>
            </a:r>
          </a:p>
        </p:txBody>
      </p:sp>
      <p:sp>
        <p:nvSpPr>
          <p:cNvPr id="21" name="TextBox 2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02 · TOOL-BASED PRACTICE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Activity 5 Tool Pack</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52347" y="2057400"/>
            <a:ext cx="3246120" cy="1874519"/>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52347" y="2057400"/>
            <a:ext cx="3246120" cy="109728"/>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0947" y="2304288"/>
            <a:ext cx="2788920" cy="292608"/>
          </a:xfrm>
          <a:prstGeom prst="rect">
            <a:avLst/>
          </a:prstGeom>
          <a:noFill/>
        </p:spPr>
        <p:txBody>
          <a:bodyPr wrap="square" lIns="0" rIns="0" tIns="0" bIns="0" anchor="t">
            <a:spAutoFit/>
          </a:bodyPr>
          <a:lstStyle/>
          <a:p>
            <a:pPr algn="ctr">
              <a:spcAft>
                <a:spcPts val="300"/>
              </a:spcAft>
            </a:pPr>
            <a:r>
              <a:rPr sz="1100" b="1">
                <a:solidFill>
                  <a:srgbClr val="1655D1"/>
                </a:solidFill>
                <a:latin typeface="Arial"/>
              </a:rPr>
              <a:t>XLSX</a:t>
            </a:r>
          </a:p>
        </p:txBody>
      </p:sp>
      <p:sp>
        <p:nvSpPr>
          <p:cNvPr id="10" name="TextBox 9"/>
          <p:cNvSpPr txBox="1"/>
          <p:nvPr/>
        </p:nvSpPr>
        <p:spPr>
          <a:xfrm>
            <a:off x="1180947" y="2624328"/>
            <a:ext cx="2788920" cy="640080"/>
          </a:xfrm>
          <a:prstGeom prst="rect">
            <a:avLst/>
          </a:prstGeom>
          <a:noFill/>
        </p:spPr>
        <p:txBody>
          <a:bodyPr wrap="square" lIns="0" rIns="0" tIns="0" bIns="0" anchor="ctr">
            <a:spAutoFit/>
          </a:bodyPr>
          <a:lstStyle/>
          <a:p>
            <a:pPr algn="ctr">
              <a:spcAft>
                <a:spcPts val="300"/>
              </a:spcAft>
            </a:pPr>
            <a:r>
              <a:rPr sz="1250" b="1">
                <a:solidFill>
                  <a:srgbClr val="131B2A"/>
                </a:solidFill>
                <a:latin typeface="Arial"/>
              </a:rPr>
              <a:t>28 Schedule Network Diagram</a:t>
            </a:r>
          </a:p>
        </p:txBody>
      </p:sp>
      <p:sp>
        <p:nvSpPr>
          <p:cNvPr id="11" name="TextBox 10"/>
          <p:cNvSpPr txBox="1"/>
          <p:nvPr/>
        </p:nvSpPr>
        <p:spPr>
          <a:xfrm>
            <a:off x="1180947" y="3337560"/>
            <a:ext cx="2788920" cy="320040"/>
          </a:xfrm>
          <a:prstGeom prst="rect">
            <a:avLst/>
          </a:prstGeom>
          <a:noFill/>
        </p:spPr>
        <p:txBody>
          <a:bodyPr wrap="square" lIns="0" rIns="0" tIns="0" bIns="0" anchor="t">
            <a:spAutoFit/>
          </a:bodyPr>
          <a:lstStyle/>
          <a:p>
            <a:pPr algn="ctr">
              <a:spcAft>
                <a:spcPts val="300"/>
              </a:spcAft>
            </a:pPr>
            <a:r>
              <a:rPr sz="1050" b="0">
                <a:solidFill>
                  <a:srgbClr val="5F6B7A"/>
                </a:solidFill>
                <a:latin typeface="Arial"/>
              </a:rPr>
              <a:t>Editable evidence file</a:t>
            </a:r>
          </a:p>
        </p:txBody>
      </p:sp>
      <p:sp>
        <p:nvSpPr>
          <p:cNvPr id="12" name="Rounded Rectangle 11"/>
          <p:cNvSpPr/>
          <p:nvPr/>
        </p:nvSpPr>
        <p:spPr>
          <a:xfrm>
            <a:off x="4472787" y="2057400"/>
            <a:ext cx="3246120" cy="1874519"/>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72787" y="2057400"/>
            <a:ext cx="3246120" cy="1097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1387" y="2304288"/>
            <a:ext cx="2788920" cy="292608"/>
          </a:xfrm>
          <a:prstGeom prst="rect">
            <a:avLst/>
          </a:prstGeom>
          <a:noFill/>
        </p:spPr>
        <p:txBody>
          <a:bodyPr wrap="square" lIns="0" rIns="0" tIns="0" bIns="0" anchor="t">
            <a:spAutoFit/>
          </a:bodyPr>
          <a:lstStyle/>
          <a:p>
            <a:pPr algn="ctr">
              <a:spcAft>
                <a:spcPts val="300"/>
              </a:spcAft>
            </a:pPr>
            <a:r>
              <a:rPr sz="1100" b="1">
                <a:solidFill>
                  <a:srgbClr val="0F9D8A"/>
                </a:solidFill>
                <a:latin typeface="Arial"/>
              </a:rPr>
              <a:t>XLSX</a:t>
            </a:r>
          </a:p>
        </p:txBody>
      </p:sp>
      <p:sp>
        <p:nvSpPr>
          <p:cNvPr id="15" name="TextBox 14"/>
          <p:cNvSpPr txBox="1"/>
          <p:nvPr/>
        </p:nvSpPr>
        <p:spPr>
          <a:xfrm>
            <a:off x="4701387" y="2624328"/>
            <a:ext cx="2788920" cy="640080"/>
          </a:xfrm>
          <a:prstGeom prst="rect">
            <a:avLst/>
          </a:prstGeom>
          <a:noFill/>
        </p:spPr>
        <p:txBody>
          <a:bodyPr wrap="square" lIns="0" rIns="0" tIns="0" bIns="0" anchor="ctr">
            <a:spAutoFit/>
          </a:bodyPr>
          <a:lstStyle/>
          <a:p>
            <a:pPr algn="ctr">
              <a:spcAft>
                <a:spcPts val="300"/>
              </a:spcAft>
            </a:pPr>
            <a:r>
              <a:rPr sz="1250" b="1">
                <a:solidFill>
                  <a:srgbClr val="131B2A"/>
                </a:solidFill>
                <a:latin typeface="Arial"/>
              </a:rPr>
              <a:t>29 - Gantt Chart - Schedule - Daily Weekly Monthly and Phases</a:t>
            </a:r>
          </a:p>
        </p:txBody>
      </p:sp>
      <p:sp>
        <p:nvSpPr>
          <p:cNvPr id="16" name="TextBox 15"/>
          <p:cNvSpPr txBox="1"/>
          <p:nvPr/>
        </p:nvSpPr>
        <p:spPr>
          <a:xfrm>
            <a:off x="4701387" y="3337560"/>
            <a:ext cx="2788920" cy="320040"/>
          </a:xfrm>
          <a:prstGeom prst="rect">
            <a:avLst/>
          </a:prstGeom>
          <a:noFill/>
        </p:spPr>
        <p:txBody>
          <a:bodyPr wrap="square" lIns="0" rIns="0" tIns="0" bIns="0" anchor="t">
            <a:spAutoFit/>
          </a:bodyPr>
          <a:lstStyle/>
          <a:p>
            <a:pPr algn="ctr">
              <a:spcAft>
                <a:spcPts val="300"/>
              </a:spcAft>
            </a:pPr>
            <a:r>
              <a:rPr sz="1050" b="0">
                <a:solidFill>
                  <a:srgbClr val="5F6B7A"/>
                </a:solidFill>
                <a:latin typeface="Arial"/>
              </a:rPr>
              <a:t>Editable evidence file</a:t>
            </a:r>
          </a:p>
        </p:txBody>
      </p:sp>
      <p:sp>
        <p:nvSpPr>
          <p:cNvPr id="17" name="Rounded Rectangle 16"/>
          <p:cNvSpPr/>
          <p:nvPr/>
        </p:nvSpPr>
        <p:spPr>
          <a:xfrm>
            <a:off x="7993227" y="2057400"/>
            <a:ext cx="3246120" cy="1874519"/>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93227" y="2057400"/>
            <a:ext cx="3246120" cy="109728"/>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1827" y="2304288"/>
            <a:ext cx="2788920" cy="292608"/>
          </a:xfrm>
          <a:prstGeom prst="rect">
            <a:avLst/>
          </a:prstGeom>
          <a:noFill/>
        </p:spPr>
        <p:txBody>
          <a:bodyPr wrap="square" lIns="0" rIns="0" tIns="0" bIns="0" anchor="t">
            <a:spAutoFit/>
          </a:bodyPr>
          <a:lstStyle/>
          <a:p>
            <a:pPr algn="ctr">
              <a:spcAft>
                <a:spcPts val="300"/>
              </a:spcAft>
            </a:pPr>
            <a:r>
              <a:rPr sz="1100" b="1">
                <a:solidFill>
                  <a:srgbClr val="703CC3"/>
                </a:solidFill>
                <a:latin typeface="Arial"/>
              </a:rPr>
              <a:t>XLSX</a:t>
            </a:r>
          </a:p>
        </p:txBody>
      </p:sp>
      <p:sp>
        <p:nvSpPr>
          <p:cNvPr id="20" name="TextBox 19"/>
          <p:cNvSpPr txBox="1"/>
          <p:nvPr/>
        </p:nvSpPr>
        <p:spPr>
          <a:xfrm>
            <a:off x="8221827" y="2624328"/>
            <a:ext cx="2788920" cy="640080"/>
          </a:xfrm>
          <a:prstGeom prst="rect">
            <a:avLst/>
          </a:prstGeom>
          <a:noFill/>
        </p:spPr>
        <p:txBody>
          <a:bodyPr wrap="square" lIns="0" rIns="0" tIns="0" bIns="0" anchor="ctr">
            <a:spAutoFit/>
          </a:bodyPr>
          <a:lstStyle/>
          <a:p>
            <a:pPr algn="ctr">
              <a:spcAft>
                <a:spcPts val="300"/>
              </a:spcAft>
            </a:pPr>
            <a:r>
              <a:rPr sz="1250" b="1">
                <a:solidFill>
                  <a:srgbClr val="131B2A"/>
                </a:solidFill>
                <a:latin typeface="Arial"/>
              </a:rPr>
              <a:t>32 Project Budget - Planned vs Actual - Weekly and Monthly</a:t>
            </a:r>
          </a:p>
        </p:txBody>
      </p:sp>
      <p:sp>
        <p:nvSpPr>
          <p:cNvPr id="21" name="TextBox 20"/>
          <p:cNvSpPr txBox="1"/>
          <p:nvPr/>
        </p:nvSpPr>
        <p:spPr>
          <a:xfrm>
            <a:off x="8221827" y="3337560"/>
            <a:ext cx="2788920" cy="320040"/>
          </a:xfrm>
          <a:prstGeom prst="rect">
            <a:avLst/>
          </a:prstGeom>
          <a:noFill/>
        </p:spPr>
        <p:txBody>
          <a:bodyPr wrap="square" lIns="0" rIns="0" tIns="0" bIns="0" anchor="t">
            <a:spAutoFit/>
          </a:bodyPr>
          <a:lstStyle/>
          <a:p>
            <a:pPr algn="ctr">
              <a:spcAft>
                <a:spcPts val="300"/>
              </a:spcAft>
            </a:pPr>
            <a:r>
              <a:rPr sz="1050" b="0">
                <a:solidFill>
                  <a:srgbClr val="5F6B7A"/>
                </a:solidFill>
                <a:latin typeface="Arial"/>
              </a:rPr>
              <a:t>Editable evidence file</a:t>
            </a:r>
          </a:p>
        </p:txBody>
      </p:sp>
      <p:sp>
        <p:nvSpPr>
          <p:cNvPr id="22" name="Rounded Rectangle 21"/>
          <p:cNvSpPr/>
          <p:nvPr/>
        </p:nvSpPr>
        <p:spPr>
          <a:xfrm>
            <a:off x="749808" y="4343400"/>
            <a:ext cx="10698480" cy="1143000"/>
          </a:xfrm>
          <a:prstGeom prst="roundRect">
            <a:avLst>
              <a:gd name="adj" fmla="val 8000"/>
            </a:avLst>
          </a:prstGeom>
          <a:solidFill>
            <a:srgbClr val="FFFFFF"/>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7552" y="4544568"/>
            <a:ext cx="1828800" cy="274320"/>
          </a:xfrm>
          <a:prstGeom prst="rect">
            <a:avLst/>
          </a:prstGeom>
          <a:noFill/>
        </p:spPr>
        <p:txBody>
          <a:bodyPr wrap="square" lIns="0" rIns="0" tIns="0" bIns="0" anchor="t">
            <a:spAutoFit/>
          </a:bodyPr>
          <a:lstStyle/>
          <a:p>
            <a:pPr algn="l">
              <a:spcAft>
                <a:spcPts val="300"/>
              </a:spcAft>
            </a:pPr>
            <a:r>
              <a:rPr sz="1050" b="1">
                <a:solidFill>
                  <a:srgbClr val="0F9D8A"/>
                </a:solidFill>
                <a:latin typeface="Arial"/>
              </a:rPr>
              <a:t>DECISION ENABLED</a:t>
            </a:r>
          </a:p>
        </p:txBody>
      </p:sp>
      <p:sp>
        <p:nvSpPr>
          <p:cNvPr id="24" name="TextBox 23"/>
          <p:cNvSpPr txBox="1"/>
          <p:nvPr/>
        </p:nvSpPr>
        <p:spPr>
          <a:xfrm>
            <a:off x="2788920" y="4453128"/>
            <a:ext cx="8229600" cy="685800"/>
          </a:xfrm>
          <a:prstGeom prst="rect">
            <a:avLst/>
          </a:prstGeom>
          <a:noFill/>
        </p:spPr>
        <p:txBody>
          <a:bodyPr wrap="square" lIns="0" rIns="0" tIns="0" bIns="0" anchor="ctr">
            <a:spAutoFit/>
          </a:bodyPr>
          <a:lstStyle/>
          <a:p>
            <a:pPr algn="l">
              <a:spcAft>
                <a:spcPts val="300"/>
              </a:spcAft>
            </a:pPr>
            <a:r>
              <a:rPr sz="1250" b="1">
                <a:solidFill>
                  <a:srgbClr val="131B2A"/>
                </a:solidFill>
                <a:latin typeface="Arial"/>
              </a:rPr>
              <a:t>A network with forward/backward passes, critical path, Gantt milestones, basis of estimates and a time-phased cost baseline plus contingency within the authorised ceiling.</a:t>
            </a:r>
          </a:p>
        </p:txBody>
      </p:sp>
      <p:sp>
        <p:nvSpPr>
          <p:cNvPr id="25" name="TextBox 24"/>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6" name="TextBox 25"/>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02 · TOOL-BASED PRACTICE</a:t>
            </a:r>
          </a:p>
        </p:txBody>
      </p:sp>
      <p:sp>
        <p:nvSpPr>
          <p:cNvPr id="27" name="TextBox 26"/>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02 · HANDS-ON ACTIVITY</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Develop the Integrated Schedule and Cost Baseline</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034272" y="384048"/>
            <a:ext cx="2377440" cy="402336"/>
          </a:xfrm>
          <a:prstGeom prst="roundRect">
            <a:avLst>
              <a:gd name="adj" fmla="val 8000"/>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34272" y="384048"/>
            <a:ext cx="2377440" cy="402336"/>
          </a:xfrm>
          <a:prstGeom prst="rect">
            <a:avLst/>
          </a:prstGeom>
          <a:noFill/>
        </p:spPr>
        <p:txBody>
          <a:bodyPr wrap="square" lIns="0" rIns="0" tIns="0" bIns="0" anchor="ctr">
            <a:spAutoFit/>
          </a:bodyPr>
          <a:lstStyle/>
          <a:p>
            <a:pPr algn="ctr">
              <a:spcAft>
                <a:spcPts val="300"/>
              </a:spcAft>
            </a:pPr>
            <a:r>
              <a:rPr sz="1050" b="1">
                <a:solidFill>
                  <a:srgbClr val="FFFFFF"/>
                </a:solidFill>
                <a:latin typeface="Arial"/>
              </a:rPr>
              <a:t>ACTIVITY 5 · 55 MIN</a:t>
            </a:r>
          </a:p>
        </p:txBody>
      </p:sp>
      <p:sp>
        <p:nvSpPr>
          <p:cNvPr id="9" name="Rounded Rectangle 8"/>
          <p:cNvSpPr/>
          <p:nvPr/>
        </p:nvSpPr>
        <p:spPr>
          <a:xfrm>
            <a:off x="749808" y="1773936"/>
            <a:ext cx="10698480" cy="12344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773936"/>
            <a:ext cx="91440" cy="123444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874519"/>
            <a:ext cx="10149840" cy="256032"/>
          </a:xfrm>
          <a:prstGeom prst="rect">
            <a:avLst/>
          </a:prstGeom>
          <a:noFill/>
        </p:spPr>
        <p:txBody>
          <a:bodyPr wrap="square" lIns="0" rIns="0" tIns="0" bIns="0" anchor="t">
            <a:spAutoFit/>
          </a:bodyPr>
          <a:lstStyle/>
          <a:p>
            <a:pPr algn="l">
              <a:spcAft>
                <a:spcPts val="300"/>
              </a:spcAft>
            </a:pPr>
            <a:r>
              <a:rPr sz="1050" b="1">
                <a:solidFill>
                  <a:srgbClr val="703CC3"/>
                </a:solidFill>
                <a:latin typeface="Arial"/>
              </a:rPr>
              <a:t>THE SITUATION</a:t>
            </a:r>
          </a:p>
        </p:txBody>
      </p:sp>
      <p:sp>
        <p:nvSpPr>
          <p:cNvPr id="12" name="TextBox 11"/>
          <p:cNvSpPr txBox="1"/>
          <p:nvPr/>
        </p:nvSpPr>
        <p:spPr>
          <a:xfrm>
            <a:off x="1005840" y="2139696"/>
            <a:ext cx="10149840" cy="731520"/>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The launch must precede Lunar New Year trading. The vendor has proposed a date without dependency logic, resource calendars or reserves. Finance requires a time-phased baseline within S$180,000.</a:t>
            </a:r>
          </a:p>
        </p:txBody>
      </p:sp>
      <p:sp>
        <p:nvSpPr>
          <p:cNvPr id="13" name="Rounded Rectangle 12"/>
          <p:cNvSpPr/>
          <p:nvPr/>
        </p:nvSpPr>
        <p:spPr>
          <a:xfrm>
            <a:off x="749808"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9808" y="3218688"/>
            <a:ext cx="3419856" cy="9144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 y="3401568"/>
            <a:ext cx="3017520" cy="274320"/>
          </a:xfrm>
          <a:prstGeom prst="rect">
            <a:avLst/>
          </a:prstGeom>
          <a:noFill/>
        </p:spPr>
        <p:txBody>
          <a:bodyPr wrap="square" lIns="0" rIns="0" tIns="0" bIns="0" anchor="t">
            <a:spAutoFit/>
          </a:bodyPr>
          <a:lstStyle/>
          <a:p>
            <a:pPr algn="l">
              <a:spcAft>
                <a:spcPts val="300"/>
              </a:spcAft>
            </a:pPr>
            <a:r>
              <a:rPr sz="1050" b="1">
                <a:solidFill>
                  <a:srgbClr val="1655D1"/>
                </a:solidFill>
                <a:latin typeface="Arial"/>
              </a:rPr>
              <a:t>WHAT YOU'LL DO</a:t>
            </a:r>
          </a:p>
        </p:txBody>
      </p:sp>
      <p:sp>
        <p:nvSpPr>
          <p:cNvPr id="16" name="TextBox 15"/>
          <p:cNvSpPr txBox="1"/>
          <p:nvPr/>
        </p:nvSpPr>
        <p:spPr>
          <a:xfrm>
            <a:off x="950976"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Sequence work packages, calculate the critical path and float, estimate duration and cost using explicit methods, set milestones and reconcile schedule, budget and reserve.</a:t>
            </a:r>
          </a:p>
        </p:txBody>
      </p:sp>
      <p:sp>
        <p:nvSpPr>
          <p:cNvPr id="17" name="Rounded Rectangle 16"/>
          <p:cNvSpPr/>
          <p:nvPr/>
        </p:nvSpPr>
        <p:spPr>
          <a:xfrm>
            <a:off x="4389120"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89120" y="3218688"/>
            <a:ext cx="341985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90288" y="3401568"/>
            <a:ext cx="3017520" cy="274320"/>
          </a:xfrm>
          <a:prstGeom prst="rect">
            <a:avLst/>
          </a:prstGeom>
          <a:noFill/>
        </p:spPr>
        <p:txBody>
          <a:bodyPr wrap="square" lIns="0" rIns="0" tIns="0" bIns="0" anchor="t">
            <a:spAutoFit/>
          </a:bodyPr>
          <a:lstStyle/>
          <a:p>
            <a:pPr algn="l">
              <a:spcAft>
                <a:spcPts val="300"/>
              </a:spcAft>
            </a:pPr>
            <a:r>
              <a:rPr sz="1050" b="1">
                <a:solidFill>
                  <a:srgbClr val="0F9D8A"/>
                </a:solidFill>
                <a:latin typeface="Arial"/>
              </a:rPr>
              <a:t>YOU'LL PRODUCE</a:t>
            </a:r>
          </a:p>
        </p:txBody>
      </p:sp>
      <p:sp>
        <p:nvSpPr>
          <p:cNvPr id="20" name="TextBox 19"/>
          <p:cNvSpPr txBox="1"/>
          <p:nvPr/>
        </p:nvSpPr>
        <p:spPr>
          <a:xfrm>
            <a:off x="4590288"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A network with forward/backward passes, critical path, Gantt milestones, basis of estimates and a time-phased cost baseline plus contingency within the authorised ceiling.</a:t>
            </a:r>
          </a:p>
        </p:txBody>
      </p:sp>
      <p:sp>
        <p:nvSpPr>
          <p:cNvPr id="21" name="Rounded Rectangle 20"/>
          <p:cNvSpPr/>
          <p:nvPr/>
        </p:nvSpPr>
        <p:spPr>
          <a:xfrm>
            <a:off x="8028431"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28431" y="3218688"/>
            <a:ext cx="3419856"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0" y="3401568"/>
            <a:ext cx="3017520" cy="274320"/>
          </a:xfrm>
          <a:prstGeom prst="rect">
            <a:avLst/>
          </a:prstGeom>
          <a:noFill/>
        </p:spPr>
        <p:txBody>
          <a:bodyPr wrap="square" lIns="0" rIns="0" tIns="0" bIns="0" anchor="t">
            <a:spAutoFit/>
          </a:bodyPr>
          <a:lstStyle/>
          <a:p>
            <a:pPr algn="l">
              <a:spcAft>
                <a:spcPts val="300"/>
              </a:spcAft>
            </a:pPr>
            <a:r>
              <a:rPr sz="1050" b="1">
                <a:solidFill>
                  <a:srgbClr val="F59E0B"/>
                </a:solidFill>
                <a:latin typeface="Arial"/>
              </a:rPr>
              <a:t>DONE WHEN</a:t>
            </a:r>
          </a:p>
        </p:txBody>
      </p:sp>
      <p:sp>
        <p:nvSpPr>
          <p:cNvPr id="24" name="TextBox 23"/>
          <p:cNvSpPr txBox="1"/>
          <p:nvPr/>
        </p:nvSpPr>
        <p:spPr>
          <a:xfrm>
            <a:off x="8229600"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The dependency network calculates correctly, the plan fits the five-month limit, all authorised work is time-phased and funded, and baseline plus contingency stays within S$180,000.</a:t>
            </a:r>
          </a:p>
        </p:txBody>
      </p:sp>
      <p:sp>
        <p:nvSpPr>
          <p:cNvPr id="25" name="Rounded Rectangle 24"/>
          <p:cNvSpPr/>
          <p:nvPr/>
        </p:nvSpPr>
        <p:spPr>
          <a:xfrm>
            <a:off x="749808" y="5486400"/>
            <a:ext cx="10698480" cy="713232"/>
          </a:xfrm>
          <a:prstGeom prst="roundRect">
            <a:avLst>
              <a:gd name="adj" fmla="val 8000"/>
            </a:avLst>
          </a:prstGeom>
          <a:solidFill>
            <a:srgbClr val="FFFFFF"/>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577840"/>
            <a:ext cx="10195560" cy="256032"/>
          </a:xfrm>
          <a:prstGeom prst="rect">
            <a:avLst/>
          </a:prstGeom>
          <a:noFill/>
        </p:spPr>
        <p:txBody>
          <a:bodyPr wrap="square" lIns="0" rIns="0" tIns="0" bIns="0" anchor="t">
            <a:spAutoFit/>
          </a:bodyPr>
          <a:lstStyle/>
          <a:p>
            <a:pPr algn="l">
              <a:spcAft>
                <a:spcPts val="300"/>
              </a:spcAft>
            </a:pPr>
            <a:r>
              <a:rPr sz="1100" b="1">
                <a:solidFill>
                  <a:srgbClr val="131B2A"/>
                </a:solidFill>
                <a:latin typeface="Arial"/>
              </a:rPr>
              <a:t>Tool: Network Diagram, Gantt Schedule and Budget versus Actual</a:t>
            </a:r>
          </a:p>
        </p:txBody>
      </p:sp>
      <p:sp>
        <p:nvSpPr>
          <p:cNvPr id="27" name="TextBox 26"/>
          <p:cNvSpPr txBox="1"/>
          <p:nvPr/>
        </p:nvSpPr>
        <p:spPr>
          <a:xfrm>
            <a:off x="960120" y="5843016"/>
            <a:ext cx="10195560" cy="219456"/>
          </a:xfrm>
          <a:prstGeom prst="rect">
            <a:avLst/>
          </a:prstGeom>
          <a:noFill/>
        </p:spPr>
        <p:txBody>
          <a:bodyPr wrap="square" lIns="0" rIns="0" tIns="0" bIns="0" anchor="t">
            <a:spAutoFit/>
          </a:bodyPr>
          <a:lstStyle/>
          <a:p>
            <a:pPr algn="l">
              <a:spcAft>
                <a:spcPts val="300"/>
              </a:spcAft>
            </a:pPr>
            <a:r>
              <a:rPr sz="950" b="0">
                <a:solidFill>
                  <a:srgbClr val="5F6B7A"/>
                </a:solidFill>
                <a:latin typeface="Arial"/>
              </a:rPr>
              <a:t>Full procedure, evidence fields and acceptance criteria: Learner Guide and Activity 5 folder.</a:t>
            </a:r>
          </a:p>
        </p:txBody>
      </p:sp>
      <p:sp>
        <p:nvSpPr>
          <p:cNvPr id="28" name="TextBox 27"/>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9" name="TextBox 28"/>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Activity 5 · LO2</a:t>
            </a:r>
          </a:p>
        </p:txBody>
      </p:sp>
      <p:sp>
        <p:nvSpPr>
          <p:cNvPr id="30" name="TextBox 29"/>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75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703CC3"/>
                </a:solidFill>
                <a:latin typeface="Arial"/>
              </a:rPr>
              <a:t>TOPIC 02 · ACTIVITY DEBRIEF</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Debrief — Activity 5: What It Proves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1328928"/>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1024128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1</a:t>
            </a:r>
          </a:p>
        </p:txBody>
      </p:sp>
      <p:sp>
        <p:nvSpPr>
          <p:cNvPr id="10" name="TextBox 9"/>
          <p:cNvSpPr txBox="1"/>
          <p:nvPr/>
        </p:nvSpPr>
        <p:spPr>
          <a:xfrm>
            <a:off x="1005840" y="2313432"/>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 Gantt is the presentation of schedule logic, not the logic itself.</a:t>
            </a:r>
          </a:p>
        </p:txBody>
      </p:sp>
      <p:sp>
        <p:nvSpPr>
          <p:cNvPr id="11" name="Rounded Rectangle 10"/>
          <p:cNvSpPr/>
          <p:nvPr/>
        </p:nvSpPr>
        <p:spPr>
          <a:xfrm>
            <a:off x="749808" y="3340608"/>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 y="3340608"/>
            <a:ext cx="91440" cy="13289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505200"/>
            <a:ext cx="1024128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2</a:t>
            </a:r>
          </a:p>
        </p:txBody>
      </p:sp>
      <p:sp>
        <p:nvSpPr>
          <p:cNvPr id="14" name="TextBox 13"/>
          <p:cNvSpPr txBox="1"/>
          <p:nvPr/>
        </p:nvSpPr>
        <p:spPr>
          <a:xfrm>
            <a:off x="1005840" y="3870960"/>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The critical path can change after every update or approved change.</a:t>
            </a:r>
          </a:p>
        </p:txBody>
      </p:sp>
      <p:sp>
        <p:nvSpPr>
          <p:cNvPr id="15" name="Rounded Rectangle 14"/>
          <p:cNvSpPr/>
          <p:nvPr/>
        </p:nvSpPr>
        <p:spPr>
          <a:xfrm>
            <a:off x="749808" y="4898136"/>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898136"/>
            <a:ext cx="91440" cy="1328928"/>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5062728"/>
            <a:ext cx="1024128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3</a:t>
            </a:r>
          </a:p>
        </p:txBody>
      </p:sp>
      <p:sp>
        <p:nvSpPr>
          <p:cNvPr id="18" name="TextBox 17"/>
          <p:cNvSpPr txBox="1"/>
          <p:nvPr/>
        </p:nvSpPr>
        <p:spPr>
          <a:xfrm>
            <a:off x="1005840" y="5428488"/>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Baseline and forecast must remain separate so variance can be explained.</a:t>
            </a:r>
          </a:p>
        </p:txBody>
      </p:sp>
      <p:sp>
        <p:nvSpPr>
          <p:cNvPr id="19" name="TextBox 1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0" name="TextBox 1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02 · ACTIVITY DEBRIEF</a:t>
            </a:r>
          </a:p>
        </p:txBody>
      </p:sp>
      <p:sp>
        <p:nvSpPr>
          <p:cNvPr id="21" name="TextBox 2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76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A7F4B"/>
                </a:solidFill>
                <a:latin typeface="Arial"/>
              </a:rPr>
              <a:t>TOPIC 02 · A2, K2 · LO2</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Topic 02 Recap</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Decision</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The plan integrates subsidiary decisions; separate scope, schedule and cost files are not yet a project plan.</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Method</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The scope statement defines deliverables, exclusions, constraints, assumptions and acceptance criteria.</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Evidence</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200" b="0">
                <a:solidFill>
                  <a:srgbClr val="131B2A"/>
                </a:solidFill>
                <a:latin typeface="Arial"/>
              </a:rPr>
              <a:t>A network with forward/backward passes, critical path, Gantt milestones, basis of estimates and a time-phased cost baseline plus contingency within the authorised ceiling.</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Capability</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Sequence, estimate and fund the authorised scope as one realistic plan (A2, K2).</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02 · A2, K2 · LO2</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58368" y="1554480"/>
            <a:ext cx="10881360" cy="36118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554480"/>
            <a:ext cx="128016" cy="361188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70432" y="1901952"/>
            <a:ext cx="7955279" cy="365760"/>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TOPIC 03 · A3, K3 · LO3</a:t>
            </a:r>
          </a:p>
        </p:txBody>
      </p:sp>
      <p:sp>
        <p:nvSpPr>
          <p:cNvPr id="6" name="TextBox 5"/>
          <p:cNvSpPr txBox="1"/>
          <p:nvPr/>
        </p:nvSpPr>
        <p:spPr>
          <a:xfrm>
            <a:off x="1170432" y="2395728"/>
            <a:ext cx="9052560" cy="914400"/>
          </a:xfrm>
          <a:prstGeom prst="rect">
            <a:avLst/>
          </a:prstGeom>
          <a:noFill/>
        </p:spPr>
        <p:txBody>
          <a:bodyPr wrap="square" lIns="0" rIns="0" tIns="0" bIns="0" anchor="ctr">
            <a:spAutoFit/>
          </a:bodyPr>
          <a:lstStyle/>
          <a:p>
            <a:pPr algn="l">
              <a:spcAft>
                <a:spcPts val="300"/>
              </a:spcAft>
            </a:pPr>
            <a:r>
              <a:rPr sz="3400" b="1">
                <a:solidFill>
                  <a:srgbClr val="131B2A"/>
                </a:solidFill>
                <a:latin typeface="Arial"/>
              </a:rPr>
              <a:t>Apply Methods and Tools to Drive a Project</a:t>
            </a:r>
          </a:p>
        </p:txBody>
      </p:sp>
      <p:sp>
        <p:nvSpPr>
          <p:cNvPr id="7" name="TextBox 6"/>
          <p:cNvSpPr txBox="1"/>
          <p:nvPr/>
        </p:nvSpPr>
        <p:spPr>
          <a:xfrm>
            <a:off x="1170432" y="3474720"/>
            <a:ext cx="9052560" cy="777240"/>
          </a:xfrm>
          <a:prstGeom prst="rect">
            <a:avLst/>
          </a:prstGeom>
          <a:noFill/>
        </p:spPr>
        <p:txBody>
          <a:bodyPr wrap="square" lIns="0" rIns="0" tIns="0" bIns="0" anchor="t">
            <a:spAutoFit/>
          </a:bodyPr>
          <a:lstStyle/>
          <a:p>
            <a:pPr algn="l">
              <a:spcAft>
                <a:spcPts val="300"/>
              </a:spcAft>
            </a:pPr>
            <a:r>
              <a:rPr sz="1600" b="0">
                <a:solidFill>
                  <a:srgbClr val="5F6B7A"/>
                </a:solidFill>
                <a:latin typeface="Arial"/>
              </a:rPr>
              <a:t>Quality planning · flow · root cause · Pareto · improvement</a:t>
            </a:r>
          </a:p>
        </p:txBody>
      </p:sp>
      <p:sp>
        <p:nvSpPr>
          <p:cNvPr id="8" name="TextBox 7"/>
          <p:cNvSpPr txBox="1"/>
          <p:nvPr/>
        </p:nvSpPr>
        <p:spPr>
          <a:xfrm>
            <a:off x="9308592" y="594360"/>
            <a:ext cx="1920240" cy="1097280"/>
          </a:xfrm>
          <a:prstGeom prst="rect">
            <a:avLst/>
          </a:prstGeom>
          <a:noFill/>
        </p:spPr>
        <p:txBody>
          <a:bodyPr wrap="square" lIns="0" rIns="0" tIns="0" bIns="0" anchor="t">
            <a:spAutoFit/>
          </a:bodyPr>
          <a:lstStyle/>
          <a:p>
            <a:pPr algn="r">
              <a:spcAft>
                <a:spcPts val="300"/>
              </a:spcAft>
            </a:pPr>
            <a:r>
              <a:rPr sz="6200" b="1">
                <a:solidFill>
                  <a:srgbClr val="DAE2EC"/>
                </a:solidFill>
                <a:latin typeface="Arial"/>
              </a:rPr>
              <a:t>03</a:t>
            </a:r>
          </a:p>
        </p:txBody>
      </p:sp>
      <p:sp>
        <p:nvSpPr>
          <p:cNvPr id="9" name="TextBox 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10" name="TextBox 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03 · A3, K3 · LO3</a:t>
            </a:r>
          </a:p>
        </p:txBody>
      </p:sp>
      <p:sp>
        <p:nvSpPr>
          <p:cNvPr id="11" name="TextBox 1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703CC3"/>
                </a:solidFill>
                <a:latin typeface="Arial"/>
              </a:rPr>
              <a:t>TOPIC 03 · CENTRAL IDEA</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Use the lightest tool that changes the next decision.</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847088"/>
            <a:ext cx="10698480" cy="3977639"/>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847088"/>
            <a:ext cx="128016" cy="3977639"/>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2359152"/>
            <a:ext cx="9738360" cy="2834640"/>
          </a:xfrm>
          <a:prstGeom prst="rect">
            <a:avLst/>
          </a:prstGeom>
          <a:noFill/>
        </p:spPr>
        <p:txBody>
          <a:bodyPr wrap="square" lIns="0" rIns="0" tIns="0" bIns="0" anchor="ctr">
            <a:spAutoFit/>
          </a:bodyPr>
          <a:lstStyle/>
          <a:p>
            <a:pPr algn="l">
              <a:spcAft>
                <a:spcPts val="300"/>
              </a:spcAft>
            </a:pPr>
            <a:r>
              <a:rPr sz="2400" b="1">
                <a:solidFill>
                  <a:srgbClr val="131B2A"/>
                </a:solidFill>
                <a:latin typeface="Arial"/>
              </a:rPr>
              <a:t>A tool earns its place when it turns uncertain work into visible evidence: flow, cause, variation, priority or ownership.</a:t>
            </a:r>
          </a:p>
        </p:txBody>
      </p:sp>
      <p:sp>
        <p:nvSpPr>
          <p:cNvPr id="10" name="TextBox 9"/>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11" name="TextBox 10"/>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03 · CENTRAL IDEA</a:t>
            </a:r>
          </a:p>
        </p:txBody>
      </p:sp>
      <p:sp>
        <p:nvSpPr>
          <p:cNvPr id="12" name="TextBox 11"/>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03 · CONCEPT MAP</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Apply Methods and Tools to Drive a Project — Core Concepts I</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01</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 method defines how work is managed; a tool makes information visible. Choose both for the decision needed.</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02</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200" b="0">
                <a:solidFill>
                  <a:srgbClr val="131B2A"/>
                </a:solidFill>
                <a:latin typeface="Arial"/>
              </a:rPr>
              <a:t>Predictive plans optimise sequence and baseline control; adaptive boards optimise flow and feedback; hybrid combines both intentionally.</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03</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Quality means conformance to requirements and fitness for use, not luxury or perfection.</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04</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Prevention and appraisal are usually cheaper than internal and external failure.</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03 · CONCEPT MAP</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03 · CONCEPT MAP</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Apply Methods and Tools to Drive a Project — Core Concepts II</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05</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200" b="0">
                <a:solidFill>
                  <a:srgbClr val="131B2A"/>
                </a:solidFill>
                <a:latin typeface="Arial"/>
              </a:rPr>
              <a:t>A check sheet captures facts, a control chart detects process behaviour, Pareto prioritises causes, and fishbone plus 5 Whys investigates root cause.</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06</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Root-cause analysis must end at a process or system cause the team can influence, not blame a person.</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07</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Visual work management exposes blocked work and excessive WIP before the schedule report does.</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08</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Continuous improvement closes the loop through a named action, owner, measure and review date.</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03 · CONCEPT MAP</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03 · DECISION TOOL</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Select the Tool for the Question</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632460"/>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Question</a:t>
            </a:r>
          </a:p>
        </p:txBody>
      </p:sp>
      <p:sp>
        <p:nvSpPr>
          <p:cNvPr id="9" name="Rectangle 8"/>
          <p:cNvSpPr/>
          <p:nvPr/>
        </p:nvSpPr>
        <p:spPr>
          <a:xfrm>
            <a:off x="4315968" y="1810512"/>
            <a:ext cx="3566160" cy="632460"/>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Best starting tool</a:t>
            </a:r>
          </a:p>
        </p:txBody>
      </p:sp>
      <p:sp>
        <p:nvSpPr>
          <p:cNvPr id="11" name="Rectangle 10"/>
          <p:cNvSpPr/>
          <p:nvPr/>
        </p:nvSpPr>
        <p:spPr>
          <a:xfrm>
            <a:off x="7882127" y="1810512"/>
            <a:ext cx="3566160" cy="632460"/>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Output</a:t>
            </a:r>
          </a:p>
        </p:txBody>
      </p:sp>
      <p:sp>
        <p:nvSpPr>
          <p:cNvPr id="13" name="Rectangle 12"/>
          <p:cNvSpPr/>
          <p:nvPr/>
        </p:nvSpPr>
        <p:spPr>
          <a:xfrm>
            <a:off x="74980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48869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What happened?</a:t>
            </a:r>
          </a:p>
        </p:txBody>
      </p:sp>
      <p:sp>
        <p:nvSpPr>
          <p:cNvPr id="15" name="Rectangle 14"/>
          <p:cNvSpPr/>
          <p:nvPr/>
        </p:nvSpPr>
        <p:spPr>
          <a:xfrm>
            <a:off x="431596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Check sheet</a:t>
            </a:r>
          </a:p>
        </p:txBody>
      </p:sp>
      <p:sp>
        <p:nvSpPr>
          <p:cNvPr id="17" name="Rectangle 16"/>
          <p:cNvSpPr/>
          <p:nvPr/>
        </p:nvSpPr>
        <p:spPr>
          <a:xfrm>
            <a:off x="7882127"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Reliable facts</a:t>
            </a:r>
          </a:p>
        </p:txBody>
      </p:sp>
      <p:sp>
        <p:nvSpPr>
          <p:cNvPr id="19" name="Rectangle 18"/>
          <p:cNvSpPr/>
          <p:nvPr/>
        </p:nvSpPr>
        <p:spPr>
          <a:xfrm>
            <a:off x="74980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12115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Why might it happen?</a:t>
            </a:r>
          </a:p>
        </p:txBody>
      </p:sp>
      <p:sp>
        <p:nvSpPr>
          <p:cNvPr id="21" name="Rectangle 20"/>
          <p:cNvSpPr/>
          <p:nvPr/>
        </p:nvSpPr>
        <p:spPr>
          <a:xfrm>
            <a:off x="431596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Fishbone</a:t>
            </a:r>
          </a:p>
        </p:txBody>
      </p:sp>
      <p:sp>
        <p:nvSpPr>
          <p:cNvPr id="23" name="Rectangle 22"/>
          <p:cNvSpPr/>
          <p:nvPr/>
        </p:nvSpPr>
        <p:spPr>
          <a:xfrm>
            <a:off x="7882127"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Cause families</a:t>
            </a:r>
          </a:p>
        </p:txBody>
      </p:sp>
      <p:sp>
        <p:nvSpPr>
          <p:cNvPr id="25" name="Rectangle 24"/>
          <p:cNvSpPr/>
          <p:nvPr/>
        </p:nvSpPr>
        <p:spPr>
          <a:xfrm>
            <a:off x="74980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3753611"/>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What is the root?</a:t>
            </a:r>
          </a:p>
        </p:txBody>
      </p:sp>
      <p:sp>
        <p:nvSpPr>
          <p:cNvPr id="27" name="Rectangle 26"/>
          <p:cNvSpPr/>
          <p:nvPr/>
        </p:nvSpPr>
        <p:spPr>
          <a:xfrm>
            <a:off x="431596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5 Whys</a:t>
            </a:r>
          </a:p>
        </p:txBody>
      </p:sp>
      <p:sp>
        <p:nvSpPr>
          <p:cNvPr id="29" name="Rectangle 28"/>
          <p:cNvSpPr/>
          <p:nvPr/>
        </p:nvSpPr>
        <p:spPr>
          <a:xfrm>
            <a:off x="7882127"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Actionable chain</a:t>
            </a:r>
          </a:p>
        </p:txBody>
      </p:sp>
      <p:sp>
        <p:nvSpPr>
          <p:cNvPr id="31" name="Rectangle 30"/>
          <p:cNvSpPr/>
          <p:nvPr/>
        </p:nvSpPr>
        <p:spPr>
          <a:xfrm>
            <a:off x="74980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38607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Which causes matter most?</a:t>
            </a:r>
          </a:p>
        </p:txBody>
      </p:sp>
      <p:sp>
        <p:nvSpPr>
          <p:cNvPr id="33" name="Rectangle 32"/>
          <p:cNvSpPr/>
          <p:nvPr/>
        </p:nvSpPr>
        <p:spPr>
          <a:xfrm>
            <a:off x="431596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Pareto</a:t>
            </a:r>
          </a:p>
        </p:txBody>
      </p:sp>
      <p:sp>
        <p:nvSpPr>
          <p:cNvPr id="35" name="Rectangle 34"/>
          <p:cNvSpPr/>
          <p:nvPr/>
        </p:nvSpPr>
        <p:spPr>
          <a:xfrm>
            <a:off x="7882127"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Vital few</a:t>
            </a:r>
          </a:p>
        </p:txBody>
      </p:sp>
      <p:sp>
        <p:nvSpPr>
          <p:cNvPr id="37" name="Rectangle 36"/>
          <p:cNvSpPr/>
          <p:nvPr/>
        </p:nvSpPr>
        <p:spPr>
          <a:xfrm>
            <a:off x="74980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 y="501853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Is the process stable?</a:t>
            </a:r>
          </a:p>
        </p:txBody>
      </p:sp>
      <p:sp>
        <p:nvSpPr>
          <p:cNvPr id="39" name="Rectangle 38"/>
          <p:cNvSpPr/>
          <p:nvPr/>
        </p:nvSpPr>
        <p:spPr>
          <a:xfrm>
            <a:off x="431596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25696"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Control chart</a:t>
            </a:r>
          </a:p>
        </p:txBody>
      </p:sp>
      <p:sp>
        <p:nvSpPr>
          <p:cNvPr id="41" name="Rectangle 40"/>
          <p:cNvSpPr/>
          <p:nvPr/>
        </p:nvSpPr>
        <p:spPr>
          <a:xfrm>
            <a:off x="7882127"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91855"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Common vs special cause</a:t>
            </a:r>
          </a:p>
        </p:txBody>
      </p:sp>
      <p:sp>
        <p:nvSpPr>
          <p:cNvPr id="43" name="Rounded Rectangle 42"/>
          <p:cNvSpPr/>
          <p:nvPr/>
        </p:nvSpPr>
        <p:spPr>
          <a:xfrm>
            <a:off x="749808" y="5815584"/>
            <a:ext cx="10698480" cy="420624"/>
          </a:xfrm>
          <a:prstGeom prst="roundRect">
            <a:avLst>
              <a:gd name="adj" fmla="val 8000"/>
            </a:avLst>
          </a:prstGeom>
          <a:solidFill>
            <a:srgbClr val="F4F7FB"/>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Tools work as a sequence: facts → causes → priority → behaviour → action.</a:t>
            </a:r>
          </a:p>
        </p:txBody>
      </p:sp>
      <p:sp>
        <p:nvSpPr>
          <p:cNvPr id="45" name="TextBox 44"/>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6" name="TextBox 45"/>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03 · DECISION TOOL</a:t>
            </a:r>
          </a:p>
        </p:txBody>
      </p:sp>
      <p:sp>
        <p:nvSpPr>
          <p:cNvPr id="47" name="TextBox 46"/>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03 · DECISION TOOL</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Cost of Quality</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Category</a:t>
            </a:r>
          </a:p>
        </p:txBody>
      </p:sp>
      <p:sp>
        <p:nvSpPr>
          <p:cNvPr id="9" name="Rectangle 8"/>
          <p:cNvSpPr/>
          <p:nvPr/>
        </p:nvSpPr>
        <p:spPr>
          <a:xfrm>
            <a:off x="4315968"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Purpose</a:t>
            </a:r>
          </a:p>
        </p:txBody>
      </p:sp>
      <p:sp>
        <p:nvSpPr>
          <p:cNvPr id="11" name="Rectangle 10"/>
          <p:cNvSpPr/>
          <p:nvPr/>
        </p:nvSpPr>
        <p:spPr>
          <a:xfrm>
            <a:off x="7882127"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Example</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Prevention</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Stop defects forming</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Training and standards</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Appraisal</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Detect before release</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Review and testing</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Internal failure</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Fix before customer</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Rework and retest</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External failure</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Recover after release</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Returns and reputation</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Invest upstream where a dollar of prevention avoids many dollars of failure.</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03 · DECISION TOOL</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03 · APPLIED FRAMEWORK</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Root Cause to Improvement</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1645919"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1389887"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Observe</a:t>
            </a:r>
          </a:p>
        </p:txBody>
      </p:sp>
      <p:sp>
        <p:nvSpPr>
          <p:cNvPr id="11" name="TextBox 10"/>
          <p:cNvSpPr txBox="1"/>
          <p:nvPr/>
        </p:nvSpPr>
        <p:spPr>
          <a:xfrm>
            <a:off x="896112"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capture the defect fact</a:t>
            </a:r>
          </a:p>
        </p:txBody>
      </p:sp>
      <p:cxnSp>
        <p:nvCxnSpPr>
          <p:cNvPr id="12" name="Connector 11"/>
          <p:cNvCxnSpPr/>
          <p:nvPr/>
        </p:nvCxnSpPr>
        <p:spPr>
          <a:xfrm>
            <a:off x="2395727" y="3474720"/>
            <a:ext cx="164593"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560320"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60320" y="1965960"/>
            <a:ext cx="1645919"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88336" y="2240279"/>
            <a:ext cx="1389887"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2688336"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Explore</a:t>
            </a:r>
          </a:p>
        </p:txBody>
      </p:sp>
      <p:sp>
        <p:nvSpPr>
          <p:cNvPr id="17" name="TextBox 16"/>
          <p:cNvSpPr txBox="1"/>
          <p:nvPr/>
        </p:nvSpPr>
        <p:spPr>
          <a:xfrm>
            <a:off x="2706624"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map possible causes</a:t>
            </a:r>
          </a:p>
        </p:txBody>
      </p:sp>
      <p:cxnSp>
        <p:nvCxnSpPr>
          <p:cNvPr id="18" name="Connector 17"/>
          <p:cNvCxnSpPr/>
          <p:nvPr/>
        </p:nvCxnSpPr>
        <p:spPr>
          <a:xfrm>
            <a:off x="4206240" y="3474720"/>
            <a:ext cx="164591"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370831"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70831" y="1965960"/>
            <a:ext cx="1645919"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98847" y="2240279"/>
            <a:ext cx="1389887"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4498847"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Drill</a:t>
            </a:r>
          </a:p>
        </p:txBody>
      </p:sp>
      <p:sp>
        <p:nvSpPr>
          <p:cNvPr id="23" name="TextBox 22"/>
          <p:cNvSpPr txBox="1"/>
          <p:nvPr/>
        </p:nvSpPr>
        <p:spPr>
          <a:xfrm>
            <a:off x="4517136"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test the causal chain</a:t>
            </a:r>
          </a:p>
        </p:txBody>
      </p:sp>
      <p:cxnSp>
        <p:nvCxnSpPr>
          <p:cNvPr id="24" name="Connector 23"/>
          <p:cNvCxnSpPr/>
          <p:nvPr/>
        </p:nvCxnSpPr>
        <p:spPr>
          <a:xfrm>
            <a:off x="6016751"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181344"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81344" y="1965960"/>
            <a:ext cx="1645919"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59" y="2240279"/>
            <a:ext cx="1389887"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6309359"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Prioritise</a:t>
            </a:r>
          </a:p>
        </p:txBody>
      </p:sp>
      <p:sp>
        <p:nvSpPr>
          <p:cNvPr id="29" name="TextBox 28"/>
          <p:cNvSpPr txBox="1"/>
          <p:nvPr/>
        </p:nvSpPr>
        <p:spPr>
          <a:xfrm>
            <a:off x="6327648"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focus the vital few</a:t>
            </a:r>
          </a:p>
        </p:txBody>
      </p:sp>
      <p:cxnSp>
        <p:nvCxnSpPr>
          <p:cNvPr id="30" name="Connector 29"/>
          <p:cNvCxnSpPr/>
          <p:nvPr/>
        </p:nvCxnSpPr>
        <p:spPr>
          <a:xfrm>
            <a:off x="7827263"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991855"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91855" y="1965960"/>
            <a:ext cx="1645919" cy="13716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19871" y="2240279"/>
            <a:ext cx="1389887" cy="457200"/>
          </a:xfrm>
          <a:prstGeom prst="rect">
            <a:avLst/>
          </a:prstGeom>
          <a:noFill/>
        </p:spPr>
        <p:txBody>
          <a:bodyPr wrap="square" lIns="0" rIns="0" tIns="0" bIns="0" anchor="t">
            <a:spAutoFit/>
          </a:bodyPr>
          <a:lstStyle/>
          <a:p>
            <a:pPr algn="ctr">
              <a:spcAft>
                <a:spcPts val="300"/>
              </a:spcAft>
            </a:pPr>
            <a:r>
              <a:rPr sz="1400" b="1">
                <a:solidFill>
                  <a:srgbClr val="1A7F4B"/>
                </a:solidFill>
                <a:latin typeface="Arial"/>
              </a:rPr>
              <a:t>05</a:t>
            </a:r>
          </a:p>
        </p:txBody>
      </p:sp>
      <p:sp>
        <p:nvSpPr>
          <p:cNvPr id="34" name="TextBox 33"/>
          <p:cNvSpPr txBox="1"/>
          <p:nvPr/>
        </p:nvSpPr>
        <p:spPr>
          <a:xfrm>
            <a:off x="8119871"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Experiment</a:t>
            </a:r>
          </a:p>
        </p:txBody>
      </p:sp>
      <p:sp>
        <p:nvSpPr>
          <p:cNvPr id="35" name="TextBox 34"/>
          <p:cNvSpPr txBox="1"/>
          <p:nvPr/>
        </p:nvSpPr>
        <p:spPr>
          <a:xfrm>
            <a:off x="8138159"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owner, measure, date</a:t>
            </a:r>
          </a:p>
        </p:txBody>
      </p:sp>
      <p:cxnSp>
        <p:nvCxnSpPr>
          <p:cNvPr id="36" name="Connector 35"/>
          <p:cNvCxnSpPr/>
          <p:nvPr/>
        </p:nvCxnSpPr>
        <p:spPr>
          <a:xfrm>
            <a:off x="9637776" y="3474720"/>
            <a:ext cx="164591"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802367"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02367" y="1965960"/>
            <a:ext cx="1645919" cy="137160"/>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930384" y="2240279"/>
            <a:ext cx="1389887" cy="457200"/>
          </a:xfrm>
          <a:prstGeom prst="rect">
            <a:avLst/>
          </a:prstGeom>
          <a:noFill/>
        </p:spPr>
        <p:txBody>
          <a:bodyPr wrap="square" lIns="0" rIns="0" tIns="0" bIns="0" anchor="t">
            <a:spAutoFit/>
          </a:bodyPr>
          <a:lstStyle/>
          <a:p>
            <a:pPr algn="ctr">
              <a:spcAft>
                <a:spcPts val="300"/>
              </a:spcAft>
            </a:pPr>
            <a:r>
              <a:rPr sz="1400" b="1">
                <a:solidFill>
                  <a:srgbClr val="C93131"/>
                </a:solidFill>
                <a:latin typeface="Arial"/>
              </a:rPr>
              <a:t>06</a:t>
            </a:r>
          </a:p>
        </p:txBody>
      </p:sp>
      <p:sp>
        <p:nvSpPr>
          <p:cNvPr id="40" name="TextBox 39"/>
          <p:cNvSpPr txBox="1"/>
          <p:nvPr/>
        </p:nvSpPr>
        <p:spPr>
          <a:xfrm>
            <a:off x="9930384"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Verify</a:t>
            </a:r>
          </a:p>
        </p:txBody>
      </p:sp>
      <p:sp>
        <p:nvSpPr>
          <p:cNvPr id="41" name="TextBox 40"/>
          <p:cNvSpPr txBox="1"/>
          <p:nvPr/>
        </p:nvSpPr>
        <p:spPr>
          <a:xfrm>
            <a:off x="9948672"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sustain or adapt</a:t>
            </a:r>
          </a:p>
        </p:txBody>
      </p:sp>
      <p:sp>
        <p:nvSpPr>
          <p:cNvPr id="42" name="Rounded Rectangle 41"/>
          <p:cNvSpPr/>
          <p:nvPr/>
        </p:nvSpPr>
        <p:spPr>
          <a:xfrm>
            <a:off x="749808" y="5303520"/>
            <a:ext cx="10698480" cy="713232"/>
          </a:xfrm>
          <a:prstGeom prst="roundRect">
            <a:avLst>
              <a:gd name="adj" fmla="val 8000"/>
            </a:avLst>
          </a:prstGeom>
          <a:solidFill>
            <a:srgbClr val="FFFFFF"/>
          </a:solidFill>
          <a:ln w="12700">
            <a:solidFill>
              <a:srgbClr val="1655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Stopping at a cause without a verified action is analysis theatre.</a:t>
            </a:r>
          </a:p>
        </p:txBody>
      </p:sp>
      <p:sp>
        <p:nvSpPr>
          <p:cNvPr id="44" name="TextBox 43"/>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5" name="TextBox 44"/>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03 · APPLIED FRAMEWORK</a:t>
            </a:r>
          </a:p>
        </p:txBody>
      </p:sp>
      <p:sp>
        <p:nvSpPr>
          <p:cNvPr id="46" name="TextBox 45"/>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84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703CC3"/>
                </a:solidFill>
                <a:latin typeface="Arial"/>
              </a:rPr>
              <a:t>TOPIC 03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Method versus Tool</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703CC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Element</a:t>
            </a:r>
          </a:p>
        </p:txBody>
      </p:sp>
      <p:sp>
        <p:nvSpPr>
          <p:cNvPr id="9" name="Rectangle 8"/>
          <p:cNvSpPr/>
          <p:nvPr/>
        </p:nvSpPr>
        <p:spPr>
          <a:xfrm>
            <a:off x="4315968" y="1810512"/>
            <a:ext cx="3566160" cy="758952"/>
          </a:xfrm>
          <a:prstGeom prst="rect">
            <a:avLst/>
          </a:prstGeom>
          <a:solidFill>
            <a:srgbClr val="703CC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Purpose</a:t>
            </a:r>
          </a:p>
        </p:txBody>
      </p:sp>
      <p:sp>
        <p:nvSpPr>
          <p:cNvPr id="11" name="Rectangle 10"/>
          <p:cNvSpPr/>
          <p:nvPr/>
        </p:nvSpPr>
        <p:spPr>
          <a:xfrm>
            <a:off x="7882127" y="1810512"/>
            <a:ext cx="3566160" cy="758952"/>
          </a:xfrm>
          <a:prstGeom prst="rect">
            <a:avLst/>
          </a:prstGeom>
          <a:solidFill>
            <a:srgbClr val="703CC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Example</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Method</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Defines how work is managed</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Predictive, Scrum, Kanban, PDCA</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Tool</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Makes evidence visible</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WBS, board, chart, log</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Policy</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Defines operating rule</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WIP limit, acceptance rule</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Cadence</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Defines review rhythm</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Daily review, weekly status</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703C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A familiar tool used without a decision rule becomes decoration.</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03 · REFERENCE-SOURCED DEEP DIVE</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85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703CC3"/>
                </a:solidFill>
                <a:latin typeface="Arial"/>
              </a:rPr>
              <a:t>TOPIC 03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Predictive, Adaptive and Hybrid</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703CC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Signal</a:t>
            </a:r>
          </a:p>
        </p:txBody>
      </p:sp>
      <p:sp>
        <p:nvSpPr>
          <p:cNvPr id="9" name="Rectangle 8"/>
          <p:cNvSpPr/>
          <p:nvPr/>
        </p:nvSpPr>
        <p:spPr>
          <a:xfrm>
            <a:off x="4315968" y="1810512"/>
            <a:ext cx="3566160" cy="758952"/>
          </a:xfrm>
          <a:prstGeom prst="rect">
            <a:avLst/>
          </a:prstGeom>
          <a:solidFill>
            <a:srgbClr val="703CC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Predictive</a:t>
            </a:r>
          </a:p>
        </p:txBody>
      </p:sp>
      <p:sp>
        <p:nvSpPr>
          <p:cNvPr id="11" name="Rectangle 10"/>
          <p:cNvSpPr/>
          <p:nvPr/>
        </p:nvSpPr>
        <p:spPr>
          <a:xfrm>
            <a:off x="7882127" y="1810512"/>
            <a:ext cx="3566160" cy="758952"/>
          </a:xfrm>
          <a:prstGeom prst="rect">
            <a:avLst/>
          </a:prstGeom>
          <a:solidFill>
            <a:srgbClr val="703CC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Adaptive / hybrid</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Requirements</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Stable and knowable</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Evolving or discovery-heavy</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Delivery</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Larger gated releases</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Short usable increments</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Change</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Controlled against baseline</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Expected inside prioritised backlog</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Best fit</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Low uncertainty, costly rework</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Fast feedback, reversible choices</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703C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Tailor by deliverable when different parts of one small project carry different uncertainty.</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03 · REFERENCE-SOURCED DEEP DIVE</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86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703CC3"/>
                </a:solidFill>
                <a:latin typeface="Arial"/>
              </a:rPr>
              <a:t>TOPIC 03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Direct and Manage Project Work</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2008022"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1751990"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Authorise</a:t>
            </a:r>
          </a:p>
        </p:txBody>
      </p:sp>
      <p:sp>
        <p:nvSpPr>
          <p:cNvPr id="11" name="TextBox 10"/>
          <p:cNvSpPr txBox="1"/>
          <p:nvPr/>
        </p:nvSpPr>
        <p:spPr>
          <a:xfrm>
            <a:off x="896112"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approved plan and work package</a:t>
            </a:r>
          </a:p>
        </p:txBody>
      </p:sp>
      <p:cxnSp>
        <p:nvCxnSpPr>
          <p:cNvPr id="12" name="Connector 11"/>
          <p:cNvCxnSpPr/>
          <p:nvPr/>
        </p:nvCxnSpPr>
        <p:spPr>
          <a:xfrm>
            <a:off x="2757830" y="3474720"/>
            <a:ext cx="164592" cy="0"/>
          </a:xfrm>
          <a:prstGeom prst="line">
            <a:avLst/>
          </a:prstGeom>
          <a:ln w="25400">
            <a:solidFill>
              <a:srgbClr val="703CC3"/>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22422"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22422" y="1965960"/>
            <a:ext cx="2008022"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50438" y="2240279"/>
            <a:ext cx="1751990"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3050438"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Coordinate</a:t>
            </a:r>
          </a:p>
        </p:txBody>
      </p:sp>
      <p:sp>
        <p:nvSpPr>
          <p:cNvPr id="17" name="TextBox 16"/>
          <p:cNvSpPr txBox="1"/>
          <p:nvPr/>
        </p:nvSpPr>
        <p:spPr>
          <a:xfrm>
            <a:off x="3068726"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people, suppliers and interfaces</a:t>
            </a:r>
          </a:p>
        </p:txBody>
      </p:sp>
      <p:cxnSp>
        <p:nvCxnSpPr>
          <p:cNvPr id="18" name="Connector 17"/>
          <p:cNvCxnSpPr/>
          <p:nvPr/>
        </p:nvCxnSpPr>
        <p:spPr>
          <a:xfrm>
            <a:off x="4930444" y="3474720"/>
            <a:ext cx="164592" cy="0"/>
          </a:xfrm>
          <a:prstGeom prst="line">
            <a:avLst/>
          </a:prstGeom>
          <a:ln w="25400">
            <a:solidFill>
              <a:srgbClr val="703CC3"/>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95036"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95036" y="1965960"/>
            <a:ext cx="2008022"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23052" y="2240279"/>
            <a:ext cx="1751990"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5223052"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Produce</a:t>
            </a:r>
          </a:p>
        </p:txBody>
      </p:sp>
      <p:sp>
        <p:nvSpPr>
          <p:cNvPr id="23" name="TextBox 22"/>
          <p:cNvSpPr txBox="1"/>
          <p:nvPr/>
        </p:nvSpPr>
        <p:spPr>
          <a:xfrm>
            <a:off x="5241340"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deliverables and work data</a:t>
            </a:r>
          </a:p>
        </p:txBody>
      </p:sp>
      <p:cxnSp>
        <p:nvCxnSpPr>
          <p:cNvPr id="24" name="Connector 23"/>
          <p:cNvCxnSpPr/>
          <p:nvPr/>
        </p:nvCxnSpPr>
        <p:spPr>
          <a:xfrm>
            <a:off x="7103059" y="3474720"/>
            <a:ext cx="164592" cy="0"/>
          </a:xfrm>
          <a:prstGeom prst="line">
            <a:avLst/>
          </a:prstGeom>
          <a:ln w="25400">
            <a:solidFill>
              <a:srgbClr val="703CC3"/>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267651"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67651" y="1965960"/>
            <a:ext cx="2008022"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95667" y="2240279"/>
            <a:ext cx="1751990"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7395667"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Learn</a:t>
            </a:r>
          </a:p>
        </p:txBody>
      </p:sp>
      <p:sp>
        <p:nvSpPr>
          <p:cNvPr id="29" name="TextBox 28"/>
          <p:cNvSpPr txBox="1"/>
          <p:nvPr/>
        </p:nvSpPr>
        <p:spPr>
          <a:xfrm>
            <a:off x="7413955"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issues, knowledge and requests</a:t>
            </a:r>
          </a:p>
        </p:txBody>
      </p:sp>
      <p:cxnSp>
        <p:nvCxnSpPr>
          <p:cNvPr id="30" name="Connector 29"/>
          <p:cNvCxnSpPr/>
          <p:nvPr/>
        </p:nvCxnSpPr>
        <p:spPr>
          <a:xfrm>
            <a:off x="9275673" y="3474720"/>
            <a:ext cx="164592" cy="0"/>
          </a:xfrm>
          <a:prstGeom prst="line">
            <a:avLst/>
          </a:prstGeom>
          <a:ln w="25400">
            <a:solidFill>
              <a:srgbClr val="703CC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440265"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40265" y="1965960"/>
            <a:ext cx="2008022" cy="13716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68281" y="2240279"/>
            <a:ext cx="1751990" cy="457200"/>
          </a:xfrm>
          <a:prstGeom prst="rect">
            <a:avLst/>
          </a:prstGeom>
          <a:noFill/>
        </p:spPr>
        <p:txBody>
          <a:bodyPr wrap="square" lIns="0" rIns="0" tIns="0" bIns="0" anchor="t">
            <a:spAutoFit/>
          </a:bodyPr>
          <a:lstStyle/>
          <a:p>
            <a:pPr algn="ctr">
              <a:spcAft>
                <a:spcPts val="300"/>
              </a:spcAft>
            </a:pPr>
            <a:r>
              <a:rPr sz="1400" b="1">
                <a:solidFill>
                  <a:srgbClr val="1A7F4B"/>
                </a:solidFill>
                <a:latin typeface="Arial"/>
              </a:rPr>
              <a:t>05</a:t>
            </a:r>
          </a:p>
        </p:txBody>
      </p:sp>
      <p:sp>
        <p:nvSpPr>
          <p:cNvPr id="34" name="TextBox 33"/>
          <p:cNvSpPr txBox="1"/>
          <p:nvPr/>
        </p:nvSpPr>
        <p:spPr>
          <a:xfrm>
            <a:off x="9568281"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Update</a:t>
            </a:r>
          </a:p>
        </p:txBody>
      </p:sp>
      <p:sp>
        <p:nvSpPr>
          <p:cNvPr id="35" name="TextBox 34"/>
          <p:cNvSpPr txBox="1"/>
          <p:nvPr/>
        </p:nvSpPr>
        <p:spPr>
          <a:xfrm>
            <a:off x="9586569"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documents and forecasts</a:t>
            </a:r>
          </a:p>
        </p:txBody>
      </p:sp>
      <p:sp>
        <p:nvSpPr>
          <p:cNvPr id="36" name="Rounded Rectangle 35"/>
          <p:cNvSpPr/>
          <p:nvPr/>
        </p:nvSpPr>
        <p:spPr>
          <a:xfrm>
            <a:off x="749808" y="5303520"/>
            <a:ext cx="10698480" cy="713232"/>
          </a:xfrm>
          <a:prstGeom prst="roundRect">
            <a:avLst>
              <a:gd name="adj" fmla="val 8000"/>
            </a:avLst>
          </a:prstGeom>
          <a:solidFill>
            <a:srgbClr val="FFFFFF"/>
          </a:solidFill>
          <a:ln w="12700">
            <a:solidFill>
              <a:srgbClr val="703C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Execution produces both deliverables and information needed for control.</a:t>
            </a:r>
          </a:p>
        </p:txBody>
      </p:sp>
      <p:sp>
        <p:nvSpPr>
          <p:cNvPr id="38" name="TextBox 37"/>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9" name="TextBox 38"/>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03 · REFERENCE-SOURCED DEEP DIVE</a:t>
            </a:r>
          </a:p>
        </p:txBody>
      </p:sp>
      <p:sp>
        <p:nvSpPr>
          <p:cNvPr id="40" name="TextBox 39"/>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87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703CC3"/>
                </a:solidFill>
                <a:latin typeface="Arial"/>
              </a:rPr>
              <a:t>TOPIC 03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A Lean PMIS for a Small Project</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2956559"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Source of truth</a:t>
            </a:r>
          </a:p>
        </p:txBody>
      </p:sp>
      <p:sp>
        <p:nvSpPr>
          <p:cNvPr id="10" name="TextBox 9"/>
          <p:cNvSpPr txBox="1"/>
          <p:nvPr/>
        </p:nvSpPr>
        <p:spPr>
          <a:xfrm>
            <a:off x="100584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Named location and owner.</a:t>
            </a:r>
          </a:p>
        </p:txBody>
      </p:sp>
      <p:sp>
        <p:nvSpPr>
          <p:cNvPr id="11" name="Rounded Rectangle 10"/>
          <p:cNvSpPr/>
          <p:nvPr/>
        </p:nvSpPr>
        <p:spPr>
          <a:xfrm>
            <a:off x="439216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92167"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8200" y="1947672"/>
            <a:ext cx="2956559"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Version control</a:t>
            </a:r>
          </a:p>
        </p:txBody>
      </p:sp>
      <p:sp>
        <p:nvSpPr>
          <p:cNvPr id="14" name="TextBox 13"/>
          <p:cNvSpPr txBox="1"/>
          <p:nvPr/>
        </p:nvSpPr>
        <p:spPr>
          <a:xfrm>
            <a:off x="464820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Number, date, author and status.</a:t>
            </a:r>
          </a:p>
        </p:txBody>
      </p:sp>
      <p:sp>
        <p:nvSpPr>
          <p:cNvPr id="15" name="Rounded Rectangle 14"/>
          <p:cNvSpPr/>
          <p:nvPr/>
        </p:nvSpPr>
        <p:spPr>
          <a:xfrm>
            <a:off x="803452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34527" y="1783080"/>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559" y="1947672"/>
            <a:ext cx="2956559"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Decision log</a:t>
            </a:r>
          </a:p>
        </p:txBody>
      </p:sp>
      <p:sp>
        <p:nvSpPr>
          <p:cNvPr id="18" name="TextBox 17"/>
          <p:cNvSpPr txBox="1"/>
          <p:nvPr/>
        </p:nvSpPr>
        <p:spPr>
          <a:xfrm>
            <a:off x="8290559"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What, who, when and rationale.</a:t>
            </a:r>
          </a:p>
        </p:txBody>
      </p:sp>
      <p:sp>
        <p:nvSpPr>
          <p:cNvPr id="19" name="Rounded Rectangle 18"/>
          <p:cNvSpPr/>
          <p:nvPr/>
        </p:nvSpPr>
        <p:spPr>
          <a:xfrm>
            <a:off x="749808"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980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4283964"/>
            <a:ext cx="2956559"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Access</a:t>
            </a:r>
          </a:p>
        </p:txBody>
      </p:sp>
      <p:sp>
        <p:nvSpPr>
          <p:cNvPr id="22" name="TextBox 21"/>
          <p:cNvSpPr txBox="1"/>
          <p:nvPr/>
        </p:nvSpPr>
        <p:spPr>
          <a:xfrm>
            <a:off x="100584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Right people, current artefact.</a:t>
            </a:r>
          </a:p>
        </p:txBody>
      </p:sp>
      <p:sp>
        <p:nvSpPr>
          <p:cNvPr id="23" name="Rounded Rectangle 22"/>
          <p:cNvSpPr/>
          <p:nvPr/>
        </p:nvSpPr>
        <p:spPr>
          <a:xfrm>
            <a:off x="4392167"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92167" y="4119372"/>
            <a:ext cx="91440" cy="2107692"/>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48200" y="4283964"/>
            <a:ext cx="2956559" cy="438912"/>
          </a:xfrm>
          <a:prstGeom prst="rect">
            <a:avLst/>
          </a:prstGeom>
          <a:noFill/>
        </p:spPr>
        <p:txBody>
          <a:bodyPr wrap="square" lIns="0" rIns="0" tIns="0" bIns="0" anchor="t">
            <a:spAutoFit/>
          </a:bodyPr>
          <a:lstStyle/>
          <a:p>
            <a:pPr algn="l">
              <a:spcAft>
                <a:spcPts val="300"/>
              </a:spcAft>
            </a:pPr>
            <a:r>
              <a:rPr sz="1300" b="1">
                <a:solidFill>
                  <a:srgbClr val="1A7F4B"/>
                </a:solidFill>
                <a:latin typeface="Arial"/>
              </a:rPr>
              <a:t>Archive</a:t>
            </a:r>
          </a:p>
        </p:txBody>
      </p:sp>
      <p:sp>
        <p:nvSpPr>
          <p:cNvPr id="26" name="TextBox 25"/>
          <p:cNvSpPr txBox="1"/>
          <p:nvPr/>
        </p:nvSpPr>
        <p:spPr>
          <a:xfrm>
            <a:off x="464820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Superseded records remain traceable.</a:t>
            </a:r>
          </a:p>
        </p:txBody>
      </p:sp>
      <p:sp>
        <p:nvSpPr>
          <p:cNvPr id="27" name="Rounded Rectangle 26"/>
          <p:cNvSpPr/>
          <p:nvPr/>
        </p:nvSpPr>
        <p:spPr>
          <a:xfrm>
            <a:off x="8034527"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34527" y="4119372"/>
            <a:ext cx="91440" cy="2107692"/>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90559" y="4283964"/>
            <a:ext cx="2956559" cy="438912"/>
          </a:xfrm>
          <a:prstGeom prst="rect">
            <a:avLst/>
          </a:prstGeom>
          <a:noFill/>
        </p:spPr>
        <p:txBody>
          <a:bodyPr wrap="square" lIns="0" rIns="0" tIns="0" bIns="0" anchor="t">
            <a:spAutoFit/>
          </a:bodyPr>
          <a:lstStyle/>
          <a:p>
            <a:pPr algn="l">
              <a:spcAft>
                <a:spcPts val="300"/>
              </a:spcAft>
            </a:pPr>
            <a:r>
              <a:rPr sz="1300" b="1">
                <a:solidFill>
                  <a:srgbClr val="C93131"/>
                </a:solidFill>
                <a:latin typeface="Arial"/>
              </a:rPr>
              <a:t>Security</a:t>
            </a:r>
          </a:p>
        </p:txBody>
      </p:sp>
      <p:sp>
        <p:nvSpPr>
          <p:cNvPr id="30" name="TextBox 29"/>
          <p:cNvSpPr txBox="1"/>
          <p:nvPr/>
        </p:nvSpPr>
        <p:spPr>
          <a:xfrm>
            <a:off x="8290559"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Sensitive content has proportionate access.</a:t>
            </a:r>
          </a:p>
        </p:txBody>
      </p:sp>
      <p:sp>
        <p:nvSpPr>
          <p:cNvPr id="31" name="TextBox 30"/>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2" name="TextBox 31"/>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03 · REFERENCE-SOURCED DEEP DIVE</a:t>
            </a:r>
          </a:p>
        </p:txBody>
      </p:sp>
      <p:sp>
        <p:nvSpPr>
          <p:cNvPr id="33" name="TextBox 32"/>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88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703CC3"/>
                </a:solidFill>
                <a:latin typeface="Arial"/>
              </a:rPr>
              <a:t>TOPIC 03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Quality Planning, Assurance and Control</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703CC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Discipline</a:t>
            </a:r>
          </a:p>
        </p:txBody>
      </p:sp>
      <p:sp>
        <p:nvSpPr>
          <p:cNvPr id="9" name="Rectangle 8"/>
          <p:cNvSpPr/>
          <p:nvPr/>
        </p:nvSpPr>
        <p:spPr>
          <a:xfrm>
            <a:off x="4315968" y="1810512"/>
            <a:ext cx="3566160" cy="758952"/>
          </a:xfrm>
          <a:prstGeom prst="rect">
            <a:avLst/>
          </a:prstGeom>
          <a:solidFill>
            <a:srgbClr val="703CC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Question</a:t>
            </a:r>
          </a:p>
        </p:txBody>
      </p:sp>
      <p:sp>
        <p:nvSpPr>
          <p:cNvPr id="11" name="Rectangle 10"/>
          <p:cNvSpPr/>
          <p:nvPr/>
        </p:nvSpPr>
        <p:spPr>
          <a:xfrm>
            <a:off x="7882127" y="1810512"/>
            <a:ext cx="3566160" cy="758952"/>
          </a:xfrm>
          <a:prstGeom prst="rect">
            <a:avLst/>
          </a:prstGeom>
          <a:solidFill>
            <a:srgbClr val="703CC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Evidence</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Planning</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What quality is required?</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Metrics, methods and acceptance</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Assurance</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Will the process achieve it?</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Review, audit, coaching</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Control</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Does the result conform?</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Inspection, tests and charts</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Improvement</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How will the system change?</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Experiment and verification</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703C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Inspection finds defects; assurance and improvement reduce the chance of creating them.</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03 · REFERENCE-SOURCED DEEP DIVE</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89</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703CC3"/>
                </a:solidFill>
                <a:latin typeface="Arial"/>
              </a:rPr>
              <a:t>TOPIC 03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HarbourHub Quality-Cost Decision</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703CC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Option</a:t>
            </a:r>
          </a:p>
        </p:txBody>
      </p:sp>
      <p:sp>
        <p:nvSpPr>
          <p:cNvPr id="9" name="Rectangle 8"/>
          <p:cNvSpPr/>
          <p:nvPr/>
        </p:nvSpPr>
        <p:spPr>
          <a:xfrm>
            <a:off x="4315968" y="1810512"/>
            <a:ext cx="3566160" cy="758952"/>
          </a:xfrm>
          <a:prstGeom prst="rect">
            <a:avLst/>
          </a:prstGeom>
          <a:solidFill>
            <a:srgbClr val="703CC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Near-term effect</a:t>
            </a:r>
          </a:p>
        </p:txBody>
      </p:sp>
      <p:sp>
        <p:nvSpPr>
          <p:cNvPr id="11" name="Rectangle 10"/>
          <p:cNvSpPr/>
          <p:nvPr/>
        </p:nvSpPr>
        <p:spPr>
          <a:xfrm>
            <a:off x="7882127" y="1810512"/>
            <a:ext cx="3566160" cy="758952"/>
          </a:xfrm>
          <a:prstGeom prst="rect">
            <a:avLst/>
          </a:prstGeom>
          <a:solidFill>
            <a:srgbClr val="703CC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Decision signal</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Add catalogue-data validation</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S$4,000 prevention spend</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Reduces rejection and re-pick risk</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Test only at pilot launch</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Lower spend now</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Defects discovered with customers waiting</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Accept manual correction</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No tooling change</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Recurring labour and queue growth</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Decision</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Fund validation before rollout</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Cheaper than repeated external failure</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703C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The team chooses prevention because one avoided launch-week failure can repay the control.</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03 · REFERENCE-SOURCED DEEP DIVE</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90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703CC3"/>
                </a:solidFill>
                <a:latin typeface="Arial"/>
              </a:rPr>
              <a:t>TOPIC 03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Quality Tool Sequence</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1645919"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1389887"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Check sheet</a:t>
            </a:r>
          </a:p>
        </p:txBody>
      </p:sp>
      <p:sp>
        <p:nvSpPr>
          <p:cNvPr id="11" name="TextBox 10"/>
          <p:cNvSpPr txBox="1"/>
          <p:nvPr/>
        </p:nvSpPr>
        <p:spPr>
          <a:xfrm>
            <a:off x="896112"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capture facts</a:t>
            </a:r>
          </a:p>
        </p:txBody>
      </p:sp>
      <p:cxnSp>
        <p:nvCxnSpPr>
          <p:cNvPr id="12" name="Connector 11"/>
          <p:cNvCxnSpPr/>
          <p:nvPr/>
        </p:nvCxnSpPr>
        <p:spPr>
          <a:xfrm>
            <a:off x="2395727" y="3474720"/>
            <a:ext cx="164593" cy="0"/>
          </a:xfrm>
          <a:prstGeom prst="line">
            <a:avLst/>
          </a:prstGeom>
          <a:ln w="25400">
            <a:solidFill>
              <a:srgbClr val="703CC3"/>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560320"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60320" y="1965960"/>
            <a:ext cx="1645919"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88336" y="2240279"/>
            <a:ext cx="1389887"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2688336"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Fishbone</a:t>
            </a:r>
          </a:p>
        </p:txBody>
      </p:sp>
      <p:sp>
        <p:nvSpPr>
          <p:cNvPr id="17" name="TextBox 16"/>
          <p:cNvSpPr txBox="1"/>
          <p:nvPr/>
        </p:nvSpPr>
        <p:spPr>
          <a:xfrm>
            <a:off x="2706624"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broaden possible causes</a:t>
            </a:r>
          </a:p>
        </p:txBody>
      </p:sp>
      <p:cxnSp>
        <p:nvCxnSpPr>
          <p:cNvPr id="18" name="Connector 17"/>
          <p:cNvCxnSpPr/>
          <p:nvPr/>
        </p:nvCxnSpPr>
        <p:spPr>
          <a:xfrm>
            <a:off x="4206240" y="3474720"/>
            <a:ext cx="164591" cy="0"/>
          </a:xfrm>
          <a:prstGeom prst="line">
            <a:avLst/>
          </a:prstGeom>
          <a:ln w="25400">
            <a:solidFill>
              <a:srgbClr val="703CC3"/>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370831"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70831" y="1965960"/>
            <a:ext cx="1645919"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98847" y="2240279"/>
            <a:ext cx="1389887"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4498847"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Five Whys</a:t>
            </a:r>
          </a:p>
        </p:txBody>
      </p:sp>
      <p:sp>
        <p:nvSpPr>
          <p:cNvPr id="23" name="TextBox 22"/>
          <p:cNvSpPr txBox="1"/>
          <p:nvPr/>
        </p:nvSpPr>
        <p:spPr>
          <a:xfrm>
            <a:off x="4517136"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test one chain</a:t>
            </a:r>
          </a:p>
        </p:txBody>
      </p:sp>
      <p:cxnSp>
        <p:nvCxnSpPr>
          <p:cNvPr id="24" name="Connector 23"/>
          <p:cNvCxnSpPr/>
          <p:nvPr/>
        </p:nvCxnSpPr>
        <p:spPr>
          <a:xfrm>
            <a:off x="6016751" y="3474720"/>
            <a:ext cx="164592" cy="0"/>
          </a:xfrm>
          <a:prstGeom prst="line">
            <a:avLst/>
          </a:prstGeom>
          <a:ln w="25400">
            <a:solidFill>
              <a:srgbClr val="703CC3"/>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181344"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81344" y="1965960"/>
            <a:ext cx="1645919"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59" y="2240279"/>
            <a:ext cx="1389887"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6309359"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Pareto</a:t>
            </a:r>
          </a:p>
        </p:txBody>
      </p:sp>
      <p:sp>
        <p:nvSpPr>
          <p:cNvPr id="29" name="TextBox 28"/>
          <p:cNvSpPr txBox="1"/>
          <p:nvPr/>
        </p:nvSpPr>
        <p:spPr>
          <a:xfrm>
            <a:off x="6327648"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focus the vital few</a:t>
            </a:r>
          </a:p>
        </p:txBody>
      </p:sp>
      <p:cxnSp>
        <p:nvCxnSpPr>
          <p:cNvPr id="30" name="Connector 29"/>
          <p:cNvCxnSpPr/>
          <p:nvPr/>
        </p:nvCxnSpPr>
        <p:spPr>
          <a:xfrm>
            <a:off x="7827263" y="3474720"/>
            <a:ext cx="164592" cy="0"/>
          </a:xfrm>
          <a:prstGeom prst="line">
            <a:avLst/>
          </a:prstGeom>
          <a:ln w="25400">
            <a:solidFill>
              <a:srgbClr val="703CC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991855"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91855" y="1965960"/>
            <a:ext cx="1645919" cy="13716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19871" y="2240279"/>
            <a:ext cx="1389887" cy="457200"/>
          </a:xfrm>
          <a:prstGeom prst="rect">
            <a:avLst/>
          </a:prstGeom>
          <a:noFill/>
        </p:spPr>
        <p:txBody>
          <a:bodyPr wrap="square" lIns="0" rIns="0" tIns="0" bIns="0" anchor="t">
            <a:spAutoFit/>
          </a:bodyPr>
          <a:lstStyle/>
          <a:p>
            <a:pPr algn="ctr">
              <a:spcAft>
                <a:spcPts val="300"/>
              </a:spcAft>
            </a:pPr>
            <a:r>
              <a:rPr sz="1400" b="1">
                <a:solidFill>
                  <a:srgbClr val="1A7F4B"/>
                </a:solidFill>
                <a:latin typeface="Arial"/>
              </a:rPr>
              <a:t>05</a:t>
            </a:r>
          </a:p>
        </p:txBody>
      </p:sp>
      <p:sp>
        <p:nvSpPr>
          <p:cNvPr id="34" name="TextBox 33"/>
          <p:cNvSpPr txBox="1"/>
          <p:nvPr/>
        </p:nvSpPr>
        <p:spPr>
          <a:xfrm>
            <a:off x="8119871"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Control chart</a:t>
            </a:r>
          </a:p>
        </p:txBody>
      </p:sp>
      <p:sp>
        <p:nvSpPr>
          <p:cNvPr id="35" name="TextBox 34"/>
          <p:cNvSpPr txBox="1"/>
          <p:nvPr/>
        </p:nvSpPr>
        <p:spPr>
          <a:xfrm>
            <a:off x="8138159"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understand behaviour</a:t>
            </a:r>
          </a:p>
        </p:txBody>
      </p:sp>
      <p:cxnSp>
        <p:nvCxnSpPr>
          <p:cNvPr id="36" name="Connector 35"/>
          <p:cNvCxnSpPr/>
          <p:nvPr/>
        </p:nvCxnSpPr>
        <p:spPr>
          <a:xfrm>
            <a:off x="9637776" y="3474720"/>
            <a:ext cx="164591" cy="0"/>
          </a:xfrm>
          <a:prstGeom prst="line">
            <a:avLst/>
          </a:prstGeom>
          <a:ln w="25400">
            <a:solidFill>
              <a:srgbClr val="703CC3"/>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802367"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02367" y="1965960"/>
            <a:ext cx="1645919" cy="137160"/>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930384" y="2240279"/>
            <a:ext cx="1389887" cy="457200"/>
          </a:xfrm>
          <a:prstGeom prst="rect">
            <a:avLst/>
          </a:prstGeom>
          <a:noFill/>
        </p:spPr>
        <p:txBody>
          <a:bodyPr wrap="square" lIns="0" rIns="0" tIns="0" bIns="0" anchor="t">
            <a:spAutoFit/>
          </a:bodyPr>
          <a:lstStyle/>
          <a:p>
            <a:pPr algn="ctr">
              <a:spcAft>
                <a:spcPts val="300"/>
              </a:spcAft>
            </a:pPr>
            <a:r>
              <a:rPr sz="1400" b="1">
                <a:solidFill>
                  <a:srgbClr val="C93131"/>
                </a:solidFill>
                <a:latin typeface="Arial"/>
              </a:rPr>
              <a:t>06</a:t>
            </a:r>
          </a:p>
        </p:txBody>
      </p:sp>
      <p:sp>
        <p:nvSpPr>
          <p:cNvPr id="40" name="TextBox 39"/>
          <p:cNvSpPr txBox="1"/>
          <p:nvPr/>
        </p:nvSpPr>
        <p:spPr>
          <a:xfrm>
            <a:off x="9930384"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Experiment</a:t>
            </a:r>
          </a:p>
        </p:txBody>
      </p:sp>
      <p:sp>
        <p:nvSpPr>
          <p:cNvPr id="41" name="TextBox 40"/>
          <p:cNvSpPr txBox="1"/>
          <p:nvPr/>
        </p:nvSpPr>
        <p:spPr>
          <a:xfrm>
            <a:off x="9948672"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verify improvement</a:t>
            </a:r>
          </a:p>
        </p:txBody>
      </p:sp>
      <p:sp>
        <p:nvSpPr>
          <p:cNvPr id="42" name="Rounded Rectangle 41"/>
          <p:cNvSpPr/>
          <p:nvPr/>
        </p:nvSpPr>
        <p:spPr>
          <a:xfrm>
            <a:off x="749808" y="5303520"/>
            <a:ext cx="10698480" cy="713232"/>
          </a:xfrm>
          <a:prstGeom prst="roundRect">
            <a:avLst>
              <a:gd name="adj" fmla="val 8000"/>
            </a:avLst>
          </a:prstGeom>
          <a:solidFill>
            <a:srgbClr val="FFFFFF"/>
          </a:solidFill>
          <a:ln w="12700">
            <a:solidFill>
              <a:srgbClr val="703C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Do not jump from anecdote directly to solution.</a:t>
            </a:r>
          </a:p>
        </p:txBody>
      </p:sp>
      <p:sp>
        <p:nvSpPr>
          <p:cNvPr id="44" name="TextBox 43"/>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5" name="TextBox 44"/>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03 · REFERENCE-SOURCED DEEP DIVE</a:t>
            </a:r>
          </a:p>
        </p:txBody>
      </p:sp>
      <p:sp>
        <p:nvSpPr>
          <p:cNvPr id="46" name="TextBox 45"/>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91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703CC3"/>
                </a:solidFill>
                <a:latin typeface="Arial"/>
              </a:rPr>
              <a:t>TOPIC 03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Common Cause versus Special Cause</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703CC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Signal</a:t>
            </a:r>
          </a:p>
        </p:txBody>
      </p:sp>
      <p:sp>
        <p:nvSpPr>
          <p:cNvPr id="9" name="Rectangle 8"/>
          <p:cNvSpPr/>
          <p:nvPr/>
        </p:nvSpPr>
        <p:spPr>
          <a:xfrm>
            <a:off x="4315968" y="1810512"/>
            <a:ext cx="3566160" cy="758952"/>
          </a:xfrm>
          <a:prstGeom prst="rect">
            <a:avLst/>
          </a:prstGeom>
          <a:solidFill>
            <a:srgbClr val="703CC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Meaning</a:t>
            </a:r>
          </a:p>
        </p:txBody>
      </p:sp>
      <p:sp>
        <p:nvSpPr>
          <p:cNvPr id="11" name="Rectangle 10"/>
          <p:cNvSpPr/>
          <p:nvPr/>
        </p:nvSpPr>
        <p:spPr>
          <a:xfrm>
            <a:off x="7882127" y="1810512"/>
            <a:ext cx="3566160" cy="758952"/>
          </a:xfrm>
          <a:prstGeom prst="rect">
            <a:avLst/>
          </a:prstGeom>
          <a:solidFill>
            <a:srgbClr val="703CC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Response</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Stable random variation</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System behaviour</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Improve the process</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Point beyond limits</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Potential special cause</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Investigate event</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Run or trend</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Non-random pattern</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Test changed condition</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Within limits but off specification</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Stable but incapable</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Redesign process</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703C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Control limits come from process data; specification limits come from requirements.</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03 · REFERENCE-SOURCED DEEP DIVE</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92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703CC3"/>
                </a:solidFill>
                <a:latin typeface="Arial"/>
              </a:rPr>
              <a:t>TOPIC 03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Kanban Operating Policies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2956559"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Visualise</a:t>
            </a:r>
          </a:p>
        </p:txBody>
      </p:sp>
      <p:sp>
        <p:nvSpPr>
          <p:cNvPr id="10" name="TextBox 9"/>
          <p:cNvSpPr txBox="1"/>
          <p:nvPr/>
        </p:nvSpPr>
        <p:spPr>
          <a:xfrm>
            <a:off x="100584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Show status, owner and blockers.</a:t>
            </a:r>
          </a:p>
        </p:txBody>
      </p:sp>
      <p:sp>
        <p:nvSpPr>
          <p:cNvPr id="11" name="Rounded Rectangle 10"/>
          <p:cNvSpPr/>
          <p:nvPr/>
        </p:nvSpPr>
        <p:spPr>
          <a:xfrm>
            <a:off x="439216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92167"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8200" y="1947672"/>
            <a:ext cx="2956559"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Limit WIP</a:t>
            </a:r>
          </a:p>
        </p:txBody>
      </p:sp>
      <p:sp>
        <p:nvSpPr>
          <p:cNvPr id="14" name="TextBox 13"/>
          <p:cNvSpPr txBox="1"/>
          <p:nvPr/>
        </p:nvSpPr>
        <p:spPr>
          <a:xfrm>
            <a:off x="464820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Stop starting; start finishing.</a:t>
            </a:r>
          </a:p>
        </p:txBody>
      </p:sp>
      <p:sp>
        <p:nvSpPr>
          <p:cNvPr id="15" name="Rounded Rectangle 14"/>
          <p:cNvSpPr/>
          <p:nvPr/>
        </p:nvSpPr>
        <p:spPr>
          <a:xfrm>
            <a:off x="803452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34527" y="1783080"/>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559" y="1947672"/>
            <a:ext cx="2956559"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Manage flow</a:t>
            </a:r>
          </a:p>
        </p:txBody>
      </p:sp>
      <p:sp>
        <p:nvSpPr>
          <p:cNvPr id="18" name="TextBox 17"/>
          <p:cNvSpPr txBox="1"/>
          <p:nvPr/>
        </p:nvSpPr>
        <p:spPr>
          <a:xfrm>
            <a:off x="8290559"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Watch ageing and bottlenecks.</a:t>
            </a:r>
          </a:p>
        </p:txBody>
      </p:sp>
      <p:sp>
        <p:nvSpPr>
          <p:cNvPr id="19" name="Rounded Rectangle 18"/>
          <p:cNvSpPr/>
          <p:nvPr/>
        </p:nvSpPr>
        <p:spPr>
          <a:xfrm>
            <a:off x="749808"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980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4283964"/>
            <a:ext cx="2956559"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Make policies explicit</a:t>
            </a:r>
          </a:p>
        </p:txBody>
      </p:sp>
      <p:sp>
        <p:nvSpPr>
          <p:cNvPr id="22" name="TextBox 21"/>
          <p:cNvSpPr txBox="1"/>
          <p:nvPr/>
        </p:nvSpPr>
        <p:spPr>
          <a:xfrm>
            <a:off x="100584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Entry, exit and priority rules.</a:t>
            </a:r>
          </a:p>
        </p:txBody>
      </p:sp>
      <p:sp>
        <p:nvSpPr>
          <p:cNvPr id="23" name="Rounded Rectangle 22"/>
          <p:cNvSpPr/>
          <p:nvPr/>
        </p:nvSpPr>
        <p:spPr>
          <a:xfrm>
            <a:off x="4392167"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92167" y="4119372"/>
            <a:ext cx="91440" cy="2107692"/>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48200" y="4283964"/>
            <a:ext cx="2956559" cy="438912"/>
          </a:xfrm>
          <a:prstGeom prst="rect">
            <a:avLst/>
          </a:prstGeom>
          <a:noFill/>
        </p:spPr>
        <p:txBody>
          <a:bodyPr wrap="square" lIns="0" rIns="0" tIns="0" bIns="0" anchor="t">
            <a:spAutoFit/>
          </a:bodyPr>
          <a:lstStyle/>
          <a:p>
            <a:pPr algn="l">
              <a:spcAft>
                <a:spcPts val="300"/>
              </a:spcAft>
            </a:pPr>
            <a:r>
              <a:rPr sz="1300" b="1">
                <a:solidFill>
                  <a:srgbClr val="1A7F4B"/>
                </a:solidFill>
                <a:latin typeface="Arial"/>
              </a:rPr>
              <a:t>Feedback</a:t>
            </a:r>
          </a:p>
        </p:txBody>
      </p:sp>
      <p:sp>
        <p:nvSpPr>
          <p:cNvPr id="26" name="TextBox 25"/>
          <p:cNvSpPr txBox="1"/>
          <p:nvPr/>
        </p:nvSpPr>
        <p:spPr>
          <a:xfrm>
            <a:off x="464820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Review at a useful cadence.</a:t>
            </a:r>
          </a:p>
        </p:txBody>
      </p:sp>
      <p:sp>
        <p:nvSpPr>
          <p:cNvPr id="27" name="Rounded Rectangle 26"/>
          <p:cNvSpPr/>
          <p:nvPr/>
        </p:nvSpPr>
        <p:spPr>
          <a:xfrm>
            <a:off x="8034527"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34527" y="4119372"/>
            <a:ext cx="91440" cy="2107692"/>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90559" y="4283964"/>
            <a:ext cx="2956559" cy="438912"/>
          </a:xfrm>
          <a:prstGeom prst="rect">
            <a:avLst/>
          </a:prstGeom>
          <a:noFill/>
        </p:spPr>
        <p:txBody>
          <a:bodyPr wrap="square" lIns="0" rIns="0" tIns="0" bIns="0" anchor="t">
            <a:spAutoFit/>
          </a:bodyPr>
          <a:lstStyle/>
          <a:p>
            <a:pPr algn="l">
              <a:spcAft>
                <a:spcPts val="300"/>
              </a:spcAft>
            </a:pPr>
            <a:r>
              <a:rPr sz="1300" b="1">
                <a:solidFill>
                  <a:srgbClr val="C93131"/>
                </a:solidFill>
                <a:latin typeface="Arial"/>
              </a:rPr>
              <a:t>Improve</a:t>
            </a:r>
          </a:p>
        </p:txBody>
      </p:sp>
      <p:sp>
        <p:nvSpPr>
          <p:cNvPr id="30" name="TextBox 29"/>
          <p:cNvSpPr txBox="1"/>
          <p:nvPr/>
        </p:nvSpPr>
        <p:spPr>
          <a:xfrm>
            <a:off x="8290559"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Run small measurable experiments.</a:t>
            </a:r>
          </a:p>
        </p:txBody>
      </p:sp>
      <p:sp>
        <p:nvSpPr>
          <p:cNvPr id="31" name="TextBox 30"/>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2" name="TextBox 31"/>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03 · REFERENCE-SOURCED DEEP DIVE</a:t>
            </a:r>
          </a:p>
        </p:txBody>
      </p:sp>
      <p:sp>
        <p:nvSpPr>
          <p:cNvPr id="33" name="TextBox 32"/>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93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703CC3"/>
                </a:solidFill>
                <a:latin typeface="Arial"/>
              </a:rPr>
              <a:t>TOPIC 03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PDCA Improvement Loop</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2551176"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2551176"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2295144"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2295144"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Plan</a:t>
            </a:r>
          </a:p>
        </p:txBody>
      </p:sp>
      <p:sp>
        <p:nvSpPr>
          <p:cNvPr id="11" name="TextBox 10"/>
          <p:cNvSpPr txBox="1"/>
          <p:nvPr/>
        </p:nvSpPr>
        <p:spPr>
          <a:xfrm>
            <a:off x="896112" y="3465576"/>
            <a:ext cx="2258568"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problem, cause, hypothesis and measure</a:t>
            </a:r>
          </a:p>
        </p:txBody>
      </p:sp>
      <p:cxnSp>
        <p:nvCxnSpPr>
          <p:cNvPr id="12" name="Connector 11"/>
          <p:cNvCxnSpPr/>
          <p:nvPr/>
        </p:nvCxnSpPr>
        <p:spPr>
          <a:xfrm>
            <a:off x="3300984" y="3474720"/>
            <a:ext cx="164592" cy="0"/>
          </a:xfrm>
          <a:prstGeom prst="line">
            <a:avLst/>
          </a:prstGeom>
          <a:ln w="25400">
            <a:solidFill>
              <a:srgbClr val="703CC3"/>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465576" y="1965960"/>
            <a:ext cx="2551176"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65576" y="1965960"/>
            <a:ext cx="2551176"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93592" y="2240279"/>
            <a:ext cx="2295144"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3593592" y="2752344"/>
            <a:ext cx="2295144"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Do</a:t>
            </a:r>
          </a:p>
        </p:txBody>
      </p:sp>
      <p:sp>
        <p:nvSpPr>
          <p:cNvPr id="17" name="TextBox 16"/>
          <p:cNvSpPr txBox="1"/>
          <p:nvPr/>
        </p:nvSpPr>
        <p:spPr>
          <a:xfrm>
            <a:off x="3611880" y="3465576"/>
            <a:ext cx="2258568"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small controlled change</a:t>
            </a:r>
          </a:p>
        </p:txBody>
      </p:sp>
      <p:cxnSp>
        <p:nvCxnSpPr>
          <p:cNvPr id="18" name="Connector 17"/>
          <p:cNvCxnSpPr/>
          <p:nvPr/>
        </p:nvCxnSpPr>
        <p:spPr>
          <a:xfrm>
            <a:off x="6016752" y="3474720"/>
            <a:ext cx="164592" cy="0"/>
          </a:xfrm>
          <a:prstGeom prst="line">
            <a:avLst/>
          </a:prstGeom>
          <a:ln w="25400">
            <a:solidFill>
              <a:srgbClr val="703CC3"/>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181344" y="1965960"/>
            <a:ext cx="2551176"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81344" y="1965960"/>
            <a:ext cx="2551176"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2240279"/>
            <a:ext cx="2295144"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6309360" y="2752344"/>
            <a:ext cx="2295144"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Check</a:t>
            </a:r>
          </a:p>
        </p:txBody>
      </p:sp>
      <p:sp>
        <p:nvSpPr>
          <p:cNvPr id="23" name="TextBox 22"/>
          <p:cNvSpPr txBox="1"/>
          <p:nvPr/>
        </p:nvSpPr>
        <p:spPr>
          <a:xfrm>
            <a:off x="6327648" y="3465576"/>
            <a:ext cx="2258568"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compare evidence with prediction</a:t>
            </a:r>
          </a:p>
        </p:txBody>
      </p:sp>
      <p:cxnSp>
        <p:nvCxnSpPr>
          <p:cNvPr id="24" name="Connector 23"/>
          <p:cNvCxnSpPr/>
          <p:nvPr/>
        </p:nvCxnSpPr>
        <p:spPr>
          <a:xfrm>
            <a:off x="8732520" y="3474720"/>
            <a:ext cx="164592" cy="0"/>
          </a:xfrm>
          <a:prstGeom prst="line">
            <a:avLst/>
          </a:prstGeom>
          <a:ln w="25400">
            <a:solidFill>
              <a:srgbClr val="703CC3"/>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897112" y="1965960"/>
            <a:ext cx="2551176"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97112" y="1965960"/>
            <a:ext cx="2551176"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25128" y="2240279"/>
            <a:ext cx="2295144"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9025128" y="2752344"/>
            <a:ext cx="2295144"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Act</a:t>
            </a:r>
          </a:p>
        </p:txBody>
      </p:sp>
      <p:sp>
        <p:nvSpPr>
          <p:cNvPr id="29" name="TextBox 28"/>
          <p:cNvSpPr txBox="1"/>
          <p:nvPr/>
        </p:nvSpPr>
        <p:spPr>
          <a:xfrm>
            <a:off x="9043416" y="3465576"/>
            <a:ext cx="2258568"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standardise, adapt or stop</a:t>
            </a:r>
          </a:p>
        </p:txBody>
      </p:sp>
      <p:sp>
        <p:nvSpPr>
          <p:cNvPr id="30" name="Rounded Rectangle 29"/>
          <p:cNvSpPr/>
          <p:nvPr/>
        </p:nvSpPr>
        <p:spPr>
          <a:xfrm>
            <a:off x="749808" y="5303520"/>
            <a:ext cx="10698480" cy="713232"/>
          </a:xfrm>
          <a:prstGeom prst="roundRect">
            <a:avLst>
              <a:gd name="adj" fmla="val 8000"/>
            </a:avLst>
          </a:prstGeom>
          <a:solidFill>
            <a:srgbClr val="FFFFFF"/>
          </a:solidFill>
          <a:ln w="12700">
            <a:solidFill>
              <a:srgbClr val="703C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Improvement is complete only when the new practice is verified and sustained.</a:t>
            </a:r>
          </a:p>
        </p:txBody>
      </p:sp>
      <p:sp>
        <p:nvSpPr>
          <p:cNvPr id="32" name="TextBox 31"/>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3" name="TextBox 32"/>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03 · REFERENCE-SOURCED DEEP DIVE</a:t>
            </a:r>
          </a:p>
        </p:txBody>
      </p:sp>
      <p:sp>
        <p:nvSpPr>
          <p:cNvPr id="34" name="TextBox 33"/>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94</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703CC3"/>
                </a:solidFill>
                <a:latin typeface="Arial"/>
              </a:rPr>
              <a:t>TOPIC 03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Manage Project Knowledge</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2956559"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Explicit</a:t>
            </a:r>
          </a:p>
        </p:txBody>
      </p:sp>
      <p:sp>
        <p:nvSpPr>
          <p:cNvPr id="10" name="TextBox 9"/>
          <p:cNvSpPr txBox="1"/>
          <p:nvPr/>
        </p:nvSpPr>
        <p:spPr>
          <a:xfrm>
            <a:off x="100584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Documents, data and procedures.</a:t>
            </a:r>
          </a:p>
        </p:txBody>
      </p:sp>
      <p:sp>
        <p:nvSpPr>
          <p:cNvPr id="11" name="Rounded Rectangle 10"/>
          <p:cNvSpPr/>
          <p:nvPr/>
        </p:nvSpPr>
        <p:spPr>
          <a:xfrm>
            <a:off x="439216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92167"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8200" y="1947672"/>
            <a:ext cx="2956559"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Tacit</a:t>
            </a:r>
          </a:p>
        </p:txBody>
      </p:sp>
      <p:sp>
        <p:nvSpPr>
          <p:cNvPr id="14" name="TextBox 13"/>
          <p:cNvSpPr txBox="1"/>
          <p:nvPr/>
        </p:nvSpPr>
        <p:spPr>
          <a:xfrm>
            <a:off x="464820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Experience and judgement shared through work.</a:t>
            </a:r>
          </a:p>
        </p:txBody>
      </p:sp>
      <p:sp>
        <p:nvSpPr>
          <p:cNvPr id="15" name="Rounded Rectangle 14"/>
          <p:cNvSpPr/>
          <p:nvPr/>
        </p:nvSpPr>
        <p:spPr>
          <a:xfrm>
            <a:off x="803452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34527" y="1783080"/>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559" y="1947672"/>
            <a:ext cx="2956559"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Create</a:t>
            </a:r>
          </a:p>
        </p:txBody>
      </p:sp>
      <p:sp>
        <p:nvSpPr>
          <p:cNvPr id="18" name="TextBox 17"/>
          <p:cNvSpPr txBox="1"/>
          <p:nvPr/>
        </p:nvSpPr>
        <p:spPr>
          <a:xfrm>
            <a:off x="8290559"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Reviews, experiments and problem solving.</a:t>
            </a:r>
          </a:p>
        </p:txBody>
      </p:sp>
      <p:sp>
        <p:nvSpPr>
          <p:cNvPr id="19" name="Rounded Rectangle 18"/>
          <p:cNvSpPr/>
          <p:nvPr/>
        </p:nvSpPr>
        <p:spPr>
          <a:xfrm>
            <a:off x="2570988"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7098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27020" y="4283964"/>
            <a:ext cx="2956559"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Use</a:t>
            </a:r>
          </a:p>
        </p:txBody>
      </p:sp>
      <p:sp>
        <p:nvSpPr>
          <p:cNvPr id="22" name="TextBox 21"/>
          <p:cNvSpPr txBox="1"/>
          <p:nvPr/>
        </p:nvSpPr>
        <p:spPr>
          <a:xfrm>
            <a:off x="282702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Decision support during delivery.</a:t>
            </a:r>
          </a:p>
        </p:txBody>
      </p:sp>
      <p:sp>
        <p:nvSpPr>
          <p:cNvPr id="23" name="Rounded Rectangle 22"/>
          <p:cNvSpPr/>
          <p:nvPr/>
        </p:nvSpPr>
        <p:spPr>
          <a:xfrm>
            <a:off x="6213348"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3348" y="4119372"/>
            <a:ext cx="91440" cy="2107692"/>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283964"/>
            <a:ext cx="2956559" cy="438912"/>
          </a:xfrm>
          <a:prstGeom prst="rect">
            <a:avLst/>
          </a:prstGeom>
          <a:noFill/>
        </p:spPr>
        <p:txBody>
          <a:bodyPr wrap="square" lIns="0" rIns="0" tIns="0" bIns="0" anchor="t">
            <a:spAutoFit/>
          </a:bodyPr>
          <a:lstStyle/>
          <a:p>
            <a:pPr algn="l">
              <a:spcAft>
                <a:spcPts val="300"/>
              </a:spcAft>
            </a:pPr>
            <a:r>
              <a:rPr sz="1300" b="1">
                <a:solidFill>
                  <a:srgbClr val="1A7F4B"/>
                </a:solidFill>
                <a:latin typeface="Arial"/>
              </a:rPr>
              <a:t>Transfer</a:t>
            </a:r>
          </a:p>
        </p:txBody>
      </p:sp>
      <p:sp>
        <p:nvSpPr>
          <p:cNvPr id="26" name="TextBox 25"/>
          <p:cNvSpPr txBox="1"/>
          <p:nvPr/>
        </p:nvSpPr>
        <p:spPr>
          <a:xfrm>
            <a:off x="646938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Handover and lessons for future teams.</a:t>
            </a:r>
          </a:p>
        </p:txBody>
      </p:sp>
      <p:sp>
        <p:nvSpPr>
          <p:cNvPr id="27" name="TextBox 26"/>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8" name="TextBox 27"/>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03 · REFERENCE-SOURCED DEEP DIVE</a:t>
            </a:r>
          </a:p>
        </p:txBody>
      </p:sp>
      <p:sp>
        <p:nvSpPr>
          <p:cNvPr id="29" name="TextBox 28"/>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95</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03 · TOOL-BASED PRACTICE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Activity 6 Tool Pack</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30 Kanban Board</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XLSX · editable project tool</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35 Check Sheets</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XLSX · editable project tool</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34 Control Chart</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XLSX · editable project tool</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150" b="1">
                <a:solidFill>
                  <a:srgbClr val="F59E0B"/>
                </a:solidFill>
                <a:latin typeface="Arial"/>
              </a:rPr>
              <a:t>06 Delivery Approach and Quality Plan</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XLSX · editable project tool</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03 · TOOL-BASED PRACTICE</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96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03 · HANDS-ON ACTIVITY</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Tailor the Delivery Method and Quality Plan</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034272" y="384048"/>
            <a:ext cx="2377440" cy="402336"/>
          </a:xfrm>
          <a:prstGeom prst="roundRect">
            <a:avLst>
              <a:gd name="adj" fmla="val 8000"/>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34272" y="384048"/>
            <a:ext cx="2377440" cy="402336"/>
          </a:xfrm>
          <a:prstGeom prst="rect">
            <a:avLst/>
          </a:prstGeom>
          <a:noFill/>
        </p:spPr>
        <p:txBody>
          <a:bodyPr wrap="square" lIns="0" rIns="0" tIns="0" bIns="0" anchor="ctr">
            <a:spAutoFit/>
          </a:bodyPr>
          <a:lstStyle/>
          <a:p>
            <a:pPr algn="ctr">
              <a:spcAft>
                <a:spcPts val="300"/>
              </a:spcAft>
            </a:pPr>
            <a:r>
              <a:rPr sz="1050" b="1">
                <a:solidFill>
                  <a:srgbClr val="FFFFFF"/>
                </a:solidFill>
                <a:latin typeface="Arial"/>
              </a:rPr>
              <a:t>ACTIVITY 6 · 35 MIN</a:t>
            </a:r>
          </a:p>
        </p:txBody>
      </p:sp>
      <p:sp>
        <p:nvSpPr>
          <p:cNvPr id="9" name="Rounded Rectangle 8"/>
          <p:cNvSpPr/>
          <p:nvPr/>
        </p:nvSpPr>
        <p:spPr>
          <a:xfrm>
            <a:off x="749808" y="1773936"/>
            <a:ext cx="10698480" cy="12344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773936"/>
            <a:ext cx="91440" cy="123444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874519"/>
            <a:ext cx="10149840" cy="256032"/>
          </a:xfrm>
          <a:prstGeom prst="rect">
            <a:avLst/>
          </a:prstGeom>
          <a:noFill/>
        </p:spPr>
        <p:txBody>
          <a:bodyPr wrap="square" lIns="0" rIns="0" tIns="0" bIns="0" anchor="t">
            <a:spAutoFit/>
          </a:bodyPr>
          <a:lstStyle/>
          <a:p>
            <a:pPr algn="l">
              <a:spcAft>
                <a:spcPts val="300"/>
              </a:spcAft>
            </a:pPr>
            <a:r>
              <a:rPr sz="1050" b="1">
                <a:solidFill>
                  <a:srgbClr val="703CC3"/>
                </a:solidFill>
                <a:latin typeface="Arial"/>
              </a:rPr>
              <a:t>THE SITUATION</a:t>
            </a:r>
          </a:p>
        </p:txBody>
      </p:sp>
      <p:sp>
        <p:nvSpPr>
          <p:cNvPr id="12" name="TextBox 11"/>
          <p:cNvSpPr txBox="1"/>
          <p:nvPr/>
        </p:nvSpPr>
        <p:spPr>
          <a:xfrm>
            <a:off x="1005840" y="2139696"/>
            <a:ext cx="10149840" cy="731520"/>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The catalogue and POS interface need predictable milestone control, while the outlet workflow needs rapid testing and feedback. The team must choose a hybrid delivery rhythm and define quality before build begins.</a:t>
            </a:r>
          </a:p>
        </p:txBody>
      </p:sp>
      <p:sp>
        <p:nvSpPr>
          <p:cNvPr id="13" name="Rounded Rectangle 12"/>
          <p:cNvSpPr/>
          <p:nvPr/>
        </p:nvSpPr>
        <p:spPr>
          <a:xfrm>
            <a:off x="749808"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9808" y="3218688"/>
            <a:ext cx="3419856" cy="9144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 y="3401568"/>
            <a:ext cx="3017520" cy="274320"/>
          </a:xfrm>
          <a:prstGeom prst="rect">
            <a:avLst/>
          </a:prstGeom>
          <a:noFill/>
        </p:spPr>
        <p:txBody>
          <a:bodyPr wrap="square" lIns="0" rIns="0" tIns="0" bIns="0" anchor="t">
            <a:spAutoFit/>
          </a:bodyPr>
          <a:lstStyle/>
          <a:p>
            <a:pPr algn="l">
              <a:spcAft>
                <a:spcPts val="300"/>
              </a:spcAft>
            </a:pPr>
            <a:r>
              <a:rPr sz="1050" b="1">
                <a:solidFill>
                  <a:srgbClr val="1655D1"/>
                </a:solidFill>
                <a:latin typeface="Arial"/>
              </a:rPr>
              <a:t>WHAT YOU'LL DO</a:t>
            </a:r>
          </a:p>
        </p:txBody>
      </p:sp>
      <p:sp>
        <p:nvSpPr>
          <p:cNvPr id="16" name="TextBox 15"/>
          <p:cNvSpPr txBox="1"/>
          <p:nvPr/>
        </p:nvSpPr>
        <p:spPr>
          <a:xfrm>
            <a:off x="950976"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Assess uncertainty and reversibility, tailor predictive and adaptive controls, define the Definition of Done, quality metrics, review cadence, WIP limits and evidence rules.</a:t>
            </a:r>
          </a:p>
        </p:txBody>
      </p:sp>
      <p:sp>
        <p:nvSpPr>
          <p:cNvPr id="17" name="Rounded Rectangle 16"/>
          <p:cNvSpPr/>
          <p:nvPr/>
        </p:nvSpPr>
        <p:spPr>
          <a:xfrm>
            <a:off x="4389120"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89120" y="3218688"/>
            <a:ext cx="341985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90288" y="3401568"/>
            <a:ext cx="3017520" cy="274320"/>
          </a:xfrm>
          <a:prstGeom prst="rect">
            <a:avLst/>
          </a:prstGeom>
          <a:noFill/>
        </p:spPr>
        <p:txBody>
          <a:bodyPr wrap="square" lIns="0" rIns="0" tIns="0" bIns="0" anchor="t">
            <a:spAutoFit/>
          </a:bodyPr>
          <a:lstStyle/>
          <a:p>
            <a:pPr algn="l">
              <a:spcAft>
                <a:spcPts val="300"/>
              </a:spcAft>
            </a:pPr>
            <a:r>
              <a:rPr sz="1050" b="1">
                <a:solidFill>
                  <a:srgbClr val="0F9D8A"/>
                </a:solidFill>
                <a:latin typeface="Arial"/>
              </a:rPr>
              <a:t>YOU'LL PRODUCE</a:t>
            </a:r>
          </a:p>
        </p:txBody>
      </p:sp>
      <p:sp>
        <p:nvSpPr>
          <p:cNvPr id="20" name="TextBox 19"/>
          <p:cNvSpPr txBox="1"/>
          <p:nvPr/>
        </p:nvSpPr>
        <p:spPr>
          <a:xfrm>
            <a:off x="4590288"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A documented hybrid approach, phase and iteration rhythm, quality management plan, Definition of Done, Kanban policy and measurement plan.</a:t>
            </a:r>
          </a:p>
        </p:txBody>
      </p:sp>
      <p:sp>
        <p:nvSpPr>
          <p:cNvPr id="21" name="Rounded Rectangle 20"/>
          <p:cNvSpPr/>
          <p:nvPr/>
        </p:nvSpPr>
        <p:spPr>
          <a:xfrm>
            <a:off x="8028431"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28431" y="3218688"/>
            <a:ext cx="3419856"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0" y="3401568"/>
            <a:ext cx="3017520" cy="274320"/>
          </a:xfrm>
          <a:prstGeom prst="rect">
            <a:avLst/>
          </a:prstGeom>
          <a:noFill/>
        </p:spPr>
        <p:txBody>
          <a:bodyPr wrap="square" lIns="0" rIns="0" tIns="0" bIns="0" anchor="t">
            <a:spAutoFit/>
          </a:bodyPr>
          <a:lstStyle/>
          <a:p>
            <a:pPr algn="l">
              <a:spcAft>
                <a:spcPts val="300"/>
              </a:spcAft>
            </a:pPr>
            <a:r>
              <a:rPr sz="1050" b="1">
                <a:solidFill>
                  <a:srgbClr val="F59E0B"/>
                </a:solidFill>
                <a:latin typeface="Arial"/>
              </a:rPr>
              <a:t>DONE WHEN</a:t>
            </a:r>
          </a:p>
        </p:txBody>
      </p:sp>
      <p:sp>
        <p:nvSpPr>
          <p:cNvPr id="24" name="TextBox 23"/>
          <p:cNvSpPr txBox="1"/>
          <p:nvPr/>
        </p:nvSpPr>
        <p:spPr>
          <a:xfrm>
            <a:off x="8229600"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The approach matches uncertainty, quality is measurable before work begins, WIP and evidence rules are explicit, and predictive/adaptive controls do not contradict one another.</a:t>
            </a:r>
          </a:p>
        </p:txBody>
      </p:sp>
      <p:sp>
        <p:nvSpPr>
          <p:cNvPr id="25" name="Rounded Rectangle 24"/>
          <p:cNvSpPr/>
          <p:nvPr/>
        </p:nvSpPr>
        <p:spPr>
          <a:xfrm>
            <a:off x="749808" y="5486400"/>
            <a:ext cx="10698480" cy="713232"/>
          </a:xfrm>
          <a:prstGeom prst="roundRect">
            <a:avLst>
              <a:gd name="adj" fmla="val 8000"/>
            </a:avLst>
          </a:prstGeom>
          <a:solidFill>
            <a:srgbClr val="FFFFFF"/>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577840"/>
            <a:ext cx="10195560" cy="256032"/>
          </a:xfrm>
          <a:prstGeom prst="rect">
            <a:avLst/>
          </a:prstGeom>
          <a:noFill/>
        </p:spPr>
        <p:txBody>
          <a:bodyPr wrap="square" lIns="0" rIns="0" tIns="0" bIns="0" anchor="t">
            <a:spAutoFit/>
          </a:bodyPr>
          <a:lstStyle/>
          <a:p>
            <a:pPr algn="l">
              <a:spcAft>
                <a:spcPts val="300"/>
              </a:spcAft>
            </a:pPr>
            <a:r>
              <a:rPr sz="1100" b="1">
                <a:solidFill>
                  <a:srgbClr val="131B2A"/>
                </a:solidFill>
                <a:latin typeface="Arial"/>
              </a:rPr>
              <a:t>Tool: Delivery Approach Canvas, Quality Plan and Kanban Board</a:t>
            </a:r>
          </a:p>
        </p:txBody>
      </p:sp>
      <p:sp>
        <p:nvSpPr>
          <p:cNvPr id="27" name="TextBox 26"/>
          <p:cNvSpPr txBox="1"/>
          <p:nvPr/>
        </p:nvSpPr>
        <p:spPr>
          <a:xfrm>
            <a:off x="960120" y="5843016"/>
            <a:ext cx="10195560" cy="219456"/>
          </a:xfrm>
          <a:prstGeom prst="rect">
            <a:avLst/>
          </a:prstGeom>
          <a:noFill/>
        </p:spPr>
        <p:txBody>
          <a:bodyPr wrap="square" lIns="0" rIns="0" tIns="0" bIns="0" anchor="t">
            <a:spAutoFit/>
          </a:bodyPr>
          <a:lstStyle/>
          <a:p>
            <a:pPr algn="l">
              <a:spcAft>
                <a:spcPts val="300"/>
              </a:spcAft>
            </a:pPr>
            <a:r>
              <a:rPr sz="950" b="0">
                <a:solidFill>
                  <a:srgbClr val="5F6B7A"/>
                </a:solidFill>
                <a:latin typeface="Arial"/>
              </a:rPr>
              <a:t>Full procedure, evidence fields and acceptance criteria: Learner Guide and Activity 6 folder.</a:t>
            </a:r>
          </a:p>
        </p:txBody>
      </p:sp>
      <p:sp>
        <p:nvSpPr>
          <p:cNvPr id="28" name="TextBox 27"/>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9" name="TextBox 28"/>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Activity 6 · LO3</a:t>
            </a:r>
          </a:p>
        </p:txBody>
      </p:sp>
      <p:sp>
        <p:nvSpPr>
          <p:cNvPr id="30" name="TextBox 29"/>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97</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703CC3"/>
                </a:solidFill>
                <a:latin typeface="Arial"/>
              </a:rPr>
              <a:t>TOPIC 03 · ACTIVITY DEBRIEF</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Debrief — Activity 6: What It Proves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1328928"/>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1024128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1</a:t>
            </a:r>
          </a:p>
        </p:txBody>
      </p:sp>
      <p:sp>
        <p:nvSpPr>
          <p:cNvPr id="10" name="TextBox 9"/>
          <p:cNvSpPr txBox="1"/>
          <p:nvPr/>
        </p:nvSpPr>
        <p:spPr>
          <a:xfrm>
            <a:off x="1005840" y="2313432"/>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Hybrid is intentional tailoring, not running two incompatible systems in parallel.</a:t>
            </a:r>
          </a:p>
        </p:txBody>
      </p:sp>
      <p:sp>
        <p:nvSpPr>
          <p:cNvPr id="11" name="Rounded Rectangle 10"/>
          <p:cNvSpPr/>
          <p:nvPr/>
        </p:nvSpPr>
        <p:spPr>
          <a:xfrm>
            <a:off x="749808" y="3340608"/>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 y="3340608"/>
            <a:ext cx="91440" cy="13289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505200"/>
            <a:ext cx="1024128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2</a:t>
            </a:r>
          </a:p>
        </p:txBody>
      </p:sp>
      <p:sp>
        <p:nvSpPr>
          <p:cNvPr id="14" name="TextBox 13"/>
          <p:cNvSpPr txBox="1"/>
          <p:nvPr/>
        </p:nvSpPr>
        <p:spPr>
          <a:xfrm>
            <a:off x="1005840" y="3870960"/>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Quality must be designed into the workflow before it is inspected at the end.</a:t>
            </a:r>
          </a:p>
        </p:txBody>
      </p:sp>
      <p:sp>
        <p:nvSpPr>
          <p:cNvPr id="15" name="Rounded Rectangle 14"/>
          <p:cNvSpPr/>
          <p:nvPr/>
        </p:nvSpPr>
        <p:spPr>
          <a:xfrm>
            <a:off x="749808" y="4898136"/>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898136"/>
            <a:ext cx="91440" cy="1328928"/>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5062728"/>
            <a:ext cx="1024128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3</a:t>
            </a:r>
          </a:p>
        </p:txBody>
      </p:sp>
      <p:sp>
        <p:nvSpPr>
          <p:cNvPr id="18" name="TextBox 17"/>
          <p:cNvSpPr txBox="1"/>
          <p:nvPr/>
        </p:nvSpPr>
        <p:spPr>
          <a:xfrm>
            <a:off x="1005840" y="5428488"/>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 tool earns its place only when it changes a decision or behaviour.</a:t>
            </a:r>
          </a:p>
        </p:txBody>
      </p:sp>
      <p:sp>
        <p:nvSpPr>
          <p:cNvPr id="19" name="TextBox 1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0" name="TextBox 1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03 · ACTIVITY DEBRIEF</a:t>
            </a:r>
          </a:p>
        </p:txBody>
      </p:sp>
      <p:sp>
        <p:nvSpPr>
          <p:cNvPr id="21" name="TextBox 2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98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03 · TOOL-BASED PRACTICE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Activity 10 Tool Pack</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2956559"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35 Check Sheets</a:t>
            </a:r>
          </a:p>
        </p:txBody>
      </p:sp>
      <p:sp>
        <p:nvSpPr>
          <p:cNvPr id="10" name="TextBox 9"/>
          <p:cNvSpPr txBox="1"/>
          <p:nvPr/>
        </p:nvSpPr>
        <p:spPr>
          <a:xfrm>
            <a:off x="100584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XLSX · editable project tool</a:t>
            </a:r>
          </a:p>
        </p:txBody>
      </p:sp>
      <p:sp>
        <p:nvSpPr>
          <p:cNvPr id="11" name="Rounded Rectangle 10"/>
          <p:cNvSpPr/>
          <p:nvPr/>
        </p:nvSpPr>
        <p:spPr>
          <a:xfrm>
            <a:off x="439216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92167"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8200" y="1947672"/>
            <a:ext cx="2956559"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37 Ishikawa Diagram</a:t>
            </a:r>
          </a:p>
        </p:txBody>
      </p:sp>
      <p:sp>
        <p:nvSpPr>
          <p:cNvPr id="14" name="TextBox 13"/>
          <p:cNvSpPr txBox="1"/>
          <p:nvPr/>
        </p:nvSpPr>
        <p:spPr>
          <a:xfrm>
            <a:off x="464820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XLSX · editable project tool</a:t>
            </a:r>
          </a:p>
        </p:txBody>
      </p:sp>
      <p:sp>
        <p:nvSpPr>
          <p:cNvPr id="15" name="Rounded Rectangle 14"/>
          <p:cNvSpPr/>
          <p:nvPr/>
        </p:nvSpPr>
        <p:spPr>
          <a:xfrm>
            <a:off x="803452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34527" y="1783080"/>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559" y="1947672"/>
            <a:ext cx="2956559"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38 Five Whys</a:t>
            </a:r>
          </a:p>
        </p:txBody>
      </p:sp>
      <p:sp>
        <p:nvSpPr>
          <p:cNvPr id="18" name="TextBox 17"/>
          <p:cNvSpPr txBox="1"/>
          <p:nvPr/>
        </p:nvSpPr>
        <p:spPr>
          <a:xfrm>
            <a:off x="8290559"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XLSX · editable project tool</a:t>
            </a:r>
          </a:p>
        </p:txBody>
      </p:sp>
      <p:sp>
        <p:nvSpPr>
          <p:cNvPr id="19" name="Rounded Rectangle 18"/>
          <p:cNvSpPr/>
          <p:nvPr/>
        </p:nvSpPr>
        <p:spPr>
          <a:xfrm>
            <a:off x="2570988"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7098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27020" y="4283964"/>
            <a:ext cx="2956559"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36 Pareto Principle Template</a:t>
            </a:r>
          </a:p>
        </p:txBody>
      </p:sp>
      <p:sp>
        <p:nvSpPr>
          <p:cNvPr id="22" name="TextBox 21"/>
          <p:cNvSpPr txBox="1"/>
          <p:nvPr/>
        </p:nvSpPr>
        <p:spPr>
          <a:xfrm>
            <a:off x="282702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XLSX · editable project tool</a:t>
            </a:r>
          </a:p>
        </p:txBody>
      </p:sp>
      <p:sp>
        <p:nvSpPr>
          <p:cNvPr id="23" name="Rounded Rectangle 22"/>
          <p:cNvSpPr/>
          <p:nvPr/>
        </p:nvSpPr>
        <p:spPr>
          <a:xfrm>
            <a:off x="6213348"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3348" y="4119372"/>
            <a:ext cx="91440" cy="2107692"/>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283964"/>
            <a:ext cx="2956559" cy="438912"/>
          </a:xfrm>
          <a:prstGeom prst="rect">
            <a:avLst/>
          </a:prstGeom>
          <a:noFill/>
        </p:spPr>
        <p:txBody>
          <a:bodyPr wrap="square" lIns="0" rIns="0" tIns="0" bIns="0" anchor="t">
            <a:spAutoFit/>
          </a:bodyPr>
          <a:lstStyle/>
          <a:p>
            <a:pPr algn="l">
              <a:spcAft>
                <a:spcPts val="300"/>
              </a:spcAft>
            </a:pPr>
            <a:r>
              <a:rPr sz="1300" b="1">
                <a:solidFill>
                  <a:srgbClr val="1A7F4B"/>
                </a:solidFill>
                <a:latin typeface="Arial"/>
              </a:rPr>
              <a:t>34 Control Chart</a:t>
            </a:r>
          </a:p>
        </p:txBody>
      </p:sp>
      <p:sp>
        <p:nvSpPr>
          <p:cNvPr id="26" name="TextBox 25"/>
          <p:cNvSpPr txBox="1"/>
          <p:nvPr/>
        </p:nvSpPr>
        <p:spPr>
          <a:xfrm>
            <a:off x="646938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XLSX · editable project tool</a:t>
            </a:r>
          </a:p>
        </p:txBody>
      </p:sp>
      <p:sp>
        <p:nvSpPr>
          <p:cNvPr id="27" name="TextBox 26"/>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8" name="TextBox 27"/>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03 · TOOL-BASED PRACTICE</a:t>
            </a:r>
          </a:p>
        </p:txBody>
      </p:sp>
      <p:sp>
        <p:nvSpPr>
          <p:cNvPr id="29" name="TextBox 28"/>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99</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03 · HANDS-ON ACTIVITY</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Diagnose the Pilot Quality Failure</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034272" y="384048"/>
            <a:ext cx="2377440" cy="402336"/>
          </a:xfrm>
          <a:prstGeom prst="roundRect">
            <a:avLst>
              <a:gd name="adj" fmla="val 8000"/>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34272" y="384048"/>
            <a:ext cx="2377440" cy="402336"/>
          </a:xfrm>
          <a:prstGeom prst="rect">
            <a:avLst/>
          </a:prstGeom>
          <a:noFill/>
        </p:spPr>
        <p:txBody>
          <a:bodyPr wrap="square" lIns="0" rIns="0" tIns="0" bIns="0" anchor="ctr">
            <a:spAutoFit/>
          </a:bodyPr>
          <a:lstStyle/>
          <a:p>
            <a:pPr algn="ctr">
              <a:spcAft>
                <a:spcPts val="300"/>
              </a:spcAft>
            </a:pPr>
            <a:r>
              <a:rPr sz="1050" b="1">
                <a:solidFill>
                  <a:srgbClr val="FFFFFF"/>
                </a:solidFill>
                <a:latin typeface="Arial"/>
              </a:rPr>
              <a:t>ACTIVITY 10 · 40 MIN</a:t>
            </a:r>
          </a:p>
        </p:txBody>
      </p:sp>
      <p:sp>
        <p:nvSpPr>
          <p:cNvPr id="9" name="Rounded Rectangle 8"/>
          <p:cNvSpPr/>
          <p:nvPr/>
        </p:nvSpPr>
        <p:spPr>
          <a:xfrm>
            <a:off x="749808" y="1773936"/>
            <a:ext cx="10698480" cy="12344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773936"/>
            <a:ext cx="91440" cy="123444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874519"/>
            <a:ext cx="10149840" cy="256032"/>
          </a:xfrm>
          <a:prstGeom prst="rect">
            <a:avLst/>
          </a:prstGeom>
          <a:noFill/>
        </p:spPr>
        <p:txBody>
          <a:bodyPr wrap="square" lIns="0" rIns="0" tIns="0" bIns="0" anchor="t">
            <a:spAutoFit/>
          </a:bodyPr>
          <a:lstStyle/>
          <a:p>
            <a:pPr algn="l">
              <a:spcAft>
                <a:spcPts val="300"/>
              </a:spcAft>
            </a:pPr>
            <a:r>
              <a:rPr sz="1050" b="1">
                <a:solidFill>
                  <a:srgbClr val="703CC3"/>
                </a:solidFill>
                <a:latin typeface="Arial"/>
              </a:rPr>
              <a:t>THE SITUATION</a:t>
            </a:r>
          </a:p>
        </p:txBody>
      </p:sp>
      <p:sp>
        <p:nvSpPr>
          <p:cNvPr id="12" name="TextBox 11"/>
          <p:cNvSpPr txBox="1"/>
          <p:nvPr/>
        </p:nvSpPr>
        <p:spPr>
          <a:xfrm>
            <a:off x="1005840" y="2139696"/>
            <a:ext cx="10149840" cy="731520"/>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During testing, only 82% of orders are ready on time and pick accuracy is 94%. The vendor blames store staff; store staff blame inventory updates. The sponsor wants action before facts and hypotheses are separated.</a:t>
            </a:r>
          </a:p>
        </p:txBody>
      </p:sp>
      <p:sp>
        <p:nvSpPr>
          <p:cNvPr id="13" name="Rounded Rectangle 12"/>
          <p:cNvSpPr/>
          <p:nvPr/>
        </p:nvSpPr>
        <p:spPr>
          <a:xfrm>
            <a:off x="749808"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9808" y="3218688"/>
            <a:ext cx="3419856" cy="9144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 y="3401568"/>
            <a:ext cx="3017520" cy="274320"/>
          </a:xfrm>
          <a:prstGeom prst="rect">
            <a:avLst/>
          </a:prstGeom>
          <a:noFill/>
        </p:spPr>
        <p:txBody>
          <a:bodyPr wrap="square" lIns="0" rIns="0" tIns="0" bIns="0" anchor="t">
            <a:spAutoFit/>
          </a:bodyPr>
          <a:lstStyle/>
          <a:p>
            <a:pPr algn="l">
              <a:spcAft>
                <a:spcPts val="300"/>
              </a:spcAft>
            </a:pPr>
            <a:r>
              <a:rPr sz="1050" b="1">
                <a:solidFill>
                  <a:srgbClr val="1655D1"/>
                </a:solidFill>
                <a:latin typeface="Arial"/>
              </a:rPr>
              <a:t>WHAT YOU'LL DO</a:t>
            </a:r>
          </a:p>
        </p:txBody>
      </p:sp>
      <p:sp>
        <p:nvSpPr>
          <p:cNvPr id="16" name="TextBox 15"/>
          <p:cNvSpPr txBox="1"/>
          <p:nvPr/>
        </p:nvSpPr>
        <p:spPr>
          <a:xfrm>
            <a:off x="950976"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Reconcile defect data, broaden possible causes, test a causal chain, prioritise the vital few, interpret process behaviour and design one measurable corrective experiment.</a:t>
            </a:r>
          </a:p>
        </p:txBody>
      </p:sp>
      <p:sp>
        <p:nvSpPr>
          <p:cNvPr id="17" name="Rounded Rectangle 16"/>
          <p:cNvSpPr/>
          <p:nvPr/>
        </p:nvSpPr>
        <p:spPr>
          <a:xfrm>
            <a:off x="4389120"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89120" y="3218688"/>
            <a:ext cx="341985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90288" y="3401568"/>
            <a:ext cx="3017520" cy="274320"/>
          </a:xfrm>
          <a:prstGeom prst="rect">
            <a:avLst/>
          </a:prstGeom>
          <a:noFill/>
        </p:spPr>
        <p:txBody>
          <a:bodyPr wrap="square" lIns="0" rIns="0" tIns="0" bIns="0" anchor="t">
            <a:spAutoFit/>
          </a:bodyPr>
          <a:lstStyle/>
          <a:p>
            <a:pPr algn="l">
              <a:spcAft>
                <a:spcPts val="300"/>
              </a:spcAft>
            </a:pPr>
            <a:r>
              <a:rPr sz="1050" b="1">
                <a:solidFill>
                  <a:srgbClr val="0F9D8A"/>
                </a:solidFill>
                <a:latin typeface="Arial"/>
              </a:rPr>
              <a:t>YOU'LL PRODUCE</a:t>
            </a:r>
          </a:p>
        </p:txBody>
      </p:sp>
      <p:sp>
        <p:nvSpPr>
          <p:cNvPr id="20" name="TextBox 19"/>
          <p:cNvSpPr txBox="1"/>
          <p:nvPr/>
        </p:nvSpPr>
        <p:spPr>
          <a:xfrm>
            <a:off x="4590288"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A check sheet, fishbone, five-whys chain, Pareto chart, control-chart interpretation and SMART corrective experiment.</a:t>
            </a:r>
          </a:p>
        </p:txBody>
      </p:sp>
      <p:sp>
        <p:nvSpPr>
          <p:cNvPr id="21" name="Rounded Rectangle 20"/>
          <p:cNvSpPr/>
          <p:nvPr/>
        </p:nvSpPr>
        <p:spPr>
          <a:xfrm>
            <a:off x="8028431"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28431" y="3218688"/>
            <a:ext cx="3419856"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0" y="3401568"/>
            <a:ext cx="3017520" cy="274320"/>
          </a:xfrm>
          <a:prstGeom prst="rect">
            <a:avLst/>
          </a:prstGeom>
          <a:noFill/>
        </p:spPr>
        <p:txBody>
          <a:bodyPr wrap="square" lIns="0" rIns="0" tIns="0" bIns="0" anchor="t">
            <a:spAutoFit/>
          </a:bodyPr>
          <a:lstStyle/>
          <a:p>
            <a:pPr algn="l">
              <a:spcAft>
                <a:spcPts val="300"/>
              </a:spcAft>
            </a:pPr>
            <a:r>
              <a:rPr sz="1050" b="1">
                <a:solidFill>
                  <a:srgbClr val="F59E0B"/>
                </a:solidFill>
                <a:latin typeface="Arial"/>
              </a:rPr>
              <a:t>DONE WHEN</a:t>
            </a:r>
          </a:p>
        </p:txBody>
      </p:sp>
      <p:sp>
        <p:nvSpPr>
          <p:cNvPr id="24" name="TextBox 23"/>
          <p:cNvSpPr txBox="1"/>
          <p:nvPr/>
        </p:nvSpPr>
        <p:spPr>
          <a:xfrm>
            <a:off x="8229600"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Data totals reconcile, Pareto reaches 100%, the causal chain is actionable, the control interpretation matches the signal and the experiment has an owner and verification date.</a:t>
            </a:r>
          </a:p>
        </p:txBody>
      </p:sp>
      <p:sp>
        <p:nvSpPr>
          <p:cNvPr id="25" name="Rounded Rectangle 24"/>
          <p:cNvSpPr/>
          <p:nvPr/>
        </p:nvSpPr>
        <p:spPr>
          <a:xfrm>
            <a:off x="749808" y="5486400"/>
            <a:ext cx="10698480" cy="713232"/>
          </a:xfrm>
          <a:prstGeom prst="roundRect">
            <a:avLst>
              <a:gd name="adj" fmla="val 8000"/>
            </a:avLst>
          </a:prstGeom>
          <a:solidFill>
            <a:srgbClr val="FFFFFF"/>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577840"/>
            <a:ext cx="10195560" cy="256032"/>
          </a:xfrm>
          <a:prstGeom prst="rect">
            <a:avLst/>
          </a:prstGeom>
          <a:noFill/>
        </p:spPr>
        <p:txBody>
          <a:bodyPr wrap="square" lIns="0" rIns="0" tIns="0" bIns="0" anchor="t">
            <a:spAutoFit/>
          </a:bodyPr>
          <a:lstStyle/>
          <a:p>
            <a:pPr algn="l">
              <a:spcAft>
                <a:spcPts val="300"/>
              </a:spcAft>
            </a:pPr>
            <a:r>
              <a:rPr sz="1100" b="1">
                <a:solidFill>
                  <a:srgbClr val="131B2A"/>
                </a:solidFill>
                <a:latin typeface="Arial"/>
              </a:rPr>
              <a:t>Tool: Check Sheet, Fishbone, Five Whys, Pareto and Control Chart</a:t>
            </a:r>
          </a:p>
        </p:txBody>
      </p:sp>
      <p:sp>
        <p:nvSpPr>
          <p:cNvPr id="27" name="TextBox 26"/>
          <p:cNvSpPr txBox="1"/>
          <p:nvPr/>
        </p:nvSpPr>
        <p:spPr>
          <a:xfrm>
            <a:off x="960120" y="5843016"/>
            <a:ext cx="10195560" cy="219456"/>
          </a:xfrm>
          <a:prstGeom prst="rect">
            <a:avLst/>
          </a:prstGeom>
          <a:noFill/>
        </p:spPr>
        <p:txBody>
          <a:bodyPr wrap="square" lIns="0" rIns="0" tIns="0" bIns="0" anchor="t">
            <a:spAutoFit/>
          </a:bodyPr>
          <a:lstStyle/>
          <a:p>
            <a:pPr algn="l">
              <a:spcAft>
                <a:spcPts val="300"/>
              </a:spcAft>
            </a:pPr>
            <a:r>
              <a:rPr sz="950" b="0">
                <a:solidFill>
                  <a:srgbClr val="5F6B7A"/>
                </a:solidFill>
                <a:latin typeface="Arial"/>
              </a:rPr>
              <a:t>Full procedure, evidence fields and acceptance criteria: Learner Guide and Activity 10 folder.</a:t>
            </a:r>
          </a:p>
        </p:txBody>
      </p:sp>
      <p:sp>
        <p:nvSpPr>
          <p:cNvPr id="28" name="TextBox 27"/>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9" name="TextBox 28"/>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Activity 10 · LO3</a:t>
            </a:r>
          </a:p>
        </p:txBody>
      </p:sp>
      <p:sp>
        <p:nvSpPr>
          <p:cNvPr id="30" name="TextBox 29"/>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100</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703CC3"/>
                </a:solidFill>
                <a:latin typeface="Arial"/>
              </a:rPr>
              <a:t>TOPIC 03 · ACTIVITY DEBRIEF</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Debrief — Activity 10: What It Proves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1328928"/>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1024128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1</a:t>
            </a:r>
          </a:p>
        </p:txBody>
      </p:sp>
      <p:sp>
        <p:nvSpPr>
          <p:cNvPr id="10" name="TextBox 9"/>
          <p:cNvSpPr txBox="1"/>
          <p:nvPr/>
        </p:nvSpPr>
        <p:spPr>
          <a:xfrm>
            <a:off x="1005840" y="2313432"/>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Fishbone broadens, Five Whys deepens and Pareto prioritises.</a:t>
            </a:r>
          </a:p>
        </p:txBody>
      </p:sp>
      <p:sp>
        <p:nvSpPr>
          <p:cNvPr id="11" name="Rounded Rectangle 10"/>
          <p:cNvSpPr/>
          <p:nvPr/>
        </p:nvSpPr>
        <p:spPr>
          <a:xfrm>
            <a:off x="749808" y="3340608"/>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 y="3340608"/>
            <a:ext cx="91440" cy="13289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505200"/>
            <a:ext cx="1024128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2</a:t>
            </a:r>
          </a:p>
        </p:txBody>
      </p:sp>
      <p:sp>
        <p:nvSpPr>
          <p:cNvPr id="14" name="TextBox 13"/>
          <p:cNvSpPr txBox="1"/>
          <p:nvPr/>
        </p:nvSpPr>
        <p:spPr>
          <a:xfrm>
            <a:off x="1005840" y="3870960"/>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Control limits describe process behaviour; specifications describe customer need.</a:t>
            </a:r>
          </a:p>
        </p:txBody>
      </p:sp>
      <p:sp>
        <p:nvSpPr>
          <p:cNvPr id="15" name="Rounded Rectangle 14"/>
          <p:cNvSpPr/>
          <p:nvPr/>
        </p:nvSpPr>
        <p:spPr>
          <a:xfrm>
            <a:off x="749808" y="4898136"/>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898136"/>
            <a:ext cx="91440" cy="1328928"/>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5062728"/>
            <a:ext cx="1024128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3</a:t>
            </a:r>
          </a:p>
        </p:txBody>
      </p:sp>
      <p:sp>
        <p:nvSpPr>
          <p:cNvPr id="18" name="TextBox 17"/>
          <p:cNvSpPr txBox="1"/>
          <p:nvPr/>
        </p:nvSpPr>
        <p:spPr>
          <a:xfrm>
            <a:off x="1005840" y="5428488"/>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Improvement is project work only when funded, owned and verified.</a:t>
            </a:r>
          </a:p>
        </p:txBody>
      </p:sp>
      <p:sp>
        <p:nvSpPr>
          <p:cNvPr id="19" name="TextBox 1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0" name="TextBox 1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03 · ACTIVITY DEBRIEF</a:t>
            </a:r>
          </a:p>
        </p:txBody>
      </p:sp>
      <p:sp>
        <p:nvSpPr>
          <p:cNvPr id="21" name="TextBox 2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101</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A7F4B"/>
                </a:solidFill>
                <a:latin typeface="Arial"/>
              </a:rPr>
              <a:t>TOPIC 03 · A3, K3 · LO3</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Topic 03 Recap</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Decision</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 method defines how work is managed; a tool makes information visible. Choose both for the decision needed.</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Method</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Prevention and appraisal are usually cheaper than internal and external failure.</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Evidence</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 check sheet, fishbone, five-whys chain, Pareto chart, control-chart interpretation and SMART corrective experiment.</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Capability</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Use evidence and root-cause tools to select a controlled corrective experiment (A3, K3).</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03 · A3, K3 · LO3</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102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58368" y="1554480"/>
            <a:ext cx="10881360" cy="36118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554480"/>
            <a:ext cx="128016" cy="361188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70432" y="1901952"/>
            <a:ext cx="7955279" cy="365760"/>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TOPIC 04 · A4, K4 · LO4</a:t>
            </a:r>
          </a:p>
        </p:txBody>
      </p:sp>
      <p:sp>
        <p:nvSpPr>
          <p:cNvPr id="6" name="TextBox 5"/>
          <p:cNvSpPr txBox="1"/>
          <p:nvPr/>
        </p:nvSpPr>
        <p:spPr>
          <a:xfrm>
            <a:off x="1170432" y="2395728"/>
            <a:ext cx="9052560" cy="914400"/>
          </a:xfrm>
          <a:prstGeom prst="rect">
            <a:avLst/>
          </a:prstGeom>
          <a:noFill/>
        </p:spPr>
        <p:txBody>
          <a:bodyPr wrap="square" lIns="0" rIns="0" tIns="0" bIns="0" anchor="ctr">
            <a:spAutoFit/>
          </a:bodyPr>
          <a:lstStyle/>
          <a:p>
            <a:pPr algn="l">
              <a:spcAft>
                <a:spcPts val="300"/>
              </a:spcAft>
            </a:pPr>
            <a:r>
              <a:rPr sz="3400" b="1">
                <a:solidFill>
                  <a:srgbClr val="131B2A"/>
                </a:solidFill>
                <a:latin typeface="Arial"/>
              </a:rPr>
              <a:t>Manage Project Risk</a:t>
            </a:r>
          </a:p>
        </p:txBody>
      </p:sp>
      <p:sp>
        <p:nvSpPr>
          <p:cNvPr id="7" name="TextBox 6"/>
          <p:cNvSpPr txBox="1"/>
          <p:nvPr/>
        </p:nvSpPr>
        <p:spPr>
          <a:xfrm>
            <a:off x="1170432" y="3474720"/>
            <a:ext cx="9052560" cy="777240"/>
          </a:xfrm>
          <a:prstGeom prst="rect">
            <a:avLst/>
          </a:prstGeom>
          <a:noFill/>
        </p:spPr>
        <p:txBody>
          <a:bodyPr wrap="square" lIns="0" rIns="0" tIns="0" bIns="0" anchor="t">
            <a:spAutoFit/>
          </a:bodyPr>
          <a:lstStyle/>
          <a:p>
            <a:pPr algn="l">
              <a:spcAft>
                <a:spcPts val="300"/>
              </a:spcAft>
            </a:pPr>
            <a:r>
              <a:rPr sz="1600" b="0">
                <a:solidFill>
                  <a:srgbClr val="5F6B7A"/>
                </a:solidFill>
                <a:latin typeface="Arial"/>
              </a:rPr>
              <a:t>Identify · assess · respond · contingency · monitor</a:t>
            </a:r>
          </a:p>
        </p:txBody>
      </p:sp>
      <p:sp>
        <p:nvSpPr>
          <p:cNvPr id="8" name="TextBox 7"/>
          <p:cNvSpPr txBox="1"/>
          <p:nvPr/>
        </p:nvSpPr>
        <p:spPr>
          <a:xfrm>
            <a:off x="9308592" y="594360"/>
            <a:ext cx="1920240" cy="1097280"/>
          </a:xfrm>
          <a:prstGeom prst="rect">
            <a:avLst/>
          </a:prstGeom>
          <a:noFill/>
        </p:spPr>
        <p:txBody>
          <a:bodyPr wrap="square" lIns="0" rIns="0" tIns="0" bIns="0" anchor="t">
            <a:spAutoFit/>
          </a:bodyPr>
          <a:lstStyle/>
          <a:p>
            <a:pPr algn="r">
              <a:spcAft>
                <a:spcPts val="300"/>
              </a:spcAft>
            </a:pPr>
            <a:r>
              <a:rPr sz="6200" b="1">
                <a:solidFill>
                  <a:srgbClr val="DAE2EC"/>
                </a:solidFill>
                <a:latin typeface="Arial"/>
              </a:rPr>
              <a:t>04</a:t>
            </a:r>
          </a:p>
        </p:txBody>
      </p:sp>
      <p:sp>
        <p:nvSpPr>
          <p:cNvPr id="9" name="TextBox 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10" name="TextBox 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04 · A4, K4 · LO4</a:t>
            </a:r>
          </a:p>
        </p:txBody>
      </p:sp>
      <p:sp>
        <p:nvSpPr>
          <p:cNvPr id="11" name="TextBox 1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103</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F59E0B"/>
                </a:solidFill>
                <a:latin typeface="Arial"/>
              </a:rPr>
              <a:t>TOPIC 04 · CENTRAL IDEA</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Risk management buys options before they become expensive.</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847088"/>
            <a:ext cx="10698480" cy="3977639"/>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847088"/>
            <a:ext cx="128016" cy="3977639"/>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2359152"/>
            <a:ext cx="9738360" cy="2834640"/>
          </a:xfrm>
          <a:prstGeom prst="rect">
            <a:avLst/>
          </a:prstGeom>
          <a:noFill/>
        </p:spPr>
        <p:txBody>
          <a:bodyPr wrap="square" lIns="0" rIns="0" tIns="0" bIns="0" anchor="ctr">
            <a:spAutoFit/>
          </a:bodyPr>
          <a:lstStyle/>
          <a:p>
            <a:pPr algn="l">
              <a:spcAft>
                <a:spcPts val="300"/>
              </a:spcAft>
            </a:pPr>
            <a:r>
              <a:rPr sz="2400" b="1">
                <a:solidFill>
                  <a:srgbClr val="131B2A"/>
                </a:solidFill>
                <a:latin typeface="Arial"/>
              </a:rPr>
              <a:t>The register matters only when it changes funding, sequencing, ownership or contingency before a trigger becomes an issue.</a:t>
            </a:r>
          </a:p>
        </p:txBody>
      </p:sp>
      <p:sp>
        <p:nvSpPr>
          <p:cNvPr id="10" name="TextBox 9"/>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11" name="TextBox 10"/>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04 · CENTRAL IDEA</a:t>
            </a:r>
          </a:p>
        </p:txBody>
      </p:sp>
      <p:sp>
        <p:nvSpPr>
          <p:cNvPr id="12" name="TextBox 11"/>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104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04 · CONCEPT MAP</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Manage Project Risk — Core Concepts I</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01</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Risk is an uncertain event or condition with a positive or negative effect; an issue has already happened.</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02</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Write risks as cause-event-impact statements so the response targets the cause or reduces the impact.</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03</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The risk register records owner, probability, impact, exposure, triggers, response, contingency and residual risk.</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04</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Qualitative analysis prioritises quickly; quantitative analysis estimates the range of outcomes and decision value.</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04 · CONCEPT MAP</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105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04 · CONCEPT MAP</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Manage Project Risk — Core Concepts II</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05</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200" b="0">
                <a:solidFill>
                  <a:srgbClr val="131B2A"/>
                </a:solidFill>
                <a:latin typeface="Arial"/>
              </a:rPr>
              <a:t>Threat responses are avoid, mitigate, transfer, accept or escalate; opportunity responses are exploit, enhance, share, accept or escalate.</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06</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 contingency plan is triggered by an observable threshold and funded from contingency reserve.</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07</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Decision trees compare expected monetary value; tornado charts reveal which assumptions deserve the most attention.</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08</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Risk reviews are recurring decisions, not a register created once and archived.</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04 · CONCEPT MAP</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106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04 · APPLIED FRAMEWORK</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The Risk Cycle</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2008022"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1751990"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Identify</a:t>
            </a:r>
          </a:p>
        </p:txBody>
      </p:sp>
      <p:sp>
        <p:nvSpPr>
          <p:cNvPr id="11" name="TextBox 10"/>
          <p:cNvSpPr txBox="1"/>
          <p:nvPr/>
        </p:nvSpPr>
        <p:spPr>
          <a:xfrm>
            <a:off x="896112"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cause-event-impact</a:t>
            </a:r>
          </a:p>
        </p:txBody>
      </p:sp>
      <p:cxnSp>
        <p:nvCxnSpPr>
          <p:cNvPr id="12" name="Connector 11"/>
          <p:cNvCxnSpPr/>
          <p:nvPr/>
        </p:nvCxnSpPr>
        <p:spPr>
          <a:xfrm>
            <a:off x="2757830"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22422"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22422" y="1965960"/>
            <a:ext cx="2008022"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50438" y="2240279"/>
            <a:ext cx="1751990"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3050438"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Analyse</a:t>
            </a:r>
          </a:p>
        </p:txBody>
      </p:sp>
      <p:sp>
        <p:nvSpPr>
          <p:cNvPr id="17" name="TextBox 16"/>
          <p:cNvSpPr txBox="1"/>
          <p:nvPr/>
        </p:nvSpPr>
        <p:spPr>
          <a:xfrm>
            <a:off x="3068726"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probability, impact, urgency</a:t>
            </a:r>
          </a:p>
        </p:txBody>
      </p:sp>
      <p:cxnSp>
        <p:nvCxnSpPr>
          <p:cNvPr id="18" name="Connector 17"/>
          <p:cNvCxnSpPr/>
          <p:nvPr/>
        </p:nvCxnSpPr>
        <p:spPr>
          <a:xfrm>
            <a:off x="4930444"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95036"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95036" y="1965960"/>
            <a:ext cx="2008022"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23052" y="2240279"/>
            <a:ext cx="1751990"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5223052"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Plan</a:t>
            </a:r>
          </a:p>
        </p:txBody>
      </p:sp>
      <p:sp>
        <p:nvSpPr>
          <p:cNvPr id="23" name="TextBox 22"/>
          <p:cNvSpPr txBox="1"/>
          <p:nvPr/>
        </p:nvSpPr>
        <p:spPr>
          <a:xfrm>
            <a:off x="5241340"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owner, response, trigger</a:t>
            </a:r>
          </a:p>
        </p:txBody>
      </p:sp>
      <p:cxnSp>
        <p:nvCxnSpPr>
          <p:cNvPr id="24" name="Connector 23"/>
          <p:cNvCxnSpPr/>
          <p:nvPr/>
        </p:nvCxnSpPr>
        <p:spPr>
          <a:xfrm>
            <a:off x="7103059"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267651"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67651" y="1965960"/>
            <a:ext cx="2008022"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95667" y="2240279"/>
            <a:ext cx="1751990"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7395667"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Fund</a:t>
            </a:r>
          </a:p>
        </p:txBody>
      </p:sp>
      <p:sp>
        <p:nvSpPr>
          <p:cNvPr id="29" name="TextBox 28"/>
          <p:cNvSpPr txBox="1"/>
          <p:nvPr/>
        </p:nvSpPr>
        <p:spPr>
          <a:xfrm>
            <a:off x="7413955"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contingency and fallback</a:t>
            </a:r>
          </a:p>
        </p:txBody>
      </p:sp>
      <p:cxnSp>
        <p:nvCxnSpPr>
          <p:cNvPr id="30" name="Connector 29"/>
          <p:cNvCxnSpPr/>
          <p:nvPr/>
        </p:nvCxnSpPr>
        <p:spPr>
          <a:xfrm>
            <a:off x="9275673"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440265"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40265" y="1965960"/>
            <a:ext cx="2008022" cy="13716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68281" y="2240279"/>
            <a:ext cx="1751990" cy="457200"/>
          </a:xfrm>
          <a:prstGeom prst="rect">
            <a:avLst/>
          </a:prstGeom>
          <a:noFill/>
        </p:spPr>
        <p:txBody>
          <a:bodyPr wrap="square" lIns="0" rIns="0" tIns="0" bIns="0" anchor="t">
            <a:spAutoFit/>
          </a:bodyPr>
          <a:lstStyle/>
          <a:p>
            <a:pPr algn="ctr">
              <a:spcAft>
                <a:spcPts val="300"/>
              </a:spcAft>
            </a:pPr>
            <a:r>
              <a:rPr sz="1400" b="1">
                <a:solidFill>
                  <a:srgbClr val="1A7F4B"/>
                </a:solidFill>
                <a:latin typeface="Arial"/>
              </a:rPr>
              <a:t>05</a:t>
            </a:r>
          </a:p>
        </p:txBody>
      </p:sp>
      <p:sp>
        <p:nvSpPr>
          <p:cNvPr id="34" name="TextBox 33"/>
          <p:cNvSpPr txBox="1"/>
          <p:nvPr/>
        </p:nvSpPr>
        <p:spPr>
          <a:xfrm>
            <a:off x="9568281"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Monitor</a:t>
            </a:r>
          </a:p>
        </p:txBody>
      </p:sp>
      <p:sp>
        <p:nvSpPr>
          <p:cNvPr id="35" name="TextBox 34"/>
          <p:cNvSpPr txBox="1"/>
          <p:nvPr/>
        </p:nvSpPr>
        <p:spPr>
          <a:xfrm>
            <a:off x="9586569"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review residual and secondary risk</a:t>
            </a:r>
          </a:p>
        </p:txBody>
      </p:sp>
      <p:sp>
        <p:nvSpPr>
          <p:cNvPr id="36" name="Rounded Rectangle 35"/>
          <p:cNvSpPr/>
          <p:nvPr/>
        </p:nvSpPr>
        <p:spPr>
          <a:xfrm>
            <a:off x="749808" y="5303520"/>
            <a:ext cx="10698480" cy="713232"/>
          </a:xfrm>
          <a:prstGeom prst="roundRect">
            <a:avLst>
              <a:gd name="adj" fmla="val 8000"/>
            </a:avLst>
          </a:prstGeom>
          <a:solidFill>
            <a:srgbClr val="FFFFFF"/>
          </a:solidFill>
          <a:ln w="12700">
            <a:solidFill>
              <a:srgbClr val="1655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Triggered risk becomes an issue and moves into action management.</a:t>
            </a:r>
          </a:p>
        </p:txBody>
      </p:sp>
      <p:sp>
        <p:nvSpPr>
          <p:cNvPr id="38" name="TextBox 37"/>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9" name="TextBox 38"/>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04 · APPLIED FRAMEWORK</a:t>
            </a:r>
          </a:p>
        </p:txBody>
      </p:sp>
      <p:sp>
        <p:nvSpPr>
          <p:cNvPr id="40" name="TextBox 39"/>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107</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04 · DECISION TOOL</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Threat Response Choices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632460"/>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Response</a:t>
            </a:r>
          </a:p>
        </p:txBody>
      </p:sp>
      <p:sp>
        <p:nvSpPr>
          <p:cNvPr id="9" name="Rectangle 8"/>
          <p:cNvSpPr/>
          <p:nvPr/>
        </p:nvSpPr>
        <p:spPr>
          <a:xfrm>
            <a:off x="4315968" y="1810512"/>
            <a:ext cx="3566160" cy="632460"/>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What changes</a:t>
            </a:r>
          </a:p>
        </p:txBody>
      </p:sp>
      <p:sp>
        <p:nvSpPr>
          <p:cNvPr id="11" name="Rectangle 10"/>
          <p:cNvSpPr/>
          <p:nvPr/>
        </p:nvSpPr>
        <p:spPr>
          <a:xfrm>
            <a:off x="7882127" y="1810512"/>
            <a:ext cx="3566160" cy="632460"/>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Example</a:t>
            </a:r>
          </a:p>
        </p:txBody>
      </p:sp>
      <p:sp>
        <p:nvSpPr>
          <p:cNvPr id="13" name="Rectangle 12"/>
          <p:cNvSpPr/>
          <p:nvPr/>
        </p:nvSpPr>
        <p:spPr>
          <a:xfrm>
            <a:off x="74980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48869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Avoid</a:t>
            </a:r>
          </a:p>
        </p:txBody>
      </p:sp>
      <p:sp>
        <p:nvSpPr>
          <p:cNvPr id="15" name="Rectangle 14"/>
          <p:cNvSpPr/>
          <p:nvPr/>
        </p:nvSpPr>
        <p:spPr>
          <a:xfrm>
            <a:off x="431596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Remove the threat source</a:t>
            </a:r>
          </a:p>
        </p:txBody>
      </p:sp>
      <p:sp>
        <p:nvSpPr>
          <p:cNvPr id="17" name="Rectangle 16"/>
          <p:cNvSpPr/>
          <p:nvPr/>
        </p:nvSpPr>
        <p:spPr>
          <a:xfrm>
            <a:off x="7882127"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Change approach</a:t>
            </a:r>
          </a:p>
        </p:txBody>
      </p:sp>
      <p:sp>
        <p:nvSpPr>
          <p:cNvPr id="19" name="Rectangle 18"/>
          <p:cNvSpPr/>
          <p:nvPr/>
        </p:nvSpPr>
        <p:spPr>
          <a:xfrm>
            <a:off x="74980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12115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Mitigate</a:t>
            </a:r>
          </a:p>
        </p:txBody>
      </p:sp>
      <p:sp>
        <p:nvSpPr>
          <p:cNvPr id="21" name="Rectangle 20"/>
          <p:cNvSpPr/>
          <p:nvPr/>
        </p:nvSpPr>
        <p:spPr>
          <a:xfrm>
            <a:off x="431596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Reduce probability or impact</a:t>
            </a:r>
          </a:p>
        </p:txBody>
      </p:sp>
      <p:sp>
        <p:nvSpPr>
          <p:cNvPr id="23" name="Rectangle 22"/>
          <p:cNvSpPr/>
          <p:nvPr/>
        </p:nvSpPr>
        <p:spPr>
          <a:xfrm>
            <a:off x="7882127"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Prototype early</a:t>
            </a:r>
          </a:p>
        </p:txBody>
      </p:sp>
      <p:sp>
        <p:nvSpPr>
          <p:cNvPr id="25" name="Rectangle 24"/>
          <p:cNvSpPr/>
          <p:nvPr/>
        </p:nvSpPr>
        <p:spPr>
          <a:xfrm>
            <a:off x="74980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3753611"/>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Transfer</a:t>
            </a:r>
          </a:p>
        </p:txBody>
      </p:sp>
      <p:sp>
        <p:nvSpPr>
          <p:cNvPr id="27" name="Rectangle 26"/>
          <p:cNvSpPr/>
          <p:nvPr/>
        </p:nvSpPr>
        <p:spPr>
          <a:xfrm>
            <a:off x="431596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Shift financial consequence</a:t>
            </a:r>
          </a:p>
        </p:txBody>
      </p:sp>
      <p:sp>
        <p:nvSpPr>
          <p:cNvPr id="29" name="Rectangle 28"/>
          <p:cNvSpPr/>
          <p:nvPr/>
        </p:nvSpPr>
        <p:spPr>
          <a:xfrm>
            <a:off x="7882127"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Insurance / contract</a:t>
            </a:r>
          </a:p>
        </p:txBody>
      </p:sp>
      <p:sp>
        <p:nvSpPr>
          <p:cNvPr id="31" name="Rectangle 30"/>
          <p:cNvSpPr/>
          <p:nvPr/>
        </p:nvSpPr>
        <p:spPr>
          <a:xfrm>
            <a:off x="74980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38607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Accept</a:t>
            </a:r>
          </a:p>
        </p:txBody>
      </p:sp>
      <p:sp>
        <p:nvSpPr>
          <p:cNvPr id="33" name="Rectangle 32"/>
          <p:cNvSpPr/>
          <p:nvPr/>
        </p:nvSpPr>
        <p:spPr>
          <a:xfrm>
            <a:off x="431596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Monitor and prepare</a:t>
            </a:r>
          </a:p>
        </p:txBody>
      </p:sp>
      <p:sp>
        <p:nvSpPr>
          <p:cNvPr id="35" name="Rectangle 34"/>
          <p:cNvSpPr/>
          <p:nvPr/>
        </p:nvSpPr>
        <p:spPr>
          <a:xfrm>
            <a:off x="7882127"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Contingency plan</a:t>
            </a:r>
          </a:p>
        </p:txBody>
      </p:sp>
      <p:sp>
        <p:nvSpPr>
          <p:cNvPr id="37" name="Rectangle 36"/>
          <p:cNvSpPr/>
          <p:nvPr/>
        </p:nvSpPr>
        <p:spPr>
          <a:xfrm>
            <a:off x="74980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 y="501853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Escalate</a:t>
            </a:r>
          </a:p>
        </p:txBody>
      </p:sp>
      <p:sp>
        <p:nvSpPr>
          <p:cNvPr id="39" name="Rectangle 38"/>
          <p:cNvSpPr/>
          <p:nvPr/>
        </p:nvSpPr>
        <p:spPr>
          <a:xfrm>
            <a:off x="431596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25696"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Move beyond authority</a:t>
            </a:r>
          </a:p>
        </p:txBody>
      </p:sp>
      <p:sp>
        <p:nvSpPr>
          <p:cNvPr id="41" name="Rectangle 40"/>
          <p:cNvSpPr/>
          <p:nvPr/>
        </p:nvSpPr>
        <p:spPr>
          <a:xfrm>
            <a:off x="7882127"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91855"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Sponsor decision</a:t>
            </a:r>
          </a:p>
        </p:txBody>
      </p:sp>
      <p:sp>
        <p:nvSpPr>
          <p:cNvPr id="43" name="Rounded Rectangle 42"/>
          <p:cNvSpPr/>
          <p:nvPr/>
        </p:nvSpPr>
        <p:spPr>
          <a:xfrm>
            <a:off x="749808" y="5815584"/>
            <a:ext cx="10698480" cy="420624"/>
          </a:xfrm>
          <a:prstGeom prst="roundRect">
            <a:avLst>
              <a:gd name="adj" fmla="val 8000"/>
            </a:avLst>
          </a:prstGeom>
          <a:solidFill>
            <a:srgbClr val="F4F7FB"/>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Acceptance is a decision with monitoring—not forgetting the risk.</a:t>
            </a:r>
          </a:p>
        </p:txBody>
      </p:sp>
      <p:sp>
        <p:nvSpPr>
          <p:cNvPr id="45" name="TextBox 44"/>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6" name="TextBox 45"/>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04 · DECISION TOOL</a:t>
            </a:r>
          </a:p>
        </p:txBody>
      </p:sp>
      <p:sp>
        <p:nvSpPr>
          <p:cNvPr id="47" name="TextBox 46"/>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108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04 · DECISION TOOL</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Qualitative vs Quantitative Analysis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Lens</a:t>
            </a:r>
          </a:p>
        </p:txBody>
      </p:sp>
      <p:sp>
        <p:nvSpPr>
          <p:cNvPr id="9" name="Rectangle 8"/>
          <p:cNvSpPr/>
          <p:nvPr/>
        </p:nvSpPr>
        <p:spPr>
          <a:xfrm>
            <a:off x="4315968"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Qualitative</a:t>
            </a:r>
          </a:p>
        </p:txBody>
      </p:sp>
      <p:sp>
        <p:nvSpPr>
          <p:cNvPr id="11" name="Rectangle 10"/>
          <p:cNvSpPr/>
          <p:nvPr/>
        </p:nvSpPr>
        <p:spPr>
          <a:xfrm>
            <a:off x="7882127"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Quantitative</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Speed</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Fast prioritisation</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More data and effort</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Output</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Relative exposure</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Range, EMV or sensitivity</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Use</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Most project risks</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Material decision uncertainty</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Caution</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Scoring bias</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False precision</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Use quantitative analysis only where the decision value justifies the work.</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04 · DECISION TOOL</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109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F59E0B"/>
                </a:solidFill>
                <a:latin typeface="Arial"/>
              </a:rPr>
              <a:t>TOPIC 04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Risk, Issue and Assumption</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F59E0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Item</a:t>
            </a:r>
          </a:p>
        </p:txBody>
      </p:sp>
      <p:sp>
        <p:nvSpPr>
          <p:cNvPr id="9" name="Rectangle 8"/>
          <p:cNvSpPr/>
          <p:nvPr/>
        </p:nvSpPr>
        <p:spPr>
          <a:xfrm>
            <a:off x="4315968" y="1810512"/>
            <a:ext cx="3566160" cy="758952"/>
          </a:xfrm>
          <a:prstGeom prst="rect">
            <a:avLst/>
          </a:prstGeom>
          <a:solidFill>
            <a:srgbClr val="F59E0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Time orientation</a:t>
            </a:r>
          </a:p>
        </p:txBody>
      </p:sp>
      <p:sp>
        <p:nvSpPr>
          <p:cNvPr id="11" name="Rectangle 10"/>
          <p:cNvSpPr/>
          <p:nvPr/>
        </p:nvSpPr>
        <p:spPr>
          <a:xfrm>
            <a:off x="7882127" y="1810512"/>
            <a:ext cx="3566160" cy="758952"/>
          </a:xfrm>
          <a:prstGeom prst="rect">
            <a:avLst/>
          </a:prstGeom>
          <a:solidFill>
            <a:srgbClr val="F59E0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Management action</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Risk</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May happen</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Owner, trigger and response</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Issue</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Has happened</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Contain, resolve and escalate</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Assumption</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Believed true</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Validate by a date</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Constraint</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Known limit</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Plan within or change formally</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A triggered risk becomes an issue; its response owner moves from readiness to action.</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04 · REFERENCE-SOURCED DEEP DIVE</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F59E0B"/>
                </a:solidFill>
                <a:latin typeface="Arial"/>
              </a:rPr>
              <a:t>TOPIC 04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The Risk Management Cycle</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2008022"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1751990"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Plan</a:t>
            </a:r>
          </a:p>
        </p:txBody>
      </p:sp>
      <p:sp>
        <p:nvSpPr>
          <p:cNvPr id="11" name="TextBox 10"/>
          <p:cNvSpPr txBox="1"/>
          <p:nvPr/>
        </p:nvSpPr>
        <p:spPr>
          <a:xfrm>
            <a:off x="896112"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scales, thresholds and roles</a:t>
            </a:r>
          </a:p>
        </p:txBody>
      </p:sp>
      <p:cxnSp>
        <p:nvCxnSpPr>
          <p:cNvPr id="12" name="Connector 11"/>
          <p:cNvCxnSpPr/>
          <p:nvPr/>
        </p:nvCxnSpPr>
        <p:spPr>
          <a:xfrm>
            <a:off x="2757830" y="3474720"/>
            <a:ext cx="164592" cy="0"/>
          </a:xfrm>
          <a:prstGeom prst="line">
            <a:avLst/>
          </a:prstGeom>
          <a:ln w="25400">
            <a:solidFill>
              <a:srgbClr val="F59E0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22422"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22422" y="1965960"/>
            <a:ext cx="2008022"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50438" y="2240279"/>
            <a:ext cx="1751990"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3050438"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Identify</a:t>
            </a:r>
          </a:p>
        </p:txBody>
      </p:sp>
      <p:sp>
        <p:nvSpPr>
          <p:cNvPr id="17" name="TextBox 16"/>
          <p:cNvSpPr txBox="1"/>
          <p:nvPr/>
        </p:nvSpPr>
        <p:spPr>
          <a:xfrm>
            <a:off x="3068726"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threats and opportunities</a:t>
            </a:r>
          </a:p>
        </p:txBody>
      </p:sp>
      <p:cxnSp>
        <p:nvCxnSpPr>
          <p:cNvPr id="18" name="Connector 17"/>
          <p:cNvCxnSpPr/>
          <p:nvPr/>
        </p:nvCxnSpPr>
        <p:spPr>
          <a:xfrm>
            <a:off x="4930444" y="3474720"/>
            <a:ext cx="164592" cy="0"/>
          </a:xfrm>
          <a:prstGeom prst="line">
            <a:avLst/>
          </a:prstGeom>
          <a:ln w="25400">
            <a:solidFill>
              <a:srgbClr val="F59E0B"/>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95036"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95036" y="1965960"/>
            <a:ext cx="2008022"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23052" y="2240279"/>
            <a:ext cx="1751990"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5223052"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Analyse</a:t>
            </a:r>
          </a:p>
        </p:txBody>
      </p:sp>
      <p:sp>
        <p:nvSpPr>
          <p:cNvPr id="23" name="TextBox 22"/>
          <p:cNvSpPr txBox="1"/>
          <p:nvPr/>
        </p:nvSpPr>
        <p:spPr>
          <a:xfrm>
            <a:off x="5241340"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priority and decision value</a:t>
            </a:r>
          </a:p>
        </p:txBody>
      </p:sp>
      <p:cxnSp>
        <p:nvCxnSpPr>
          <p:cNvPr id="24" name="Connector 23"/>
          <p:cNvCxnSpPr/>
          <p:nvPr/>
        </p:nvCxnSpPr>
        <p:spPr>
          <a:xfrm>
            <a:off x="7103059" y="3474720"/>
            <a:ext cx="164592" cy="0"/>
          </a:xfrm>
          <a:prstGeom prst="line">
            <a:avLst/>
          </a:prstGeom>
          <a:ln w="25400">
            <a:solidFill>
              <a:srgbClr val="F59E0B"/>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267651"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67651" y="1965960"/>
            <a:ext cx="2008022"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95667" y="2240279"/>
            <a:ext cx="1751990"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7395667"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Respond</a:t>
            </a:r>
          </a:p>
        </p:txBody>
      </p:sp>
      <p:sp>
        <p:nvSpPr>
          <p:cNvPr id="29" name="TextBox 28"/>
          <p:cNvSpPr txBox="1"/>
          <p:nvPr/>
        </p:nvSpPr>
        <p:spPr>
          <a:xfrm>
            <a:off x="7413955"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action, owner, trigger and reserve</a:t>
            </a:r>
          </a:p>
        </p:txBody>
      </p:sp>
      <p:cxnSp>
        <p:nvCxnSpPr>
          <p:cNvPr id="30" name="Connector 29"/>
          <p:cNvCxnSpPr/>
          <p:nvPr/>
        </p:nvCxnSpPr>
        <p:spPr>
          <a:xfrm>
            <a:off x="9275673" y="3474720"/>
            <a:ext cx="164592" cy="0"/>
          </a:xfrm>
          <a:prstGeom prst="line">
            <a:avLst/>
          </a:prstGeom>
          <a:ln w="25400">
            <a:solidFill>
              <a:srgbClr val="F59E0B"/>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440265"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40265" y="1965960"/>
            <a:ext cx="2008022" cy="13716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68281" y="2240279"/>
            <a:ext cx="1751990" cy="457200"/>
          </a:xfrm>
          <a:prstGeom prst="rect">
            <a:avLst/>
          </a:prstGeom>
          <a:noFill/>
        </p:spPr>
        <p:txBody>
          <a:bodyPr wrap="square" lIns="0" rIns="0" tIns="0" bIns="0" anchor="t">
            <a:spAutoFit/>
          </a:bodyPr>
          <a:lstStyle/>
          <a:p>
            <a:pPr algn="ctr">
              <a:spcAft>
                <a:spcPts val="300"/>
              </a:spcAft>
            </a:pPr>
            <a:r>
              <a:rPr sz="1400" b="1">
                <a:solidFill>
                  <a:srgbClr val="1A7F4B"/>
                </a:solidFill>
                <a:latin typeface="Arial"/>
              </a:rPr>
              <a:t>05</a:t>
            </a:r>
          </a:p>
        </p:txBody>
      </p:sp>
      <p:sp>
        <p:nvSpPr>
          <p:cNvPr id="34" name="TextBox 33"/>
          <p:cNvSpPr txBox="1"/>
          <p:nvPr/>
        </p:nvSpPr>
        <p:spPr>
          <a:xfrm>
            <a:off x="9568281"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Monitor</a:t>
            </a:r>
          </a:p>
        </p:txBody>
      </p:sp>
      <p:sp>
        <p:nvSpPr>
          <p:cNvPr id="35" name="TextBox 34"/>
          <p:cNvSpPr txBox="1"/>
          <p:nvPr/>
        </p:nvSpPr>
        <p:spPr>
          <a:xfrm>
            <a:off x="9586569"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residual, secondary and emerging risk</a:t>
            </a:r>
          </a:p>
        </p:txBody>
      </p:sp>
      <p:sp>
        <p:nvSpPr>
          <p:cNvPr id="36" name="Rounded Rectangle 35"/>
          <p:cNvSpPr/>
          <p:nvPr/>
        </p:nvSpPr>
        <p:spPr>
          <a:xfrm>
            <a:off x="749808" y="5303520"/>
            <a:ext cx="10698480" cy="713232"/>
          </a:xfrm>
          <a:prstGeom prst="roundRect">
            <a:avLst>
              <a:gd name="adj" fmla="val 8000"/>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Risk management repeats whenever scope, schedule, suppliers or the environment change.</a:t>
            </a:r>
          </a:p>
        </p:txBody>
      </p:sp>
      <p:sp>
        <p:nvSpPr>
          <p:cNvPr id="38" name="TextBox 37"/>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9" name="TextBox 38"/>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04 · REFERENCE-SOURCED DEEP DIVE</a:t>
            </a:r>
          </a:p>
        </p:txBody>
      </p:sp>
      <p:sp>
        <p:nvSpPr>
          <p:cNvPr id="40" name="TextBox 39"/>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111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F59E0B"/>
                </a:solidFill>
                <a:latin typeface="Arial"/>
              </a:rPr>
              <a:t>TOPIC 04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Risk Breakdown Structure</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2956559"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Technical</a:t>
            </a:r>
          </a:p>
        </p:txBody>
      </p:sp>
      <p:sp>
        <p:nvSpPr>
          <p:cNvPr id="10" name="TextBox 9"/>
          <p:cNvSpPr txBox="1"/>
          <p:nvPr/>
        </p:nvSpPr>
        <p:spPr>
          <a:xfrm>
            <a:off x="100584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Design, interface, data and quality.</a:t>
            </a:r>
          </a:p>
        </p:txBody>
      </p:sp>
      <p:sp>
        <p:nvSpPr>
          <p:cNvPr id="11" name="Rounded Rectangle 10"/>
          <p:cNvSpPr/>
          <p:nvPr/>
        </p:nvSpPr>
        <p:spPr>
          <a:xfrm>
            <a:off x="439216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92167"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8200" y="1947672"/>
            <a:ext cx="2956559"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External</a:t>
            </a:r>
          </a:p>
        </p:txBody>
      </p:sp>
      <p:sp>
        <p:nvSpPr>
          <p:cNvPr id="14" name="TextBox 13"/>
          <p:cNvSpPr txBox="1"/>
          <p:nvPr/>
        </p:nvSpPr>
        <p:spPr>
          <a:xfrm>
            <a:off x="464820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Regulation, market, weather and supplier.</a:t>
            </a:r>
          </a:p>
        </p:txBody>
      </p:sp>
      <p:sp>
        <p:nvSpPr>
          <p:cNvPr id="15" name="Rounded Rectangle 14"/>
          <p:cNvSpPr/>
          <p:nvPr/>
        </p:nvSpPr>
        <p:spPr>
          <a:xfrm>
            <a:off x="803452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34527" y="1783080"/>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559" y="1947672"/>
            <a:ext cx="2956559"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Organisational</a:t>
            </a:r>
          </a:p>
        </p:txBody>
      </p:sp>
      <p:sp>
        <p:nvSpPr>
          <p:cNvPr id="18" name="TextBox 17"/>
          <p:cNvSpPr txBox="1"/>
          <p:nvPr/>
        </p:nvSpPr>
        <p:spPr>
          <a:xfrm>
            <a:off x="8290559"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Priority, funding, skills and governance.</a:t>
            </a:r>
          </a:p>
        </p:txBody>
      </p:sp>
      <p:sp>
        <p:nvSpPr>
          <p:cNvPr id="19" name="Rounded Rectangle 18"/>
          <p:cNvSpPr/>
          <p:nvPr/>
        </p:nvSpPr>
        <p:spPr>
          <a:xfrm>
            <a:off x="2570988"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7098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27020" y="4283964"/>
            <a:ext cx="2956559"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Project management</a:t>
            </a:r>
          </a:p>
        </p:txBody>
      </p:sp>
      <p:sp>
        <p:nvSpPr>
          <p:cNvPr id="22" name="TextBox 21"/>
          <p:cNvSpPr txBox="1"/>
          <p:nvPr/>
        </p:nvSpPr>
        <p:spPr>
          <a:xfrm>
            <a:off x="282702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Estimate, dependency, communication and scope.</a:t>
            </a:r>
          </a:p>
        </p:txBody>
      </p:sp>
      <p:sp>
        <p:nvSpPr>
          <p:cNvPr id="23" name="Rounded Rectangle 22"/>
          <p:cNvSpPr/>
          <p:nvPr/>
        </p:nvSpPr>
        <p:spPr>
          <a:xfrm>
            <a:off x="6213348"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3348" y="4119372"/>
            <a:ext cx="91440" cy="2107692"/>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283964"/>
            <a:ext cx="2956559" cy="438912"/>
          </a:xfrm>
          <a:prstGeom prst="rect">
            <a:avLst/>
          </a:prstGeom>
          <a:noFill/>
        </p:spPr>
        <p:txBody>
          <a:bodyPr wrap="square" lIns="0" rIns="0" tIns="0" bIns="0" anchor="t">
            <a:spAutoFit/>
          </a:bodyPr>
          <a:lstStyle/>
          <a:p>
            <a:pPr algn="l">
              <a:spcAft>
                <a:spcPts val="300"/>
              </a:spcAft>
            </a:pPr>
            <a:r>
              <a:rPr sz="1300" b="1">
                <a:solidFill>
                  <a:srgbClr val="1A7F4B"/>
                </a:solidFill>
                <a:latin typeface="Arial"/>
              </a:rPr>
              <a:t>Opportunity</a:t>
            </a:r>
          </a:p>
        </p:txBody>
      </p:sp>
      <p:sp>
        <p:nvSpPr>
          <p:cNvPr id="26" name="TextBox 25"/>
          <p:cNvSpPr txBox="1"/>
          <p:nvPr/>
        </p:nvSpPr>
        <p:spPr>
          <a:xfrm>
            <a:off x="646938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Faster adoption, reuse, cost saving and capability.</a:t>
            </a:r>
          </a:p>
        </p:txBody>
      </p:sp>
      <p:sp>
        <p:nvSpPr>
          <p:cNvPr id="27" name="TextBox 26"/>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8" name="TextBox 27"/>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04 · REFERENCE-SOURCED DEEP DIVE</a:t>
            </a:r>
          </a:p>
        </p:txBody>
      </p:sp>
      <p:sp>
        <p:nvSpPr>
          <p:cNvPr id="29" name="TextBox 28"/>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112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F59E0B"/>
                </a:solidFill>
                <a:latin typeface="Arial"/>
              </a:rPr>
              <a:t>TOPIC 04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Writing an Actionable Risk</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2008022"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1751990"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Cause</a:t>
            </a:r>
          </a:p>
        </p:txBody>
      </p:sp>
      <p:sp>
        <p:nvSpPr>
          <p:cNvPr id="11" name="TextBox 10"/>
          <p:cNvSpPr txBox="1"/>
          <p:nvPr/>
        </p:nvSpPr>
        <p:spPr>
          <a:xfrm>
            <a:off x="896112"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because inventory data refresh is delayed</a:t>
            </a:r>
          </a:p>
        </p:txBody>
      </p:sp>
      <p:cxnSp>
        <p:nvCxnSpPr>
          <p:cNvPr id="12" name="Connector 11"/>
          <p:cNvCxnSpPr/>
          <p:nvPr/>
        </p:nvCxnSpPr>
        <p:spPr>
          <a:xfrm>
            <a:off x="2757830" y="3474720"/>
            <a:ext cx="164592" cy="0"/>
          </a:xfrm>
          <a:prstGeom prst="line">
            <a:avLst/>
          </a:prstGeom>
          <a:ln w="25400">
            <a:solidFill>
              <a:srgbClr val="F59E0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22422"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22422" y="1965960"/>
            <a:ext cx="2008022"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50438" y="2240279"/>
            <a:ext cx="1751990"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3050438"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Event</a:t>
            </a:r>
          </a:p>
        </p:txBody>
      </p:sp>
      <p:sp>
        <p:nvSpPr>
          <p:cNvPr id="17" name="TextBox 16"/>
          <p:cNvSpPr txBox="1"/>
          <p:nvPr/>
        </p:nvSpPr>
        <p:spPr>
          <a:xfrm>
            <a:off x="3068726"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stock availability may be wrong</a:t>
            </a:r>
          </a:p>
        </p:txBody>
      </p:sp>
      <p:cxnSp>
        <p:nvCxnSpPr>
          <p:cNvPr id="18" name="Connector 17"/>
          <p:cNvCxnSpPr/>
          <p:nvPr/>
        </p:nvCxnSpPr>
        <p:spPr>
          <a:xfrm>
            <a:off x="4930444" y="3474720"/>
            <a:ext cx="164592" cy="0"/>
          </a:xfrm>
          <a:prstGeom prst="line">
            <a:avLst/>
          </a:prstGeom>
          <a:ln w="25400">
            <a:solidFill>
              <a:srgbClr val="F59E0B"/>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95036"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95036" y="1965960"/>
            <a:ext cx="2008022"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23052" y="2240279"/>
            <a:ext cx="1751990"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5223052"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Impact</a:t>
            </a:r>
          </a:p>
        </p:txBody>
      </p:sp>
      <p:sp>
        <p:nvSpPr>
          <p:cNvPr id="23" name="TextBox 22"/>
          <p:cNvSpPr txBox="1"/>
          <p:nvPr/>
        </p:nvSpPr>
        <p:spPr>
          <a:xfrm>
            <a:off x="5241340"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orders may be rejected or re-picked</a:t>
            </a:r>
          </a:p>
        </p:txBody>
      </p:sp>
      <p:cxnSp>
        <p:nvCxnSpPr>
          <p:cNvPr id="24" name="Connector 23"/>
          <p:cNvCxnSpPr/>
          <p:nvPr/>
        </p:nvCxnSpPr>
        <p:spPr>
          <a:xfrm>
            <a:off x="7103059" y="3474720"/>
            <a:ext cx="164592" cy="0"/>
          </a:xfrm>
          <a:prstGeom prst="line">
            <a:avLst/>
          </a:prstGeom>
          <a:ln w="25400">
            <a:solidFill>
              <a:srgbClr val="F59E0B"/>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267651"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67651" y="1965960"/>
            <a:ext cx="2008022"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95667" y="2240279"/>
            <a:ext cx="1751990"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7395667"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Response</a:t>
            </a:r>
          </a:p>
        </p:txBody>
      </p:sp>
      <p:sp>
        <p:nvSpPr>
          <p:cNvPr id="29" name="TextBox 28"/>
          <p:cNvSpPr txBox="1"/>
          <p:nvPr/>
        </p:nvSpPr>
        <p:spPr>
          <a:xfrm>
            <a:off x="7413955"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reduce cause or impact</a:t>
            </a:r>
          </a:p>
        </p:txBody>
      </p:sp>
      <p:cxnSp>
        <p:nvCxnSpPr>
          <p:cNvPr id="30" name="Connector 29"/>
          <p:cNvCxnSpPr/>
          <p:nvPr/>
        </p:nvCxnSpPr>
        <p:spPr>
          <a:xfrm>
            <a:off x="9275673" y="3474720"/>
            <a:ext cx="164592" cy="0"/>
          </a:xfrm>
          <a:prstGeom prst="line">
            <a:avLst/>
          </a:prstGeom>
          <a:ln w="25400">
            <a:solidFill>
              <a:srgbClr val="F59E0B"/>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440265"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40265" y="1965960"/>
            <a:ext cx="2008022" cy="13716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68281" y="2240279"/>
            <a:ext cx="1751990" cy="457200"/>
          </a:xfrm>
          <a:prstGeom prst="rect">
            <a:avLst/>
          </a:prstGeom>
          <a:noFill/>
        </p:spPr>
        <p:txBody>
          <a:bodyPr wrap="square" lIns="0" rIns="0" tIns="0" bIns="0" anchor="t">
            <a:spAutoFit/>
          </a:bodyPr>
          <a:lstStyle/>
          <a:p>
            <a:pPr algn="ctr">
              <a:spcAft>
                <a:spcPts val="300"/>
              </a:spcAft>
            </a:pPr>
            <a:r>
              <a:rPr sz="1400" b="1">
                <a:solidFill>
                  <a:srgbClr val="1A7F4B"/>
                </a:solidFill>
                <a:latin typeface="Arial"/>
              </a:rPr>
              <a:t>05</a:t>
            </a:r>
          </a:p>
        </p:txBody>
      </p:sp>
      <p:sp>
        <p:nvSpPr>
          <p:cNvPr id="34" name="TextBox 33"/>
          <p:cNvSpPr txBox="1"/>
          <p:nvPr/>
        </p:nvSpPr>
        <p:spPr>
          <a:xfrm>
            <a:off x="9568281"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Trigger</a:t>
            </a:r>
          </a:p>
        </p:txBody>
      </p:sp>
      <p:sp>
        <p:nvSpPr>
          <p:cNvPr id="35" name="TextBox 34"/>
          <p:cNvSpPr txBox="1"/>
          <p:nvPr/>
        </p:nvSpPr>
        <p:spPr>
          <a:xfrm>
            <a:off x="9586569"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refresh latency exceeds threshold</a:t>
            </a:r>
          </a:p>
        </p:txBody>
      </p:sp>
      <p:sp>
        <p:nvSpPr>
          <p:cNvPr id="36" name="Rounded Rectangle 35"/>
          <p:cNvSpPr/>
          <p:nvPr/>
        </p:nvSpPr>
        <p:spPr>
          <a:xfrm>
            <a:off x="749808" y="5303520"/>
            <a:ext cx="10698480" cy="713232"/>
          </a:xfrm>
          <a:prstGeom prst="roundRect">
            <a:avLst>
              <a:gd name="adj" fmla="val 8000"/>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Cause-event-impact wording prevents vague risks such as 'vendor risk'.</a:t>
            </a:r>
          </a:p>
        </p:txBody>
      </p:sp>
      <p:sp>
        <p:nvSpPr>
          <p:cNvPr id="38" name="TextBox 37"/>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9" name="TextBox 38"/>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04 · REFERENCE-SOURCED DEEP DIVE</a:t>
            </a:r>
          </a:p>
        </p:txBody>
      </p:sp>
      <p:sp>
        <p:nvSpPr>
          <p:cNvPr id="40" name="TextBox 39"/>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113</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F59E0B"/>
                </a:solidFill>
                <a:latin typeface="Arial"/>
              </a:rPr>
              <a:t>TOPIC 04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Qualitative Risk Factors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632460"/>
          </a:xfrm>
          <a:prstGeom prst="rect">
            <a:avLst/>
          </a:prstGeom>
          <a:solidFill>
            <a:srgbClr val="F59E0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Factor</a:t>
            </a:r>
          </a:p>
        </p:txBody>
      </p:sp>
      <p:sp>
        <p:nvSpPr>
          <p:cNvPr id="9" name="Rectangle 8"/>
          <p:cNvSpPr/>
          <p:nvPr/>
        </p:nvSpPr>
        <p:spPr>
          <a:xfrm>
            <a:off x="4315968" y="1810512"/>
            <a:ext cx="3566160" cy="632460"/>
          </a:xfrm>
          <a:prstGeom prst="rect">
            <a:avLst/>
          </a:prstGeom>
          <a:solidFill>
            <a:srgbClr val="F59E0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Question</a:t>
            </a:r>
          </a:p>
        </p:txBody>
      </p:sp>
      <p:sp>
        <p:nvSpPr>
          <p:cNvPr id="11" name="Rectangle 10"/>
          <p:cNvSpPr/>
          <p:nvPr/>
        </p:nvSpPr>
        <p:spPr>
          <a:xfrm>
            <a:off x="7882127" y="1810512"/>
            <a:ext cx="3566160" cy="632460"/>
          </a:xfrm>
          <a:prstGeom prst="rect">
            <a:avLst/>
          </a:prstGeom>
          <a:solidFill>
            <a:srgbClr val="F59E0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Use</a:t>
            </a:r>
          </a:p>
        </p:txBody>
      </p:sp>
      <p:sp>
        <p:nvSpPr>
          <p:cNvPr id="13" name="Rectangle 12"/>
          <p:cNvSpPr/>
          <p:nvPr/>
        </p:nvSpPr>
        <p:spPr>
          <a:xfrm>
            <a:off x="74980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48869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Probability</a:t>
            </a:r>
          </a:p>
        </p:txBody>
      </p:sp>
      <p:sp>
        <p:nvSpPr>
          <p:cNvPr id="15" name="Rectangle 14"/>
          <p:cNvSpPr/>
          <p:nvPr/>
        </p:nvSpPr>
        <p:spPr>
          <a:xfrm>
            <a:off x="431596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How likely?</a:t>
            </a:r>
          </a:p>
        </p:txBody>
      </p:sp>
      <p:sp>
        <p:nvSpPr>
          <p:cNvPr id="17" name="Rectangle 16"/>
          <p:cNvSpPr/>
          <p:nvPr/>
        </p:nvSpPr>
        <p:spPr>
          <a:xfrm>
            <a:off x="7882127"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Exposure priority</a:t>
            </a:r>
          </a:p>
        </p:txBody>
      </p:sp>
      <p:sp>
        <p:nvSpPr>
          <p:cNvPr id="19" name="Rectangle 18"/>
          <p:cNvSpPr/>
          <p:nvPr/>
        </p:nvSpPr>
        <p:spPr>
          <a:xfrm>
            <a:off x="74980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12115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Impact</a:t>
            </a:r>
          </a:p>
        </p:txBody>
      </p:sp>
      <p:sp>
        <p:nvSpPr>
          <p:cNvPr id="21" name="Rectangle 20"/>
          <p:cNvSpPr/>
          <p:nvPr/>
        </p:nvSpPr>
        <p:spPr>
          <a:xfrm>
            <a:off x="431596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How severe?</a:t>
            </a:r>
          </a:p>
        </p:txBody>
      </p:sp>
      <p:sp>
        <p:nvSpPr>
          <p:cNvPr id="23" name="Rectangle 22"/>
          <p:cNvSpPr/>
          <p:nvPr/>
        </p:nvSpPr>
        <p:spPr>
          <a:xfrm>
            <a:off x="7882127"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Tolerance and reserve</a:t>
            </a:r>
          </a:p>
        </p:txBody>
      </p:sp>
      <p:sp>
        <p:nvSpPr>
          <p:cNvPr id="25" name="Rectangle 24"/>
          <p:cNvSpPr/>
          <p:nvPr/>
        </p:nvSpPr>
        <p:spPr>
          <a:xfrm>
            <a:off x="74980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3753611"/>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Urgency</a:t>
            </a:r>
          </a:p>
        </p:txBody>
      </p:sp>
      <p:sp>
        <p:nvSpPr>
          <p:cNvPr id="27" name="Rectangle 26"/>
          <p:cNvSpPr/>
          <p:nvPr/>
        </p:nvSpPr>
        <p:spPr>
          <a:xfrm>
            <a:off x="431596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How soon must we act?</a:t>
            </a:r>
          </a:p>
        </p:txBody>
      </p:sp>
      <p:sp>
        <p:nvSpPr>
          <p:cNvPr id="29" name="Rectangle 28"/>
          <p:cNvSpPr/>
          <p:nvPr/>
        </p:nvSpPr>
        <p:spPr>
          <a:xfrm>
            <a:off x="7882127"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Response timing</a:t>
            </a:r>
          </a:p>
        </p:txBody>
      </p:sp>
      <p:sp>
        <p:nvSpPr>
          <p:cNvPr id="31" name="Rectangle 30"/>
          <p:cNvSpPr/>
          <p:nvPr/>
        </p:nvSpPr>
        <p:spPr>
          <a:xfrm>
            <a:off x="74980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38607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Proximity</a:t>
            </a:r>
          </a:p>
        </p:txBody>
      </p:sp>
      <p:sp>
        <p:nvSpPr>
          <p:cNvPr id="33" name="Rectangle 32"/>
          <p:cNvSpPr/>
          <p:nvPr/>
        </p:nvSpPr>
        <p:spPr>
          <a:xfrm>
            <a:off x="431596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How soon may it occur?</a:t>
            </a:r>
          </a:p>
        </p:txBody>
      </p:sp>
      <p:sp>
        <p:nvSpPr>
          <p:cNvPr id="35" name="Rectangle 34"/>
          <p:cNvSpPr/>
          <p:nvPr/>
        </p:nvSpPr>
        <p:spPr>
          <a:xfrm>
            <a:off x="7882127"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Monitoring cadence</a:t>
            </a:r>
          </a:p>
        </p:txBody>
      </p:sp>
      <p:sp>
        <p:nvSpPr>
          <p:cNvPr id="37" name="Rectangle 36"/>
          <p:cNvSpPr/>
          <p:nvPr/>
        </p:nvSpPr>
        <p:spPr>
          <a:xfrm>
            <a:off x="74980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 y="501853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Dormancy</a:t>
            </a:r>
          </a:p>
        </p:txBody>
      </p:sp>
      <p:sp>
        <p:nvSpPr>
          <p:cNvPr id="39" name="Rectangle 38"/>
          <p:cNvSpPr/>
          <p:nvPr/>
        </p:nvSpPr>
        <p:spPr>
          <a:xfrm>
            <a:off x="431596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25696"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How long before impact appears?</a:t>
            </a:r>
          </a:p>
        </p:txBody>
      </p:sp>
      <p:sp>
        <p:nvSpPr>
          <p:cNvPr id="41" name="Rectangle 40"/>
          <p:cNvSpPr/>
          <p:nvPr/>
        </p:nvSpPr>
        <p:spPr>
          <a:xfrm>
            <a:off x="7882127"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91855"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Early detection</a:t>
            </a:r>
          </a:p>
        </p:txBody>
      </p:sp>
      <p:sp>
        <p:nvSpPr>
          <p:cNvPr id="43" name="Rounded Rectangle 42"/>
          <p:cNvSpPr/>
          <p:nvPr/>
        </p:nvSpPr>
        <p:spPr>
          <a:xfrm>
            <a:off x="749808" y="5815584"/>
            <a:ext cx="10698480" cy="420624"/>
          </a:xfrm>
          <a:prstGeom prst="roundRect">
            <a:avLst>
              <a:gd name="adj" fmla="val 8000"/>
            </a:avLst>
          </a:prstGeom>
          <a:solidFill>
            <a:srgbClr val="F4F7F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Two risks with the same score may require different action timing.</a:t>
            </a:r>
          </a:p>
        </p:txBody>
      </p:sp>
      <p:sp>
        <p:nvSpPr>
          <p:cNvPr id="45" name="TextBox 44"/>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6" name="TextBox 45"/>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04 · REFERENCE-SOURCED DEEP DIVE</a:t>
            </a:r>
          </a:p>
        </p:txBody>
      </p:sp>
      <p:sp>
        <p:nvSpPr>
          <p:cNvPr id="47" name="TextBox 46"/>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114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F59E0B"/>
                </a:solidFill>
                <a:latin typeface="Arial"/>
              </a:rPr>
              <a:t>TOPIC 04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HarbourHub Threat-Response Workshop</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632460"/>
          </a:xfrm>
          <a:prstGeom prst="rect">
            <a:avLst/>
          </a:prstGeom>
          <a:solidFill>
            <a:srgbClr val="F59E0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Named threat</a:t>
            </a:r>
          </a:p>
        </p:txBody>
      </p:sp>
      <p:sp>
        <p:nvSpPr>
          <p:cNvPr id="9" name="Rectangle 8"/>
          <p:cNvSpPr/>
          <p:nvPr/>
        </p:nvSpPr>
        <p:spPr>
          <a:xfrm>
            <a:off x="4315968" y="1810512"/>
            <a:ext cx="3566160" cy="632460"/>
          </a:xfrm>
          <a:prstGeom prst="rect">
            <a:avLst/>
          </a:prstGeom>
          <a:solidFill>
            <a:srgbClr val="F59E0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Chosen response</a:t>
            </a:r>
          </a:p>
        </p:txBody>
      </p:sp>
      <p:sp>
        <p:nvSpPr>
          <p:cNvPr id="11" name="Rectangle 10"/>
          <p:cNvSpPr/>
          <p:nvPr/>
        </p:nvSpPr>
        <p:spPr>
          <a:xfrm>
            <a:off x="7882127" y="1810512"/>
            <a:ext cx="3566160" cy="632460"/>
          </a:xfrm>
          <a:prstGeom prst="rect">
            <a:avLst/>
          </a:prstGeom>
          <a:solidFill>
            <a:srgbClr val="F59E0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Owned action and trigger</a:t>
            </a:r>
          </a:p>
        </p:txBody>
      </p:sp>
      <p:sp>
        <p:nvSpPr>
          <p:cNvPr id="13" name="Rectangle 12"/>
          <p:cNvSpPr/>
          <p:nvPr/>
        </p:nvSpPr>
        <p:spPr>
          <a:xfrm>
            <a:off x="74980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48869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Inventory feed is late</a:t>
            </a:r>
          </a:p>
        </p:txBody>
      </p:sp>
      <p:sp>
        <p:nvSpPr>
          <p:cNvPr id="15" name="Rectangle 14"/>
          <p:cNvSpPr/>
          <p:nvPr/>
        </p:nvSpPr>
        <p:spPr>
          <a:xfrm>
            <a:off x="431596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Mitigate</a:t>
            </a:r>
          </a:p>
        </p:txBody>
      </p:sp>
      <p:sp>
        <p:nvSpPr>
          <p:cNvPr id="17" name="Rectangle 16"/>
          <p:cNvSpPr/>
          <p:nvPr/>
        </p:nvSpPr>
        <p:spPr>
          <a:xfrm>
            <a:off x="7882127"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IT lead adds latency alert; trigger &gt;15 minutes</a:t>
            </a:r>
          </a:p>
        </p:txBody>
      </p:sp>
      <p:sp>
        <p:nvSpPr>
          <p:cNvPr id="19" name="Rectangle 18"/>
          <p:cNvSpPr/>
          <p:nvPr/>
        </p:nvSpPr>
        <p:spPr>
          <a:xfrm>
            <a:off x="74980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12115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Vendor misses integration date</a:t>
            </a:r>
          </a:p>
        </p:txBody>
      </p:sp>
      <p:sp>
        <p:nvSpPr>
          <p:cNvPr id="21" name="Rectangle 20"/>
          <p:cNvSpPr/>
          <p:nvPr/>
        </p:nvSpPr>
        <p:spPr>
          <a:xfrm>
            <a:off x="431596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Transfer + mitigate</a:t>
            </a:r>
          </a:p>
        </p:txBody>
      </p:sp>
      <p:sp>
        <p:nvSpPr>
          <p:cNvPr id="23" name="Rectangle 22"/>
          <p:cNvSpPr/>
          <p:nvPr/>
        </p:nvSpPr>
        <p:spPr>
          <a:xfrm>
            <a:off x="7882127"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Milestone clause plus weekly interface test</a:t>
            </a:r>
          </a:p>
        </p:txBody>
      </p:sp>
      <p:sp>
        <p:nvSpPr>
          <p:cNvPr id="25" name="Rectangle 24"/>
          <p:cNvSpPr/>
          <p:nvPr/>
        </p:nvSpPr>
        <p:spPr>
          <a:xfrm>
            <a:off x="74980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3753611"/>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Outlet rejects new process</a:t>
            </a:r>
          </a:p>
        </p:txBody>
      </p:sp>
      <p:sp>
        <p:nvSpPr>
          <p:cNvPr id="27" name="Rectangle 26"/>
          <p:cNvSpPr/>
          <p:nvPr/>
        </p:nvSpPr>
        <p:spPr>
          <a:xfrm>
            <a:off x="431596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Mitigate</a:t>
            </a:r>
          </a:p>
        </p:txBody>
      </p:sp>
      <p:sp>
        <p:nvSpPr>
          <p:cNvPr id="29" name="Rectangle 28"/>
          <p:cNvSpPr/>
          <p:nvPr/>
        </p:nvSpPr>
        <p:spPr>
          <a:xfrm>
            <a:off x="7882127"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Ops lead pilots job aid and observes first 20 orders</a:t>
            </a:r>
          </a:p>
        </p:txBody>
      </p:sp>
      <p:sp>
        <p:nvSpPr>
          <p:cNvPr id="31" name="Rectangle 30"/>
          <p:cNvSpPr/>
          <p:nvPr/>
        </p:nvSpPr>
        <p:spPr>
          <a:xfrm>
            <a:off x="74980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38607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Cyber approval exceeds tolerance</a:t>
            </a:r>
          </a:p>
        </p:txBody>
      </p:sp>
      <p:sp>
        <p:nvSpPr>
          <p:cNvPr id="33" name="Rectangle 32"/>
          <p:cNvSpPr/>
          <p:nvPr/>
        </p:nvSpPr>
        <p:spPr>
          <a:xfrm>
            <a:off x="431596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Escalate</a:t>
            </a:r>
          </a:p>
        </p:txBody>
      </p:sp>
      <p:sp>
        <p:nvSpPr>
          <p:cNvPr id="35" name="Rectangle 34"/>
          <p:cNvSpPr/>
          <p:nvPr/>
        </p:nvSpPr>
        <p:spPr>
          <a:xfrm>
            <a:off x="7882127"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Sponsor decides scope trade by gate date</a:t>
            </a:r>
          </a:p>
        </p:txBody>
      </p:sp>
      <p:sp>
        <p:nvSpPr>
          <p:cNvPr id="37" name="Rectangle 36"/>
          <p:cNvSpPr/>
          <p:nvPr/>
        </p:nvSpPr>
        <p:spPr>
          <a:xfrm>
            <a:off x="74980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 y="501853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Residual launch disruption</a:t>
            </a:r>
          </a:p>
        </p:txBody>
      </p:sp>
      <p:sp>
        <p:nvSpPr>
          <p:cNvPr id="39" name="Rectangle 38"/>
          <p:cNvSpPr/>
          <p:nvPr/>
        </p:nvSpPr>
        <p:spPr>
          <a:xfrm>
            <a:off x="431596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25696"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Accept actively</a:t>
            </a:r>
          </a:p>
        </p:txBody>
      </p:sp>
      <p:sp>
        <p:nvSpPr>
          <p:cNvPr id="41" name="Rectangle 40"/>
          <p:cNvSpPr/>
          <p:nvPr/>
        </p:nvSpPr>
        <p:spPr>
          <a:xfrm>
            <a:off x="7882127"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91855"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Fund two-day floor support contingency</a:t>
            </a:r>
          </a:p>
        </p:txBody>
      </p:sp>
      <p:sp>
        <p:nvSpPr>
          <p:cNvPr id="43" name="Rounded Rectangle 42"/>
          <p:cNvSpPr/>
          <p:nvPr/>
        </p:nvSpPr>
        <p:spPr>
          <a:xfrm>
            <a:off x="749808" y="5815584"/>
            <a:ext cx="10698480" cy="420624"/>
          </a:xfrm>
          <a:prstGeom prst="roundRect">
            <a:avLst>
              <a:gd name="adj" fmla="val 8000"/>
            </a:avLst>
          </a:prstGeom>
          <a:solidFill>
            <a:srgbClr val="F4F7F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Each response is specific enough to schedule, fund, monitor and verify.</a:t>
            </a:r>
          </a:p>
        </p:txBody>
      </p:sp>
      <p:sp>
        <p:nvSpPr>
          <p:cNvPr id="45" name="TextBox 44"/>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6" name="TextBox 45"/>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04 · REFERENCE-SOURCED DEEP DIVE</a:t>
            </a:r>
          </a:p>
        </p:txBody>
      </p:sp>
      <p:sp>
        <p:nvSpPr>
          <p:cNvPr id="47" name="TextBox 46"/>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115</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F59E0B"/>
                </a:solidFill>
                <a:latin typeface="Arial"/>
              </a:rPr>
              <a:t>TOPIC 04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Opportunity Response Strategies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632460"/>
          </a:xfrm>
          <a:prstGeom prst="rect">
            <a:avLst/>
          </a:prstGeom>
          <a:solidFill>
            <a:srgbClr val="F59E0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Strategy</a:t>
            </a:r>
          </a:p>
        </p:txBody>
      </p:sp>
      <p:sp>
        <p:nvSpPr>
          <p:cNvPr id="9" name="Rectangle 8"/>
          <p:cNvSpPr/>
          <p:nvPr/>
        </p:nvSpPr>
        <p:spPr>
          <a:xfrm>
            <a:off x="4315968" y="1810512"/>
            <a:ext cx="3566160" cy="632460"/>
          </a:xfrm>
          <a:prstGeom prst="rect">
            <a:avLst/>
          </a:prstGeom>
          <a:solidFill>
            <a:srgbClr val="F59E0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Intent</a:t>
            </a:r>
          </a:p>
        </p:txBody>
      </p:sp>
      <p:sp>
        <p:nvSpPr>
          <p:cNvPr id="11" name="Rectangle 10"/>
          <p:cNvSpPr/>
          <p:nvPr/>
        </p:nvSpPr>
        <p:spPr>
          <a:xfrm>
            <a:off x="7882127" y="1810512"/>
            <a:ext cx="3566160" cy="632460"/>
          </a:xfrm>
          <a:prstGeom prst="rect">
            <a:avLst/>
          </a:prstGeom>
          <a:solidFill>
            <a:srgbClr val="F59E0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Example</a:t>
            </a:r>
          </a:p>
        </p:txBody>
      </p:sp>
      <p:sp>
        <p:nvSpPr>
          <p:cNvPr id="13" name="Rectangle 12"/>
          <p:cNvSpPr/>
          <p:nvPr/>
        </p:nvSpPr>
        <p:spPr>
          <a:xfrm>
            <a:off x="74980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48869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Exploit</a:t>
            </a:r>
          </a:p>
        </p:txBody>
      </p:sp>
      <p:sp>
        <p:nvSpPr>
          <p:cNvPr id="15" name="Rectangle 14"/>
          <p:cNvSpPr/>
          <p:nvPr/>
        </p:nvSpPr>
        <p:spPr>
          <a:xfrm>
            <a:off x="431596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Ensure opportunity occurs</a:t>
            </a:r>
          </a:p>
        </p:txBody>
      </p:sp>
      <p:sp>
        <p:nvSpPr>
          <p:cNvPr id="17" name="Rectangle 16"/>
          <p:cNvSpPr/>
          <p:nvPr/>
        </p:nvSpPr>
        <p:spPr>
          <a:xfrm>
            <a:off x="7882127"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Assign best resources</a:t>
            </a:r>
          </a:p>
        </p:txBody>
      </p:sp>
      <p:sp>
        <p:nvSpPr>
          <p:cNvPr id="19" name="Rectangle 18"/>
          <p:cNvSpPr/>
          <p:nvPr/>
        </p:nvSpPr>
        <p:spPr>
          <a:xfrm>
            <a:off x="74980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12115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Enhance</a:t>
            </a:r>
          </a:p>
        </p:txBody>
      </p:sp>
      <p:sp>
        <p:nvSpPr>
          <p:cNvPr id="21" name="Rectangle 20"/>
          <p:cNvSpPr/>
          <p:nvPr/>
        </p:nvSpPr>
        <p:spPr>
          <a:xfrm>
            <a:off x="431596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Increase probability or benefit</a:t>
            </a:r>
          </a:p>
        </p:txBody>
      </p:sp>
      <p:sp>
        <p:nvSpPr>
          <p:cNvPr id="23" name="Rectangle 22"/>
          <p:cNvSpPr/>
          <p:nvPr/>
        </p:nvSpPr>
        <p:spPr>
          <a:xfrm>
            <a:off x="7882127"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Accelerate pilot learning</a:t>
            </a:r>
          </a:p>
        </p:txBody>
      </p:sp>
      <p:sp>
        <p:nvSpPr>
          <p:cNvPr id="25" name="Rectangle 24"/>
          <p:cNvSpPr/>
          <p:nvPr/>
        </p:nvSpPr>
        <p:spPr>
          <a:xfrm>
            <a:off x="74980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3753611"/>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Share</a:t>
            </a:r>
          </a:p>
        </p:txBody>
      </p:sp>
      <p:sp>
        <p:nvSpPr>
          <p:cNvPr id="27" name="Rectangle 26"/>
          <p:cNvSpPr/>
          <p:nvPr/>
        </p:nvSpPr>
        <p:spPr>
          <a:xfrm>
            <a:off x="431596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Partner for capability</a:t>
            </a:r>
          </a:p>
        </p:txBody>
      </p:sp>
      <p:sp>
        <p:nvSpPr>
          <p:cNvPr id="29" name="Rectangle 28"/>
          <p:cNvSpPr/>
          <p:nvPr/>
        </p:nvSpPr>
        <p:spPr>
          <a:xfrm>
            <a:off x="7882127"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Revenue-sharing supplier</a:t>
            </a:r>
          </a:p>
        </p:txBody>
      </p:sp>
      <p:sp>
        <p:nvSpPr>
          <p:cNvPr id="31" name="Rectangle 30"/>
          <p:cNvSpPr/>
          <p:nvPr/>
        </p:nvSpPr>
        <p:spPr>
          <a:xfrm>
            <a:off x="74980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38607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Accept</a:t>
            </a:r>
          </a:p>
        </p:txBody>
      </p:sp>
      <p:sp>
        <p:nvSpPr>
          <p:cNvPr id="33" name="Rectangle 32"/>
          <p:cNvSpPr/>
          <p:nvPr/>
        </p:nvSpPr>
        <p:spPr>
          <a:xfrm>
            <a:off x="431596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Take benefit if it occurs</a:t>
            </a:r>
          </a:p>
        </p:txBody>
      </p:sp>
      <p:sp>
        <p:nvSpPr>
          <p:cNvPr id="35" name="Rectangle 34"/>
          <p:cNvSpPr/>
          <p:nvPr/>
        </p:nvSpPr>
        <p:spPr>
          <a:xfrm>
            <a:off x="7882127"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No proactive spend</a:t>
            </a:r>
          </a:p>
        </p:txBody>
      </p:sp>
      <p:sp>
        <p:nvSpPr>
          <p:cNvPr id="37" name="Rectangle 36"/>
          <p:cNvSpPr/>
          <p:nvPr/>
        </p:nvSpPr>
        <p:spPr>
          <a:xfrm>
            <a:off x="74980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 y="501853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Escalate</a:t>
            </a:r>
          </a:p>
        </p:txBody>
      </p:sp>
      <p:sp>
        <p:nvSpPr>
          <p:cNvPr id="39" name="Rectangle 38"/>
          <p:cNvSpPr/>
          <p:nvPr/>
        </p:nvSpPr>
        <p:spPr>
          <a:xfrm>
            <a:off x="431596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25696"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Move to programme or strategy</a:t>
            </a:r>
          </a:p>
        </p:txBody>
      </p:sp>
      <p:sp>
        <p:nvSpPr>
          <p:cNvPr id="41" name="Rectangle 40"/>
          <p:cNvSpPr/>
          <p:nvPr/>
        </p:nvSpPr>
        <p:spPr>
          <a:xfrm>
            <a:off x="7882127"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91855"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Enterprise reuse</a:t>
            </a:r>
          </a:p>
        </p:txBody>
      </p:sp>
      <p:sp>
        <p:nvSpPr>
          <p:cNvPr id="43" name="Rounded Rectangle 42"/>
          <p:cNvSpPr/>
          <p:nvPr/>
        </p:nvSpPr>
        <p:spPr>
          <a:xfrm>
            <a:off x="749808" y="5815584"/>
            <a:ext cx="10698480" cy="420624"/>
          </a:xfrm>
          <a:prstGeom prst="roundRect">
            <a:avLst>
              <a:gd name="adj" fmla="val 8000"/>
            </a:avLst>
          </a:prstGeom>
          <a:solidFill>
            <a:srgbClr val="F4F7F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Positive uncertainty deserves ownership and deliberate action too.</a:t>
            </a:r>
          </a:p>
        </p:txBody>
      </p:sp>
      <p:sp>
        <p:nvSpPr>
          <p:cNvPr id="45" name="TextBox 44"/>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6" name="TextBox 45"/>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04 · REFERENCE-SOURCED DEEP DIVE</a:t>
            </a:r>
          </a:p>
        </p:txBody>
      </p:sp>
      <p:sp>
        <p:nvSpPr>
          <p:cNvPr id="47" name="TextBox 46"/>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F59E0B"/>
                </a:solidFill>
                <a:latin typeface="Arial"/>
              </a:rPr>
              <a:t>TOPIC 04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Response Architecture</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1645919"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1389887"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Preventive</a:t>
            </a:r>
          </a:p>
        </p:txBody>
      </p:sp>
      <p:sp>
        <p:nvSpPr>
          <p:cNvPr id="11" name="TextBox 10"/>
          <p:cNvSpPr txBox="1"/>
          <p:nvPr/>
        </p:nvSpPr>
        <p:spPr>
          <a:xfrm>
            <a:off x="896112"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act before trigger</a:t>
            </a:r>
          </a:p>
        </p:txBody>
      </p:sp>
      <p:cxnSp>
        <p:nvCxnSpPr>
          <p:cNvPr id="12" name="Connector 11"/>
          <p:cNvCxnSpPr/>
          <p:nvPr/>
        </p:nvCxnSpPr>
        <p:spPr>
          <a:xfrm>
            <a:off x="2395727" y="3474720"/>
            <a:ext cx="164593" cy="0"/>
          </a:xfrm>
          <a:prstGeom prst="line">
            <a:avLst/>
          </a:prstGeom>
          <a:ln w="25400">
            <a:solidFill>
              <a:srgbClr val="F59E0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560320"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60320" y="1965960"/>
            <a:ext cx="1645919"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88336" y="2240279"/>
            <a:ext cx="1389887"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2688336"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Trigger</a:t>
            </a:r>
          </a:p>
        </p:txBody>
      </p:sp>
      <p:sp>
        <p:nvSpPr>
          <p:cNvPr id="17" name="TextBox 16"/>
          <p:cNvSpPr txBox="1"/>
          <p:nvPr/>
        </p:nvSpPr>
        <p:spPr>
          <a:xfrm>
            <a:off x="2706624"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observable threshold</a:t>
            </a:r>
          </a:p>
        </p:txBody>
      </p:sp>
      <p:cxnSp>
        <p:nvCxnSpPr>
          <p:cNvPr id="18" name="Connector 17"/>
          <p:cNvCxnSpPr/>
          <p:nvPr/>
        </p:nvCxnSpPr>
        <p:spPr>
          <a:xfrm>
            <a:off x="4206240" y="3474720"/>
            <a:ext cx="164591" cy="0"/>
          </a:xfrm>
          <a:prstGeom prst="line">
            <a:avLst/>
          </a:prstGeom>
          <a:ln w="25400">
            <a:solidFill>
              <a:srgbClr val="F59E0B"/>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370831"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70831" y="1965960"/>
            <a:ext cx="1645919"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98847" y="2240279"/>
            <a:ext cx="1389887"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4498847"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Contingency</a:t>
            </a:r>
          </a:p>
        </p:txBody>
      </p:sp>
      <p:sp>
        <p:nvSpPr>
          <p:cNvPr id="23" name="TextBox 22"/>
          <p:cNvSpPr txBox="1"/>
          <p:nvPr/>
        </p:nvSpPr>
        <p:spPr>
          <a:xfrm>
            <a:off x="4517136"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act when triggered</a:t>
            </a:r>
          </a:p>
        </p:txBody>
      </p:sp>
      <p:cxnSp>
        <p:nvCxnSpPr>
          <p:cNvPr id="24" name="Connector 23"/>
          <p:cNvCxnSpPr/>
          <p:nvPr/>
        </p:nvCxnSpPr>
        <p:spPr>
          <a:xfrm>
            <a:off x="6016751" y="3474720"/>
            <a:ext cx="164592" cy="0"/>
          </a:xfrm>
          <a:prstGeom prst="line">
            <a:avLst/>
          </a:prstGeom>
          <a:ln w="25400">
            <a:solidFill>
              <a:srgbClr val="F59E0B"/>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181344"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81344" y="1965960"/>
            <a:ext cx="1645919"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59" y="2240279"/>
            <a:ext cx="1389887"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6309359"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Fallback</a:t>
            </a:r>
          </a:p>
        </p:txBody>
      </p:sp>
      <p:sp>
        <p:nvSpPr>
          <p:cNvPr id="29" name="TextBox 28"/>
          <p:cNvSpPr txBox="1"/>
          <p:nvPr/>
        </p:nvSpPr>
        <p:spPr>
          <a:xfrm>
            <a:off x="6327648"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act if contingency fails</a:t>
            </a:r>
          </a:p>
        </p:txBody>
      </p:sp>
      <p:cxnSp>
        <p:nvCxnSpPr>
          <p:cNvPr id="30" name="Connector 29"/>
          <p:cNvCxnSpPr/>
          <p:nvPr/>
        </p:nvCxnSpPr>
        <p:spPr>
          <a:xfrm>
            <a:off x="7827263" y="3474720"/>
            <a:ext cx="164592" cy="0"/>
          </a:xfrm>
          <a:prstGeom prst="line">
            <a:avLst/>
          </a:prstGeom>
          <a:ln w="25400">
            <a:solidFill>
              <a:srgbClr val="F59E0B"/>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991855"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91855" y="1965960"/>
            <a:ext cx="1645919" cy="13716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19871" y="2240279"/>
            <a:ext cx="1389887" cy="457200"/>
          </a:xfrm>
          <a:prstGeom prst="rect">
            <a:avLst/>
          </a:prstGeom>
          <a:noFill/>
        </p:spPr>
        <p:txBody>
          <a:bodyPr wrap="square" lIns="0" rIns="0" tIns="0" bIns="0" anchor="t">
            <a:spAutoFit/>
          </a:bodyPr>
          <a:lstStyle/>
          <a:p>
            <a:pPr algn="ctr">
              <a:spcAft>
                <a:spcPts val="300"/>
              </a:spcAft>
            </a:pPr>
            <a:r>
              <a:rPr sz="1400" b="1">
                <a:solidFill>
                  <a:srgbClr val="1A7F4B"/>
                </a:solidFill>
                <a:latin typeface="Arial"/>
              </a:rPr>
              <a:t>05</a:t>
            </a:r>
          </a:p>
        </p:txBody>
      </p:sp>
      <p:sp>
        <p:nvSpPr>
          <p:cNvPr id="34" name="TextBox 33"/>
          <p:cNvSpPr txBox="1"/>
          <p:nvPr/>
        </p:nvSpPr>
        <p:spPr>
          <a:xfrm>
            <a:off x="8119871"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Residual</a:t>
            </a:r>
          </a:p>
        </p:txBody>
      </p:sp>
      <p:sp>
        <p:nvSpPr>
          <p:cNvPr id="35" name="TextBox 34"/>
          <p:cNvSpPr txBox="1"/>
          <p:nvPr/>
        </p:nvSpPr>
        <p:spPr>
          <a:xfrm>
            <a:off x="8138159"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remaining exposure</a:t>
            </a:r>
          </a:p>
        </p:txBody>
      </p:sp>
      <p:cxnSp>
        <p:nvCxnSpPr>
          <p:cNvPr id="36" name="Connector 35"/>
          <p:cNvCxnSpPr/>
          <p:nvPr/>
        </p:nvCxnSpPr>
        <p:spPr>
          <a:xfrm>
            <a:off x="9637776" y="3474720"/>
            <a:ext cx="164591" cy="0"/>
          </a:xfrm>
          <a:prstGeom prst="line">
            <a:avLst/>
          </a:prstGeom>
          <a:ln w="25400">
            <a:solidFill>
              <a:srgbClr val="F59E0B"/>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802367"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02367" y="1965960"/>
            <a:ext cx="1645919" cy="137160"/>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930384" y="2240279"/>
            <a:ext cx="1389887" cy="457200"/>
          </a:xfrm>
          <a:prstGeom prst="rect">
            <a:avLst/>
          </a:prstGeom>
          <a:noFill/>
        </p:spPr>
        <p:txBody>
          <a:bodyPr wrap="square" lIns="0" rIns="0" tIns="0" bIns="0" anchor="t">
            <a:spAutoFit/>
          </a:bodyPr>
          <a:lstStyle/>
          <a:p>
            <a:pPr algn="ctr">
              <a:spcAft>
                <a:spcPts val="300"/>
              </a:spcAft>
            </a:pPr>
            <a:r>
              <a:rPr sz="1400" b="1">
                <a:solidFill>
                  <a:srgbClr val="C93131"/>
                </a:solidFill>
                <a:latin typeface="Arial"/>
              </a:rPr>
              <a:t>06</a:t>
            </a:r>
          </a:p>
        </p:txBody>
      </p:sp>
      <p:sp>
        <p:nvSpPr>
          <p:cNvPr id="40" name="TextBox 39"/>
          <p:cNvSpPr txBox="1"/>
          <p:nvPr/>
        </p:nvSpPr>
        <p:spPr>
          <a:xfrm>
            <a:off x="9930384"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Secondary</a:t>
            </a:r>
          </a:p>
        </p:txBody>
      </p:sp>
      <p:sp>
        <p:nvSpPr>
          <p:cNvPr id="41" name="TextBox 40"/>
          <p:cNvSpPr txBox="1"/>
          <p:nvPr/>
        </p:nvSpPr>
        <p:spPr>
          <a:xfrm>
            <a:off x="9948672"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new risk from response</a:t>
            </a:r>
          </a:p>
        </p:txBody>
      </p:sp>
      <p:sp>
        <p:nvSpPr>
          <p:cNvPr id="42" name="Rounded Rectangle 41"/>
          <p:cNvSpPr/>
          <p:nvPr/>
        </p:nvSpPr>
        <p:spPr>
          <a:xfrm>
            <a:off x="749808" y="5303520"/>
            <a:ext cx="10698480" cy="713232"/>
          </a:xfrm>
          <a:prstGeom prst="roundRect">
            <a:avLst>
              <a:gd name="adj" fmla="val 8000"/>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A response is not operational until timing, ownership and funding are explicit.</a:t>
            </a:r>
          </a:p>
        </p:txBody>
      </p:sp>
      <p:sp>
        <p:nvSpPr>
          <p:cNvPr id="44" name="TextBox 43"/>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5" name="TextBox 44"/>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04 · REFERENCE-SOURCED DEEP DIVE</a:t>
            </a:r>
          </a:p>
        </p:txBody>
      </p:sp>
      <p:sp>
        <p:nvSpPr>
          <p:cNvPr id="46" name="TextBox 45"/>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117</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F59E0B"/>
                </a:solidFill>
                <a:latin typeface="Arial"/>
              </a:rPr>
              <a:t>TOPIC 04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Decision Tree and Sensitivity</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948690"/>
          </a:xfrm>
          <a:prstGeom prst="rect">
            <a:avLst/>
          </a:prstGeom>
          <a:solidFill>
            <a:srgbClr val="F59E0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80238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Tool</a:t>
            </a:r>
          </a:p>
        </p:txBody>
      </p:sp>
      <p:sp>
        <p:nvSpPr>
          <p:cNvPr id="9" name="Rectangle 8"/>
          <p:cNvSpPr/>
          <p:nvPr/>
        </p:nvSpPr>
        <p:spPr>
          <a:xfrm>
            <a:off x="4315968" y="1810512"/>
            <a:ext cx="3566160" cy="948690"/>
          </a:xfrm>
          <a:prstGeom prst="rect">
            <a:avLst/>
          </a:prstGeom>
          <a:solidFill>
            <a:srgbClr val="F59E0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80238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Question answered</a:t>
            </a:r>
          </a:p>
        </p:txBody>
      </p:sp>
      <p:sp>
        <p:nvSpPr>
          <p:cNvPr id="11" name="Rectangle 10"/>
          <p:cNvSpPr/>
          <p:nvPr/>
        </p:nvSpPr>
        <p:spPr>
          <a:xfrm>
            <a:off x="7882127" y="1810512"/>
            <a:ext cx="3566160" cy="948690"/>
          </a:xfrm>
          <a:prstGeom prst="rect">
            <a:avLst/>
          </a:prstGeom>
          <a:solidFill>
            <a:srgbClr val="F59E0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80238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Caution</a:t>
            </a:r>
          </a:p>
        </p:txBody>
      </p:sp>
      <p:sp>
        <p:nvSpPr>
          <p:cNvPr id="13" name="Rectangle 12"/>
          <p:cNvSpPr/>
          <p:nvPr/>
        </p:nvSpPr>
        <p:spPr>
          <a:xfrm>
            <a:off x="749808" y="2759202"/>
            <a:ext cx="3566160" cy="94869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804922"/>
            <a:ext cx="3346704" cy="85725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Decision tree</a:t>
            </a:r>
          </a:p>
        </p:txBody>
      </p:sp>
      <p:sp>
        <p:nvSpPr>
          <p:cNvPr id="15" name="Rectangle 14"/>
          <p:cNvSpPr/>
          <p:nvPr/>
        </p:nvSpPr>
        <p:spPr>
          <a:xfrm>
            <a:off x="4315968" y="2759202"/>
            <a:ext cx="3566160" cy="94869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804922"/>
            <a:ext cx="3346704" cy="85725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Which option has better expected value?</a:t>
            </a:r>
          </a:p>
        </p:txBody>
      </p:sp>
      <p:sp>
        <p:nvSpPr>
          <p:cNvPr id="17" name="Rectangle 16"/>
          <p:cNvSpPr/>
          <p:nvPr/>
        </p:nvSpPr>
        <p:spPr>
          <a:xfrm>
            <a:off x="7882127" y="2759202"/>
            <a:ext cx="3566160" cy="94869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804922"/>
            <a:ext cx="3346704" cy="85725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Average value can hide tail consequences</a:t>
            </a:r>
          </a:p>
        </p:txBody>
      </p:sp>
      <p:sp>
        <p:nvSpPr>
          <p:cNvPr id="19" name="Rectangle 18"/>
          <p:cNvSpPr/>
          <p:nvPr/>
        </p:nvSpPr>
        <p:spPr>
          <a:xfrm>
            <a:off x="749808" y="3707891"/>
            <a:ext cx="3566160" cy="94869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753611"/>
            <a:ext cx="3346704" cy="85725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Tornado chart</a:t>
            </a:r>
          </a:p>
        </p:txBody>
      </p:sp>
      <p:sp>
        <p:nvSpPr>
          <p:cNvPr id="21" name="Rectangle 20"/>
          <p:cNvSpPr/>
          <p:nvPr/>
        </p:nvSpPr>
        <p:spPr>
          <a:xfrm>
            <a:off x="4315968" y="3707891"/>
            <a:ext cx="3566160" cy="94869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753611"/>
            <a:ext cx="3346704" cy="85725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Which assumption drives outcome most?</a:t>
            </a:r>
          </a:p>
        </p:txBody>
      </p:sp>
      <p:sp>
        <p:nvSpPr>
          <p:cNvPr id="23" name="Rectangle 22"/>
          <p:cNvSpPr/>
          <p:nvPr/>
        </p:nvSpPr>
        <p:spPr>
          <a:xfrm>
            <a:off x="7882127" y="3707891"/>
            <a:ext cx="3566160" cy="94869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753611"/>
            <a:ext cx="3346704" cy="85725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Range quality determines insight</a:t>
            </a:r>
          </a:p>
        </p:txBody>
      </p:sp>
      <p:sp>
        <p:nvSpPr>
          <p:cNvPr id="25" name="Rectangle 24"/>
          <p:cNvSpPr/>
          <p:nvPr/>
        </p:nvSpPr>
        <p:spPr>
          <a:xfrm>
            <a:off x="749808" y="4656582"/>
            <a:ext cx="3566160" cy="94869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702302"/>
            <a:ext cx="3346704" cy="85725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Probability-impact matrix</a:t>
            </a:r>
          </a:p>
        </p:txBody>
      </p:sp>
      <p:sp>
        <p:nvSpPr>
          <p:cNvPr id="27" name="Rectangle 26"/>
          <p:cNvSpPr/>
          <p:nvPr/>
        </p:nvSpPr>
        <p:spPr>
          <a:xfrm>
            <a:off x="4315968" y="4656582"/>
            <a:ext cx="3566160" cy="94869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702302"/>
            <a:ext cx="3346704" cy="85725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What needs attention first?</a:t>
            </a:r>
          </a:p>
        </p:txBody>
      </p:sp>
      <p:sp>
        <p:nvSpPr>
          <p:cNvPr id="29" name="Rectangle 28"/>
          <p:cNvSpPr/>
          <p:nvPr/>
        </p:nvSpPr>
        <p:spPr>
          <a:xfrm>
            <a:off x="7882127" y="4656582"/>
            <a:ext cx="3566160" cy="94869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702302"/>
            <a:ext cx="3346704" cy="85725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Ordinal scores are not precise money</a:t>
            </a:r>
          </a:p>
        </p:txBody>
      </p:sp>
      <p:sp>
        <p:nvSpPr>
          <p:cNvPr id="31" name="Rounded Rectangle 30"/>
          <p:cNvSpPr/>
          <p:nvPr/>
        </p:nvSpPr>
        <p:spPr>
          <a:xfrm>
            <a:off x="749808" y="5815584"/>
            <a:ext cx="10698480" cy="420624"/>
          </a:xfrm>
          <a:prstGeom prst="roundRect">
            <a:avLst>
              <a:gd name="adj" fmla="val 8000"/>
            </a:avLst>
          </a:prstGeom>
          <a:solidFill>
            <a:srgbClr val="F4F7F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Use more analysis only when the decision value exceeds the analysis effort.</a:t>
            </a:r>
          </a:p>
        </p:txBody>
      </p:sp>
      <p:sp>
        <p:nvSpPr>
          <p:cNvPr id="33" name="TextBox 3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4" name="TextBox 3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04 · REFERENCE-SOURCED DEEP DIVE</a:t>
            </a:r>
          </a:p>
        </p:txBody>
      </p:sp>
      <p:sp>
        <p:nvSpPr>
          <p:cNvPr id="35" name="TextBox 3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118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F59E0B"/>
                </a:solidFill>
                <a:latin typeface="Arial"/>
              </a:rPr>
              <a:t>TOPIC 04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Risk Review Agenda</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2956559"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Triggered</a:t>
            </a:r>
          </a:p>
        </p:txBody>
      </p:sp>
      <p:sp>
        <p:nvSpPr>
          <p:cNvPr id="10" name="TextBox 9"/>
          <p:cNvSpPr txBox="1"/>
          <p:nvPr/>
        </p:nvSpPr>
        <p:spPr>
          <a:xfrm>
            <a:off x="100584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Promote to issue and execute response.</a:t>
            </a:r>
          </a:p>
        </p:txBody>
      </p:sp>
      <p:sp>
        <p:nvSpPr>
          <p:cNvPr id="11" name="Rounded Rectangle 10"/>
          <p:cNvSpPr/>
          <p:nvPr/>
        </p:nvSpPr>
        <p:spPr>
          <a:xfrm>
            <a:off x="439216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92167"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8200" y="1947672"/>
            <a:ext cx="2956559"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Changed</a:t>
            </a:r>
          </a:p>
        </p:txBody>
      </p:sp>
      <p:sp>
        <p:nvSpPr>
          <p:cNvPr id="14" name="TextBox 13"/>
          <p:cNvSpPr txBox="1"/>
          <p:nvPr/>
        </p:nvSpPr>
        <p:spPr>
          <a:xfrm>
            <a:off x="464820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Re-score probability, impact and timing.</a:t>
            </a:r>
          </a:p>
        </p:txBody>
      </p:sp>
      <p:sp>
        <p:nvSpPr>
          <p:cNvPr id="15" name="Rounded Rectangle 14"/>
          <p:cNvSpPr/>
          <p:nvPr/>
        </p:nvSpPr>
        <p:spPr>
          <a:xfrm>
            <a:off x="803452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34527" y="1783080"/>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559" y="1947672"/>
            <a:ext cx="2956559"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New</a:t>
            </a:r>
          </a:p>
        </p:txBody>
      </p:sp>
      <p:sp>
        <p:nvSpPr>
          <p:cNvPr id="18" name="TextBox 17"/>
          <p:cNvSpPr txBox="1"/>
          <p:nvPr/>
        </p:nvSpPr>
        <p:spPr>
          <a:xfrm>
            <a:off x="8290559"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Add emerging and secondary risk.</a:t>
            </a:r>
          </a:p>
        </p:txBody>
      </p:sp>
      <p:sp>
        <p:nvSpPr>
          <p:cNvPr id="19" name="Rounded Rectangle 18"/>
          <p:cNvSpPr/>
          <p:nvPr/>
        </p:nvSpPr>
        <p:spPr>
          <a:xfrm>
            <a:off x="749808"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980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4283964"/>
            <a:ext cx="2956559"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Obsolete</a:t>
            </a:r>
          </a:p>
        </p:txBody>
      </p:sp>
      <p:sp>
        <p:nvSpPr>
          <p:cNvPr id="22" name="TextBox 21"/>
          <p:cNvSpPr txBox="1"/>
          <p:nvPr/>
        </p:nvSpPr>
        <p:spPr>
          <a:xfrm>
            <a:off x="100584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Close with rationale.</a:t>
            </a:r>
          </a:p>
        </p:txBody>
      </p:sp>
      <p:sp>
        <p:nvSpPr>
          <p:cNvPr id="23" name="Rounded Rectangle 22"/>
          <p:cNvSpPr/>
          <p:nvPr/>
        </p:nvSpPr>
        <p:spPr>
          <a:xfrm>
            <a:off x="4392167"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92167" y="4119372"/>
            <a:ext cx="91440" cy="2107692"/>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48200" y="4283964"/>
            <a:ext cx="2956559" cy="438912"/>
          </a:xfrm>
          <a:prstGeom prst="rect">
            <a:avLst/>
          </a:prstGeom>
          <a:noFill/>
        </p:spPr>
        <p:txBody>
          <a:bodyPr wrap="square" lIns="0" rIns="0" tIns="0" bIns="0" anchor="t">
            <a:spAutoFit/>
          </a:bodyPr>
          <a:lstStyle/>
          <a:p>
            <a:pPr algn="l">
              <a:spcAft>
                <a:spcPts val="300"/>
              </a:spcAft>
            </a:pPr>
            <a:r>
              <a:rPr sz="1300" b="1">
                <a:solidFill>
                  <a:srgbClr val="1A7F4B"/>
                </a:solidFill>
                <a:latin typeface="Arial"/>
              </a:rPr>
              <a:t>Reserve</a:t>
            </a:r>
          </a:p>
        </p:txBody>
      </p:sp>
      <p:sp>
        <p:nvSpPr>
          <p:cNvPr id="26" name="TextBox 25"/>
          <p:cNvSpPr txBox="1"/>
          <p:nvPr/>
        </p:nvSpPr>
        <p:spPr>
          <a:xfrm>
            <a:off x="464820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Reconcile use and remaining exposure.</a:t>
            </a:r>
          </a:p>
        </p:txBody>
      </p:sp>
      <p:sp>
        <p:nvSpPr>
          <p:cNvPr id="27" name="Rounded Rectangle 26"/>
          <p:cNvSpPr/>
          <p:nvPr/>
        </p:nvSpPr>
        <p:spPr>
          <a:xfrm>
            <a:off x="8034527"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34527" y="4119372"/>
            <a:ext cx="91440" cy="2107692"/>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90559" y="4283964"/>
            <a:ext cx="2956559" cy="438912"/>
          </a:xfrm>
          <a:prstGeom prst="rect">
            <a:avLst/>
          </a:prstGeom>
          <a:noFill/>
        </p:spPr>
        <p:txBody>
          <a:bodyPr wrap="square" lIns="0" rIns="0" tIns="0" bIns="0" anchor="t">
            <a:spAutoFit/>
          </a:bodyPr>
          <a:lstStyle/>
          <a:p>
            <a:pPr algn="l">
              <a:spcAft>
                <a:spcPts val="300"/>
              </a:spcAft>
            </a:pPr>
            <a:r>
              <a:rPr sz="1300" b="1">
                <a:solidFill>
                  <a:srgbClr val="C93131"/>
                </a:solidFill>
                <a:latin typeface="Arial"/>
              </a:rPr>
              <a:t>Escalation</a:t>
            </a:r>
          </a:p>
        </p:txBody>
      </p:sp>
      <p:sp>
        <p:nvSpPr>
          <p:cNvPr id="30" name="TextBox 29"/>
          <p:cNvSpPr txBox="1"/>
          <p:nvPr/>
        </p:nvSpPr>
        <p:spPr>
          <a:xfrm>
            <a:off x="8290559"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Decide beyond tolerance.</a:t>
            </a:r>
          </a:p>
        </p:txBody>
      </p:sp>
      <p:sp>
        <p:nvSpPr>
          <p:cNvPr id="31" name="TextBox 30"/>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2" name="TextBox 31"/>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04 · REFERENCE-SOURCED DEEP DIVE</a:t>
            </a:r>
          </a:p>
        </p:txBody>
      </p:sp>
      <p:sp>
        <p:nvSpPr>
          <p:cNvPr id="33" name="TextBox 32"/>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119</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04 · TOOL-BASED PRACTICE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Activity 7 Tool Pack</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52347" y="2057400"/>
            <a:ext cx="3246120" cy="1874519"/>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52347" y="2057400"/>
            <a:ext cx="3246120" cy="109728"/>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0947" y="2304288"/>
            <a:ext cx="2788920" cy="292608"/>
          </a:xfrm>
          <a:prstGeom prst="rect">
            <a:avLst/>
          </a:prstGeom>
          <a:noFill/>
        </p:spPr>
        <p:txBody>
          <a:bodyPr wrap="square" lIns="0" rIns="0" tIns="0" bIns="0" anchor="t">
            <a:spAutoFit/>
          </a:bodyPr>
          <a:lstStyle/>
          <a:p>
            <a:pPr algn="ctr">
              <a:spcAft>
                <a:spcPts val="300"/>
              </a:spcAft>
            </a:pPr>
            <a:r>
              <a:rPr sz="1100" b="1">
                <a:solidFill>
                  <a:srgbClr val="1655D1"/>
                </a:solidFill>
                <a:latin typeface="Arial"/>
              </a:rPr>
              <a:t>XLSX</a:t>
            </a:r>
          </a:p>
        </p:txBody>
      </p:sp>
      <p:sp>
        <p:nvSpPr>
          <p:cNvPr id="10" name="TextBox 9"/>
          <p:cNvSpPr txBox="1"/>
          <p:nvPr/>
        </p:nvSpPr>
        <p:spPr>
          <a:xfrm>
            <a:off x="1180947" y="2624328"/>
            <a:ext cx="2788920" cy="640080"/>
          </a:xfrm>
          <a:prstGeom prst="rect">
            <a:avLst/>
          </a:prstGeom>
          <a:noFill/>
        </p:spPr>
        <p:txBody>
          <a:bodyPr wrap="square" lIns="0" rIns="0" tIns="0" bIns="0" anchor="ctr">
            <a:spAutoFit/>
          </a:bodyPr>
          <a:lstStyle/>
          <a:p>
            <a:pPr algn="ctr">
              <a:spcAft>
                <a:spcPts val="300"/>
              </a:spcAft>
            </a:pPr>
            <a:r>
              <a:rPr sz="1250" b="1">
                <a:solidFill>
                  <a:srgbClr val="131B2A"/>
                </a:solidFill>
                <a:latin typeface="Arial"/>
              </a:rPr>
              <a:t>48 Risk Assessment Matrix Two pages</a:t>
            </a:r>
          </a:p>
        </p:txBody>
      </p:sp>
      <p:sp>
        <p:nvSpPr>
          <p:cNvPr id="11" name="TextBox 10"/>
          <p:cNvSpPr txBox="1"/>
          <p:nvPr/>
        </p:nvSpPr>
        <p:spPr>
          <a:xfrm>
            <a:off x="1180947" y="3337560"/>
            <a:ext cx="2788920" cy="320040"/>
          </a:xfrm>
          <a:prstGeom prst="rect">
            <a:avLst/>
          </a:prstGeom>
          <a:noFill/>
        </p:spPr>
        <p:txBody>
          <a:bodyPr wrap="square" lIns="0" rIns="0" tIns="0" bIns="0" anchor="t">
            <a:spAutoFit/>
          </a:bodyPr>
          <a:lstStyle/>
          <a:p>
            <a:pPr algn="ctr">
              <a:spcAft>
                <a:spcPts val="300"/>
              </a:spcAft>
            </a:pPr>
            <a:r>
              <a:rPr sz="1050" b="0">
                <a:solidFill>
                  <a:srgbClr val="5F6B7A"/>
                </a:solidFill>
                <a:latin typeface="Arial"/>
              </a:rPr>
              <a:t>Editable evidence file</a:t>
            </a:r>
          </a:p>
        </p:txBody>
      </p:sp>
      <p:sp>
        <p:nvSpPr>
          <p:cNvPr id="12" name="Rounded Rectangle 11"/>
          <p:cNvSpPr/>
          <p:nvPr/>
        </p:nvSpPr>
        <p:spPr>
          <a:xfrm>
            <a:off x="4472787" y="2057400"/>
            <a:ext cx="3246120" cy="1874519"/>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72787" y="2057400"/>
            <a:ext cx="3246120" cy="1097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1387" y="2304288"/>
            <a:ext cx="2788920" cy="292608"/>
          </a:xfrm>
          <a:prstGeom prst="rect">
            <a:avLst/>
          </a:prstGeom>
          <a:noFill/>
        </p:spPr>
        <p:txBody>
          <a:bodyPr wrap="square" lIns="0" rIns="0" tIns="0" bIns="0" anchor="t">
            <a:spAutoFit/>
          </a:bodyPr>
          <a:lstStyle/>
          <a:p>
            <a:pPr algn="ctr">
              <a:spcAft>
                <a:spcPts val="300"/>
              </a:spcAft>
            </a:pPr>
            <a:r>
              <a:rPr sz="1100" b="1">
                <a:solidFill>
                  <a:srgbClr val="0F9D8A"/>
                </a:solidFill>
                <a:latin typeface="Arial"/>
              </a:rPr>
              <a:t>XLSX</a:t>
            </a:r>
          </a:p>
        </p:txBody>
      </p:sp>
      <p:sp>
        <p:nvSpPr>
          <p:cNvPr id="15" name="TextBox 14"/>
          <p:cNvSpPr txBox="1"/>
          <p:nvPr/>
        </p:nvSpPr>
        <p:spPr>
          <a:xfrm>
            <a:off x="4701387" y="2624328"/>
            <a:ext cx="2788920" cy="640080"/>
          </a:xfrm>
          <a:prstGeom prst="rect">
            <a:avLst/>
          </a:prstGeom>
          <a:noFill/>
        </p:spPr>
        <p:txBody>
          <a:bodyPr wrap="square" lIns="0" rIns="0" tIns="0" bIns="0" anchor="ctr">
            <a:spAutoFit/>
          </a:bodyPr>
          <a:lstStyle/>
          <a:p>
            <a:pPr algn="ctr">
              <a:spcAft>
                <a:spcPts val="300"/>
              </a:spcAft>
            </a:pPr>
            <a:r>
              <a:rPr sz="1250" b="1">
                <a:solidFill>
                  <a:srgbClr val="131B2A"/>
                </a:solidFill>
                <a:latin typeface="Arial"/>
              </a:rPr>
              <a:t>45 Decision Tree Analysis TDIDT</a:t>
            </a:r>
          </a:p>
        </p:txBody>
      </p:sp>
      <p:sp>
        <p:nvSpPr>
          <p:cNvPr id="16" name="TextBox 15"/>
          <p:cNvSpPr txBox="1"/>
          <p:nvPr/>
        </p:nvSpPr>
        <p:spPr>
          <a:xfrm>
            <a:off x="4701387" y="3337560"/>
            <a:ext cx="2788920" cy="320040"/>
          </a:xfrm>
          <a:prstGeom prst="rect">
            <a:avLst/>
          </a:prstGeom>
          <a:noFill/>
        </p:spPr>
        <p:txBody>
          <a:bodyPr wrap="square" lIns="0" rIns="0" tIns="0" bIns="0" anchor="t">
            <a:spAutoFit/>
          </a:bodyPr>
          <a:lstStyle/>
          <a:p>
            <a:pPr algn="ctr">
              <a:spcAft>
                <a:spcPts val="300"/>
              </a:spcAft>
            </a:pPr>
            <a:r>
              <a:rPr sz="1050" b="0">
                <a:solidFill>
                  <a:srgbClr val="5F6B7A"/>
                </a:solidFill>
                <a:latin typeface="Arial"/>
              </a:rPr>
              <a:t>Editable evidence file</a:t>
            </a:r>
          </a:p>
        </p:txBody>
      </p:sp>
      <p:sp>
        <p:nvSpPr>
          <p:cNvPr id="17" name="Rounded Rectangle 16"/>
          <p:cNvSpPr/>
          <p:nvPr/>
        </p:nvSpPr>
        <p:spPr>
          <a:xfrm>
            <a:off x="7993227" y="2057400"/>
            <a:ext cx="3246120" cy="1874519"/>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93227" y="2057400"/>
            <a:ext cx="3246120" cy="109728"/>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1827" y="2304288"/>
            <a:ext cx="2788920" cy="292608"/>
          </a:xfrm>
          <a:prstGeom prst="rect">
            <a:avLst/>
          </a:prstGeom>
          <a:noFill/>
        </p:spPr>
        <p:txBody>
          <a:bodyPr wrap="square" lIns="0" rIns="0" tIns="0" bIns="0" anchor="t">
            <a:spAutoFit/>
          </a:bodyPr>
          <a:lstStyle/>
          <a:p>
            <a:pPr algn="ctr">
              <a:spcAft>
                <a:spcPts val="300"/>
              </a:spcAft>
            </a:pPr>
            <a:r>
              <a:rPr sz="1100" b="1">
                <a:solidFill>
                  <a:srgbClr val="703CC3"/>
                </a:solidFill>
                <a:latin typeface="Arial"/>
              </a:rPr>
              <a:t>XLSX</a:t>
            </a:r>
          </a:p>
        </p:txBody>
      </p:sp>
      <p:sp>
        <p:nvSpPr>
          <p:cNvPr id="20" name="TextBox 19"/>
          <p:cNvSpPr txBox="1"/>
          <p:nvPr/>
        </p:nvSpPr>
        <p:spPr>
          <a:xfrm>
            <a:off x="8221827" y="2624328"/>
            <a:ext cx="2788920" cy="640080"/>
          </a:xfrm>
          <a:prstGeom prst="rect">
            <a:avLst/>
          </a:prstGeom>
          <a:noFill/>
        </p:spPr>
        <p:txBody>
          <a:bodyPr wrap="square" lIns="0" rIns="0" tIns="0" bIns="0" anchor="ctr">
            <a:spAutoFit/>
          </a:bodyPr>
          <a:lstStyle/>
          <a:p>
            <a:pPr algn="ctr">
              <a:spcAft>
                <a:spcPts val="300"/>
              </a:spcAft>
            </a:pPr>
            <a:r>
              <a:rPr sz="1250" b="1">
                <a:solidFill>
                  <a:srgbClr val="131B2A"/>
                </a:solidFill>
                <a:latin typeface="Arial"/>
              </a:rPr>
              <a:t>49 Tornado Chart - Sensitivity Analysis</a:t>
            </a:r>
          </a:p>
        </p:txBody>
      </p:sp>
      <p:sp>
        <p:nvSpPr>
          <p:cNvPr id="21" name="TextBox 20"/>
          <p:cNvSpPr txBox="1"/>
          <p:nvPr/>
        </p:nvSpPr>
        <p:spPr>
          <a:xfrm>
            <a:off x="8221827" y="3337560"/>
            <a:ext cx="2788920" cy="320040"/>
          </a:xfrm>
          <a:prstGeom prst="rect">
            <a:avLst/>
          </a:prstGeom>
          <a:noFill/>
        </p:spPr>
        <p:txBody>
          <a:bodyPr wrap="square" lIns="0" rIns="0" tIns="0" bIns="0" anchor="t">
            <a:spAutoFit/>
          </a:bodyPr>
          <a:lstStyle/>
          <a:p>
            <a:pPr algn="ctr">
              <a:spcAft>
                <a:spcPts val="300"/>
              </a:spcAft>
            </a:pPr>
            <a:r>
              <a:rPr sz="1050" b="0">
                <a:solidFill>
                  <a:srgbClr val="5F6B7A"/>
                </a:solidFill>
                <a:latin typeface="Arial"/>
              </a:rPr>
              <a:t>Editable evidence file</a:t>
            </a:r>
          </a:p>
        </p:txBody>
      </p:sp>
      <p:sp>
        <p:nvSpPr>
          <p:cNvPr id="22" name="Rounded Rectangle 21"/>
          <p:cNvSpPr/>
          <p:nvPr/>
        </p:nvSpPr>
        <p:spPr>
          <a:xfrm>
            <a:off x="749808" y="4343400"/>
            <a:ext cx="10698480" cy="1143000"/>
          </a:xfrm>
          <a:prstGeom prst="roundRect">
            <a:avLst>
              <a:gd name="adj" fmla="val 8000"/>
            </a:avLst>
          </a:prstGeom>
          <a:solidFill>
            <a:srgbClr val="FFFFFF"/>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7552" y="4544568"/>
            <a:ext cx="1828800" cy="274320"/>
          </a:xfrm>
          <a:prstGeom prst="rect">
            <a:avLst/>
          </a:prstGeom>
          <a:noFill/>
        </p:spPr>
        <p:txBody>
          <a:bodyPr wrap="square" lIns="0" rIns="0" tIns="0" bIns="0" anchor="t">
            <a:spAutoFit/>
          </a:bodyPr>
          <a:lstStyle/>
          <a:p>
            <a:pPr algn="l">
              <a:spcAft>
                <a:spcPts val="300"/>
              </a:spcAft>
            </a:pPr>
            <a:r>
              <a:rPr sz="1050" b="1">
                <a:solidFill>
                  <a:srgbClr val="0F9D8A"/>
                </a:solidFill>
                <a:latin typeface="Arial"/>
              </a:rPr>
              <a:t>DECISION ENABLED</a:t>
            </a:r>
          </a:p>
        </p:txBody>
      </p:sp>
      <p:sp>
        <p:nvSpPr>
          <p:cNvPr id="24" name="TextBox 23"/>
          <p:cNvSpPr txBox="1"/>
          <p:nvPr/>
        </p:nvSpPr>
        <p:spPr>
          <a:xfrm>
            <a:off x="2788920" y="4453128"/>
            <a:ext cx="8229600" cy="685800"/>
          </a:xfrm>
          <a:prstGeom prst="rect">
            <a:avLst/>
          </a:prstGeom>
          <a:noFill/>
        </p:spPr>
        <p:txBody>
          <a:bodyPr wrap="square" lIns="0" rIns="0" tIns="0" bIns="0" anchor="ctr">
            <a:spAutoFit/>
          </a:bodyPr>
          <a:lstStyle/>
          <a:p>
            <a:pPr algn="l">
              <a:spcAft>
                <a:spcPts val="300"/>
              </a:spcAft>
            </a:pPr>
            <a:r>
              <a:rPr sz="1250" b="1">
                <a:solidFill>
                  <a:srgbClr val="131B2A"/>
                </a:solidFill>
                <a:latin typeface="Arial"/>
              </a:rPr>
              <a:t>A prioritised risk register, response and trigger plan, EMV recommendation, tornado sensitivity reading and reconciled S$18,000 contingency allocation.</a:t>
            </a:r>
          </a:p>
        </p:txBody>
      </p:sp>
      <p:sp>
        <p:nvSpPr>
          <p:cNvPr id="25" name="TextBox 24"/>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6" name="TextBox 25"/>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04 · TOOL-BASED PRACTICE</a:t>
            </a:r>
          </a:p>
        </p:txBody>
      </p:sp>
      <p:sp>
        <p:nvSpPr>
          <p:cNvPr id="27" name="TextBox 26"/>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120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04 · HANDS-ON ACTIVITY</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Build the Risk Register and Fund Responses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034272" y="384048"/>
            <a:ext cx="2377440" cy="402336"/>
          </a:xfrm>
          <a:prstGeom prst="roundRect">
            <a:avLst>
              <a:gd name="adj" fmla="val 8000"/>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34272" y="384048"/>
            <a:ext cx="2377440" cy="402336"/>
          </a:xfrm>
          <a:prstGeom prst="rect">
            <a:avLst/>
          </a:prstGeom>
          <a:noFill/>
        </p:spPr>
        <p:txBody>
          <a:bodyPr wrap="square" lIns="0" rIns="0" tIns="0" bIns="0" anchor="ctr">
            <a:spAutoFit/>
          </a:bodyPr>
          <a:lstStyle/>
          <a:p>
            <a:pPr algn="ctr">
              <a:spcAft>
                <a:spcPts val="300"/>
              </a:spcAft>
            </a:pPr>
            <a:r>
              <a:rPr sz="1050" b="1">
                <a:solidFill>
                  <a:srgbClr val="FFFFFF"/>
                </a:solidFill>
                <a:latin typeface="Arial"/>
              </a:rPr>
              <a:t>ACTIVITY 7 · 45 MIN</a:t>
            </a:r>
          </a:p>
        </p:txBody>
      </p:sp>
      <p:sp>
        <p:nvSpPr>
          <p:cNvPr id="9" name="Rounded Rectangle 8"/>
          <p:cNvSpPr/>
          <p:nvPr/>
        </p:nvSpPr>
        <p:spPr>
          <a:xfrm>
            <a:off x="749808" y="1773936"/>
            <a:ext cx="10698480" cy="12344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773936"/>
            <a:ext cx="91440" cy="123444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874519"/>
            <a:ext cx="10149840" cy="256032"/>
          </a:xfrm>
          <a:prstGeom prst="rect">
            <a:avLst/>
          </a:prstGeom>
          <a:noFill/>
        </p:spPr>
        <p:txBody>
          <a:bodyPr wrap="square" lIns="0" rIns="0" tIns="0" bIns="0" anchor="t">
            <a:spAutoFit/>
          </a:bodyPr>
          <a:lstStyle/>
          <a:p>
            <a:pPr algn="l">
              <a:spcAft>
                <a:spcPts val="300"/>
              </a:spcAft>
            </a:pPr>
            <a:r>
              <a:rPr sz="1050" b="1">
                <a:solidFill>
                  <a:srgbClr val="703CC3"/>
                </a:solidFill>
                <a:latin typeface="Arial"/>
              </a:rPr>
              <a:t>THE SITUATION</a:t>
            </a:r>
          </a:p>
        </p:txBody>
      </p:sp>
      <p:sp>
        <p:nvSpPr>
          <p:cNvPr id="12" name="TextBox 11"/>
          <p:cNvSpPr txBox="1"/>
          <p:nvPr/>
        </p:nvSpPr>
        <p:spPr>
          <a:xfrm>
            <a:off x="1005840" y="2139696"/>
            <a:ext cx="10149840" cy="731520"/>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The POS interface may be late, refrigerated stock counts are unreliable, a key trainer has a short availability window and a faster payment option could improve adoption. Contingency reserve is S$18,000.</a:t>
            </a:r>
          </a:p>
        </p:txBody>
      </p:sp>
      <p:sp>
        <p:nvSpPr>
          <p:cNvPr id="13" name="Rounded Rectangle 12"/>
          <p:cNvSpPr/>
          <p:nvPr/>
        </p:nvSpPr>
        <p:spPr>
          <a:xfrm>
            <a:off x="749808"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9808" y="3218688"/>
            <a:ext cx="3419856" cy="9144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 y="3401568"/>
            <a:ext cx="3017520" cy="274320"/>
          </a:xfrm>
          <a:prstGeom prst="rect">
            <a:avLst/>
          </a:prstGeom>
          <a:noFill/>
        </p:spPr>
        <p:txBody>
          <a:bodyPr wrap="square" lIns="0" rIns="0" tIns="0" bIns="0" anchor="t">
            <a:spAutoFit/>
          </a:bodyPr>
          <a:lstStyle/>
          <a:p>
            <a:pPr algn="l">
              <a:spcAft>
                <a:spcPts val="300"/>
              </a:spcAft>
            </a:pPr>
            <a:r>
              <a:rPr sz="1050" b="1">
                <a:solidFill>
                  <a:srgbClr val="1655D1"/>
                </a:solidFill>
                <a:latin typeface="Arial"/>
              </a:rPr>
              <a:t>WHAT YOU'LL DO</a:t>
            </a:r>
          </a:p>
        </p:txBody>
      </p:sp>
      <p:sp>
        <p:nvSpPr>
          <p:cNvPr id="16" name="TextBox 15"/>
          <p:cNvSpPr txBox="1"/>
          <p:nvPr/>
        </p:nvSpPr>
        <p:spPr>
          <a:xfrm>
            <a:off x="950976"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Write cause-event-impact risks, rank exposure, assign owners and triggers, choose responses, compare alternatives using EMV and sensitivity, and allocate contingency.</a:t>
            </a:r>
          </a:p>
        </p:txBody>
      </p:sp>
      <p:sp>
        <p:nvSpPr>
          <p:cNvPr id="17" name="Rounded Rectangle 16"/>
          <p:cNvSpPr/>
          <p:nvPr/>
        </p:nvSpPr>
        <p:spPr>
          <a:xfrm>
            <a:off x="4389120"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89120" y="3218688"/>
            <a:ext cx="341985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90288" y="3401568"/>
            <a:ext cx="3017520" cy="274320"/>
          </a:xfrm>
          <a:prstGeom prst="rect">
            <a:avLst/>
          </a:prstGeom>
          <a:noFill/>
        </p:spPr>
        <p:txBody>
          <a:bodyPr wrap="square" lIns="0" rIns="0" tIns="0" bIns="0" anchor="t">
            <a:spAutoFit/>
          </a:bodyPr>
          <a:lstStyle/>
          <a:p>
            <a:pPr algn="l">
              <a:spcAft>
                <a:spcPts val="300"/>
              </a:spcAft>
            </a:pPr>
            <a:r>
              <a:rPr sz="1050" b="1">
                <a:solidFill>
                  <a:srgbClr val="0F9D8A"/>
                </a:solidFill>
                <a:latin typeface="Arial"/>
              </a:rPr>
              <a:t>YOU'LL PRODUCE</a:t>
            </a:r>
          </a:p>
        </p:txBody>
      </p:sp>
      <p:sp>
        <p:nvSpPr>
          <p:cNvPr id="20" name="TextBox 19"/>
          <p:cNvSpPr txBox="1"/>
          <p:nvPr/>
        </p:nvSpPr>
        <p:spPr>
          <a:xfrm>
            <a:off x="4590288"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A prioritised risk register, response and trigger plan, EMV recommendation, tornado sensitivity reading and reconciled S$18,000 contingency allocation.</a:t>
            </a:r>
          </a:p>
        </p:txBody>
      </p:sp>
      <p:sp>
        <p:nvSpPr>
          <p:cNvPr id="21" name="Rounded Rectangle 20"/>
          <p:cNvSpPr/>
          <p:nvPr/>
        </p:nvSpPr>
        <p:spPr>
          <a:xfrm>
            <a:off x="8028431"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28431" y="3218688"/>
            <a:ext cx="3419856"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0" y="3401568"/>
            <a:ext cx="3017520" cy="274320"/>
          </a:xfrm>
          <a:prstGeom prst="rect">
            <a:avLst/>
          </a:prstGeom>
          <a:noFill/>
        </p:spPr>
        <p:txBody>
          <a:bodyPr wrap="square" lIns="0" rIns="0" tIns="0" bIns="0" anchor="t">
            <a:spAutoFit/>
          </a:bodyPr>
          <a:lstStyle/>
          <a:p>
            <a:pPr algn="l">
              <a:spcAft>
                <a:spcPts val="300"/>
              </a:spcAft>
            </a:pPr>
            <a:r>
              <a:rPr sz="1050" b="1">
                <a:solidFill>
                  <a:srgbClr val="F59E0B"/>
                </a:solidFill>
                <a:latin typeface="Arial"/>
              </a:rPr>
              <a:t>DONE WHEN</a:t>
            </a:r>
          </a:p>
        </p:txBody>
      </p:sp>
      <p:sp>
        <p:nvSpPr>
          <p:cNvPr id="24" name="TextBox 23"/>
          <p:cNvSpPr txBox="1"/>
          <p:nvPr/>
        </p:nvSpPr>
        <p:spPr>
          <a:xfrm>
            <a:off x="8229600"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Priority risks have owners, triggers and funded responses; the EMV and sensitivity logic reconcile; contingency is allocated to named uncertainty and residual risk remains visible.</a:t>
            </a:r>
          </a:p>
        </p:txBody>
      </p:sp>
      <p:sp>
        <p:nvSpPr>
          <p:cNvPr id="25" name="Rounded Rectangle 24"/>
          <p:cNvSpPr/>
          <p:nvPr/>
        </p:nvSpPr>
        <p:spPr>
          <a:xfrm>
            <a:off x="749808" y="5486400"/>
            <a:ext cx="10698480" cy="713232"/>
          </a:xfrm>
          <a:prstGeom prst="roundRect">
            <a:avLst>
              <a:gd name="adj" fmla="val 8000"/>
            </a:avLst>
          </a:prstGeom>
          <a:solidFill>
            <a:srgbClr val="FFFFFF"/>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577840"/>
            <a:ext cx="10195560" cy="256032"/>
          </a:xfrm>
          <a:prstGeom prst="rect">
            <a:avLst/>
          </a:prstGeom>
          <a:noFill/>
        </p:spPr>
        <p:txBody>
          <a:bodyPr wrap="square" lIns="0" rIns="0" tIns="0" bIns="0" anchor="t">
            <a:spAutoFit/>
          </a:bodyPr>
          <a:lstStyle/>
          <a:p>
            <a:pPr algn="l">
              <a:spcAft>
                <a:spcPts val="300"/>
              </a:spcAft>
            </a:pPr>
            <a:r>
              <a:rPr sz="1100" b="1">
                <a:solidFill>
                  <a:srgbClr val="131B2A"/>
                </a:solidFill>
                <a:latin typeface="Arial"/>
              </a:rPr>
              <a:t>Tool: Risk Matrix, Decision Tree and Tornado Analysis</a:t>
            </a:r>
          </a:p>
        </p:txBody>
      </p:sp>
      <p:sp>
        <p:nvSpPr>
          <p:cNvPr id="27" name="TextBox 26"/>
          <p:cNvSpPr txBox="1"/>
          <p:nvPr/>
        </p:nvSpPr>
        <p:spPr>
          <a:xfrm>
            <a:off x="960120" y="5843016"/>
            <a:ext cx="10195560" cy="219456"/>
          </a:xfrm>
          <a:prstGeom prst="rect">
            <a:avLst/>
          </a:prstGeom>
          <a:noFill/>
        </p:spPr>
        <p:txBody>
          <a:bodyPr wrap="square" lIns="0" rIns="0" tIns="0" bIns="0" anchor="t">
            <a:spAutoFit/>
          </a:bodyPr>
          <a:lstStyle/>
          <a:p>
            <a:pPr algn="l">
              <a:spcAft>
                <a:spcPts val="300"/>
              </a:spcAft>
            </a:pPr>
            <a:r>
              <a:rPr sz="950" b="0">
                <a:solidFill>
                  <a:srgbClr val="5F6B7A"/>
                </a:solidFill>
                <a:latin typeface="Arial"/>
              </a:rPr>
              <a:t>Full procedure, evidence fields and acceptance criteria: Learner Guide and Activity 7 folder.</a:t>
            </a:r>
          </a:p>
        </p:txBody>
      </p:sp>
      <p:sp>
        <p:nvSpPr>
          <p:cNvPr id="28" name="TextBox 27"/>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9" name="TextBox 28"/>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Activity 7 · LO4</a:t>
            </a:r>
          </a:p>
        </p:txBody>
      </p:sp>
      <p:sp>
        <p:nvSpPr>
          <p:cNvPr id="30" name="TextBox 29"/>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121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703CC3"/>
                </a:solidFill>
                <a:latin typeface="Arial"/>
              </a:rPr>
              <a:t>TOPIC 04 · ACTIVITY DEBRIEF</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Debrief — Activity 7: What It Proves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1328928"/>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1024128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1</a:t>
            </a:r>
          </a:p>
        </p:txBody>
      </p:sp>
      <p:sp>
        <p:nvSpPr>
          <p:cNvPr id="10" name="TextBox 9"/>
          <p:cNvSpPr txBox="1"/>
          <p:nvPr/>
        </p:nvSpPr>
        <p:spPr>
          <a:xfrm>
            <a:off x="1005840" y="2313432"/>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Risk management creates options before triggers become expensive issues.</a:t>
            </a:r>
          </a:p>
        </p:txBody>
      </p:sp>
      <p:sp>
        <p:nvSpPr>
          <p:cNvPr id="11" name="Rounded Rectangle 10"/>
          <p:cNvSpPr/>
          <p:nvPr/>
        </p:nvSpPr>
        <p:spPr>
          <a:xfrm>
            <a:off x="749808" y="3340608"/>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 y="3340608"/>
            <a:ext cx="91440" cy="13289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505200"/>
            <a:ext cx="1024128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2</a:t>
            </a:r>
          </a:p>
        </p:txBody>
      </p:sp>
      <p:sp>
        <p:nvSpPr>
          <p:cNvPr id="14" name="TextBox 13"/>
          <p:cNvSpPr txBox="1"/>
          <p:nvPr/>
        </p:nvSpPr>
        <p:spPr>
          <a:xfrm>
            <a:off x="1005840" y="3870960"/>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Quantitative analysis sharpens material decisions but does not replace judgement.</a:t>
            </a:r>
          </a:p>
        </p:txBody>
      </p:sp>
      <p:sp>
        <p:nvSpPr>
          <p:cNvPr id="15" name="Rounded Rectangle 14"/>
          <p:cNvSpPr/>
          <p:nvPr/>
        </p:nvSpPr>
        <p:spPr>
          <a:xfrm>
            <a:off x="749808" y="4898136"/>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898136"/>
            <a:ext cx="91440" cy="1328928"/>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5062728"/>
            <a:ext cx="1024128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3</a:t>
            </a:r>
          </a:p>
        </p:txBody>
      </p:sp>
      <p:sp>
        <p:nvSpPr>
          <p:cNvPr id="18" name="TextBox 17"/>
          <p:cNvSpPr txBox="1"/>
          <p:nvPr/>
        </p:nvSpPr>
        <p:spPr>
          <a:xfrm>
            <a:off x="1005840" y="5428488"/>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Acceptance means informed monitoring and contingency, not forgetting the risk.</a:t>
            </a:r>
          </a:p>
        </p:txBody>
      </p:sp>
      <p:sp>
        <p:nvSpPr>
          <p:cNvPr id="19" name="TextBox 1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0" name="TextBox 1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04 · ACTIVITY DEBRIEF</a:t>
            </a:r>
          </a:p>
        </p:txBody>
      </p:sp>
      <p:sp>
        <p:nvSpPr>
          <p:cNvPr id="21" name="TextBox 2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122</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A7F4B"/>
                </a:solidFill>
                <a:latin typeface="Arial"/>
              </a:rPr>
              <a:t>TOPIC 04 · A4, K4 · LO4</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Topic 04 Recap</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Decision</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Risk is an uncertain event or condition with a positive or negative effect; an issue has already happened.</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Method</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Qualitative analysis prioritises quickly; quantitative analysis estimates the range of outcomes and decision value.</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Evidence</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200" b="0">
                <a:solidFill>
                  <a:srgbClr val="131B2A"/>
                </a:solidFill>
                <a:latin typeface="Arial"/>
              </a:rPr>
              <a:t>A prioritised risk register, response and trigger plan, EMV recommendation, tornado sensitivity reading and reconciled S$18,000 contingency allocation.</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Capability</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Identify, analyse and manage uncertainty with proportionate, funded action (A4, K4).</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04 · A4, K4 · LO4</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123</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58368" y="1554480"/>
            <a:ext cx="10881360" cy="36118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554480"/>
            <a:ext cx="128016" cy="361188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70432" y="1901952"/>
            <a:ext cx="7955279" cy="365760"/>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DAY 1 CLOSE</a:t>
            </a:r>
          </a:p>
        </p:txBody>
      </p:sp>
      <p:sp>
        <p:nvSpPr>
          <p:cNvPr id="6" name="TextBox 5"/>
          <p:cNvSpPr txBox="1"/>
          <p:nvPr/>
        </p:nvSpPr>
        <p:spPr>
          <a:xfrm>
            <a:off x="1170432" y="2395728"/>
            <a:ext cx="9052560" cy="914400"/>
          </a:xfrm>
          <a:prstGeom prst="rect">
            <a:avLst/>
          </a:prstGeom>
          <a:noFill/>
        </p:spPr>
        <p:txBody>
          <a:bodyPr wrap="square" lIns="0" rIns="0" tIns="0" bIns="0" anchor="ctr">
            <a:spAutoFit/>
          </a:bodyPr>
          <a:lstStyle/>
          <a:p>
            <a:pPr algn="l">
              <a:spcAft>
                <a:spcPts val="300"/>
              </a:spcAft>
            </a:pPr>
            <a:r>
              <a:rPr sz="3400" b="1">
                <a:solidFill>
                  <a:srgbClr val="131B2A"/>
                </a:solidFill>
                <a:latin typeface="Arial"/>
              </a:rPr>
              <a:t>End of Day 1</a:t>
            </a:r>
          </a:p>
        </p:txBody>
      </p:sp>
      <p:sp>
        <p:nvSpPr>
          <p:cNvPr id="7" name="TextBox 6"/>
          <p:cNvSpPr txBox="1"/>
          <p:nvPr/>
        </p:nvSpPr>
        <p:spPr>
          <a:xfrm>
            <a:off x="1170432" y="3474720"/>
            <a:ext cx="9052560" cy="777240"/>
          </a:xfrm>
          <a:prstGeom prst="rect">
            <a:avLst/>
          </a:prstGeom>
          <a:noFill/>
        </p:spPr>
        <p:txBody>
          <a:bodyPr wrap="square" lIns="0" rIns="0" tIns="0" bIns="0" anchor="t">
            <a:spAutoFit/>
          </a:bodyPr>
          <a:lstStyle/>
          <a:p>
            <a:pPr algn="l">
              <a:spcAft>
                <a:spcPts val="300"/>
              </a:spcAft>
            </a:pPr>
            <a:r>
              <a:rPr sz="1600" b="0">
                <a:solidFill>
                  <a:srgbClr val="5F6B7A"/>
                </a:solidFill>
                <a:latin typeface="Arial"/>
              </a:rPr>
              <a:t>Save Activities 1–7. Day 2 continues the same project from the approved risk-aware baseline.</a:t>
            </a:r>
          </a:p>
        </p:txBody>
      </p:sp>
      <p:sp>
        <p:nvSpPr>
          <p:cNvPr id="8" name="TextBox 7"/>
          <p:cNvSpPr txBox="1"/>
          <p:nvPr/>
        </p:nvSpPr>
        <p:spPr>
          <a:xfrm>
            <a:off x="9308592" y="594360"/>
            <a:ext cx="1920240" cy="1097280"/>
          </a:xfrm>
          <a:prstGeom prst="rect">
            <a:avLst/>
          </a:prstGeom>
          <a:noFill/>
        </p:spPr>
        <p:txBody>
          <a:bodyPr wrap="square" lIns="0" rIns="0" tIns="0" bIns="0" anchor="t">
            <a:spAutoFit/>
          </a:bodyPr>
          <a:lstStyle/>
          <a:p>
            <a:pPr algn="r">
              <a:spcAft>
                <a:spcPts val="300"/>
              </a:spcAft>
            </a:pPr>
            <a:r>
              <a:rPr sz="6200" b="1">
                <a:solidFill>
                  <a:srgbClr val="DAE2EC"/>
                </a:solidFill>
                <a:latin typeface="Arial"/>
              </a:rPr>
              <a:t/>
            </a:r>
          </a:p>
        </p:txBody>
      </p:sp>
      <p:sp>
        <p:nvSpPr>
          <p:cNvPr id="9" name="TextBox 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10" name="TextBox 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DAY 1 CLOSE</a:t>
            </a:r>
          </a:p>
        </p:txBody>
      </p:sp>
      <p:sp>
        <p:nvSpPr>
          <p:cNvPr id="11" name="TextBox 1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124</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58368" y="1554480"/>
            <a:ext cx="10881360" cy="36118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554480"/>
            <a:ext cx="128016" cy="361188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70432" y="1901952"/>
            <a:ext cx="7955279" cy="365760"/>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TOPIC 05 · A5, K5 · LO5</a:t>
            </a:r>
          </a:p>
        </p:txBody>
      </p:sp>
      <p:sp>
        <p:nvSpPr>
          <p:cNvPr id="6" name="TextBox 5"/>
          <p:cNvSpPr txBox="1"/>
          <p:nvPr/>
        </p:nvSpPr>
        <p:spPr>
          <a:xfrm>
            <a:off x="1170432" y="2395728"/>
            <a:ext cx="9052560" cy="914400"/>
          </a:xfrm>
          <a:prstGeom prst="rect">
            <a:avLst/>
          </a:prstGeom>
          <a:noFill/>
        </p:spPr>
        <p:txBody>
          <a:bodyPr wrap="square" lIns="0" rIns="0" tIns="0" bIns="0" anchor="ctr">
            <a:spAutoFit/>
          </a:bodyPr>
          <a:lstStyle/>
          <a:p>
            <a:pPr algn="l">
              <a:spcAft>
                <a:spcPts val="300"/>
              </a:spcAft>
            </a:pPr>
            <a:r>
              <a:rPr sz="3400" b="1">
                <a:solidFill>
                  <a:srgbClr val="131B2A"/>
                </a:solidFill>
                <a:latin typeface="Arial"/>
              </a:rPr>
              <a:t>Collaborate with Stakeholders</a:t>
            </a:r>
          </a:p>
        </p:txBody>
      </p:sp>
      <p:sp>
        <p:nvSpPr>
          <p:cNvPr id="7" name="TextBox 6"/>
          <p:cNvSpPr txBox="1"/>
          <p:nvPr/>
        </p:nvSpPr>
        <p:spPr>
          <a:xfrm>
            <a:off x="1170432" y="3474720"/>
            <a:ext cx="9052560" cy="777240"/>
          </a:xfrm>
          <a:prstGeom prst="rect">
            <a:avLst/>
          </a:prstGeom>
          <a:noFill/>
        </p:spPr>
        <p:txBody>
          <a:bodyPr wrap="square" lIns="0" rIns="0" tIns="0" bIns="0" anchor="t">
            <a:spAutoFit/>
          </a:bodyPr>
          <a:lstStyle/>
          <a:p>
            <a:pPr algn="l">
              <a:spcAft>
                <a:spcPts val="300"/>
              </a:spcAft>
            </a:pPr>
            <a:r>
              <a:rPr sz="1600" b="0">
                <a:solidFill>
                  <a:srgbClr val="5F6B7A"/>
                </a:solidFill>
                <a:latin typeface="Arial"/>
              </a:rPr>
              <a:t>Identify · analyse · communicate · engage · allocate accountability</a:t>
            </a:r>
          </a:p>
        </p:txBody>
      </p:sp>
      <p:sp>
        <p:nvSpPr>
          <p:cNvPr id="8" name="TextBox 7"/>
          <p:cNvSpPr txBox="1"/>
          <p:nvPr/>
        </p:nvSpPr>
        <p:spPr>
          <a:xfrm>
            <a:off x="9308592" y="594360"/>
            <a:ext cx="1920240" cy="1097280"/>
          </a:xfrm>
          <a:prstGeom prst="rect">
            <a:avLst/>
          </a:prstGeom>
          <a:noFill/>
        </p:spPr>
        <p:txBody>
          <a:bodyPr wrap="square" lIns="0" rIns="0" tIns="0" bIns="0" anchor="t">
            <a:spAutoFit/>
          </a:bodyPr>
          <a:lstStyle/>
          <a:p>
            <a:pPr algn="r">
              <a:spcAft>
                <a:spcPts val="300"/>
              </a:spcAft>
            </a:pPr>
            <a:r>
              <a:rPr sz="6200" b="1">
                <a:solidFill>
                  <a:srgbClr val="DAE2EC"/>
                </a:solidFill>
                <a:latin typeface="Arial"/>
              </a:rPr>
              <a:t>05</a:t>
            </a:r>
          </a:p>
        </p:txBody>
      </p:sp>
      <p:sp>
        <p:nvSpPr>
          <p:cNvPr id="9" name="TextBox 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10" name="TextBox 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05 · A5, K5 · LO5</a:t>
            </a:r>
          </a:p>
        </p:txBody>
      </p:sp>
      <p:sp>
        <p:nvSpPr>
          <p:cNvPr id="11" name="TextBox 1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125</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A7F4B"/>
                </a:solidFill>
                <a:latin typeface="Arial"/>
              </a:rPr>
              <a:t>TOPIC 05 · CENTRAL IDEA</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Stakeholder engagement is part of delivery.</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847088"/>
            <a:ext cx="10698480" cy="3977639"/>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847088"/>
            <a:ext cx="128016" cy="3977639"/>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2359152"/>
            <a:ext cx="9738360" cy="2834640"/>
          </a:xfrm>
          <a:prstGeom prst="rect">
            <a:avLst/>
          </a:prstGeom>
          <a:noFill/>
        </p:spPr>
        <p:txBody>
          <a:bodyPr wrap="square" lIns="0" rIns="0" tIns="0" bIns="0" anchor="ctr">
            <a:spAutoFit/>
          </a:bodyPr>
          <a:lstStyle/>
          <a:p>
            <a:pPr algn="l">
              <a:spcAft>
                <a:spcPts val="300"/>
              </a:spcAft>
            </a:pPr>
            <a:r>
              <a:rPr sz="2400" b="1">
                <a:solidFill>
                  <a:srgbClr val="131B2A"/>
                </a:solidFill>
                <a:latin typeface="Arial"/>
              </a:rPr>
              <a:t>Every unresolved expectation eventually appears as a delay, rejected deliverable, unapproved invoice or uncontrolled change.</a:t>
            </a:r>
          </a:p>
        </p:txBody>
      </p:sp>
      <p:sp>
        <p:nvSpPr>
          <p:cNvPr id="10" name="TextBox 9"/>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11" name="TextBox 10"/>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05 · CENTRAL IDEA</a:t>
            </a:r>
          </a:p>
        </p:txBody>
      </p:sp>
      <p:sp>
        <p:nvSpPr>
          <p:cNvPr id="12" name="TextBox 11"/>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126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05 · CONCEPT MAP</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Collaborate with Stakeholders — Core Concepts I</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01</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 stakeholder can affect, be affected by, or perceive themselves to be affected by the project.</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02</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The stakeholder register captures interest, influence, expectations, impact, communication needs and engagement strategy.</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03</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Power-interest mapping guides attention; the salience model adds legitimacy and urgency.</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04</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The engagement assessment matrix compares current and desired states so the gap becomes actionable.</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05 · CONCEPT MAP</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127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05 · CONCEPT MAP</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Collaborate with Stakeholders — Core Concepts II</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05</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RACI clarifies who is Responsible, Accountable, Consulted and Informed; every deliverable needs one clear Accountable owner.</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06</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Communication planning matches audience, message, channel, frequency, owner and feedback route.</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07</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Engagement is two-way sense-making and decision participation, not one-way broadcasting.</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08</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Escalation should state the decision needed, options, impact of delay and recommendation.</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05 · CONCEPT MAP</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128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05 · APPLIED FRAMEWORK</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Stakeholder Analysis to Engagement</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1645919"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1389887"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Identify</a:t>
            </a:r>
          </a:p>
        </p:txBody>
      </p:sp>
      <p:sp>
        <p:nvSpPr>
          <p:cNvPr id="11" name="TextBox 10"/>
          <p:cNvSpPr txBox="1"/>
          <p:nvPr/>
        </p:nvSpPr>
        <p:spPr>
          <a:xfrm>
            <a:off x="896112"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who affects or is affected</a:t>
            </a:r>
          </a:p>
        </p:txBody>
      </p:sp>
      <p:cxnSp>
        <p:nvCxnSpPr>
          <p:cNvPr id="12" name="Connector 11"/>
          <p:cNvCxnSpPr/>
          <p:nvPr/>
        </p:nvCxnSpPr>
        <p:spPr>
          <a:xfrm>
            <a:off x="2395727" y="3474720"/>
            <a:ext cx="164593"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560320"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60320" y="1965960"/>
            <a:ext cx="1645919"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88336" y="2240279"/>
            <a:ext cx="1389887"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2688336"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Analyse</a:t>
            </a:r>
          </a:p>
        </p:txBody>
      </p:sp>
      <p:sp>
        <p:nvSpPr>
          <p:cNvPr id="17" name="TextBox 16"/>
          <p:cNvSpPr txBox="1"/>
          <p:nvPr/>
        </p:nvSpPr>
        <p:spPr>
          <a:xfrm>
            <a:off x="2706624"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interest, influence, impact</a:t>
            </a:r>
          </a:p>
        </p:txBody>
      </p:sp>
      <p:cxnSp>
        <p:nvCxnSpPr>
          <p:cNvPr id="18" name="Connector 17"/>
          <p:cNvCxnSpPr/>
          <p:nvPr/>
        </p:nvCxnSpPr>
        <p:spPr>
          <a:xfrm>
            <a:off x="4206240" y="3474720"/>
            <a:ext cx="164591"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370831"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70831" y="1965960"/>
            <a:ext cx="1645919"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98847" y="2240279"/>
            <a:ext cx="1389887"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4498847"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Prioritise</a:t>
            </a:r>
          </a:p>
        </p:txBody>
      </p:sp>
      <p:sp>
        <p:nvSpPr>
          <p:cNvPr id="23" name="TextBox 22"/>
          <p:cNvSpPr txBox="1"/>
          <p:nvPr/>
        </p:nvSpPr>
        <p:spPr>
          <a:xfrm>
            <a:off x="4517136"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power-interest and salience</a:t>
            </a:r>
          </a:p>
        </p:txBody>
      </p:sp>
      <p:cxnSp>
        <p:nvCxnSpPr>
          <p:cNvPr id="24" name="Connector 23"/>
          <p:cNvCxnSpPr/>
          <p:nvPr/>
        </p:nvCxnSpPr>
        <p:spPr>
          <a:xfrm>
            <a:off x="6016751"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181344"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81344" y="1965960"/>
            <a:ext cx="1645919"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59" y="2240279"/>
            <a:ext cx="1389887"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6309359"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Plan</a:t>
            </a:r>
          </a:p>
        </p:txBody>
      </p:sp>
      <p:sp>
        <p:nvSpPr>
          <p:cNvPr id="29" name="TextBox 28"/>
          <p:cNvSpPr txBox="1"/>
          <p:nvPr/>
        </p:nvSpPr>
        <p:spPr>
          <a:xfrm>
            <a:off x="6327648"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message, channel, frequency</a:t>
            </a:r>
          </a:p>
        </p:txBody>
      </p:sp>
      <p:cxnSp>
        <p:nvCxnSpPr>
          <p:cNvPr id="30" name="Connector 29"/>
          <p:cNvCxnSpPr/>
          <p:nvPr/>
        </p:nvCxnSpPr>
        <p:spPr>
          <a:xfrm>
            <a:off x="7827263"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991855"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91855" y="1965960"/>
            <a:ext cx="1645919" cy="13716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19871" y="2240279"/>
            <a:ext cx="1389887" cy="457200"/>
          </a:xfrm>
          <a:prstGeom prst="rect">
            <a:avLst/>
          </a:prstGeom>
          <a:noFill/>
        </p:spPr>
        <p:txBody>
          <a:bodyPr wrap="square" lIns="0" rIns="0" tIns="0" bIns="0" anchor="t">
            <a:spAutoFit/>
          </a:bodyPr>
          <a:lstStyle/>
          <a:p>
            <a:pPr algn="ctr">
              <a:spcAft>
                <a:spcPts val="300"/>
              </a:spcAft>
            </a:pPr>
            <a:r>
              <a:rPr sz="1400" b="1">
                <a:solidFill>
                  <a:srgbClr val="1A7F4B"/>
                </a:solidFill>
                <a:latin typeface="Arial"/>
              </a:rPr>
              <a:t>05</a:t>
            </a:r>
          </a:p>
        </p:txBody>
      </p:sp>
      <p:sp>
        <p:nvSpPr>
          <p:cNvPr id="34" name="TextBox 33"/>
          <p:cNvSpPr txBox="1"/>
          <p:nvPr/>
        </p:nvSpPr>
        <p:spPr>
          <a:xfrm>
            <a:off x="8119871"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Engage</a:t>
            </a:r>
          </a:p>
        </p:txBody>
      </p:sp>
      <p:sp>
        <p:nvSpPr>
          <p:cNvPr id="35" name="TextBox 34"/>
          <p:cNvSpPr txBox="1"/>
          <p:nvPr/>
        </p:nvSpPr>
        <p:spPr>
          <a:xfrm>
            <a:off x="8138159"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two-way decisions</a:t>
            </a:r>
          </a:p>
        </p:txBody>
      </p:sp>
      <p:cxnSp>
        <p:nvCxnSpPr>
          <p:cNvPr id="36" name="Connector 35"/>
          <p:cNvCxnSpPr/>
          <p:nvPr/>
        </p:nvCxnSpPr>
        <p:spPr>
          <a:xfrm>
            <a:off x="9637776" y="3474720"/>
            <a:ext cx="164591"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802367"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02367" y="1965960"/>
            <a:ext cx="1645919" cy="137160"/>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930384" y="2240279"/>
            <a:ext cx="1389887" cy="457200"/>
          </a:xfrm>
          <a:prstGeom prst="rect">
            <a:avLst/>
          </a:prstGeom>
          <a:noFill/>
        </p:spPr>
        <p:txBody>
          <a:bodyPr wrap="square" lIns="0" rIns="0" tIns="0" bIns="0" anchor="t">
            <a:spAutoFit/>
          </a:bodyPr>
          <a:lstStyle/>
          <a:p>
            <a:pPr algn="ctr">
              <a:spcAft>
                <a:spcPts val="300"/>
              </a:spcAft>
            </a:pPr>
            <a:r>
              <a:rPr sz="1400" b="1">
                <a:solidFill>
                  <a:srgbClr val="C93131"/>
                </a:solidFill>
                <a:latin typeface="Arial"/>
              </a:rPr>
              <a:t>06</a:t>
            </a:r>
          </a:p>
        </p:txBody>
      </p:sp>
      <p:sp>
        <p:nvSpPr>
          <p:cNvPr id="40" name="TextBox 39"/>
          <p:cNvSpPr txBox="1"/>
          <p:nvPr/>
        </p:nvSpPr>
        <p:spPr>
          <a:xfrm>
            <a:off x="9930384"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Monitor</a:t>
            </a:r>
          </a:p>
        </p:txBody>
      </p:sp>
      <p:sp>
        <p:nvSpPr>
          <p:cNvPr id="41" name="TextBox 40"/>
          <p:cNvSpPr txBox="1"/>
          <p:nvPr/>
        </p:nvSpPr>
        <p:spPr>
          <a:xfrm>
            <a:off x="9948672"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current vs desired state</a:t>
            </a:r>
          </a:p>
        </p:txBody>
      </p:sp>
      <p:sp>
        <p:nvSpPr>
          <p:cNvPr id="42" name="Rounded Rectangle 41"/>
          <p:cNvSpPr/>
          <p:nvPr/>
        </p:nvSpPr>
        <p:spPr>
          <a:xfrm>
            <a:off x="749808" y="5303520"/>
            <a:ext cx="10698480" cy="713232"/>
          </a:xfrm>
          <a:prstGeom prst="roundRect">
            <a:avLst>
              <a:gd name="adj" fmla="val 8000"/>
            </a:avLst>
          </a:prstGeom>
          <a:solidFill>
            <a:srgbClr val="FFFFFF"/>
          </a:solidFill>
          <a:ln w="12700">
            <a:solidFill>
              <a:srgbClr val="1655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A stakeholder register is useful only when it changes an engagement action.</a:t>
            </a:r>
          </a:p>
        </p:txBody>
      </p:sp>
      <p:sp>
        <p:nvSpPr>
          <p:cNvPr id="44" name="TextBox 43"/>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5" name="TextBox 44"/>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05 · APPLIED FRAMEWORK</a:t>
            </a:r>
          </a:p>
        </p:txBody>
      </p:sp>
      <p:sp>
        <p:nvSpPr>
          <p:cNvPr id="46" name="TextBox 45"/>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129</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05 · DECISION TOOL</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RACI Diagnostic</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632460"/>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Pattern</a:t>
            </a:r>
          </a:p>
        </p:txBody>
      </p:sp>
      <p:sp>
        <p:nvSpPr>
          <p:cNvPr id="9" name="Rectangle 8"/>
          <p:cNvSpPr/>
          <p:nvPr/>
        </p:nvSpPr>
        <p:spPr>
          <a:xfrm>
            <a:off x="4315968" y="1810512"/>
            <a:ext cx="3566160" cy="632460"/>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Meaning</a:t>
            </a:r>
          </a:p>
        </p:txBody>
      </p:sp>
      <p:sp>
        <p:nvSpPr>
          <p:cNvPr id="11" name="Rectangle 10"/>
          <p:cNvSpPr/>
          <p:nvPr/>
        </p:nvSpPr>
        <p:spPr>
          <a:xfrm>
            <a:off x="7882127" y="1810512"/>
            <a:ext cx="3566160" cy="632460"/>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Correction</a:t>
            </a:r>
          </a:p>
        </p:txBody>
      </p:sp>
      <p:sp>
        <p:nvSpPr>
          <p:cNvPr id="13" name="Rectangle 12"/>
          <p:cNvSpPr/>
          <p:nvPr/>
        </p:nvSpPr>
        <p:spPr>
          <a:xfrm>
            <a:off x="74980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48869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No A</a:t>
            </a:r>
          </a:p>
        </p:txBody>
      </p:sp>
      <p:sp>
        <p:nvSpPr>
          <p:cNvPr id="15" name="Rectangle 14"/>
          <p:cNvSpPr/>
          <p:nvPr/>
        </p:nvSpPr>
        <p:spPr>
          <a:xfrm>
            <a:off x="431596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Nobody owns the outcome</a:t>
            </a:r>
          </a:p>
        </p:txBody>
      </p:sp>
      <p:sp>
        <p:nvSpPr>
          <p:cNvPr id="17" name="Rectangle 16"/>
          <p:cNvSpPr/>
          <p:nvPr/>
        </p:nvSpPr>
        <p:spPr>
          <a:xfrm>
            <a:off x="7882127"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Assign one accountable owner</a:t>
            </a:r>
          </a:p>
        </p:txBody>
      </p:sp>
      <p:sp>
        <p:nvSpPr>
          <p:cNvPr id="19" name="Rectangle 18"/>
          <p:cNvSpPr/>
          <p:nvPr/>
        </p:nvSpPr>
        <p:spPr>
          <a:xfrm>
            <a:off x="74980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12115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Multiple A</a:t>
            </a:r>
          </a:p>
        </p:txBody>
      </p:sp>
      <p:sp>
        <p:nvSpPr>
          <p:cNvPr id="21" name="Rectangle 20"/>
          <p:cNvSpPr/>
          <p:nvPr/>
        </p:nvSpPr>
        <p:spPr>
          <a:xfrm>
            <a:off x="431596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Competing decision rights</a:t>
            </a:r>
          </a:p>
        </p:txBody>
      </p:sp>
      <p:sp>
        <p:nvSpPr>
          <p:cNvPr id="23" name="Rectangle 22"/>
          <p:cNvSpPr/>
          <p:nvPr/>
        </p:nvSpPr>
        <p:spPr>
          <a:xfrm>
            <a:off x="7882127"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Choose one and define escalation</a:t>
            </a:r>
          </a:p>
        </p:txBody>
      </p:sp>
      <p:sp>
        <p:nvSpPr>
          <p:cNvPr id="25" name="Rectangle 24"/>
          <p:cNvSpPr/>
          <p:nvPr/>
        </p:nvSpPr>
        <p:spPr>
          <a:xfrm>
            <a:off x="74980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3753611"/>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No R</a:t>
            </a:r>
          </a:p>
        </p:txBody>
      </p:sp>
      <p:sp>
        <p:nvSpPr>
          <p:cNvPr id="27" name="Rectangle 26"/>
          <p:cNvSpPr/>
          <p:nvPr/>
        </p:nvSpPr>
        <p:spPr>
          <a:xfrm>
            <a:off x="431596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No one performs the work</a:t>
            </a:r>
          </a:p>
        </p:txBody>
      </p:sp>
      <p:sp>
        <p:nvSpPr>
          <p:cNvPr id="29" name="Rectangle 28"/>
          <p:cNvSpPr/>
          <p:nvPr/>
        </p:nvSpPr>
        <p:spPr>
          <a:xfrm>
            <a:off x="7882127"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Assign delivery responsibility</a:t>
            </a:r>
          </a:p>
        </p:txBody>
      </p:sp>
      <p:sp>
        <p:nvSpPr>
          <p:cNvPr id="31" name="Rectangle 30"/>
          <p:cNvSpPr/>
          <p:nvPr/>
        </p:nvSpPr>
        <p:spPr>
          <a:xfrm>
            <a:off x="74980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38607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Too many C</a:t>
            </a:r>
          </a:p>
        </p:txBody>
      </p:sp>
      <p:sp>
        <p:nvSpPr>
          <p:cNvPr id="33" name="Rectangle 32"/>
          <p:cNvSpPr/>
          <p:nvPr/>
        </p:nvSpPr>
        <p:spPr>
          <a:xfrm>
            <a:off x="431596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Decision gridlock</a:t>
            </a:r>
          </a:p>
        </p:txBody>
      </p:sp>
      <p:sp>
        <p:nvSpPr>
          <p:cNvPr id="35" name="Rectangle 34"/>
          <p:cNvSpPr/>
          <p:nvPr/>
        </p:nvSpPr>
        <p:spPr>
          <a:xfrm>
            <a:off x="7882127"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Consult only for needed input</a:t>
            </a:r>
          </a:p>
        </p:txBody>
      </p:sp>
      <p:sp>
        <p:nvSpPr>
          <p:cNvPr id="37" name="Rectangle 36"/>
          <p:cNvSpPr/>
          <p:nvPr/>
        </p:nvSpPr>
        <p:spPr>
          <a:xfrm>
            <a:off x="74980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 y="501853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Everyone I</a:t>
            </a:r>
          </a:p>
        </p:txBody>
      </p:sp>
      <p:sp>
        <p:nvSpPr>
          <p:cNvPr id="39" name="Rectangle 38"/>
          <p:cNvSpPr/>
          <p:nvPr/>
        </p:nvSpPr>
        <p:spPr>
          <a:xfrm>
            <a:off x="431596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25696"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Broadcast without purpose</a:t>
            </a:r>
          </a:p>
        </p:txBody>
      </p:sp>
      <p:sp>
        <p:nvSpPr>
          <p:cNvPr id="41" name="Rectangle 40"/>
          <p:cNvSpPr/>
          <p:nvPr/>
        </p:nvSpPr>
        <p:spPr>
          <a:xfrm>
            <a:off x="7882127"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91855"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Tailor information needs</a:t>
            </a:r>
          </a:p>
        </p:txBody>
      </p:sp>
      <p:sp>
        <p:nvSpPr>
          <p:cNvPr id="43" name="Rounded Rectangle 42"/>
          <p:cNvSpPr/>
          <p:nvPr/>
        </p:nvSpPr>
        <p:spPr>
          <a:xfrm>
            <a:off x="749808" y="5815584"/>
            <a:ext cx="10698480" cy="420624"/>
          </a:xfrm>
          <a:prstGeom prst="roundRect">
            <a:avLst>
              <a:gd name="adj" fmla="val 8000"/>
            </a:avLst>
          </a:prstGeom>
          <a:solidFill>
            <a:srgbClr val="F4F7FB"/>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Use deliverables and decisions as rows; vague verbs create vague accountability.</a:t>
            </a:r>
          </a:p>
        </p:txBody>
      </p:sp>
      <p:sp>
        <p:nvSpPr>
          <p:cNvPr id="45" name="TextBox 44"/>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6" name="TextBox 45"/>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05 · DECISION TOOL</a:t>
            </a:r>
          </a:p>
        </p:txBody>
      </p:sp>
      <p:sp>
        <p:nvSpPr>
          <p:cNvPr id="47" name="TextBox 46"/>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130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05 · DECISION TOOL</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Communication vs Engagement</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Dimension</a:t>
            </a:r>
          </a:p>
        </p:txBody>
      </p:sp>
      <p:sp>
        <p:nvSpPr>
          <p:cNvPr id="9" name="Rectangle 8"/>
          <p:cNvSpPr/>
          <p:nvPr/>
        </p:nvSpPr>
        <p:spPr>
          <a:xfrm>
            <a:off x="4315968"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Communication</a:t>
            </a:r>
          </a:p>
        </p:txBody>
      </p:sp>
      <p:sp>
        <p:nvSpPr>
          <p:cNvPr id="11" name="Rectangle 10"/>
          <p:cNvSpPr/>
          <p:nvPr/>
        </p:nvSpPr>
        <p:spPr>
          <a:xfrm>
            <a:off x="7882127"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Engagement</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Direction</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Often one-way</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Two-way</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Purpose</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Share information</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Shape decisions and commitment</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Evidence</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Message delivered</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Feedback changed the work</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Risk</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Noise and overload</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Unresolved expectations</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The channel matters less than whether the stakeholder can influence the decision in time.</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05 · DECISION TOOL</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131</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A7F4B"/>
                </a:solidFill>
                <a:latin typeface="Arial"/>
              </a:rPr>
              <a:t>TOPIC 05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The Stakeholder Engagement Cycle</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2008022"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1751990"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Identify</a:t>
            </a:r>
          </a:p>
        </p:txBody>
      </p:sp>
      <p:sp>
        <p:nvSpPr>
          <p:cNvPr id="11" name="TextBox 10"/>
          <p:cNvSpPr txBox="1"/>
          <p:nvPr/>
        </p:nvSpPr>
        <p:spPr>
          <a:xfrm>
            <a:off x="896112"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who affects or is affected</a:t>
            </a:r>
          </a:p>
        </p:txBody>
      </p:sp>
      <p:cxnSp>
        <p:nvCxnSpPr>
          <p:cNvPr id="12" name="Connector 11"/>
          <p:cNvCxnSpPr/>
          <p:nvPr/>
        </p:nvCxnSpPr>
        <p:spPr>
          <a:xfrm>
            <a:off x="2757830" y="3474720"/>
            <a:ext cx="164592" cy="0"/>
          </a:xfrm>
          <a:prstGeom prst="line">
            <a:avLst/>
          </a:prstGeom>
          <a:ln w="25400">
            <a:solidFill>
              <a:srgbClr val="1A7F4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22422"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22422" y="1965960"/>
            <a:ext cx="2008022"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50438" y="2240279"/>
            <a:ext cx="1751990"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3050438"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Analyse</a:t>
            </a:r>
          </a:p>
        </p:txBody>
      </p:sp>
      <p:sp>
        <p:nvSpPr>
          <p:cNvPr id="17" name="TextBox 16"/>
          <p:cNvSpPr txBox="1"/>
          <p:nvPr/>
        </p:nvSpPr>
        <p:spPr>
          <a:xfrm>
            <a:off x="3068726"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interest, influence, impact and expectations</a:t>
            </a:r>
          </a:p>
        </p:txBody>
      </p:sp>
      <p:cxnSp>
        <p:nvCxnSpPr>
          <p:cNvPr id="18" name="Connector 17"/>
          <p:cNvCxnSpPr/>
          <p:nvPr/>
        </p:nvCxnSpPr>
        <p:spPr>
          <a:xfrm>
            <a:off x="4930444" y="3474720"/>
            <a:ext cx="164592" cy="0"/>
          </a:xfrm>
          <a:prstGeom prst="line">
            <a:avLst/>
          </a:prstGeom>
          <a:ln w="25400">
            <a:solidFill>
              <a:srgbClr val="1A7F4B"/>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95036"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95036" y="1965960"/>
            <a:ext cx="2008022"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23052" y="2240279"/>
            <a:ext cx="1751990"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5223052"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Plan</a:t>
            </a:r>
          </a:p>
        </p:txBody>
      </p:sp>
      <p:sp>
        <p:nvSpPr>
          <p:cNvPr id="23" name="TextBox 22"/>
          <p:cNvSpPr txBox="1"/>
          <p:nvPr/>
        </p:nvSpPr>
        <p:spPr>
          <a:xfrm>
            <a:off x="5241340"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desired state and decision participation</a:t>
            </a:r>
          </a:p>
        </p:txBody>
      </p:sp>
      <p:cxnSp>
        <p:nvCxnSpPr>
          <p:cNvPr id="24" name="Connector 23"/>
          <p:cNvCxnSpPr/>
          <p:nvPr/>
        </p:nvCxnSpPr>
        <p:spPr>
          <a:xfrm>
            <a:off x="7103059" y="3474720"/>
            <a:ext cx="164592" cy="0"/>
          </a:xfrm>
          <a:prstGeom prst="line">
            <a:avLst/>
          </a:prstGeom>
          <a:ln w="25400">
            <a:solidFill>
              <a:srgbClr val="1A7F4B"/>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267651"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67651" y="1965960"/>
            <a:ext cx="2008022"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95667" y="2240279"/>
            <a:ext cx="1751990"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7395667"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Engage</a:t>
            </a:r>
          </a:p>
        </p:txBody>
      </p:sp>
      <p:sp>
        <p:nvSpPr>
          <p:cNvPr id="29" name="TextBox 28"/>
          <p:cNvSpPr txBox="1"/>
          <p:nvPr/>
        </p:nvSpPr>
        <p:spPr>
          <a:xfrm>
            <a:off x="7413955"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communicate, listen and negotiate</a:t>
            </a:r>
          </a:p>
        </p:txBody>
      </p:sp>
      <p:cxnSp>
        <p:nvCxnSpPr>
          <p:cNvPr id="30" name="Connector 29"/>
          <p:cNvCxnSpPr/>
          <p:nvPr/>
        </p:nvCxnSpPr>
        <p:spPr>
          <a:xfrm>
            <a:off x="9275673" y="3474720"/>
            <a:ext cx="164592" cy="0"/>
          </a:xfrm>
          <a:prstGeom prst="line">
            <a:avLst/>
          </a:prstGeom>
          <a:ln w="25400">
            <a:solidFill>
              <a:srgbClr val="1A7F4B"/>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440265"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40265" y="1965960"/>
            <a:ext cx="2008022" cy="13716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68281" y="2240279"/>
            <a:ext cx="1751990" cy="457200"/>
          </a:xfrm>
          <a:prstGeom prst="rect">
            <a:avLst/>
          </a:prstGeom>
          <a:noFill/>
        </p:spPr>
        <p:txBody>
          <a:bodyPr wrap="square" lIns="0" rIns="0" tIns="0" bIns="0" anchor="t">
            <a:spAutoFit/>
          </a:bodyPr>
          <a:lstStyle/>
          <a:p>
            <a:pPr algn="ctr">
              <a:spcAft>
                <a:spcPts val="300"/>
              </a:spcAft>
            </a:pPr>
            <a:r>
              <a:rPr sz="1400" b="1">
                <a:solidFill>
                  <a:srgbClr val="1A7F4B"/>
                </a:solidFill>
                <a:latin typeface="Arial"/>
              </a:rPr>
              <a:t>05</a:t>
            </a:r>
          </a:p>
        </p:txBody>
      </p:sp>
      <p:sp>
        <p:nvSpPr>
          <p:cNvPr id="34" name="TextBox 33"/>
          <p:cNvSpPr txBox="1"/>
          <p:nvPr/>
        </p:nvSpPr>
        <p:spPr>
          <a:xfrm>
            <a:off x="9568281"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Monitor</a:t>
            </a:r>
          </a:p>
        </p:txBody>
      </p:sp>
      <p:sp>
        <p:nvSpPr>
          <p:cNvPr id="35" name="TextBox 34"/>
          <p:cNvSpPr txBox="1"/>
          <p:nvPr/>
        </p:nvSpPr>
        <p:spPr>
          <a:xfrm>
            <a:off x="9586569"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feedback, sentiment and changed influence</a:t>
            </a:r>
          </a:p>
        </p:txBody>
      </p:sp>
      <p:sp>
        <p:nvSpPr>
          <p:cNvPr id="36" name="Rounded Rectangle 35"/>
          <p:cNvSpPr/>
          <p:nvPr/>
        </p:nvSpPr>
        <p:spPr>
          <a:xfrm>
            <a:off x="749808" y="5303520"/>
            <a:ext cx="10698480" cy="713232"/>
          </a:xfrm>
          <a:prstGeom prst="roundRect">
            <a:avLst>
              <a:gd name="adj" fmla="val 8000"/>
            </a:avLst>
          </a:prstGeom>
          <a:solidFill>
            <a:srgbClr val="FFFFFF"/>
          </a:solidFill>
          <a:ln w="12700">
            <a:solidFill>
              <a:srgbClr val="1A7F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Stakeholder identification is continuous because project decisions change who is affected.</a:t>
            </a:r>
          </a:p>
        </p:txBody>
      </p:sp>
      <p:sp>
        <p:nvSpPr>
          <p:cNvPr id="38" name="TextBox 37"/>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9" name="TextBox 38"/>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05 · REFERENCE-SOURCED DEEP DIVE</a:t>
            </a:r>
          </a:p>
        </p:txBody>
      </p:sp>
      <p:sp>
        <p:nvSpPr>
          <p:cNvPr id="40" name="TextBox 39"/>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132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A7F4B"/>
                </a:solidFill>
                <a:latin typeface="Arial"/>
              </a:rPr>
              <a:t>TOPIC 05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Stakeholder Register Fields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2956559"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Identity</a:t>
            </a:r>
          </a:p>
        </p:txBody>
      </p:sp>
      <p:sp>
        <p:nvSpPr>
          <p:cNvPr id="10" name="TextBox 9"/>
          <p:cNvSpPr txBox="1"/>
          <p:nvPr/>
        </p:nvSpPr>
        <p:spPr>
          <a:xfrm>
            <a:off x="100584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Role, organisation and relationship.</a:t>
            </a:r>
          </a:p>
        </p:txBody>
      </p:sp>
      <p:sp>
        <p:nvSpPr>
          <p:cNvPr id="11" name="Rounded Rectangle 10"/>
          <p:cNvSpPr/>
          <p:nvPr/>
        </p:nvSpPr>
        <p:spPr>
          <a:xfrm>
            <a:off x="439216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92167"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8200" y="1947672"/>
            <a:ext cx="2956559"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Interest</a:t>
            </a:r>
          </a:p>
        </p:txBody>
      </p:sp>
      <p:sp>
        <p:nvSpPr>
          <p:cNvPr id="14" name="TextBox 13"/>
          <p:cNvSpPr txBox="1"/>
          <p:nvPr/>
        </p:nvSpPr>
        <p:spPr>
          <a:xfrm>
            <a:off x="464820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What outcome matters.</a:t>
            </a:r>
          </a:p>
        </p:txBody>
      </p:sp>
      <p:sp>
        <p:nvSpPr>
          <p:cNvPr id="15" name="Rounded Rectangle 14"/>
          <p:cNvSpPr/>
          <p:nvPr/>
        </p:nvSpPr>
        <p:spPr>
          <a:xfrm>
            <a:off x="803452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34527" y="1783080"/>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559" y="1947672"/>
            <a:ext cx="2956559"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Influence</a:t>
            </a:r>
          </a:p>
        </p:txBody>
      </p:sp>
      <p:sp>
        <p:nvSpPr>
          <p:cNvPr id="18" name="TextBox 17"/>
          <p:cNvSpPr txBox="1"/>
          <p:nvPr/>
        </p:nvSpPr>
        <p:spPr>
          <a:xfrm>
            <a:off x="8290559"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Formal and informal ability to affect work.</a:t>
            </a:r>
          </a:p>
        </p:txBody>
      </p:sp>
      <p:sp>
        <p:nvSpPr>
          <p:cNvPr id="19" name="Rounded Rectangle 18"/>
          <p:cNvSpPr/>
          <p:nvPr/>
        </p:nvSpPr>
        <p:spPr>
          <a:xfrm>
            <a:off x="749808"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980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4283964"/>
            <a:ext cx="2956559"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Impact</a:t>
            </a:r>
          </a:p>
        </p:txBody>
      </p:sp>
      <p:sp>
        <p:nvSpPr>
          <p:cNvPr id="22" name="TextBox 21"/>
          <p:cNvSpPr txBox="1"/>
          <p:nvPr/>
        </p:nvSpPr>
        <p:spPr>
          <a:xfrm>
            <a:off x="100584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How the project changes their work.</a:t>
            </a:r>
          </a:p>
        </p:txBody>
      </p:sp>
      <p:sp>
        <p:nvSpPr>
          <p:cNvPr id="23" name="Rounded Rectangle 22"/>
          <p:cNvSpPr/>
          <p:nvPr/>
        </p:nvSpPr>
        <p:spPr>
          <a:xfrm>
            <a:off x="4392167"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92167" y="4119372"/>
            <a:ext cx="91440" cy="2107692"/>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48200" y="4283964"/>
            <a:ext cx="2956559" cy="438912"/>
          </a:xfrm>
          <a:prstGeom prst="rect">
            <a:avLst/>
          </a:prstGeom>
          <a:noFill/>
        </p:spPr>
        <p:txBody>
          <a:bodyPr wrap="square" lIns="0" rIns="0" tIns="0" bIns="0" anchor="t">
            <a:spAutoFit/>
          </a:bodyPr>
          <a:lstStyle/>
          <a:p>
            <a:pPr algn="l">
              <a:spcAft>
                <a:spcPts val="300"/>
              </a:spcAft>
            </a:pPr>
            <a:r>
              <a:rPr sz="1300" b="1">
                <a:solidFill>
                  <a:srgbClr val="1A7F4B"/>
                </a:solidFill>
                <a:latin typeface="Arial"/>
              </a:rPr>
              <a:t>Expectations</a:t>
            </a:r>
          </a:p>
        </p:txBody>
      </p:sp>
      <p:sp>
        <p:nvSpPr>
          <p:cNvPr id="26" name="TextBox 25"/>
          <p:cNvSpPr txBox="1"/>
          <p:nvPr/>
        </p:nvSpPr>
        <p:spPr>
          <a:xfrm>
            <a:off x="464820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Definition of success and concern.</a:t>
            </a:r>
          </a:p>
        </p:txBody>
      </p:sp>
      <p:sp>
        <p:nvSpPr>
          <p:cNvPr id="27" name="Rounded Rectangle 26"/>
          <p:cNvSpPr/>
          <p:nvPr/>
        </p:nvSpPr>
        <p:spPr>
          <a:xfrm>
            <a:off x="8034527"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34527" y="4119372"/>
            <a:ext cx="91440" cy="2107692"/>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90559" y="4283964"/>
            <a:ext cx="2956559" cy="438912"/>
          </a:xfrm>
          <a:prstGeom prst="rect">
            <a:avLst/>
          </a:prstGeom>
          <a:noFill/>
        </p:spPr>
        <p:txBody>
          <a:bodyPr wrap="square" lIns="0" rIns="0" tIns="0" bIns="0" anchor="t">
            <a:spAutoFit/>
          </a:bodyPr>
          <a:lstStyle/>
          <a:p>
            <a:pPr algn="l">
              <a:spcAft>
                <a:spcPts val="300"/>
              </a:spcAft>
            </a:pPr>
            <a:r>
              <a:rPr sz="1300" b="1">
                <a:solidFill>
                  <a:srgbClr val="C93131"/>
                </a:solidFill>
                <a:latin typeface="Arial"/>
              </a:rPr>
              <a:t>Strategy</a:t>
            </a:r>
          </a:p>
        </p:txBody>
      </p:sp>
      <p:sp>
        <p:nvSpPr>
          <p:cNvPr id="30" name="TextBox 29"/>
          <p:cNvSpPr txBox="1"/>
          <p:nvPr/>
        </p:nvSpPr>
        <p:spPr>
          <a:xfrm>
            <a:off x="8290559"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Engagement action and owner.</a:t>
            </a:r>
          </a:p>
        </p:txBody>
      </p:sp>
      <p:sp>
        <p:nvSpPr>
          <p:cNvPr id="31" name="TextBox 30"/>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2" name="TextBox 31"/>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05 · REFERENCE-SOURCED DEEP DIVE</a:t>
            </a:r>
          </a:p>
        </p:txBody>
      </p:sp>
      <p:sp>
        <p:nvSpPr>
          <p:cNvPr id="33" name="TextBox 32"/>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133</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A7F4B"/>
                </a:solidFill>
                <a:latin typeface="Arial"/>
              </a:rPr>
              <a:t>TOPIC 05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Stakeholder Mapping Lenses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632460"/>
          </a:xfrm>
          <a:prstGeom prst="rect">
            <a:avLst/>
          </a:prstGeom>
          <a:solidFill>
            <a:srgbClr val="1A7F4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Lens</a:t>
            </a:r>
          </a:p>
        </p:txBody>
      </p:sp>
      <p:sp>
        <p:nvSpPr>
          <p:cNvPr id="9" name="Rectangle 8"/>
          <p:cNvSpPr/>
          <p:nvPr/>
        </p:nvSpPr>
        <p:spPr>
          <a:xfrm>
            <a:off x="4315968" y="1810512"/>
            <a:ext cx="3566160" cy="632460"/>
          </a:xfrm>
          <a:prstGeom prst="rect">
            <a:avLst/>
          </a:prstGeom>
          <a:solidFill>
            <a:srgbClr val="1A7F4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Dimensions</a:t>
            </a:r>
          </a:p>
        </p:txBody>
      </p:sp>
      <p:sp>
        <p:nvSpPr>
          <p:cNvPr id="11" name="Rectangle 10"/>
          <p:cNvSpPr/>
          <p:nvPr/>
        </p:nvSpPr>
        <p:spPr>
          <a:xfrm>
            <a:off x="7882127" y="1810512"/>
            <a:ext cx="3566160" cy="632460"/>
          </a:xfrm>
          <a:prstGeom prst="rect">
            <a:avLst/>
          </a:prstGeom>
          <a:solidFill>
            <a:srgbClr val="1A7F4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Best use</a:t>
            </a:r>
          </a:p>
        </p:txBody>
      </p:sp>
      <p:sp>
        <p:nvSpPr>
          <p:cNvPr id="13" name="Rectangle 12"/>
          <p:cNvSpPr/>
          <p:nvPr/>
        </p:nvSpPr>
        <p:spPr>
          <a:xfrm>
            <a:off x="74980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48869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Power-interest</a:t>
            </a:r>
          </a:p>
        </p:txBody>
      </p:sp>
      <p:sp>
        <p:nvSpPr>
          <p:cNvPr id="15" name="Rectangle 14"/>
          <p:cNvSpPr/>
          <p:nvPr/>
        </p:nvSpPr>
        <p:spPr>
          <a:xfrm>
            <a:off x="431596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Authority and attention</a:t>
            </a:r>
          </a:p>
        </p:txBody>
      </p:sp>
      <p:sp>
        <p:nvSpPr>
          <p:cNvPr id="17" name="Rectangle 16"/>
          <p:cNvSpPr/>
          <p:nvPr/>
        </p:nvSpPr>
        <p:spPr>
          <a:xfrm>
            <a:off x="7882127"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Management strategy</a:t>
            </a:r>
          </a:p>
        </p:txBody>
      </p:sp>
      <p:sp>
        <p:nvSpPr>
          <p:cNvPr id="19" name="Rectangle 18"/>
          <p:cNvSpPr/>
          <p:nvPr/>
        </p:nvSpPr>
        <p:spPr>
          <a:xfrm>
            <a:off x="74980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12115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Impact-influence</a:t>
            </a:r>
          </a:p>
        </p:txBody>
      </p:sp>
      <p:sp>
        <p:nvSpPr>
          <p:cNvPr id="21" name="Rectangle 20"/>
          <p:cNvSpPr/>
          <p:nvPr/>
        </p:nvSpPr>
        <p:spPr>
          <a:xfrm>
            <a:off x="431596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Effect and ability to act</a:t>
            </a:r>
          </a:p>
        </p:txBody>
      </p:sp>
      <p:sp>
        <p:nvSpPr>
          <p:cNvPr id="23" name="Rectangle 22"/>
          <p:cNvSpPr/>
          <p:nvPr/>
        </p:nvSpPr>
        <p:spPr>
          <a:xfrm>
            <a:off x="7882127"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Change and adoption</a:t>
            </a:r>
          </a:p>
        </p:txBody>
      </p:sp>
      <p:sp>
        <p:nvSpPr>
          <p:cNvPr id="25" name="Rectangle 24"/>
          <p:cNvSpPr/>
          <p:nvPr/>
        </p:nvSpPr>
        <p:spPr>
          <a:xfrm>
            <a:off x="74980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3753611"/>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Power-influence</a:t>
            </a:r>
          </a:p>
        </p:txBody>
      </p:sp>
      <p:sp>
        <p:nvSpPr>
          <p:cNvPr id="27" name="Rectangle 26"/>
          <p:cNvSpPr/>
          <p:nvPr/>
        </p:nvSpPr>
        <p:spPr>
          <a:xfrm>
            <a:off x="431596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Authority and active influence</a:t>
            </a:r>
          </a:p>
        </p:txBody>
      </p:sp>
      <p:sp>
        <p:nvSpPr>
          <p:cNvPr id="29" name="Rectangle 28"/>
          <p:cNvSpPr/>
          <p:nvPr/>
        </p:nvSpPr>
        <p:spPr>
          <a:xfrm>
            <a:off x="7882127"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Governance</a:t>
            </a:r>
          </a:p>
        </p:txBody>
      </p:sp>
      <p:sp>
        <p:nvSpPr>
          <p:cNvPr id="31" name="Rectangle 30"/>
          <p:cNvSpPr/>
          <p:nvPr/>
        </p:nvSpPr>
        <p:spPr>
          <a:xfrm>
            <a:off x="74980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38607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Stakeholder cube</a:t>
            </a:r>
          </a:p>
        </p:txBody>
      </p:sp>
      <p:sp>
        <p:nvSpPr>
          <p:cNvPr id="33" name="Rectangle 32"/>
          <p:cNvSpPr/>
          <p:nvPr/>
        </p:nvSpPr>
        <p:spPr>
          <a:xfrm>
            <a:off x="431596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Three dimensions</a:t>
            </a:r>
          </a:p>
        </p:txBody>
      </p:sp>
      <p:sp>
        <p:nvSpPr>
          <p:cNvPr id="35" name="Rectangle 34"/>
          <p:cNvSpPr/>
          <p:nvPr/>
        </p:nvSpPr>
        <p:spPr>
          <a:xfrm>
            <a:off x="7882127"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Complex populations</a:t>
            </a:r>
          </a:p>
        </p:txBody>
      </p:sp>
      <p:sp>
        <p:nvSpPr>
          <p:cNvPr id="37" name="Rectangle 36"/>
          <p:cNvSpPr/>
          <p:nvPr/>
        </p:nvSpPr>
        <p:spPr>
          <a:xfrm>
            <a:off x="74980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 y="501853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Salience</a:t>
            </a:r>
          </a:p>
        </p:txBody>
      </p:sp>
      <p:sp>
        <p:nvSpPr>
          <p:cNvPr id="39" name="Rectangle 38"/>
          <p:cNvSpPr/>
          <p:nvPr/>
        </p:nvSpPr>
        <p:spPr>
          <a:xfrm>
            <a:off x="431596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25696"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Power, legitimacy, urgency</a:t>
            </a:r>
          </a:p>
        </p:txBody>
      </p:sp>
      <p:sp>
        <p:nvSpPr>
          <p:cNvPr id="41" name="Rectangle 40"/>
          <p:cNvSpPr/>
          <p:nvPr/>
        </p:nvSpPr>
        <p:spPr>
          <a:xfrm>
            <a:off x="7882127"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91855"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Competing claims</a:t>
            </a:r>
          </a:p>
        </p:txBody>
      </p:sp>
      <p:sp>
        <p:nvSpPr>
          <p:cNvPr id="43" name="Rounded Rectangle 42"/>
          <p:cNvSpPr/>
          <p:nvPr/>
        </p:nvSpPr>
        <p:spPr>
          <a:xfrm>
            <a:off x="749808" y="5815584"/>
            <a:ext cx="10698480" cy="420624"/>
          </a:xfrm>
          <a:prstGeom prst="roundRect">
            <a:avLst>
              <a:gd name="adj" fmla="val 8000"/>
            </a:avLst>
          </a:prstGeom>
          <a:solidFill>
            <a:srgbClr val="F4F7FB"/>
          </a:solidFill>
          <a:ln w="12700">
            <a:solidFill>
              <a:srgbClr val="1A7F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A map is a hypothesis to guide action, not a permanent label.</a:t>
            </a:r>
          </a:p>
        </p:txBody>
      </p:sp>
      <p:sp>
        <p:nvSpPr>
          <p:cNvPr id="45" name="TextBox 44"/>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6" name="TextBox 45"/>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05 · REFERENCE-SOURCED DEEP DIVE</a:t>
            </a:r>
          </a:p>
        </p:txBody>
      </p:sp>
      <p:sp>
        <p:nvSpPr>
          <p:cNvPr id="47" name="TextBox 46"/>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134</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A7F4B"/>
                </a:solidFill>
                <a:latin typeface="Arial"/>
              </a:rPr>
              <a:t>TOPIC 05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Seven Salience Classes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3413759"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1328928"/>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2956559"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Dormant</a:t>
            </a:r>
          </a:p>
        </p:txBody>
      </p:sp>
      <p:sp>
        <p:nvSpPr>
          <p:cNvPr id="10" name="TextBox 9"/>
          <p:cNvSpPr txBox="1"/>
          <p:nvPr/>
        </p:nvSpPr>
        <p:spPr>
          <a:xfrm>
            <a:off x="1005840" y="2313432"/>
            <a:ext cx="2956559"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Power only.</a:t>
            </a:r>
          </a:p>
        </p:txBody>
      </p:sp>
      <p:sp>
        <p:nvSpPr>
          <p:cNvPr id="11" name="Rounded Rectangle 10"/>
          <p:cNvSpPr/>
          <p:nvPr/>
        </p:nvSpPr>
        <p:spPr>
          <a:xfrm>
            <a:off x="4392167" y="1783080"/>
            <a:ext cx="3413759"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92167" y="1783080"/>
            <a:ext cx="91440" cy="13289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8200" y="1947672"/>
            <a:ext cx="2956559"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Discretionary</a:t>
            </a:r>
          </a:p>
        </p:txBody>
      </p:sp>
      <p:sp>
        <p:nvSpPr>
          <p:cNvPr id="14" name="TextBox 13"/>
          <p:cNvSpPr txBox="1"/>
          <p:nvPr/>
        </p:nvSpPr>
        <p:spPr>
          <a:xfrm>
            <a:off x="4648200" y="2313432"/>
            <a:ext cx="2956559"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Legitimacy only.</a:t>
            </a:r>
          </a:p>
        </p:txBody>
      </p:sp>
      <p:sp>
        <p:nvSpPr>
          <p:cNvPr id="15" name="Rounded Rectangle 14"/>
          <p:cNvSpPr/>
          <p:nvPr/>
        </p:nvSpPr>
        <p:spPr>
          <a:xfrm>
            <a:off x="8034527" y="1783080"/>
            <a:ext cx="3413759"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34527" y="1783080"/>
            <a:ext cx="91440" cy="1328928"/>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559" y="1947672"/>
            <a:ext cx="2956559"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Demanding</a:t>
            </a:r>
          </a:p>
        </p:txBody>
      </p:sp>
      <p:sp>
        <p:nvSpPr>
          <p:cNvPr id="18" name="TextBox 17"/>
          <p:cNvSpPr txBox="1"/>
          <p:nvPr/>
        </p:nvSpPr>
        <p:spPr>
          <a:xfrm>
            <a:off x="8290559" y="2313432"/>
            <a:ext cx="2956559"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Urgency only.</a:t>
            </a:r>
          </a:p>
        </p:txBody>
      </p:sp>
      <p:sp>
        <p:nvSpPr>
          <p:cNvPr id="19" name="Rounded Rectangle 18"/>
          <p:cNvSpPr/>
          <p:nvPr/>
        </p:nvSpPr>
        <p:spPr>
          <a:xfrm>
            <a:off x="749808" y="3340608"/>
            <a:ext cx="3413759"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9808" y="3340608"/>
            <a:ext cx="91440" cy="13289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3505200"/>
            <a:ext cx="2956559"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Dominant</a:t>
            </a:r>
          </a:p>
        </p:txBody>
      </p:sp>
      <p:sp>
        <p:nvSpPr>
          <p:cNvPr id="22" name="TextBox 21"/>
          <p:cNvSpPr txBox="1"/>
          <p:nvPr/>
        </p:nvSpPr>
        <p:spPr>
          <a:xfrm>
            <a:off x="1005840" y="3870960"/>
            <a:ext cx="2956559"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Power and legitimacy.</a:t>
            </a:r>
          </a:p>
        </p:txBody>
      </p:sp>
      <p:sp>
        <p:nvSpPr>
          <p:cNvPr id="23" name="Rounded Rectangle 22"/>
          <p:cNvSpPr/>
          <p:nvPr/>
        </p:nvSpPr>
        <p:spPr>
          <a:xfrm>
            <a:off x="4392167" y="3340608"/>
            <a:ext cx="3413759"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92167" y="3340608"/>
            <a:ext cx="91440" cy="1328928"/>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48200" y="3505200"/>
            <a:ext cx="2956559" cy="438912"/>
          </a:xfrm>
          <a:prstGeom prst="rect">
            <a:avLst/>
          </a:prstGeom>
          <a:noFill/>
        </p:spPr>
        <p:txBody>
          <a:bodyPr wrap="square" lIns="0" rIns="0" tIns="0" bIns="0" anchor="t">
            <a:spAutoFit/>
          </a:bodyPr>
          <a:lstStyle/>
          <a:p>
            <a:pPr algn="l">
              <a:spcAft>
                <a:spcPts val="300"/>
              </a:spcAft>
            </a:pPr>
            <a:r>
              <a:rPr sz="1300" b="1">
                <a:solidFill>
                  <a:srgbClr val="1A7F4B"/>
                </a:solidFill>
                <a:latin typeface="Arial"/>
              </a:rPr>
              <a:t>Dangerous</a:t>
            </a:r>
          </a:p>
        </p:txBody>
      </p:sp>
      <p:sp>
        <p:nvSpPr>
          <p:cNvPr id="26" name="TextBox 25"/>
          <p:cNvSpPr txBox="1"/>
          <p:nvPr/>
        </p:nvSpPr>
        <p:spPr>
          <a:xfrm>
            <a:off x="4648200" y="3870960"/>
            <a:ext cx="2956559"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Power and urgency.</a:t>
            </a:r>
          </a:p>
        </p:txBody>
      </p:sp>
      <p:sp>
        <p:nvSpPr>
          <p:cNvPr id="27" name="Rounded Rectangle 26"/>
          <p:cNvSpPr/>
          <p:nvPr/>
        </p:nvSpPr>
        <p:spPr>
          <a:xfrm>
            <a:off x="8034527" y="3340608"/>
            <a:ext cx="3413759"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34527" y="3340608"/>
            <a:ext cx="91440" cy="1328928"/>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90559" y="3505200"/>
            <a:ext cx="2956559" cy="438912"/>
          </a:xfrm>
          <a:prstGeom prst="rect">
            <a:avLst/>
          </a:prstGeom>
          <a:noFill/>
        </p:spPr>
        <p:txBody>
          <a:bodyPr wrap="square" lIns="0" rIns="0" tIns="0" bIns="0" anchor="t">
            <a:spAutoFit/>
          </a:bodyPr>
          <a:lstStyle/>
          <a:p>
            <a:pPr algn="l">
              <a:spcAft>
                <a:spcPts val="300"/>
              </a:spcAft>
            </a:pPr>
            <a:r>
              <a:rPr sz="1300" b="1">
                <a:solidFill>
                  <a:srgbClr val="C93131"/>
                </a:solidFill>
                <a:latin typeface="Arial"/>
              </a:rPr>
              <a:t>Dependent</a:t>
            </a:r>
          </a:p>
        </p:txBody>
      </p:sp>
      <p:sp>
        <p:nvSpPr>
          <p:cNvPr id="30" name="TextBox 29"/>
          <p:cNvSpPr txBox="1"/>
          <p:nvPr/>
        </p:nvSpPr>
        <p:spPr>
          <a:xfrm>
            <a:off x="8290559" y="3870960"/>
            <a:ext cx="2956559"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Legitimacy and urgency.</a:t>
            </a:r>
          </a:p>
        </p:txBody>
      </p:sp>
      <p:sp>
        <p:nvSpPr>
          <p:cNvPr id="31" name="Rounded Rectangle 30"/>
          <p:cNvSpPr/>
          <p:nvPr/>
        </p:nvSpPr>
        <p:spPr>
          <a:xfrm>
            <a:off x="4392168" y="4898136"/>
            <a:ext cx="3413759"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392168" y="4898136"/>
            <a:ext cx="91440" cy="1328928"/>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48200" y="5062728"/>
            <a:ext cx="2956559"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Definitive</a:t>
            </a:r>
          </a:p>
        </p:txBody>
      </p:sp>
      <p:sp>
        <p:nvSpPr>
          <p:cNvPr id="34" name="TextBox 33"/>
          <p:cNvSpPr txBox="1"/>
          <p:nvPr/>
        </p:nvSpPr>
        <p:spPr>
          <a:xfrm>
            <a:off x="4648200" y="5428488"/>
            <a:ext cx="2956559"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Power, legitimacy and urgency.</a:t>
            </a:r>
          </a:p>
        </p:txBody>
      </p:sp>
      <p:sp>
        <p:nvSpPr>
          <p:cNvPr id="35" name="TextBox 34"/>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6" name="TextBox 35"/>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05 · REFERENCE-SOURCED DEEP DIVE</a:t>
            </a:r>
          </a:p>
        </p:txBody>
      </p:sp>
      <p:sp>
        <p:nvSpPr>
          <p:cNvPr id="37" name="TextBox 36"/>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135</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A7F4B"/>
                </a:solidFill>
                <a:latin typeface="Arial"/>
              </a:rPr>
              <a:t>TOPIC 05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Directions of Influence</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1A7F4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Direction</a:t>
            </a:r>
          </a:p>
        </p:txBody>
      </p:sp>
      <p:sp>
        <p:nvSpPr>
          <p:cNvPr id="9" name="Rectangle 8"/>
          <p:cNvSpPr/>
          <p:nvPr/>
        </p:nvSpPr>
        <p:spPr>
          <a:xfrm>
            <a:off x="4315968" y="1810512"/>
            <a:ext cx="3566160" cy="758952"/>
          </a:xfrm>
          <a:prstGeom prst="rect">
            <a:avLst/>
          </a:prstGeom>
          <a:solidFill>
            <a:srgbClr val="1A7F4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Typical stakeholders</a:t>
            </a:r>
          </a:p>
        </p:txBody>
      </p:sp>
      <p:sp>
        <p:nvSpPr>
          <p:cNvPr id="11" name="Rectangle 10"/>
          <p:cNvSpPr/>
          <p:nvPr/>
        </p:nvSpPr>
        <p:spPr>
          <a:xfrm>
            <a:off x="7882127" y="1810512"/>
            <a:ext cx="3566160" cy="758952"/>
          </a:xfrm>
          <a:prstGeom prst="rect">
            <a:avLst/>
          </a:prstGeom>
          <a:solidFill>
            <a:srgbClr val="1A7F4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Leadership move</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Upward</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Sponsor and executives</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Decision brief and escalation</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Downward</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Team and specialists</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Clarity, coaching and feedback</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Sideward</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Peers and functional managers</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Negotiation and coordination</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Outward</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Customers, vendors, regulators</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Expectation and interface management</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1A7F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Influence without authority depends on evidence, trust and a clear decision request.</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05 · REFERENCE-SOURCED DEEP DIVE</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136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A7F4B"/>
                </a:solidFill>
                <a:latin typeface="Arial"/>
              </a:rPr>
              <a:t>TOPIC 05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Communication Model</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2008022"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1751990"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Encode</a:t>
            </a:r>
          </a:p>
        </p:txBody>
      </p:sp>
      <p:sp>
        <p:nvSpPr>
          <p:cNvPr id="11" name="TextBox 10"/>
          <p:cNvSpPr txBox="1"/>
          <p:nvPr/>
        </p:nvSpPr>
        <p:spPr>
          <a:xfrm>
            <a:off x="896112"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sender frames meaning</a:t>
            </a:r>
          </a:p>
        </p:txBody>
      </p:sp>
      <p:cxnSp>
        <p:nvCxnSpPr>
          <p:cNvPr id="12" name="Connector 11"/>
          <p:cNvCxnSpPr/>
          <p:nvPr/>
        </p:nvCxnSpPr>
        <p:spPr>
          <a:xfrm>
            <a:off x="2757830" y="3474720"/>
            <a:ext cx="164592" cy="0"/>
          </a:xfrm>
          <a:prstGeom prst="line">
            <a:avLst/>
          </a:prstGeom>
          <a:ln w="25400">
            <a:solidFill>
              <a:srgbClr val="1A7F4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22422"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22422" y="1965960"/>
            <a:ext cx="2008022"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50438" y="2240279"/>
            <a:ext cx="1751990"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3050438"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Transmit</a:t>
            </a:r>
          </a:p>
        </p:txBody>
      </p:sp>
      <p:sp>
        <p:nvSpPr>
          <p:cNvPr id="17" name="TextBox 16"/>
          <p:cNvSpPr txBox="1"/>
          <p:nvPr/>
        </p:nvSpPr>
        <p:spPr>
          <a:xfrm>
            <a:off x="3068726"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channel carries message</a:t>
            </a:r>
          </a:p>
        </p:txBody>
      </p:sp>
      <p:cxnSp>
        <p:nvCxnSpPr>
          <p:cNvPr id="18" name="Connector 17"/>
          <p:cNvCxnSpPr/>
          <p:nvPr/>
        </p:nvCxnSpPr>
        <p:spPr>
          <a:xfrm>
            <a:off x="4930444" y="3474720"/>
            <a:ext cx="164592" cy="0"/>
          </a:xfrm>
          <a:prstGeom prst="line">
            <a:avLst/>
          </a:prstGeom>
          <a:ln w="25400">
            <a:solidFill>
              <a:srgbClr val="1A7F4B"/>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95036"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95036" y="1965960"/>
            <a:ext cx="2008022"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23052" y="2240279"/>
            <a:ext cx="1751990"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5223052"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Decode</a:t>
            </a:r>
          </a:p>
        </p:txBody>
      </p:sp>
      <p:sp>
        <p:nvSpPr>
          <p:cNvPr id="23" name="TextBox 22"/>
          <p:cNvSpPr txBox="1"/>
          <p:nvPr/>
        </p:nvSpPr>
        <p:spPr>
          <a:xfrm>
            <a:off x="5241340"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receiver interprets</a:t>
            </a:r>
          </a:p>
        </p:txBody>
      </p:sp>
      <p:cxnSp>
        <p:nvCxnSpPr>
          <p:cNvPr id="24" name="Connector 23"/>
          <p:cNvCxnSpPr/>
          <p:nvPr/>
        </p:nvCxnSpPr>
        <p:spPr>
          <a:xfrm>
            <a:off x="7103059" y="3474720"/>
            <a:ext cx="164592" cy="0"/>
          </a:xfrm>
          <a:prstGeom prst="line">
            <a:avLst/>
          </a:prstGeom>
          <a:ln w="25400">
            <a:solidFill>
              <a:srgbClr val="1A7F4B"/>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267651"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67651" y="1965960"/>
            <a:ext cx="2008022"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95667" y="2240279"/>
            <a:ext cx="1751990"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7395667"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Feedback</a:t>
            </a:r>
          </a:p>
        </p:txBody>
      </p:sp>
      <p:sp>
        <p:nvSpPr>
          <p:cNvPr id="29" name="TextBox 28"/>
          <p:cNvSpPr txBox="1"/>
          <p:nvPr/>
        </p:nvSpPr>
        <p:spPr>
          <a:xfrm>
            <a:off x="7413955"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understanding is tested</a:t>
            </a:r>
          </a:p>
        </p:txBody>
      </p:sp>
      <p:cxnSp>
        <p:nvCxnSpPr>
          <p:cNvPr id="30" name="Connector 29"/>
          <p:cNvCxnSpPr/>
          <p:nvPr/>
        </p:nvCxnSpPr>
        <p:spPr>
          <a:xfrm>
            <a:off x="9275673" y="3474720"/>
            <a:ext cx="164592" cy="0"/>
          </a:xfrm>
          <a:prstGeom prst="line">
            <a:avLst/>
          </a:prstGeom>
          <a:ln w="25400">
            <a:solidFill>
              <a:srgbClr val="1A7F4B"/>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440265"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40265" y="1965960"/>
            <a:ext cx="2008022" cy="13716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68281" y="2240279"/>
            <a:ext cx="1751990" cy="457200"/>
          </a:xfrm>
          <a:prstGeom prst="rect">
            <a:avLst/>
          </a:prstGeom>
          <a:noFill/>
        </p:spPr>
        <p:txBody>
          <a:bodyPr wrap="square" lIns="0" rIns="0" tIns="0" bIns="0" anchor="t">
            <a:spAutoFit/>
          </a:bodyPr>
          <a:lstStyle/>
          <a:p>
            <a:pPr algn="ctr">
              <a:spcAft>
                <a:spcPts val="300"/>
              </a:spcAft>
            </a:pPr>
            <a:r>
              <a:rPr sz="1400" b="1">
                <a:solidFill>
                  <a:srgbClr val="1A7F4B"/>
                </a:solidFill>
                <a:latin typeface="Arial"/>
              </a:rPr>
              <a:t>05</a:t>
            </a:r>
          </a:p>
        </p:txBody>
      </p:sp>
      <p:sp>
        <p:nvSpPr>
          <p:cNvPr id="34" name="TextBox 33"/>
          <p:cNvSpPr txBox="1"/>
          <p:nvPr/>
        </p:nvSpPr>
        <p:spPr>
          <a:xfrm>
            <a:off x="9568281"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Noise</a:t>
            </a:r>
          </a:p>
        </p:txBody>
      </p:sp>
      <p:sp>
        <p:nvSpPr>
          <p:cNvPr id="35" name="TextBox 34"/>
          <p:cNvSpPr txBox="1"/>
          <p:nvPr/>
        </p:nvSpPr>
        <p:spPr>
          <a:xfrm>
            <a:off x="9586569"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language, culture, timing and medium interfere</a:t>
            </a:r>
          </a:p>
        </p:txBody>
      </p:sp>
      <p:sp>
        <p:nvSpPr>
          <p:cNvPr id="36" name="Rounded Rectangle 35"/>
          <p:cNvSpPr/>
          <p:nvPr/>
        </p:nvSpPr>
        <p:spPr>
          <a:xfrm>
            <a:off x="749808" y="5303520"/>
            <a:ext cx="10698480" cy="713232"/>
          </a:xfrm>
          <a:prstGeom prst="roundRect">
            <a:avLst>
              <a:gd name="adj" fmla="val 8000"/>
            </a:avLst>
          </a:prstGeom>
          <a:solidFill>
            <a:srgbClr val="FFFFFF"/>
          </a:solidFill>
          <a:ln w="12700">
            <a:solidFill>
              <a:srgbClr val="1A7F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Delivery is not communication success; shared understanding is.</a:t>
            </a:r>
          </a:p>
        </p:txBody>
      </p:sp>
      <p:sp>
        <p:nvSpPr>
          <p:cNvPr id="38" name="TextBox 37"/>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9" name="TextBox 38"/>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05 · REFERENCE-SOURCED DEEP DIVE</a:t>
            </a:r>
          </a:p>
        </p:txBody>
      </p:sp>
      <p:sp>
        <p:nvSpPr>
          <p:cNvPr id="40" name="TextBox 39"/>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137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A7F4B"/>
                </a:solidFill>
                <a:latin typeface="Arial"/>
              </a:rPr>
              <a:t>TOPIC 05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Communication Methods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1A7F4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Method</a:t>
            </a:r>
          </a:p>
        </p:txBody>
      </p:sp>
      <p:sp>
        <p:nvSpPr>
          <p:cNvPr id="9" name="Rectangle 8"/>
          <p:cNvSpPr/>
          <p:nvPr/>
        </p:nvSpPr>
        <p:spPr>
          <a:xfrm>
            <a:off x="4315968" y="1810512"/>
            <a:ext cx="3566160" cy="758952"/>
          </a:xfrm>
          <a:prstGeom prst="rect">
            <a:avLst/>
          </a:prstGeom>
          <a:solidFill>
            <a:srgbClr val="1A7F4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Best use</a:t>
            </a:r>
          </a:p>
        </p:txBody>
      </p:sp>
      <p:sp>
        <p:nvSpPr>
          <p:cNvPr id="11" name="Rectangle 10"/>
          <p:cNvSpPr/>
          <p:nvPr/>
        </p:nvSpPr>
        <p:spPr>
          <a:xfrm>
            <a:off x="7882127" y="1810512"/>
            <a:ext cx="3566160" cy="758952"/>
          </a:xfrm>
          <a:prstGeom prst="rect">
            <a:avLst/>
          </a:prstGeom>
          <a:solidFill>
            <a:srgbClr val="1A7F4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Risk</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Interactive</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Decision and ambiguity</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Time and facilitation</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Push</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Targeted distribution</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Receipt is not understanding</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Pull</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Large reference set</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Stakeholder may not retrieve it</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Visual radiator</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Shared current state</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Stale information destroys trust</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1A7F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Choose channel based on urgency, complexity, sensitivity and need for feedback.</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05 · REFERENCE-SOURCED DEEP DIVE</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138</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A7F4B"/>
                </a:solidFill>
                <a:latin typeface="Arial"/>
              </a:rPr>
              <a:t>TOPIC 05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Stakeholder Engagement Levels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632460"/>
          </a:xfrm>
          <a:prstGeom prst="rect">
            <a:avLst/>
          </a:prstGeom>
          <a:solidFill>
            <a:srgbClr val="1A7F4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Level</a:t>
            </a:r>
          </a:p>
        </p:txBody>
      </p:sp>
      <p:sp>
        <p:nvSpPr>
          <p:cNvPr id="9" name="Rectangle 8"/>
          <p:cNvSpPr/>
          <p:nvPr/>
        </p:nvSpPr>
        <p:spPr>
          <a:xfrm>
            <a:off x="4315968" y="1810512"/>
            <a:ext cx="3566160" cy="632460"/>
          </a:xfrm>
          <a:prstGeom prst="rect">
            <a:avLst/>
          </a:prstGeom>
          <a:solidFill>
            <a:srgbClr val="1A7F4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Signal</a:t>
            </a:r>
          </a:p>
        </p:txBody>
      </p:sp>
      <p:sp>
        <p:nvSpPr>
          <p:cNvPr id="11" name="Rectangle 10"/>
          <p:cNvSpPr/>
          <p:nvPr/>
        </p:nvSpPr>
        <p:spPr>
          <a:xfrm>
            <a:off x="7882127" y="1810512"/>
            <a:ext cx="3566160" cy="632460"/>
          </a:xfrm>
          <a:prstGeom prst="rect">
            <a:avLst/>
          </a:prstGeom>
          <a:solidFill>
            <a:srgbClr val="1A7F4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Management aim</a:t>
            </a:r>
          </a:p>
        </p:txBody>
      </p:sp>
      <p:sp>
        <p:nvSpPr>
          <p:cNvPr id="13" name="Rectangle 12"/>
          <p:cNvSpPr/>
          <p:nvPr/>
        </p:nvSpPr>
        <p:spPr>
          <a:xfrm>
            <a:off x="74980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48869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Unaware</a:t>
            </a:r>
          </a:p>
        </p:txBody>
      </p:sp>
      <p:sp>
        <p:nvSpPr>
          <p:cNvPr id="15" name="Rectangle 14"/>
          <p:cNvSpPr/>
          <p:nvPr/>
        </p:nvSpPr>
        <p:spPr>
          <a:xfrm>
            <a:off x="431596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Does not know project</a:t>
            </a:r>
          </a:p>
        </p:txBody>
      </p:sp>
      <p:sp>
        <p:nvSpPr>
          <p:cNvPr id="17" name="Rectangle 16"/>
          <p:cNvSpPr/>
          <p:nvPr/>
        </p:nvSpPr>
        <p:spPr>
          <a:xfrm>
            <a:off x="7882127"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Build awareness</a:t>
            </a:r>
          </a:p>
        </p:txBody>
      </p:sp>
      <p:sp>
        <p:nvSpPr>
          <p:cNvPr id="19" name="Rectangle 18"/>
          <p:cNvSpPr/>
          <p:nvPr/>
        </p:nvSpPr>
        <p:spPr>
          <a:xfrm>
            <a:off x="74980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12115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Resistant</a:t>
            </a:r>
          </a:p>
        </p:txBody>
      </p:sp>
      <p:sp>
        <p:nvSpPr>
          <p:cNvPr id="21" name="Rectangle 20"/>
          <p:cNvSpPr/>
          <p:nvPr/>
        </p:nvSpPr>
        <p:spPr>
          <a:xfrm>
            <a:off x="431596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Opposes change</a:t>
            </a:r>
          </a:p>
        </p:txBody>
      </p:sp>
      <p:sp>
        <p:nvSpPr>
          <p:cNvPr id="23" name="Rectangle 22"/>
          <p:cNvSpPr/>
          <p:nvPr/>
        </p:nvSpPr>
        <p:spPr>
          <a:xfrm>
            <a:off x="7882127"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Understand concern and involve</a:t>
            </a:r>
          </a:p>
        </p:txBody>
      </p:sp>
      <p:sp>
        <p:nvSpPr>
          <p:cNvPr id="25" name="Rectangle 24"/>
          <p:cNvSpPr/>
          <p:nvPr/>
        </p:nvSpPr>
        <p:spPr>
          <a:xfrm>
            <a:off x="74980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3753611"/>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Neutral</a:t>
            </a:r>
          </a:p>
        </p:txBody>
      </p:sp>
      <p:sp>
        <p:nvSpPr>
          <p:cNvPr id="27" name="Rectangle 26"/>
          <p:cNvSpPr/>
          <p:nvPr/>
        </p:nvSpPr>
        <p:spPr>
          <a:xfrm>
            <a:off x="431596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Neither resists nor supports</a:t>
            </a:r>
          </a:p>
        </p:txBody>
      </p:sp>
      <p:sp>
        <p:nvSpPr>
          <p:cNvPr id="29" name="Rectangle 28"/>
          <p:cNvSpPr/>
          <p:nvPr/>
        </p:nvSpPr>
        <p:spPr>
          <a:xfrm>
            <a:off x="7882127"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Connect to relevant value</a:t>
            </a:r>
          </a:p>
        </p:txBody>
      </p:sp>
      <p:sp>
        <p:nvSpPr>
          <p:cNvPr id="31" name="Rectangle 30"/>
          <p:cNvSpPr/>
          <p:nvPr/>
        </p:nvSpPr>
        <p:spPr>
          <a:xfrm>
            <a:off x="74980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38607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Supportive</a:t>
            </a:r>
          </a:p>
        </p:txBody>
      </p:sp>
      <p:sp>
        <p:nvSpPr>
          <p:cNvPr id="33" name="Rectangle 32"/>
          <p:cNvSpPr/>
          <p:nvPr/>
        </p:nvSpPr>
        <p:spPr>
          <a:xfrm>
            <a:off x="431596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Helps when asked</a:t>
            </a:r>
          </a:p>
        </p:txBody>
      </p:sp>
      <p:sp>
        <p:nvSpPr>
          <p:cNvPr id="35" name="Rectangle 34"/>
          <p:cNvSpPr/>
          <p:nvPr/>
        </p:nvSpPr>
        <p:spPr>
          <a:xfrm>
            <a:off x="7882127"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Sustain participation</a:t>
            </a:r>
          </a:p>
        </p:txBody>
      </p:sp>
      <p:sp>
        <p:nvSpPr>
          <p:cNvPr id="37" name="Rectangle 36"/>
          <p:cNvSpPr/>
          <p:nvPr/>
        </p:nvSpPr>
        <p:spPr>
          <a:xfrm>
            <a:off x="74980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 y="501853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Leading</a:t>
            </a:r>
          </a:p>
        </p:txBody>
      </p:sp>
      <p:sp>
        <p:nvSpPr>
          <p:cNvPr id="39" name="Rectangle 38"/>
          <p:cNvSpPr/>
          <p:nvPr/>
        </p:nvSpPr>
        <p:spPr>
          <a:xfrm>
            <a:off x="431596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25696"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Actively champions</a:t>
            </a:r>
          </a:p>
        </p:txBody>
      </p:sp>
      <p:sp>
        <p:nvSpPr>
          <p:cNvPr id="41" name="Rectangle 40"/>
          <p:cNvSpPr/>
          <p:nvPr/>
        </p:nvSpPr>
        <p:spPr>
          <a:xfrm>
            <a:off x="7882127"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91855"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Enable influence</a:t>
            </a:r>
          </a:p>
        </p:txBody>
      </p:sp>
      <p:sp>
        <p:nvSpPr>
          <p:cNvPr id="43" name="Rounded Rectangle 42"/>
          <p:cNvSpPr/>
          <p:nvPr/>
        </p:nvSpPr>
        <p:spPr>
          <a:xfrm>
            <a:off x="749808" y="5815584"/>
            <a:ext cx="10698480" cy="420624"/>
          </a:xfrm>
          <a:prstGeom prst="roundRect">
            <a:avLst>
              <a:gd name="adj" fmla="val 8000"/>
            </a:avLst>
          </a:prstGeom>
          <a:solidFill>
            <a:srgbClr val="F4F7FB"/>
          </a:solidFill>
          <a:ln w="12700">
            <a:solidFill>
              <a:srgbClr val="1A7F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The gap between current and desired state must become an owned action.</a:t>
            </a:r>
          </a:p>
        </p:txBody>
      </p:sp>
      <p:sp>
        <p:nvSpPr>
          <p:cNvPr id="45" name="TextBox 44"/>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6" name="TextBox 45"/>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05 · REFERENCE-SOURCED DEEP DIVE</a:t>
            </a:r>
          </a:p>
        </p:txBody>
      </p:sp>
      <p:sp>
        <p:nvSpPr>
          <p:cNvPr id="47" name="TextBox 46"/>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139</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A7F4B"/>
                </a:solidFill>
                <a:latin typeface="Arial"/>
              </a:rPr>
              <a:t>TOPIC 05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HarbourHub RACI Failure Test</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632460"/>
          </a:xfrm>
          <a:prstGeom prst="rect">
            <a:avLst/>
          </a:prstGeom>
          <a:solidFill>
            <a:srgbClr val="1A7F4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Observed row</a:t>
            </a:r>
          </a:p>
        </p:txBody>
      </p:sp>
      <p:sp>
        <p:nvSpPr>
          <p:cNvPr id="9" name="Rectangle 8"/>
          <p:cNvSpPr/>
          <p:nvPr/>
        </p:nvSpPr>
        <p:spPr>
          <a:xfrm>
            <a:off x="4315968" y="1810512"/>
            <a:ext cx="3566160" cy="632460"/>
          </a:xfrm>
          <a:prstGeom prst="rect">
            <a:avLst/>
          </a:prstGeom>
          <a:solidFill>
            <a:srgbClr val="1A7F4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Failure signal</a:t>
            </a:r>
          </a:p>
        </p:txBody>
      </p:sp>
      <p:sp>
        <p:nvSpPr>
          <p:cNvPr id="11" name="Rectangle 10"/>
          <p:cNvSpPr/>
          <p:nvPr/>
        </p:nvSpPr>
        <p:spPr>
          <a:xfrm>
            <a:off x="7882127" y="1810512"/>
            <a:ext cx="3566160" cy="632460"/>
          </a:xfrm>
          <a:prstGeom prst="rect">
            <a:avLst/>
          </a:prstGeom>
          <a:solidFill>
            <a:srgbClr val="1A7F4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Repair</a:t>
            </a:r>
          </a:p>
        </p:txBody>
      </p:sp>
      <p:sp>
        <p:nvSpPr>
          <p:cNvPr id="13" name="Rectangle 12"/>
          <p:cNvSpPr/>
          <p:nvPr/>
        </p:nvSpPr>
        <p:spPr>
          <a:xfrm>
            <a:off x="74980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48869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Pilot go-live</a:t>
            </a:r>
          </a:p>
        </p:txBody>
      </p:sp>
      <p:sp>
        <p:nvSpPr>
          <p:cNvPr id="15" name="Rectangle 14"/>
          <p:cNvSpPr/>
          <p:nvPr/>
        </p:nvSpPr>
        <p:spPr>
          <a:xfrm>
            <a:off x="431596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Sponsor and PM both marked A</a:t>
            </a:r>
          </a:p>
        </p:txBody>
      </p:sp>
      <p:sp>
        <p:nvSpPr>
          <p:cNvPr id="17" name="Rectangle 16"/>
          <p:cNvSpPr/>
          <p:nvPr/>
        </p:nvSpPr>
        <p:spPr>
          <a:xfrm>
            <a:off x="7882127"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Sponsor is sole A; PM remains R</a:t>
            </a:r>
          </a:p>
        </p:txBody>
      </p:sp>
      <p:sp>
        <p:nvSpPr>
          <p:cNvPr id="19" name="Rectangle 18"/>
          <p:cNvSpPr/>
          <p:nvPr/>
        </p:nvSpPr>
        <p:spPr>
          <a:xfrm>
            <a:off x="74980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12115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Inventory mapping</a:t>
            </a:r>
          </a:p>
        </p:txBody>
      </p:sp>
      <p:sp>
        <p:nvSpPr>
          <p:cNvPr id="21" name="Rectangle 20"/>
          <p:cNvSpPr/>
          <p:nvPr/>
        </p:nvSpPr>
        <p:spPr>
          <a:xfrm>
            <a:off x="431596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Vendor named R with no internal owner</a:t>
            </a:r>
          </a:p>
        </p:txBody>
      </p:sp>
      <p:sp>
        <p:nvSpPr>
          <p:cNvPr id="23" name="Rectangle 22"/>
          <p:cNvSpPr/>
          <p:nvPr/>
        </p:nvSpPr>
        <p:spPr>
          <a:xfrm>
            <a:off x="7882127"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IT lead becomes A; vendor remains R</a:t>
            </a:r>
          </a:p>
        </p:txBody>
      </p:sp>
      <p:sp>
        <p:nvSpPr>
          <p:cNvPr id="25" name="Rectangle 24"/>
          <p:cNvSpPr/>
          <p:nvPr/>
        </p:nvSpPr>
        <p:spPr>
          <a:xfrm>
            <a:off x="74980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3753611"/>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Outlet job aid</a:t>
            </a:r>
          </a:p>
        </p:txBody>
      </p:sp>
      <p:sp>
        <p:nvSpPr>
          <p:cNvPr id="27" name="Rectangle 26"/>
          <p:cNvSpPr/>
          <p:nvPr/>
        </p:nvSpPr>
        <p:spPr>
          <a:xfrm>
            <a:off x="431596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No R assigned</a:t>
            </a:r>
          </a:p>
        </p:txBody>
      </p:sp>
      <p:sp>
        <p:nvSpPr>
          <p:cNvPr id="29" name="Rectangle 28"/>
          <p:cNvSpPr/>
          <p:nvPr/>
        </p:nvSpPr>
        <p:spPr>
          <a:xfrm>
            <a:off x="7882127"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Operations lead owns production</a:t>
            </a:r>
          </a:p>
        </p:txBody>
      </p:sp>
      <p:sp>
        <p:nvSpPr>
          <p:cNvPr id="31" name="Rectangle 30"/>
          <p:cNvSpPr/>
          <p:nvPr/>
        </p:nvSpPr>
        <p:spPr>
          <a:xfrm>
            <a:off x="74980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38607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Customer message</a:t>
            </a:r>
          </a:p>
        </p:txBody>
      </p:sp>
      <p:sp>
        <p:nvSpPr>
          <p:cNvPr id="33" name="Rectangle 32"/>
          <p:cNvSpPr/>
          <p:nvPr/>
        </p:nvSpPr>
        <p:spPr>
          <a:xfrm>
            <a:off x="431596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Six people marked C</a:t>
            </a:r>
          </a:p>
        </p:txBody>
      </p:sp>
      <p:sp>
        <p:nvSpPr>
          <p:cNvPr id="35" name="Rectangle 34"/>
          <p:cNvSpPr/>
          <p:nvPr/>
        </p:nvSpPr>
        <p:spPr>
          <a:xfrm>
            <a:off x="7882127"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Consult legal and operations only</a:t>
            </a:r>
          </a:p>
        </p:txBody>
      </p:sp>
      <p:sp>
        <p:nvSpPr>
          <p:cNvPr id="37" name="Rectangle 36"/>
          <p:cNvSpPr/>
          <p:nvPr/>
        </p:nvSpPr>
        <p:spPr>
          <a:xfrm>
            <a:off x="74980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 y="501853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Benefits review</a:t>
            </a:r>
          </a:p>
        </p:txBody>
      </p:sp>
      <p:sp>
        <p:nvSpPr>
          <p:cNvPr id="39" name="Rectangle 38"/>
          <p:cNvSpPr/>
          <p:nvPr/>
        </p:nvSpPr>
        <p:spPr>
          <a:xfrm>
            <a:off x="431596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25696"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Everyone marked I</a:t>
            </a:r>
          </a:p>
        </p:txBody>
      </p:sp>
      <p:sp>
        <p:nvSpPr>
          <p:cNvPr id="41" name="Rectangle 40"/>
          <p:cNvSpPr/>
          <p:nvPr/>
        </p:nvSpPr>
        <p:spPr>
          <a:xfrm>
            <a:off x="7882127"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91855"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Name finance owner and decision audience</a:t>
            </a:r>
          </a:p>
        </p:txBody>
      </p:sp>
      <p:sp>
        <p:nvSpPr>
          <p:cNvPr id="43" name="Rounded Rectangle 42"/>
          <p:cNvSpPr/>
          <p:nvPr/>
        </p:nvSpPr>
        <p:spPr>
          <a:xfrm>
            <a:off x="749808" y="5815584"/>
            <a:ext cx="10698480" cy="420624"/>
          </a:xfrm>
          <a:prstGeom prst="roundRect">
            <a:avLst>
              <a:gd name="adj" fmla="val 8000"/>
            </a:avLst>
          </a:prstGeom>
          <a:solidFill>
            <a:srgbClr val="F4F7FB"/>
          </a:solidFill>
          <a:ln w="12700">
            <a:solidFill>
              <a:srgbClr val="1A7F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The repaired matrix makes every critical deliverable and decision executable.</a:t>
            </a:r>
          </a:p>
        </p:txBody>
      </p:sp>
      <p:sp>
        <p:nvSpPr>
          <p:cNvPr id="45" name="TextBox 44"/>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6" name="TextBox 45"/>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05 · REFERENCE-SOURCED DEEP DIVE</a:t>
            </a:r>
          </a:p>
        </p:txBody>
      </p:sp>
      <p:sp>
        <p:nvSpPr>
          <p:cNvPr id="47" name="TextBox 46"/>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140</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A7F4B"/>
                </a:solidFill>
                <a:latin typeface="Arial"/>
              </a:rPr>
              <a:t>TOPIC 05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Evidence-Based Escalation</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2008022"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1751990"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Decision</a:t>
            </a:r>
          </a:p>
        </p:txBody>
      </p:sp>
      <p:sp>
        <p:nvSpPr>
          <p:cNvPr id="11" name="TextBox 10"/>
          <p:cNvSpPr txBox="1"/>
          <p:nvPr/>
        </p:nvSpPr>
        <p:spPr>
          <a:xfrm>
            <a:off x="896112"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what is needed</a:t>
            </a:r>
          </a:p>
        </p:txBody>
      </p:sp>
      <p:cxnSp>
        <p:nvCxnSpPr>
          <p:cNvPr id="12" name="Connector 11"/>
          <p:cNvCxnSpPr/>
          <p:nvPr/>
        </p:nvCxnSpPr>
        <p:spPr>
          <a:xfrm>
            <a:off x="2757830" y="3474720"/>
            <a:ext cx="164592" cy="0"/>
          </a:xfrm>
          <a:prstGeom prst="line">
            <a:avLst/>
          </a:prstGeom>
          <a:ln w="25400">
            <a:solidFill>
              <a:srgbClr val="1A7F4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22422"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22422" y="1965960"/>
            <a:ext cx="2008022"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50438" y="2240279"/>
            <a:ext cx="1751990"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3050438"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Options</a:t>
            </a:r>
          </a:p>
        </p:txBody>
      </p:sp>
      <p:sp>
        <p:nvSpPr>
          <p:cNvPr id="17" name="TextBox 16"/>
          <p:cNvSpPr txBox="1"/>
          <p:nvPr/>
        </p:nvSpPr>
        <p:spPr>
          <a:xfrm>
            <a:off x="3068726"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feasible choices</a:t>
            </a:r>
          </a:p>
        </p:txBody>
      </p:sp>
      <p:cxnSp>
        <p:nvCxnSpPr>
          <p:cNvPr id="18" name="Connector 17"/>
          <p:cNvCxnSpPr/>
          <p:nvPr/>
        </p:nvCxnSpPr>
        <p:spPr>
          <a:xfrm>
            <a:off x="4930444" y="3474720"/>
            <a:ext cx="164592" cy="0"/>
          </a:xfrm>
          <a:prstGeom prst="line">
            <a:avLst/>
          </a:prstGeom>
          <a:ln w="25400">
            <a:solidFill>
              <a:srgbClr val="1A7F4B"/>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95036"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95036" y="1965960"/>
            <a:ext cx="2008022"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23052" y="2240279"/>
            <a:ext cx="1751990"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5223052"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Impact</a:t>
            </a:r>
          </a:p>
        </p:txBody>
      </p:sp>
      <p:sp>
        <p:nvSpPr>
          <p:cNvPr id="23" name="TextBox 22"/>
          <p:cNvSpPr txBox="1"/>
          <p:nvPr/>
        </p:nvSpPr>
        <p:spPr>
          <a:xfrm>
            <a:off x="5241340"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consequence of delay</a:t>
            </a:r>
          </a:p>
        </p:txBody>
      </p:sp>
      <p:cxnSp>
        <p:nvCxnSpPr>
          <p:cNvPr id="24" name="Connector 23"/>
          <p:cNvCxnSpPr/>
          <p:nvPr/>
        </p:nvCxnSpPr>
        <p:spPr>
          <a:xfrm>
            <a:off x="7103059" y="3474720"/>
            <a:ext cx="164592" cy="0"/>
          </a:xfrm>
          <a:prstGeom prst="line">
            <a:avLst/>
          </a:prstGeom>
          <a:ln w="25400">
            <a:solidFill>
              <a:srgbClr val="1A7F4B"/>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267651"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67651" y="1965960"/>
            <a:ext cx="2008022"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95667" y="2240279"/>
            <a:ext cx="1751990"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7395667"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Recommendation</a:t>
            </a:r>
          </a:p>
        </p:txBody>
      </p:sp>
      <p:sp>
        <p:nvSpPr>
          <p:cNvPr id="29" name="TextBox 28"/>
          <p:cNvSpPr txBox="1"/>
          <p:nvPr/>
        </p:nvSpPr>
        <p:spPr>
          <a:xfrm>
            <a:off x="7413955"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preferred option and why</a:t>
            </a:r>
          </a:p>
        </p:txBody>
      </p:sp>
      <p:cxnSp>
        <p:nvCxnSpPr>
          <p:cNvPr id="30" name="Connector 29"/>
          <p:cNvCxnSpPr/>
          <p:nvPr/>
        </p:nvCxnSpPr>
        <p:spPr>
          <a:xfrm>
            <a:off x="9275673" y="3474720"/>
            <a:ext cx="164592" cy="0"/>
          </a:xfrm>
          <a:prstGeom prst="line">
            <a:avLst/>
          </a:prstGeom>
          <a:ln w="25400">
            <a:solidFill>
              <a:srgbClr val="1A7F4B"/>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440265" y="1965960"/>
            <a:ext cx="2008022"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40265" y="1965960"/>
            <a:ext cx="2008022" cy="13716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68281" y="2240279"/>
            <a:ext cx="1751990" cy="457200"/>
          </a:xfrm>
          <a:prstGeom prst="rect">
            <a:avLst/>
          </a:prstGeom>
          <a:noFill/>
        </p:spPr>
        <p:txBody>
          <a:bodyPr wrap="square" lIns="0" rIns="0" tIns="0" bIns="0" anchor="t">
            <a:spAutoFit/>
          </a:bodyPr>
          <a:lstStyle/>
          <a:p>
            <a:pPr algn="ctr">
              <a:spcAft>
                <a:spcPts val="300"/>
              </a:spcAft>
            </a:pPr>
            <a:r>
              <a:rPr sz="1400" b="1">
                <a:solidFill>
                  <a:srgbClr val="1A7F4B"/>
                </a:solidFill>
                <a:latin typeface="Arial"/>
              </a:rPr>
              <a:t>05</a:t>
            </a:r>
          </a:p>
        </p:txBody>
      </p:sp>
      <p:sp>
        <p:nvSpPr>
          <p:cNvPr id="34" name="TextBox 33"/>
          <p:cNvSpPr txBox="1"/>
          <p:nvPr/>
        </p:nvSpPr>
        <p:spPr>
          <a:xfrm>
            <a:off x="9568281" y="2752344"/>
            <a:ext cx="1751990"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Deadline</a:t>
            </a:r>
          </a:p>
        </p:txBody>
      </p:sp>
      <p:sp>
        <p:nvSpPr>
          <p:cNvPr id="35" name="TextBox 34"/>
          <p:cNvSpPr txBox="1"/>
          <p:nvPr/>
        </p:nvSpPr>
        <p:spPr>
          <a:xfrm>
            <a:off x="9586569" y="3465576"/>
            <a:ext cx="1715414"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latest useful decision time</a:t>
            </a:r>
          </a:p>
        </p:txBody>
      </p:sp>
      <p:sp>
        <p:nvSpPr>
          <p:cNvPr id="36" name="Rounded Rectangle 35"/>
          <p:cNvSpPr/>
          <p:nvPr/>
        </p:nvSpPr>
        <p:spPr>
          <a:xfrm>
            <a:off x="749808" y="5303520"/>
            <a:ext cx="10698480" cy="713232"/>
          </a:xfrm>
          <a:prstGeom prst="roundRect">
            <a:avLst>
              <a:gd name="adj" fmla="val 8000"/>
            </a:avLst>
          </a:prstGeom>
          <a:solidFill>
            <a:srgbClr val="FFFFFF"/>
          </a:solidFill>
          <a:ln w="12700">
            <a:solidFill>
              <a:srgbClr val="1A7F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Escalation transfers a decision, not a problem without analysis.</a:t>
            </a:r>
          </a:p>
        </p:txBody>
      </p:sp>
      <p:sp>
        <p:nvSpPr>
          <p:cNvPr id="38" name="TextBox 37"/>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9" name="TextBox 38"/>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05 · REFERENCE-SOURCED DEEP DIVE</a:t>
            </a:r>
          </a:p>
        </p:txBody>
      </p:sp>
      <p:sp>
        <p:nvSpPr>
          <p:cNvPr id="40" name="TextBox 39"/>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141</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05 · TOOL-BASED PRACTICE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Activity 8 Tool Pack</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150" b="1">
                <a:solidFill>
                  <a:srgbClr val="1655D1"/>
                </a:solidFill>
                <a:latin typeface="Arial"/>
              </a:rPr>
              <a:t>42 Stakeholder Impact Over Influence Matrix</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XLSX · editable project tool</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43 Salience Chart</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PPTX · editable project tool</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39 RACI Template</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XLSX · editable project tool</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150" b="1">
                <a:solidFill>
                  <a:srgbClr val="F59E0B"/>
                </a:solidFill>
                <a:latin typeface="Arial"/>
              </a:rPr>
              <a:t>41 Stakeholder Engagement Assessment Matrix</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XLSX · editable project tool</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05 · TOOL-BASED PRACTICE</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142</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05 · HANDS-ON ACTIVITY</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Align Stakeholders, Accountability and Communications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034272" y="384048"/>
            <a:ext cx="2377440" cy="402336"/>
          </a:xfrm>
          <a:prstGeom prst="roundRect">
            <a:avLst>
              <a:gd name="adj" fmla="val 8000"/>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34272" y="384048"/>
            <a:ext cx="2377440" cy="402336"/>
          </a:xfrm>
          <a:prstGeom prst="rect">
            <a:avLst/>
          </a:prstGeom>
          <a:noFill/>
        </p:spPr>
        <p:txBody>
          <a:bodyPr wrap="square" lIns="0" rIns="0" tIns="0" bIns="0" anchor="ctr">
            <a:spAutoFit/>
          </a:bodyPr>
          <a:lstStyle/>
          <a:p>
            <a:pPr algn="ctr">
              <a:spcAft>
                <a:spcPts val="300"/>
              </a:spcAft>
            </a:pPr>
            <a:r>
              <a:rPr sz="1050" b="1">
                <a:solidFill>
                  <a:srgbClr val="FFFFFF"/>
                </a:solidFill>
                <a:latin typeface="Arial"/>
              </a:rPr>
              <a:t>ACTIVITY 8 · 40 MIN</a:t>
            </a:r>
          </a:p>
        </p:txBody>
      </p:sp>
      <p:sp>
        <p:nvSpPr>
          <p:cNvPr id="9" name="Rounded Rectangle 8"/>
          <p:cNvSpPr/>
          <p:nvPr/>
        </p:nvSpPr>
        <p:spPr>
          <a:xfrm>
            <a:off x="749808" y="1773936"/>
            <a:ext cx="10698480" cy="12344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773936"/>
            <a:ext cx="91440" cy="123444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874519"/>
            <a:ext cx="10149840" cy="256032"/>
          </a:xfrm>
          <a:prstGeom prst="rect">
            <a:avLst/>
          </a:prstGeom>
          <a:noFill/>
        </p:spPr>
        <p:txBody>
          <a:bodyPr wrap="square" lIns="0" rIns="0" tIns="0" bIns="0" anchor="t">
            <a:spAutoFit/>
          </a:bodyPr>
          <a:lstStyle/>
          <a:p>
            <a:pPr algn="l">
              <a:spcAft>
                <a:spcPts val="300"/>
              </a:spcAft>
            </a:pPr>
            <a:r>
              <a:rPr sz="1050" b="1">
                <a:solidFill>
                  <a:srgbClr val="703CC3"/>
                </a:solidFill>
                <a:latin typeface="Arial"/>
              </a:rPr>
              <a:t>THE SITUATION</a:t>
            </a:r>
          </a:p>
        </p:txBody>
      </p:sp>
      <p:sp>
        <p:nvSpPr>
          <p:cNvPr id="12" name="TextBox 11"/>
          <p:cNvSpPr txBox="1"/>
          <p:nvPr/>
        </p:nvSpPr>
        <p:spPr>
          <a:xfrm>
            <a:off x="1005840" y="2139696"/>
            <a:ext cx="10149840" cy="731520"/>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The POS vendor and Operations each believe the other owns interface acceptance. Finance has not approved a payment milestone, store managers receive conflicting instructions and one influential supervisor resists the pilot.</a:t>
            </a:r>
          </a:p>
        </p:txBody>
      </p:sp>
      <p:sp>
        <p:nvSpPr>
          <p:cNvPr id="13" name="Rounded Rectangle 12"/>
          <p:cNvSpPr/>
          <p:nvPr/>
        </p:nvSpPr>
        <p:spPr>
          <a:xfrm>
            <a:off x="749808"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9808" y="3218688"/>
            <a:ext cx="3419856" cy="9144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 y="3401568"/>
            <a:ext cx="3017520" cy="274320"/>
          </a:xfrm>
          <a:prstGeom prst="rect">
            <a:avLst/>
          </a:prstGeom>
          <a:noFill/>
        </p:spPr>
        <p:txBody>
          <a:bodyPr wrap="square" lIns="0" rIns="0" tIns="0" bIns="0" anchor="t">
            <a:spAutoFit/>
          </a:bodyPr>
          <a:lstStyle/>
          <a:p>
            <a:pPr algn="l">
              <a:spcAft>
                <a:spcPts val="300"/>
              </a:spcAft>
            </a:pPr>
            <a:r>
              <a:rPr sz="1050" b="1">
                <a:solidFill>
                  <a:srgbClr val="1655D1"/>
                </a:solidFill>
                <a:latin typeface="Arial"/>
              </a:rPr>
              <a:t>WHAT YOU'LL DO</a:t>
            </a:r>
          </a:p>
        </p:txBody>
      </p:sp>
      <p:sp>
        <p:nvSpPr>
          <p:cNvPr id="16" name="TextBox 15"/>
          <p:cNvSpPr txBox="1"/>
          <p:nvPr/>
        </p:nvSpPr>
        <p:spPr>
          <a:xfrm>
            <a:off x="950976"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Map influence and salience, diagnose engagement gaps, clarify RACI, design a two-way communication rhythm and prepare an evidence-based escalation brief.</a:t>
            </a:r>
          </a:p>
        </p:txBody>
      </p:sp>
      <p:sp>
        <p:nvSpPr>
          <p:cNvPr id="17" name="Rounded Rectangle 16"/>
          <p:cNvSpPr/>
          <p:nvPr/>
        </p:nvSpPr>
        <p:spPr>
          <a:xfrm>
            <a:off x="4389120"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89120" y="3218688"/>
            <a:ext cx="341985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90288" y="3401568"/>
            <a:ext cx="3017520" cy="274320"/>
          </a:xfrm>
          <a:prstGeom prst="rect">
            <a:avLst/>
          </a:prstGeom>
          <a:noFill/>
        </p:spPr>
        <p:txBody>
          <a:bodyPr wrap="square" lIns="0" rIns="0" tIns="0" bIns="0" anchor="t">
            <a:spAutoFit/>
          </a:bodyPr>
          <a:lstStyle/>
          <a:p>
            <a:pPr algn="l">
              <a:spcAft>
                <a:spcPts val="300"/>
              </a:spcAft>
            </a:pPr>
            <a:r>
              <a:rPr sz="1050" b="1">
                <a:solidFill>
                  <a:srgbClr val="0F9D8A"/>
                </a:solidFill>
                <a:latin typeface="Arial"/>
              </a:rPr>
              <a:t>YOU'LL PRODUCE</a:t>
            </a:r>
          </a:p>
        </p:txBody>
      </p:sp>
      <p:sp>
        <p:nvSpPr>
          <p:cNvPr id="20" name="TextBox 19"/>
          <p:cNvSpPr txBox="1"/>
          <p:nvPr/>
        </p:nvSpPr>
        <p:spPr>
          <a:xfrm>
            <a:off x="4590288"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A stakeholder map, salience reading, validated RACI, engagement assessment, communication actions and one-minute escalation recommendation.</a:t>
            </a:r>
          </a:p>
        </p:txBody>
      </p:sp>
      <p:sp>
        <p:nvSpPr>
          <p:cNvPr id="21" name="Rounded Rectangle 20"/>
          <p:cNvSpPr/>
          <p:nvPr/>
        </p:nvSpPr>
        <p:spPr>
          <a:xfrm>
            <a:off x="8028431"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28431" y="3218688"/>
            <a:ext cx="3419856"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0" y="3401568"/>
            <a:ext cx="3017520" cy="274320"/>
          </a:xfrm>
          <a:prstGeom prst="rect">
            <a:avLst/>
          </a:prstGeom>
          <a:noFill/>
        </p:spPr>
        <p:txBody>
          <a:bodyPr wrap="square" lIns="0" rIns="0" tIns="0" bIns="0" anchor="t">
            <a:spAutoFit/>
          </a:bodyPr>
          <a:lstStyle/>
          <a:p>
            <a:pPr algn="l">
              <a:spcAft>
                <a:spcPts val="300"/>
              </a:spcAft>
            </a:pPr>
            <a:r>
              <a:rPr sz="1050" b="1">
                <a:solidFill>
                  <a:srgbClr val="F59E0B"/>
                </a:solidFill>
                <a:latin typeface="Arial"/>
              </a:rPr>
              <a:t>DONE WHEN</a:t>
            </a:r>
          </a:p>
        </p:txBody>
      </p:sp>
      <p:sp>
        <p:nvSpPr>
          <p:cNvPr id="24" name="TextBox 23"/>
          <p:cNvSpPr txBox="1"/>
          <p:nvPr/>
        </p:nvSpPr>
        <p:spPr>
          <a:xfrm>
            <a:off x="8229600"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Critical decisions have one Accountable owner, material engagement gaps have two-way actions and the escalation asks the authorised person for a clear, time-bound decision.</a:t>
            </a:r>
          </a:p>
        </p:txBody>
      </p:sp>
      <p:sp>
        <p:nvSpPr>
          <p:cNvPr id="25" name="Rounded Rectangle 24"/>
          <p:cNvSpPr/>
          <p:nvPr/>
        </p:nvSpPr>
        <p:spPr>
          <a:xfrm>
            <a:off x="749808" y="5486400"/>
            <a:ext cx="10698480" cy="713232"/>
          </a:xfrm>
          <a:prstGeom prst="roundRect">
            <a:avLst>
              <a:gd name="adj" fmla="val 8000"/>
            </a:avLst>
          </a:prstGeom>
          <a:solidFill>
            <a:srgbClr val="FFFFFF"/>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577840"/>
            <a:ext cx="10195560" cy="256032"/>
          </a:xfrm>
          <a:prstGeom prst="rect">
            <a:avLst/>
          </a:prstGeom>
          <a:noFill/>
        </p:spPr>
        <p:txBody>
          <a:bodyPr wrap="square" lIns="0" rIns="0" tIns="0" bIns="0" anchor="t">
            <a:spAutoFit/>
          </a:bodyPr>
          <a:lstStyle/>
          <a:p>
            <a:pPr algn="l">
              <a:spcAft>
                <a:spcPts val="300"/>
              </a:spcAft>
            </a:pPr>
            <a:r>
              <a:rPr sz="1100" b="1">
                <a:solidFill>
                  <a:srgbClr val="131B2A"/>
                </a:solidFill>
                <a:latin typeface="Arial"/>
              </a:rPr>
              <a:t>Tool: Stakeholder Map, Salience Model, RACI and Engagement Assessment</a:t>
            </a:r>
          </a:p>
        </p:txBody>
      </p:sp>
      <p:sp>
        <p:nvSpPr>
          <p:cNvPr id="27" name="TextBox 26"/>
          <p:cNvSpPr txBox="1"/>
          <p:nvPr/>
        </p:nvSpPr>
        <p:spPr>
          <a:xfrm>
            <a:off x="960120" y="5843016"/>
            <a:ext cx="10195560" cy="219456"/>
          </a:xfrm>
          <a:prstGeom prst="rect">
            <a:avLst/>
          </a:prstGeom>
          <a:noFill/>
        </p:spPr>
        <p:txBody>
          <a:bodyPr wrap="square" lIns="0" rIns="0" tIns="0" bIns="0" anchor="t">
            <a:spAutoFit/>
          </a:bodyPr>
          <a:lstStyle/>
          <a:p>
            <a:pPr algn="l">
              <a:spcAft>
                <a:spcPts val="300"/>
              </a:spcAft>
            </a:pPr>
            <a:r>
              <a:rPr sz="950" b="0">
                <a:solidFill>
                  <a:srgbClr val="5F6B7A"/>
                </a:solidFill>
                <a:latin typeface="Arial"/>
              </a:rPr>
              <a:t>Full procedure, evidence fields and acceptance criteria: Learner Guide and Activity 8 folder.</a:t>
            </a:r>
          </a:p>
        </p:txBody>
      </p:sp>
      <p:sp>
        <p:nvSpPr>
          <p:cNvPr id="28" name="TextBox 27"/>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9" name="TextBox 28"/>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Activity 8 · LO5</a:t>
            </a:r>
          </a:p>
        </p:txBody>
      </p:sp>
      <p:sp>
        <p:nvSpPr>
          <p:cNvPr id="30" name="TextBox 29"/>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143</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703CC3"/>
                </a:solidFill>
                <a:latin typeface="Arial"/>
              </a:rPr>
              <a:t>TOPIC 05 · ACTIVITY DEBRIEF</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Debrief — Activity 8: What It Proves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1328928"/>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1024128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1</a:t>
            </a:r>
          </a:p>
        </p:txBody>
      </p:sp>
      <p:sp>
        <p:nvSpPr>
          <p:cNvPr id="10" name="TextBox 9"/>
          <p:cNvSpPr txBox="1"/>
          <p:nvPr/>
        </p:nvSpPr>
        <p:spPr>
          <a:xfrm>
            <a:off x="1005840" y="2313432"/>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Many communication failures begin as unclear decision rights.</a:t>
            </a:r>
          </a:p>
        </p:txBody>
      </p:sp>
      <p:sp>
        <p:nvSpPr>
          <p:cNvPr id="11" name="Rounded Rectangle 10"/>
          <p:cNvSpPr/>
          <p:nvPr/>
        </p:nvSpPr>
        <p:spPr>
          <a:xfrm>
            <a:off x="749808" y="3340608"/>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 y="3340608"/>
            <a:ext cx="91440" cy="13289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505200"/>
            <a:ext cx="1024128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2</a:t>
            </a:r>
          </a:p>
        </p:txBody>
      </p:sp>
      <p:sp>
        <p:nvSpPr>
          <p:cNvPr id="14" name="TextBox 13"/>
          <p:cNvSpPr txBox="1"/>
          <p:nvPr/>
        </p:nvSpPr>
        <p:spPr>
          <a:xfrm>
            <a:off x="1005840" y="3870960"/>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Engagement is participation and feedback, not message broadcasting.</a:t>
            </a:r>
          </a:p>
        </p:txBody>
      </p:sp>
      <p:sp>
        <p:nvSpPr>
          <p:cNvPr id="15" name="Rounded Rectangle 14"/>
          <p:cNvSpPr/>
          <p:nvPr/>
        </p:nvSpPr>
        <p:spPr>
          <a:xfrm>
            <a:off x="749808" y="4898136"/>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898136"/>
            <a:ext cx="91440" cy="1328928"/>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5062728"/>
            <a:ext cx="1024128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3</a:t>
            </a:r>
          </a:p>
        </p:txBody>
      </p:sp>
      <p:sp>
        <p:nvSpPr>
          <p:cNvPr id="18" name="TextBox 17"/>
          <p:cNvSpPr txBox="1"/>
          <p:nvPr/>
        </p:nvSpPr>
        <p:spPr>
          <a:xfrm>
            <a:off x="1005840" y="5428488"/>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Attention follows influence, impact and urgency—not title alone.</a:t>
            </a:r>
          </a:p>
        </p:txBody>
      </p:sp>
      <p:sp>
        <p:nvSpPr>
          <p:cNvPr id="19" name="TextBox 1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0" name="TextBox 1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05 · ACTIVITY DEBRIEF</a:t>
            </a:r>
          </a:p>
        </p:txBody>
      </p:sp>
      <p:sp>
        <p:nvSpPr>
          <p:cNvPr id="21" name="TextBox 2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144</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A7F4B"/>
                </a:solidFill>
                <a:latin typeface="Arial"/>
              </a:rPr>
              <a:t>TOPIC 05 · A5, K5 · LO5</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Topic 05 Recap</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Decision</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 stakeholder can affect, be affected by, or perceive themselves to be affected by the project.</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Method</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The engagement assessment matrix compares current and desired states so the gap becomes actionable.</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Evidence</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200" b="0">
                <a:solidFill>
                  <a:srgbClr val="131B2A"/>
                </a:solidFill>
                <a:latin typeface="Arial"/>
              </a:rPr>
              <a:t>A stakeholder map, salience reading, validated RACI, engagement assessment, communication actions and one-minute escalation recommendation.</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Capability</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Collaborate with stakeholders and clarify decision rights for execution (A5, K5).</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05 · A5, K5 · LO5</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145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58368" y="1554480"/>
            <a:ext cx="10881360" cy="36118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554480"/>
            <a:ext cx="128016" cy="361188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70432" y="1901952"/>
            <a:ext cx="7955279" cy="365760"/>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TOPIC 06 · A6 · LO6</a:t>
            </a:r>
          </a:p>
        </p:txBody>
      </p:sp>
      <p:sp>
        <p:nvSpPr>
          <p:cNvPr id="6" name="TextBox 5"/>
          <p:cNvSpPr txBox="1"/>
          <p:nvPr/>
        </p:nvSpPr>
        <p:spPr>
          <a:xfrm>
            <a:off x="1170432" y="2395728"/>
            <a:ext cx="9052560" cy="914400"/>
          </a:xfrm>
          <a:prstGeom prst="rect">
            <a:avLst/>
          </a:prstGeom>
          <a:noFill/>
        </p:spPr>
        <p:txBody>
          <a:bodyPr wrap="square" lIns="0" rIns="0" tIns="0" bIns="0" anchor="ctr">
            <a:spAutoFit/>
          </a:bodyPr>
          <a:lstStyle/>
          <a:p>
            <a:pPr algn="l">
              <a:spcAft>
                <a:spcPts val="300"/>
              </a:spcAft>
            </a:pPr>
            <a:r>
              <a:rPr sz="3400" b="1">
                <a:solidFill>
                  <a:srgbClr val="131B2A"/>
                </a:solidFill>
                <a:latin typeface="Arial"/>
              </a:rPr>
              <a:t>Deploy Resources</a:t>
            </a:r>
          </a:p>
        </p:txBody>
      </p:sp>
      <p:sp>
        <p:nvSpPr>
          <p:cNvPr id="7" name="TextBox 6"/>
          <p:cNvSpPr txBox="1"/>
          <p:nvPr/>
        </p:nvSpPr>
        <p:spPr>
          <a:xfrm>
            <a:off x="1170432" y="3474720"/>
            <a:ext cx="9052560" cy="777240"/>
          </a:xfrm>
          <a:prstGeom prst="rect">
            <a:avLst/>
          </a:prstGeom>
          <a:noFill/>
        </p:spPr>
        <p:txBody>
          <a:bodyPr wrap="square" lIns="0" rIns="0" tIns="0" bIns="0" anchor="t">
            <a:spAutoFit/>
          </a:bodyPr>
          <a:lstStyle/>
          <a:p>
            <a:pPr algn="l">
              <a:spcAft>
                <a:spcPts val="300"/>
              </a:spcAft>
            </a:pPr>
            <a:r>
              <a:rPr sz="1600" b="0">
                <a:solidFill>
                  <a:srgbClr val="5F6B7A"/>
                </a:solidFill>
                <a:latin typeface="Arial"/>
              </a:rPr>
              <a:t>People · budget · equipment · procurement · team performance</a:t>
            </a:r>
          </a:p>
        </p:txBody>
      </p:sp>
      <p:sp>
        <p:nvSpPr>
          <p:cNvPr id="8" name="TextBox 7"/>
          <p:cNvSpPr txBox="1"/>
          <p:nvPr/>
        </p:nvSpPr>
        <p:spPr>
          <a:xfrm>
            <a:off x="9308592" y="594360"/>
            <a:ext cx="1920240" cy="1097280"/>
          </a:xfrm>
          <a:prstGeom prst="rect">
            <a:avLst/>
          </a:prstGeom>
          <a:noFill/>
        </p:spPr>
        <p:txBody>
          <a:bodyPr wrap="square" lIns="0" rIns="0" tIns="0" bIns="0" anchor="t">
            <a:spAutoFit/>
          </a:bodyPr>
          <a:lstStyle/>
          <a:p>
            <a:pPr algn="r">
              <a:spcAft>
                <a:spcPts val="300"/>
              </a:spcAft>
            </a:pPr>
            <a:r>
              <a:rPr sz="6200" b="1">
                <a:solidFill>
                  <a:srgbClr val="DAE2EC"/>
                </a:solidFill>
                <a:latin typeface="Arial"/>
              </a:rPr>
              <a:t>06</a:t>
            </a:r>
          </a:p>
        </p:txBody>
      </p:sp>
      <p:sp>
        <p:nvSpPr>
          <p:cNvPr id="9" name="TextBox 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10" name="TextBox 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06 · A6 · LO6</a:t>
            </a:r>
          </a:p>
        </p:txBody>
      </p:sp>
      <p:sp>
        <p:nvSpPr>
          <p:cNvPr id="11" name="TextBox 1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146</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C93131"/>
                </a:solidFill>
                <a:latin typeface="Arial"/>
              </a:rPr>
              <a:t>TOPIC 06 · CENTRAL IDEA</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Capacity—not headcount—delivers the plan.</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847088"/>
            <a:ext cx="10698480" cy="3977639"/>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847088"/>
            <a:ext cx="128016" cy="3977639"/>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2359152"/>
            <a:ext cx="9738360" cy="2834640"/>
          </a:xfrm>
          <a:prstGeom prst="rect">
            <a:avLst/>
          </a:prstGeom>
          <a:noFill/>
        </p:spPr>
        <p:txBody>
          <a:bodyPr wrap="square" lIns="0" rIns="0" tIns="0" bIns="0" anchor="ctr">
            <a:spAutoFit/>
          </a:bodyPr>
          <a:lstStyle/>
          <a:p>
            <a:pPr algn="l">
              <a:spcAft>
                <a:spcPts val="300"/>
              </a:spcAft>
            </a:pPr>
            <a:r>
              <a:rPr sz="2400" b="1">
                <a:solidFill>
                  <a:srgbClr val="131B2A"/>
                </a:solidFill>
                <a:latin typeface="Arial"/>
              </a:rPr>
              <a:t>A seven-person team may have only three usable person-days at the constraint. Resource deployment is the discipline of matching skills and time to the critical work.</a:t>
            </a:r>
          </a:p>
        </p:txBody>
      </p:sp>
      <p:sp>
        <p:nvSpPr>
          <p:cNvPr id="10" name="TextBox 9"/>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11" name="TextBox 10"/>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06 · CENTRAL IDEA</a:t>
            </a:r>
          </a:p>
        </p:txBody>
      </p:sp>
      <p:sp>
        <p:nvSpPr>
          <p:cNvPr id="12" name="TextBox 11"/>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147</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06 · CONCEPT MAP</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Deploy Resources — Core Concepts I</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01</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Resource planning links each work package to required skills, quantities, timing and availability.</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02</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 responsibility assignment is not a capacity plan; availability must be tested against concurrent work.</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03</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Resource levelling changes dates to resolve over-allocation; smoothing stays within available float.</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04</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Fast tracking overlaps work and raises risk; crashing adds cost to critical-path work and may not shorten the project.</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06 · CONCEPT MAP</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148</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06 · CONCEPT MAP</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Deploy Resources — Core Concepts II</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05</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Procurement decisions consider make-or-buy, lead time, quality, interfaces, contract type and vendor capability.</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06</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Tuckman's stages require adaptive leadership: direct, coach, support and delegate as the team matures.</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07</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200" b="0">
                <a:solidFill>
                  <a:srgbClr val="131B2A"/>
                </a:solidFill>
                <a:latin typeface="Arial"/>
              </a:rPr>
              <a:t>Conflict is normal; collaborate for important relationships and outcomes, compromise when time is limited, and escalate only with evidence.</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08</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 resource dashboard should show demand, capacity, variance, bottlenecks and decisions—not just headcount.</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06 · CONCEPT MAP</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149</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06 · DECISION TOOL</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Four Resource Responses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Option</a:t>
            </a:r>
          </a:p>
        </p:txBody>
      </p:sp>
      <p:sp>
        <p:nvSpPr>
          <p:cNvPr id="9" name="Rectangle 8"/>
          <p:cNvSpPr/>
          <p:nvPr/>
        </p:nvSpPr>
        <p:spPr>
          <a:xfrm>
            <a:off x="4315968"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Schedule effect</a:t>
            </a:r>
          </a:p>
        </p:txBody>
      </p:sp>
      <p:sp>
        <p:nvSpPr>
          <p:cNvPr id="11" name="Rectangle 10"/>
          <p:cNvSpPr/>
          <p:nvPr/>
        </p:nvSpPr>
        <p:spPr>
          <a:xfrm>
            <a:off x="7882127" y="1810512"/>
            <a:ext cx="3566160" cy="758952"/>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Cost / risk effect</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Smoothing</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Uses float; finish unchanged</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Low cost, limited relief</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Levelling</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May delay finish</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Resolves over-allocation</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Crashing</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Shortens critical work</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Adds cost; diminishing returns</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Fast tracking</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Overlaps sequence</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Adds rework and quality risk</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Apply compression only to the current critical path and reanalyse after the change.</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06 · DECISION TOOL</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150</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06 · APPLIED FRAMEWORK</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Capacity Planning</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1645919"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1389887"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Demand</a:t>
            </a:r>
          </a:p>
        </p:txBody>
      </p:sp>
      <p:sp>
        <p:nvSpPr>
          <p:cNvPr id="11" name="TextBox 10"/>
          <p:cNvSpPr txBox="1"/>
          <p:nvPr/>
        </p:nvSpPr>
        <p:spPr>
          <a:xfrm>
            <a:off x="896112"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effort by skill and timing</a:t>
            </a:r>
          </a:p>
        </p:txBody>
      </p:sp>
      <p:cxnSp>
        <p:nvCxnSpPr>
          <p:cNvPr id="12" name="Connector 11"/>
          <p:cNvCxnSpPr/>
          <p:nvPr/>
        </p:nvCxnSpPr>
        <p:spPr>
          <a:xfrm>
            <a:off x="2395727" y="3474720"/>
            <a:ext cx="164593"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560320"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60320" y="1965960"/>
            <a:ext cx="1645919"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88336" y="2240279"/>
            <a:ext cx="1389887"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2688336"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Availability</a:t>
            </a:r>
          </a:p>
        </p:txBody>
      </p:sp>
      <p:sp>
        <p:nvSpPr>
          <p:cNvPr id="17" name="TextBox 16"/>
          <p:cNvSpPr txBox="1"/>
          <p:nvPr/>
        </p:nvSpPr>
        <p:spPr>
          <a:xfrm>
            <a:off x="2706624"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usable person-days</a:t>
            </a:r>
          </a:p>
        </p:txBody>
      </p:sp>
      <p:cxnSp>
        <p:nvCxnSpPr>
          <p:cNvPr id="18" name="Connector 17"/>
          <p:cNvCxnSpPr/>
          <p:nvPr/>
        </p:nvCxnSpPr>
        <p:spPr>
          <a:xfrm>
            <a:off x="4206240" y="3474720"/>
            <a:ext cx="164591"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370831"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70831" y="1965960"/>
            <a:ext cx="1645919"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98847" y="2240279"/>
            <a:ext cx="1389887"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4498847"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Gap</a:t>
            </a:r>
          </a:p>
        </p:txBody>
      </p:sp>
      <p:sp>
        <p:nvSpPr>
          <p:cNvPr id="23" name="TextBox 22"/>
          <p:cNvSpPr txBox="1"/>
          <p:nvPr/>
        </p:nvSpPr>
        <p:spPr>
          <a:xfrm>
            <a:off x="4517136"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demand minus capacity</a:t>
            </a:r>
          </a:p>
        </p:txBody>
      </p:sp>
      <p:cxnSp>
        <p:nvCxnSpPr>
          <p:cNvPr id="24" name="Connector 23"/>
          <p:cNvCxnSpPr/>
          <p:nvPr/>
        </p:nvCxnSpPr>
        <p:spPr>
          <a:xfrm>
            <a:off x="6016751"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181344"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81344" y="1965960"/>
            <a:ext cx="1645919"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59" y="2240279"/>
            <a:ext cx="1389887"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6309359"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Constraint</a:t>
            </a:r>
          </a:p>
        </p:txBody>
      </p:sp>
      <p:sp>
        <p:nvSpPr>
          <p:cNvPr id="29" name="TextBox 28"/>
          <p:cNvSpPr txBox="1"/>
          <p:nvPr/>
        </p:nvSpPr>
        <p:spPr>
          <a:xfrm>
            <a:off x="6327648"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where work queues</a:t>
            </a:r>
          </a:p>
        </p:txBody>
      </p:sp>
      <p:cxnSp>
        <p:nvCxnSpPr>
          <p:cNvPr id="30" name="Connector 29"/>
          <p:cNvCxnSpPr/>
          <p:nvPr/>
        </p:nvCxnSpPr>
        <p:spPr>
          <a:xfrm>
            <a:off x="7827263"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991855"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91855" y="1965960"/>
            <a:ext cx="1645919" cy="13716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19871" y="2240279"/>
            <a:ext cx="1389887" cy="457200"/>
          </a:xfrm>
          <a:prstGeom prst="rect">
            <a:avLst/>
          </a:prstGeom>
          <a:noFill/>
        </p:spPr>
        <p:txBody>
          <a:bodyPr wrap="square" lIns="0" rIns="0" tIns="0" bIns="0" anchor="t">
            <a:spAutoFit/>
          </a:bodyPr>
          <a:lstStyle/>
          <a:p>
            <a:pPr algn="ctr">
              <a:spcAft>
                <a:spcPts val="300"/>
              </a:spcAft>
            </a:pPr>
            <a:r>
              <a:rPr sz="1400" b="1">
                <a:solidFill>
                  <a:srgbClr val="1A7F4B"/>
                </a:solidFill>
                <a:latin typeface="Arial"/>
              </a:rPr>
              <a:t>05</a:t>
            </a:r>
          </a:p>
        </p:txBody>
      </p:sp>
      <p:sp>
        <p:nvSpPr>
          <p:cNvPr id="34" name="TextBox 33"/>
          <p:cNvSpPr txBox="1"/>
          <p:nvPr/>
        </p:nvSpPr>
        <p:spPr>
          <a:xfrm>
            <a:off x="8119871"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Option</a:t>
            </a:r>
          </a:p>
        </p:txBody>
      </p:sp>
      <p:sp>
        <p:nvSpPr>
          <p:cNvPr id="35" name="TextBox 34"/>
          <p:cNvSpPr txBox="1"/>
          <p:nvPr/>
        </p:nvSpPr>
        <p:spPr>
          <a:xfrm>
            <a:off x="8138159"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smooth, level, crash or overlap</a:t>
            </a:r>
          </a:p>
        </p:txBody>
      </p:sp>
      <p:cxnSp>
        <p:nvCxnSpPr>
          <p:cNvPr id="36" name="Connector 35"/>
          <p:cNvCxnSpPr/>
          <p:nvPr/>
        </p:nvCxnSpPr>
        <p:spPr>
          <a:xfrm>
            <a:off x="9637776" y="3474720"/>
            <a:ext cx="164591"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802367"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02367" y="1965960"/>
            <a:ext cx="1645919" cy="137160"/>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930384" y="2240279"/>
            <a:ext cx="1389887" cy="457200"/>
          </a:xfrm>
          <a:prstGeom prst="rect">
            <a:avLst/>
          </a:prstGeom>
          <a:noFill/>
        </p:spPr>
        <p:txBody>
          <a:bodyPr wrap="square" lIns="0" rIns="0" tIns="0" bIns="0" anchor="t">
            <a:spAutoFit/>
          </a:bodyPr>
          <a:lstStyle/>
          <a:p>
            <a:pPr algn="ctr">
              <a:spcAft>
                <a:spcPts val="300"/>
              </a:spcAft>
            </a:pPr>
            <a:r>
              <a:rPr sz="1400" b="1">
                <a:solidFill>
                  <a:srgbClr val="C93131"/>
                </a:solidFill>
                <a:latin typeface="Arial"/>
              </a:rPr>
              <a:t>06</a:t>
            </a:r>
          </a:p>
        </p:txBody>
      </p:sp>
      <p:sp>
        <p:nvSpPr>
          <p:cNvPr id="40" name="TextBox 39"/>
          <p:cNvSpPr txBox="1"/>
          <p:nvPr/>
        </p:nvSpPr>
        <p:spPr>
          <a:xfrm>
            <a:off x="9930384"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Decision</a:t>
            </a:r>
          </a:p>
        </p:txBody>
      </p:sp>
      <p:sp>
        <p:nvSpPr>
          <p:cNvPr id="41" name="TextBox 40"/>
          <p:cNvSpPr txBox="1"/>
          <p:nvPr/>
        </p:nvSpPr>
        <p:spPr>
          <a:xfrm>
            <a:off x="9948672"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update plan and budget</a:t>
            </a:r>
          </a:p>
        </p:txBody>
      </p:sp>
      <p:sp>
        <p:nvSpPr>
          <p:cNvPr id="42" name="Rounded Rectangle 41"/>
          <p:cNvSpPr/>
          <p:nvPr/>
        </p:nvSpPr>
        <p:spPr>
          <a:xfrm>
            <a:off x="749808" y="5303520"/>
            <a:ext cx="10698480" cy="713232"/>
          </a:xfrm>
          <a:prstGeom prst="roundRect">
            <a:avLst>
              <a:gd name="adj" fmla="val 8000"/>
            </a:avLst>
          </a:prstGeom>
          <a:solidFill>
            <a:srgbClr val="FFFFFF"/>
          </a:solidFill>
          <a:ln w="12700">
            <a:solidFill>
              <a:srgbClr val="1655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Capacity is time and skill together; headcount alone is not a usable measure.</a:t>
            </a:r>
          </a:p>
        </p:txBody>
      </p:sp>
      <p:sp>
        <p:nvSpPr>
          <p:cNvPr id="44" name="TextBox 43"/>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5" name="TextBox 44"/>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06 · APPLIED FRAMEWORK</a:t>
            </a:r>
          </a:p>
        </p:txBody>
      </p:sp>
      <p:sp>
        <p:nvSpPr>
          <p:cNvPr id="46" name="TextBox 45"/>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151</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06 · DECISION TOOL</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Team Stage and Leadership</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632460"/>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Stage</a:t>
            </a:r>
          </a:p>
        </p:txBody>
      </p:sp>
      <p:sp>
        <p:nvSpPr>
          <p:cNvPr id="9" name="Rectangle 8"/>
          <p:cNvSpPr/>
          <p:nvPr/>
        </p:nvSpPr>
        <p:spPr>
          <a:xfrm>
            <a:off x="4315968" y="1810512"/>
            <a:ext cx="3566160" cy="632460"/>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Team signal</a:t>
            </a:r>
          </a:p>
        </p:txBody>
      </p:sp>
      <p:sp>
        <p:nvSpPr>
          <p:cNvPr id="11" name="Rectangle 10"/>
          <p:cNvSpPr/>
          <p:nvPr/>
        </p:nvSpPr>
        <p:spPr>
          <a:xfrm>
            <a:off x="7882127" y="1810512"/>
            <a:ext cx="3566160" cy="632460"/>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Leader response</a:t>
            </a:r>
          </a:p>
        </p:txBody>
      </p:sp>
      <p:sp>
        <p:nvSpPr>
          <p:cNvPr id="13" name="Rectangle 12"/>
          <p:cNvSpPr/>
          <p:nvPr/>
        </p:nvSpPr>
        <p:spPr>
          <a:xfrm>
            <a:off x="74980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48869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Forming</a:t>
            </a:r>
          </a:p>
        </p:txBody>
      </p:sp>
      <p:sp>
        <p:nvSpPr>
          <p:cNvPr id="15" name="Rectangle 14"/>
          <p:cNvSpPr/>
          <p:nvPr/>
        </p:nvSpPr>
        <p:spPr>
          <a:xfrm>
            <a:off x="431596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Unclear roles and dependence</a:t>
            </a:r>
          </a:p>
        </p:txBody>
      </p:sp>
      <p:sp>
        <p:nvSpPr>
          <p:cNvPr id="17" name="Rectangle 16"/>
          <p:cNvSpPr/>
          <p:nvPr/>
        </p:nvSpPr>
        <p:spPr>
          <a:xfrm>
            <a:off x="7882127"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Direct and clarify</a:t>
            </a:r>
          </a:p>
        </p:txBody>
      </p:sp>
      <p:sp>
        <p:nvSpPr>
          <p:cNvPr id="19" name="Rectangle 18"/>
          <p:cNvSpPr/>
          <p:nvPr/>
        </p:nvSpPr>
        <p:spPr>
          <a:xfrm>
            <a:off x="74980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12115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Storming</a:t>
            </a:r>
          </a:p>
        </p:txBody>
      </p:sp>
      <p:sp>
        <p:nvSpPr>
          <p:cNvPr id="21" name="Rectangle 20"/>
          <p:cNvSpPr/>
          <p:nvPr/>
        </p:nvSpPr>
        <p:spPr>
          <a:xfrm>
            <a:off x="431596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Conflict and boundary testing</a:t>
            </a:r>
          </a:p>
        </p:txBody>
      </p:sp>
      <p:sp>
        <p:nvSpPr>
          <p:cNvPr id="23" name="Rectangle 22"/>
          <p:cNvSpPr/>
          <p:nvPr/>
        </p:nvSpPr>
        <p:spPr>
          <a:xfrm>
            <a:off x="7882127"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Coach and facilitate</a:t>
            </a:r>
          </a:p>
        </p:txBody>
      </p:sp>
      <p:sp>
        <p:nvSpPr>
          <p:cNvPr id="25" name="Rectangle 24"/>
          <p:cNvSpPr/>
          <p:nvPr/>
        </p:nvSpPr>
        <p:spPr>
          <a:xfrm>
            <a:off x="74980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3753611"/>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Norming</a:t>
            </a:r>
          </a:p>
        </p:txBody>
      </p:sp>
      <p:sp>
        <p:nvSpPr>
          <p:cNvPr id="27" name="Rectangle 26"/>
          <p:cNvSpPr/>
          <p:nvPr/>
        </p:nvSpPr>
        <p:spPr>
          <a:xfrm>
            <a:off x="431596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Shared standards emerge</a:t>
            </a:r>
          </a:p>
        </p:txBody>
      </p:sp>
      <p:sp>
        <p:nvSpPr>
          <p:cNvPr id="29" name="Rectangle 28"/>
          <p:cNvSpPr/>
          <p:nvPr/>
        </p:nvSpPr>
        <p:spPr>
          <a:xfrm>
            <a:off x="7882127"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Support and reinforce</a:t>
            </a:r>
          </a:p>
        </p:txBody>
      </p:sp>
      <p:sp>
        <p:nvSpPr>
          <p:cNvPr id="31" name="Rectangle 30"/>
          <p:cNvSpPr/>
          <p:nvPr/>
        </p:nvSpPr>
        <p:spPr>
          <a:xfrm>
            <a:off x="74980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38607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Performing</a:t>
            </a:r>
          </a:p>
        </p:txBody>
      </p:sp>
      <p:sp>
        <p:nvSpPr>
          <p:cNvPr id="33" name="Rectangle 32"/>
          <p:cNvSpPr/>
          <p:nvPr/>
        </p:nvSpPr>
        <p:spPr>
          <a:xfrm>
            <a:off x="431596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Autonomous delivery</a:t>
            </a:r>
          </a:p>
        </p:txBody>
      </p:sp>
      <p:sp>
        <p:nvSpPr>
          <p:cNvPr id="35" name="Rectangle 34"/>
          <p:cNvSpPr/>
          <p:nvPr/>
        </p:nvSpPr>
        <p:spPr>
          <a:xfrm>
            <a:off x="7882127"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Delegate and protect</a:t>
            </a:r>
          </a:p>
        </p:txBody>
      </p:sp>
      <p:sp>
        <p:nvSpPr>
          <p:cNvPr id="37" name="Rectangle 36"/>
          <p:cNvSpPr/>
          <p:nvPr/>
        </p:nvSpPr>
        <p:spPr>
          <a:xfrm>
            <a:off x="74980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 y="501853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Adjourning</a:t>
            </a:r>
          </a:p>
        </p:txBody>
      </p:sp>
      <p:sp>
        <p:nvSpPr>
          <p:cNvPr id="39" name="Rectangle 38"/>
          <p:cNvSpPr/>
          <p:nvPr/>
        </p:nvSpPr>
        <p:spPr>
          <a:xfrm>
            <a:off x="431596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25696"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Transition and loss</a:t>
            </a:r>
          </a:p>
        </p:txBody>
      </p:sp>
      <p:sp>
        <p:nvSpPr>
          <p:cNvPr id="41" name="Rectangle 40"/>
          <p:cNvSpPr/>
          <p:nvPr/>
        </p:nvSpPr>
        <p:spPr>
          <a:xfrm>
            <a:off x="7882127"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91855"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Recognise and close</a:t>
            </a:r>
          </a:p>
        </p:txBody>
      </p:sp>
      <p:sp>
        <p:nvSpPr>
          <p:cNvPr id="43" name="Rounded Rectangle 42"/>
          <p:cNvSpPr/>
          <p:nvPr/>
        </p:nvSpPr>
        <p:spPr>
          <a:xfrm>
            <a:off x="749808" y="5815584"/>
            <a:ext cx="10698480" cy="420624"/>
          </a:xfrm>
          <a:prstGeom prst="roundRect">
            <a:avLst>
              <a:gd name="adj" fmla="val 8000"/>
            </a:avLst>
          </a:prstGeom>
          <a:solidFill>
            <a:srgbClr val="F4F7FB"/>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Using one leadership style for every stage creates either dependence or frustration.</a:t>
            </a:r>
          </a:p>
        </p:txBody>
      </p:sp>
      <p:sp>
        <p:nvSpPr>
          <p:cNvPr id="45" name="TextBox 44"/>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6" name="TextBox 45"/>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06 · DECISION TOOL</a:t>
            </a:r>
          </a:p>
        </p:txBody>
      </p:sp>
      <p:sp>
        <p:nvSpPr>
          <p:cNvPr id="47" name="TextBox 46"/>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152</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C93131"/>
                </a:solidFill>
                <a:latin typeface="Arial"/>
              </a:rPr>
              <a:t>TOPIC 06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Resource Management Plan</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2956559"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Identify</a:t>
            </a:r>
          </a:p>
        </p:txBody>
      </p:sp>
      <p:sp>
        <p:nvSpPr>
          <p:cNvPr id="10" name="TextBox 9"/>
          <p:cNvSpPr txBox="1"/>
          <p:nvPr/>
        </p:nvSpPr>
        <p:spPr>
          <a:xfrm>
            <a:off x="100584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People, equipment, facilities and funding.</a:t>
            </a:r>
          </a:p>
        </p:txBody>
      </p:sp>
      <p:sp>
        <p:nvSpPr>
          <p:cNvPr id="11" name="Rounded Rectangle 10"/>
          <p:cNvSpPr/>
          <p:nvPr/>
        </p:nvSpPr>
        <p:spPr>
          <a:xfrm>
            <a:off x="439216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92167"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8200" y="1947672"/>
            <a:ext cx="2956559"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Estimate</a:t>
            </a:r>
          </a:p>
        </p:txBody>
      </p:sp>
      <p:sp>
        <p:nvSpPr>
          <p:cNvPr id="14" name="TextBox 13"/>
          <p:cNvSpPr txBox="1"/>
          <p:nvPr/>
        </p:nvSpPr>
        <p:spPr>
          <a:xfrm>
            <a:off x="464820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Quantity, skill and timing.</a:t>
            </a:r>
          </a:p>
        </p:txBody>
      </p:sp>
      <p:sp>
        <p:nvSpPr>
          <p:cNvPr id="15" name="Rounded Rectangle 14"/>
          <p:cNvSpPr/>
          <p:nvPr/>
        </p:nvSpPr>
        <p:spPr>
          <a:xfrm>
            <a:off x="803452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34527" y="1783080"/>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559" y="1947672"/>
            <a:ext cx="2956559"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Acquire</a:t>
            </a:r>
          </a:p>
        </p:txBody>
      </p:sp>
      <p:sp>
        <p:nvSpPr>
          <p:cNvPr id="18" name="TextBox 17"/>
          <p:cNvSpPr txBox="1"/>
          <p:nvPr/>
        </p:nvSpPr>
        <p:spPr>
          <a:xfrm>
            <a:off x="8290559"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Internal assignment or procurement.</a:t>
            </a:r>
          </a:p>
        </p:txBody>
      </p:sp>
      <p:sp>
        <p:nvSpPr>
          <p:cNvPr id="19" name="Rounded Rectangle 18"/>
          <p:cNvSpPr/>
          <p:nvPr/>
        </p:nvSpPr>
        <p:spPr>
          <a:xfrm>
            <a:off x="749808"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980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4283964"/>
            <a:ext cx="2956559"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Develop</a:t>
            </a:r>
          </a:p>
        </p:txBody>
      </p:sp>
      <p:sp>
        <p:nvSpPr>
          <p:cNvPr id="22" name="TextBox 21"/>
          <p:cNvSpPr txBox="1"/>
          <p:nvPr/>
        </p:nvSpPr>
        <p:spPr>
          <a:xfrm>
            <a:off x="100584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Capability, trust and working agreements.</a:t>
            </a:r>
          </a:p>
        </p:txBody>
      </p:sp>
      <p:sp>
        <p:nvSpPr>
          <p:cNvPr id="23" name="Rounded Rectangle 22"/>
          <p:cNvSpPr/>
          <p:nvPr/>
        </p:nvSpPr>
        <p:spPr>
          <a:xfrm>
            <a:off x="4392167"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92167" y="4119372"/>
            <a:ext cx="91440" cy="2107692"/>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48200" y="4283964"/>
            <a:ext cx="2956559" cy="438912"/>
          </a:xfrm>
          <a:prstGeom prst="rect">
            <a:avLst/>
          </a:prstGeom>
          <a:noFill/>
        </p:spPr>
        <p:txBody>
          <a:bodyPr wrap="square" lIns="0" rIns="0" tIns="0" bIns="0" anchor="t">
            <a:spAutoFit/>
          </a:bodyPr>
          <a:lstStyle/>
          <a:p>
            <a:pPr algn="l">
              <a:spcAft>
                <a:spcPts val="300"/>
              </a:spcAft>
            </a:pPr>
            <a:r>
              <a:rPr sz="1300" b="1">
                <a:solidFill>
                  <a:srgbClr val="1A7F4B"/>
                </a:solidFill>
                <a:latin typeface="Arial"/>
              </a:rPr>
              <a:t>Manage</a:t>
            </a:r>
          </a:p>
        </p:txBody>
      </p:sp>
      <p:sp>
        <p:nvSpPr>
          <p:cNvPr id="26" name="TextBox 25"/>
          <p:cNvSpPr txBox="1"/>
          <p:nvPr/>
        </p:nvSpPr>
        <p:spPr>
          <a:xfrm>
            <a:off x="464820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Performance, conflict and feedback.</a:t>
            </a:r>
          </a:p>
        </p:txBody>
      </p:sp>
      <p:sp>
        <p:nvSpPr>
          <p:cNvPr id="27" name="Rounded Rectangle 26"/>
          <p:cNvSpPr/>
          <p:nvPr/>
        </p:nvSpPr>
        <p:spPr>
          <a:xfrm>
            <a:off x="8034527"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34527" y="4119372"/>
            <a:ext cx="91440" cy="2107692"/>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90559" y="4283964"/>
            <a:ext cx="2956559" cy="438912"/>
          </a:xfrm>
          <a:prstGeom prst="rect">
            <a:avLst/>
          </a:prstGeom>
          <a:noFill/>
        </p:spPr>
        <p:txBody>
          <a:bodyPr wrap="square" lIns="0" rIns="0" tIns="0" bIns="0" anchor="t">
            <a:spAutoFit/>
          </a:bodyPr>
          <a:lstStyle/>
          <a:p>
            <a:pPr algn="l">
              <a:spcAft>
                <a:spcPts val="300"/>
              </a:spcAft>
            </a:pPr>
            <a:r>
              <a:rPr sz="1300" b="1">
                <a:solidFill>
                  <a:srgbClr val="C93131"/>
                </a:solidFill>
                <a:latin typeface="Arial"/>
              </a:rPr>
              <a:t>Control</a:t>
            </a:r>
          </a:p>
        </p:txBody>
      </p:sp>
      <p:sp>
        <p:nvSpPr>
          <p:cNvPr id="30" name="TextBox 29"/>
          <p:cNvSpPr txBox="1"/>
          <p:nvPr/>
        </p:nvSpPr>
        <p:spPr>
          <a:xfrm>
            <a:off x="8290559"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Usage, availability and corrective action.</a:t>
            </a:r>
          </a:p>
        </p:txBody>
      </p:sp>
      <p:sp>
        <p:nvSpPr>
          <p:cNvPr id="31" name="TextBox 30"/>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2" name="TextBox 31"/>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06 · REFERENCE-SOURCED DEEP DIVE</a:t>
            </a:r>
          </a:p>
        </p:txBody>
      </p:sp>
      <p:sp>
        <p:nvSpPr>
          <p:cNvPr id="33" name="TextBox 32"/>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153</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C93131"/>
                </a:solidFill>
                <a:latin typeface="Arial"/>
              </a:rPr>
              <a:t>TOPIC 06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Organisation Structure and PM Authority</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632460"/>
          </a:xfrm>
          <a:prstGeom prst="rect">
            <a:avLst/>
          </a:prstGeom>
          <a:solidFill>
            <a:srgbClr val="C9313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Structure</a:t>
            </a:r>
          </a:p>
        </p:txBody>
      </p:sp>
      <p:sp>
        <p:nvSpPr>
          <p:cNvPr id="9" name="Rectangle 8"/>
          <p:cNvSpPr/>
          <p:nvPr/>
        </p:nvSpPr>
        <p:spPr>
          <a:xfrm>
            <a:off x="4315968" y="1810512"/>
            <a:ext cx="3566160" cy="632460"/>
          </a:xfrm>
          <a:prstGeom prst="rect">
            <a:avLst/>
          </a:prstGeom>
          <a:solidFill>
            <a:srgbClr val="C9313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PM authority</a:t>
            </a:r>
          </a:p>
        </p:txBody>
      </p:sp>
      <p:sp>
        <p:nvSpPr>
          <p:cNvPr id="11" name="Rectangle 10"/>
          <p:cNvSpPr/>
          <p:nvPr/>
        </p:nvSpPr>
        <p:spPr>
          <a:xfrm>
            <a:off x="7882127" y="1810512"/>
            <a:ext cx="3566160" cy="632460"/>
          </a:xfrm>
          <a:prstGeom prst="rect">
            <a:avLst/>
          </a:prstGeom>
          <a:solidFill>
            <a:srgbClr val="C9313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Resource pattern</a:t>
            </a:r>
          </a:p>
        </p:txBody>
      </p:sp>
      <p:sp>
        <p:nvSpPr>
          <p:cNvPr id="13" name="Rectangle 12"/>
          <p:cNvSpPr/>
          <p:nvPr/>
        </p:nvSpPr>
        <p:spPr>
          <a:xfrm>
            <a:off x="74980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48869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Functional</a:t>
            </a:r>
          </a:p>
        </p:txBody>
      </p:sp>
      <p:sp>
        <p:nvSpPr>
          <p:cNvPr id="15" name="Rectangle 14"/>
          <p:cNvSpPr/>
          <p:nvPr/>
        </p:nvSpPr>
        <p:spPr>
          <a:xfrm>
            <a:off x="431596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Low</a:t>
            </a:r>
          </a:p>
        </p:txBody>
      </p:sp>
      <p:sp>
        <p:nvSpPr>
          <p:cNvPr id="17" name="Rectangle 16"/>
          <p:cNvSpPr/>
          <p:nvPr/>
        </p:nvSpPr>
        <p:spPr>
          <a:xfrm>
            <a:off x="7882127"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Functional manager controls</a:t>
            </a:r>
          </a:p>
        </p:txBody>
      </p:sp>
      <p:sp>
        <p:nvSpPr>
          <p:cNvPr id="19" name="Rectangle 18"/>
          <p:cNvSpPr/>
          <p:nvPr/>
        </p:nvSpPr>
        <p:spPr>
          <a:xfrm>
            <a:off x="74980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12115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Weak matrix</a:t>
            </a:r>
          </a:p>
        </p:txBody>
      </p:sp>
      <p:sp>
        <p:nvSpPr>
          <p:cNvPr id="21" name="Rectangle 20"/>
          <p:cNvSpPr/>
          <p:nvPr/>
        </p:nvSpPr>
        <p:spPr>
          <a:xfrm>
            <a:off x="431596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Limited</a:t>
            </a:r>
          </a:p>
        </p:txBody>
      </p:sp>
      <p:sp>
        <p:nvSpPr>
          <p:cNvPr id="23" name="Rectangle 22"/>
          <p:cNvSpPr/>
          <p:nvPr/>
        </p:nvSpPr>
        <p:spPr>
          <a:xfrm>
            <a:off x="7882127"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Coordinator role</a:t>
            </a:r>
          </a:p>
        </p:txBody>
      </p:sp>
      <p:sp>
        <p:nvSpPr>
          <p:cNvPr id="25" name="Rectangle 24"/>
          <p:cNvSpPr/>
          <p:nvPr/>
        </p:nvSpPr>
        <p:spPr>
          <a:xfrm>
            <a:off x="74980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3753611"/>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Balanced matrix</a:t>
            </a:r>
          </a:p>
        </p:txBody>
      </p:sp>
      <p:sp>
        <p:nvSpPr>
          <p:cNvPr id="27" name="Rectangle 26"/>
          <p:cNvSpPr/>
          <p:nvPr/>
        </p:nvSpPr>
        <p:spPr>
          <a:xfrm>
            <a:off x="431596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Shared</a:t>
            </a:r>
          </a:p>
        </p:txBody>
      </p:sp>
      <p:sp>
        <p:nvSpPr>
          <p:cNvPr id="29" name="Rectangle 28"/>
          <p:cNvSpPr/>
          <p:nvPr/>
        </p:nvSpPr>
        <p:spPr>
          <a:xfrm>
            <a:off x="7882127"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Negotiated authority</a:t>
            </a:r>
          </a:p>
        </p:txBody>
      </p:sp>
      <p:sp>
        <p:nvSpPr>
          <p:cNvPr id="31" name="Rectangle 30"/>
          <p:cNvSpPr/>
          <p:nvPr/>
        </p:nvSpPr>
        <p:spPr>
          <a:xfrm>
            <a:off x="74980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38607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Strong matrix</a:t>
            </a:r>
          </a:p>
        </p:txBody>
      </p:sp>
      <p:sp>
        <p:nvSpPr>
          <p:cNvPr id="33" name="Rectangle 32"/>
          <p:cNvSpPr/>
          <p:nvPr/>
        </p:nvSpPr>
        <p:spPr>
          <a:xfrm>
            <a:off x="431596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Moderate to high</a:t>
            </a:r>
          </a:p>
        </p:txBody>
      </p:sp>
      <p:sp>
        <p:nvSpPr>
          <p:cNvPr id="35" name="Rectangle 34"/>
          <p:cNvSpPr/>
          <p:nvPr/>
        </p:nvSpPr>
        <p:spPr>
          <a:xfrm>
            <a:off x="7882127"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Dedicated PM authority</a:t>
            </a:r>
          </a:p>
        </p:txBody>
      </p:sp>
      <p:sp>
        <p:nvSpPr>
          <p:cNvPr id="37" name="Rectangle 36"/>
          <p:cNvSpPr/>
          <p:nvPr/>
        </p:nvSpPr>
        <p:spPr>
          <a:xfrm>
            <a:off x="74980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 y="501853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Project-oriented</a:t>
            </a:r>
          </a:p>
        </p:txBody>
      </p:sp>
      <p:sp>
        <p:nvSpPr>
          <p:cNvPr id="39" name="Rectangle 38"/>
          <p:cNvSpPr/>
          <p:nvPr/>
        </p:nvSpPr>
        <p:spPr>
          <a:xfrm>
            <a:off x="431596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25696"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High</a:t>
            </a:r>
          </a:p>
        </p:txBody>
      </p:sp>
      <p:sp>
        <p:nvSpPr>
          <p:cNvPr id="41" name="Rectangle 40"/>
          <p:cNvSpPr/>
          <p:nvPr/>
        </p:nvSpPr>
        <p:spPr>
          <a:xfrm>
            <a:off x="7882127"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91855"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Dedicated team</a:t>
            </a:r>
          </a:p>
        </p:txBody>
      </p:sp>
      <p:sp>
        <p:nvSpPr>
          <p:cNvPr id="43" name="Rounded Rectangle 42"/>
          <p:cNvSpPr/>
          <p:nvPr/>
        </p:nvSpPr>
        <p:spPr>
          <a:xfrm>
            <a:off x="749808" y="5815584"/>
            <a:ext cx="10698480" cy="420624"/>
          </a:xfrm>
          <a:prstGeom prst="roundRect">
            <a:avLst>
              <a:gd name="adj" fmla="val 8000"/>
            </a:avLst>
          </a:prstGeom>
          <a:solidFill>
            <a:srgbClr val="F4F7FB"/>
          </a:solidFill>
          <a:ln w="12700">
            <a:solidFill>
              <a:srgbClr val="C931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Even a small project needs explicit escalation when formal authority is limited.</a:t>
            </a:r>
          </a:p>
        </p:txBody>
      </p:sp>
      <p:sp>
        <p:nvSpPr>
          <p:cNvPr id="45" name="TextBox 44"/>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6" name="TextBox 45"/>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06 · REFERENCE-SOURCED DEEP DIVE</a:t>
            </a:r>
          </a:p>
        </p:txBody>
      </p:sp>
      <p:sp>
        <p:nvSpPr>
          <p:cNvPr id="47" name="TextBox 46"/>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154</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C93131"/>
                </a:solidFill>
                <a:latin typeface="Arial"/>
              </a:rPr>
              <a:t>TOPIC 06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Role, Authority, Responsibility and Competence</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C9313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Element</a:t>
            </a:r>
          </a:p>
        </p:txBody>
      </p:sp>
      <p:sp>
        <p:nvSpPr>
          <p:cNvPr id="9" name="Rectangle 8"/>
          <p:cNvSpPr/>
          <p:nvPr/>
        </p:nvSpPr>
        <p:spPr>
          <a:xfrm>
            <a:off x="4315968" y="1810512"/>
            <a:ext cx="3566160" cy="758952"/>
          </a:xfrm>
          <a:prstGeom prst="rect">
            <a:avLst/>
          </a:prstGeom>
          <a:solidFill>
            <a:srgbClr val="C9313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Question</a:t>
            </a:r>
          </a:p>
        </p:txBody>
      </p:sp>
      <p:sp>
        <p:nvSpPr>
          <p:cNvPr id="11" name="Rectangle 10"/>
          <p:cNvSpPr/>
          <p:nvPr/>
        </p:nvSpPr>
        <p:spPr>
          <a:xfrm>
            <a:off x="7882127" y="1810512"/>
            <a:ext cx="3566160" cy="758952"/>
          </a:xfrm>
          <a:prstGeom prst="rect">
            <a:avLst/>
          </a:prstGeom>
          <a:solidFill>
            <a:srgbClr val="C9313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Evidence</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Role</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What function is performed?</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Role description</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Authority</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What decisions may be made?</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Charter and tolerance</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Responsibility</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What outcome or work is owned?</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RACI and work package</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Competence</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Can the person perform it?</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Skill and experience</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C931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Assigning work without authority or competence creates hidden dependency.</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06 · REFERENCE-SOURCED DEEP DIVE</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155</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C93131"/>
                </a:solidFill>
                <a:latin typeface="Arial"/>
              </a:rPr>
              <a:t>TOPIC 06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Two-Week Capacity Worked Example</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C9313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Skill</a:t>
            </a:r>
          </a:p>
        </p:txBody>
      </p:sp>
      <p:sp>
        <p:nvSpPr>
          <p:cNvPr id="9" name="Rectangle 8"/>
          <p:cNvSpPr/>
          <p:nvPr/>
        </p:nvSpPr>
        <p:spPr>
          <a:xfrm>
            <a:off x="4315968" y="1810512"/>
            <a:ext cx="3566160" cy="758952"/>
          </a:xfrm>
          <a:prstGeom prst="rect">
            <a:avLst/>
          </a:prstGeom>
          <a:solidFill>
            <a:srgbClr val="C9313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Demand</a:t>
            </a:r>
          </a:p>
        </p:txBody>
      </p:sp>
      <p:sp>
        <p:nvSpPr>
          <p:cNvPr id="11" name="Rectangle 10"/>
          <p:cNvSpPr/>
          <p:nvPr/>
        </p:nvSpPr>
        <p:spPr>
          <a:xfrm>
            <a:off x="7882127" y="1810512"/>
            <a:ext cx="3566160" cy="758952"/>
          </a:xfrm>
          <a:prstGeom prst="rect">
            <a:avLst/>
          </a:prstGeom>
          <a:solidFill>
            <a:srgbClr val="C9313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Usable capacity / decision</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Integration developer</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96 hours</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64 hours — defer reporting interface</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Outlet trainer</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40 hours</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48 hours — retain buffer</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Data analyst</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52 hours</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32 hours — buy 20 specialist hours</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Test lead</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60 hours</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56 hours — smooth four hours into next week</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C931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The constraint is skill-specific usable time, not the team's nominal headcount.</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06 · REFERENCE-SOURCED DEEP DIVE</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156</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C93131"/>
                </a:solidFill>
                <a:latin typeface="Arial"/>
              </a:rPr>
              <a:t>TOPIC 06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Acquire, Develop or Procure</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C9313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Choice</a:t>
            </a:r>
          </a:p>
        </p:txBody>
      </p:sp>
      <p:sp>
        <p:nvSpPr>
          <p:cNvPr id="9" name="Rectangle 8"/>
          <p:cNvSpPr/>
          <p:nvPr/>
        </p:nvSpPr>
        <p:spPr>
          <a:xfrm>
            <a:off x="4315968" y="1810512"/>
            <a:ext cx="3566160" cy="758952"/>
          </a:xfrm>
          <a:prstGeom prst="rect">
            <a:avLst/>
          </a:prstGeom>
          <a:solidFill>
            <a:srgbClr val="C9313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Use when</a:t>
            </a:r>
          </a:p>
        </p:txBody>
      </p:sp>
      <p:sp>
        <p:nvSpPr>
          <p:cNvPr id="11" name="Rectangle 10"/>
          <p:cNvSpPr/>
          <p:nvPr/>
        </p:nvSpPr>
        <p:spPr>
          <a:xfrm>
            <a:off x="7882127" y="1810512"/>
            <a:ext cx="3566160" cy="758952"/>
          </a:xfrm>
          <a:prstGeom prst="rect">
            <a:avLst/>
          </a:prstGeom>
          <a:solidFill>
            <a:srgbClr val="C9313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Trade-off</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Internal assignment</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Capability exists</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Priority conflict</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Develop skill</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Need is recurring</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Learning time</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Contract resource</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Short-term specialist gap</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Cost and knowledge transfer</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Outsource deliverable</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Clear result and interface</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Control and vendor dependency</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C931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Choose the smallest intervention that resolves the critical constraint.</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06 · REFERENCE-SOURCED DEEP DIVE</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157</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C93131"/>
                </a:solidFill>
                <a:latin typeface="Arial"/>
              </a:rPr>
              <a:t>TOPIC 06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Make-or-Buy Decision</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632460"/>
          </a:xfrm>
          <a:prstGeom prst="rect">
            <a:avLst/>
          </a:prstGeom>
          <a:solidFill>
            <a:srgbClr val="C9313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Criterion</a:t>
            </a:r>
          </a:p>
        </p:txBody>
      </p:sp>
      <p:sp>
        <p:nvSpPr>
          <p:cNvPr id="9" name="Rectangle 8"/>
          <p:cNvSpPr/>
          <p:nvPr/>
        </p:nvSpPr>
        <p:spPr>
          <a:xfrm>
            <a:off x="4315968" y="1810512"/>
            <a:ext cx="3566160" cy="632460"/>
          </a:xfrm>
          <a:prstGeom prst="rect">
            <a:avLst/>
          </a:prstGeom>
          <a:solidFill>
            <a:srgbClr val="C9313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Make</a:t>
            </a:r>
          </a:p>
        </p:txBody>
      </p:sp>
      <p:sp>
        <p:nvSpPr>
          <p:cNvPr id="11" name="Rectangle 10"/>
          <p:cNvSpPr/>
          <p:nvPr/>
        </p:nvSpPr>
        <p:spPr>
          <a:xfrm>
            <a:off x="7882127" y="1810512"/>
            <a:ext cx="3566160" cy="632460"/>
          </a:xfrm>
          <a:prstGeom prst="rect">
            <a:avLst/>
          </a:prstGeom>
          <a:solidFill>
            <a:srgbClr val="C9313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Buy</a:t>
            </a:r>
          </a:p>
        </p:txBody>
      </p:sp>
      <p:sp>
        <p:nvSpPr>
          <p:cNvPr id="13" name="Rectangle 12"/>
          <p:cNvSpPr/>
          <p:nvPr/>
        </p:nvSpPr>
        <p:spPr>
          <a:xfrm>
            <a:off x="74980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48869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Capability</a:t>
            </a:r>
          </a:p>
        </p:txBody>
      </p:sp>
      <p:sp>
        <p:nvSpPr>
          <p:cNvPr id="15" name="Rectangle 14"/>
          <p:cNvSpPr/>
          <p:nvPr/>
        </p:nvSpPr>
        <p:spPr>
          <a:xfrm>
            <a:off x="431596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Builds internal skill</a:t>
            </a:r>
          </a:p>
        </p:txBody>
      </p:sp>
      <p:sp>
        <p:nvSpPr>
          <p:cNvPr id="17" name="Rectangle 16"/>
          <p:cNvSpPr/>
          <p:nvPr/>
        </p:nvSpPr>
        <p:spPr>
          <a:xfrm>
            <a:off x="7882127"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Accesses specialist skill</a:t>
            </a:r>
          </a:p>
        </p:txBody>
      </p:sp>
      <p:sp>
        <p:nvSpPr>
          <p:cNvPr id="19" name="Rectangle 18"/>
          <p:cNvSpPr/>
          <p:nvPr/>
        </p:nvSpPr>
        <p:spPr>
          <a:xfrm>
            <a:off x="74980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12115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Lead time</a:t>
            </a:r>
          </a:p>
        </p:txBody>
      </p:sp>
      <p:sp>
        <p:nvSpPr>
          <p:cNvPr id="21" name="Rectangle 20"/>
          <p:cNvSpPr/>
          <p:nvPr/>
        </p:nvSpPr>
        <p:spPr>
          <a:xfrm>
            <a:off x="431596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Depends on availability</a:t>
            </a:r>
          </a:p>
        </p:txBody>
      </p:sp>
      <p:sp>
        <p:nvSpPr>
          <p:cNvPr id="23" name="Rectangle 22"/>
          <p:cNvSpPr/>
          <p:nvPr/>
        </p:nvSpPr>
        <p:spPr>
          <a:xfrm>
            <a:off x="7882127"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Depends on procurement and onboarding</a:t>
            </a:r>
          </a:p>
        </p:txBody>
      </p:sp>
      <p:sp>
        <p:nvSpPr>
          <p:cNvPr id="25" name="Rectangle 24"/>
          <p:cNvSpPr/>
          <p:nvPr/>
        </p:nvSpPr>
        <p:spPr>
          <a:xfrm>
            <a:off x="74980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3753611"/>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Control</a:t>
            </a:r>
          </a:p>
        </p:txBody>
      </p:sp>
      <p:sp>
        <p:nvSpPr>
          <p:cNvPr id="27" name="Rectangle 26"/>
          <p:cNvSpPr/>
          <p:nvPr/>
        </p:nvSpPr>
        <p:spPr>
          <a:xfrm>
            <a:off x="431596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Direct management</a:t>
            </a:r>
          </a:p>
        </p:txBody>
      </p:sp>
      <p:sp>
        <p:nvSpPr>
          <p:cNvPr id="29" name="Rectangle 28"/>
          <p:cNvSpPr/>
          <p:nvPr/>
        </p:nvSpPr>
        <p:spPr>
          <a:xfrm>
            <a:off x="7882127"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Contract and interface control</a:t>
            </a:r>
          </a:p>
        </p:txBody>
      </p:sp>
      <p:sp>
        <p:nvSpPr>
          <p:cNvPr id="31" name="Rectangle 30"/>
          <p:cNvSpPr/>
          <p:nvPr/>
        </p:nvSpPr>
        <p:spPr>
          <a:xfrm>
            <a:off x="74980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38607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Cost</a:t>
            </a:r>
          </a:p>
        </p:txBody>
      </p:sp>
      <p:sp>
        <p:nvSpPr>
          <p:cNvPr id="33" name="Rectangle 32"/>
          <p:cNvSpPr/>
          <p:nvPr/>
        </p:nvSpPr>
        <p:spPr>
          <a:xfrm>
            <a:off x="431596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Fixed or opportunity cost</a:t>
            </a:r>
          </a:p>
        </p:txBody>
      </p:sp>
      <p:sp>
        <p:nvSpPr>
          <p:cNvPr id="35" name="Rectangle 34"/>
          <p:cNvSpPr/>
          <p:nvPr/>
        </p:nvSpPr>
        <p:spPr>
          <a:xfrm>
            <a:off x="7882127"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Price plus vendor management</a:t>
            </a:r>
          </a:p>
        </p:txBody>
      </p:sp>
      <p:sp>
        <p:nvSpPr>
          <p:cNvPr id="37" name="Rectangle 36"/>
          <p:cNvSpPr/>
          <p:nvPr/>
        </p:nvSpPr>
        <p:spPr>
          <a:xfrm>
            <a:off x="74980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 y="501853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Knowledge</a:t>
            </a:r>
          </a:p>
        </p:txBody>
      </p:sp>
      <p:sp>
        <p:nvSpPr>
          <p:cNvPr id="39" name="Rectangle 38"/>
          <p:cNvSpPr/>
          <p:nvPr/>
        </p:nvSpPr>
        <p:spPr>
          <a:xfrm>
            <a:off x="431596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25696"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Retained internally</a:t>
            </a:r>
          </a:p>
        </p:txBody>
      </p:sp>
      <p:sp>
        <p:nvSpPr>
          <p:cNvPr id="41" name="Rectangle 40"/>
          <p:cNvSpPr/>
          <p:nvPr/>
        </p:nvSpPr>
        <p:spPr>
          <a:xfrm>
            <a:off x="7882127"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91855"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Requires transfer plan</a:t>
            </a:r>
          </a:p>
        </p:txBody>
      </p:sp>
      <p:sp>
        <p:nvSpPr>
          <p:cNvPr id="43" name="Rounded Rectangle 42"/>
          <p:cNvSpPr/>
          <p:nvPr/>
        </p:nvSpPr>
        <p:spPr>
          <a:xfrm>
            <a:off x="749808" y="5815584"/>
            <a:ext cx="10698480" cy="420624"/>
          </a:xfrm>
          <a:prstGeom prst="roundRect">
            <a:avLst>
              <a:gd name="adj" fmla="val 8000"/>
            </a:avLst>
          </a:prstGeom>
          <a:solidFill>
            <a:srgbClr val="F4F7FB"/>
          </a:solidFill>
          <a:ln w="12700">
            <a:solidFill>
              <a:srgbClr val="C931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Lowest price is not lowest total project cost when delay and interface risk are included.</a:t>
            </a:r>
          </a:p>
        </p:txBody>
      </p:sp>
      <p:sp>
        <p:nvSpPr>
          <p:cNvPr id="45" name="TextBox 44"/>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6" name="TextBox 45"/>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06 · REFERENCE-SOURCED DEEP DIVE</a:t>
            </a:r>
          </a:p>
        </p:txBody>
      </p:sp>
      <p:sp>
        <p:nvSpPr>
          <p:cNvPr id="47" name="TextBox 46"/>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158</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C93131"/>
                </a:solidFill>
                <a:latin typeface="Arial"/>
              </a:rPr>
              <a:t>TOPIC 06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Contract Type and Risk</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C9313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Type</a:t>
            </a:r>
          </a:p>
        </p:txBody>
      </p:sp>
      <p:sp>
        <p:nvSpPr>
          <p:cNvPr id="9" name="Rectangle 8"/>
          <p:cNvSpPr/>
          <p:nvPr/>
        </p:nvSpPr>
        <p:spPr>
          <a:xfrm>
            <a:off x="4315968" y="1810512"/>
            <a:ext cx="3566160" cy="758952"/>
          </a:xfrm>
          <a:prstGeom prst="rect">
            <a:avLst/>
          </a:prstGeom>
          <a:solidFill>
            <a:srgbClr val="C9313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Cost risk</a:t>
            </a:r>
          </a:p>
        </p:txBody>
      </p:sp>
      <p:sp>
        <p:nvSpPr>
          <p:cNvPr id="11" name="Rectangle 10"/>
          <p:cNvSpPr/>
          <p:nvPr/>
        </p:nvSpPr>
        <p:spPr>
          <a:xfrm>
            <a:off x="7882127" y="1810512"/>
            <a:ext cx="3566160" cy="758952"/>
          </a:xfrm>
          <a:prstGeom prst="rect">
            <a:avLst/>
          </a:prstGeom>
          <a:solidFill>
            <a:srgbClr val="C9313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Best fit</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Firm fixed price</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More seller risk</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Stable, clear scope</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Cost reimbursable</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More buyer risk</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Uncertain scope with control</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Time and materials</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Shared / capped</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Short-term flexible effort</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Incentive arrangement</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Shared performance target</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Measurable outcome</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C931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The contract allocates financial risk; it does not eliminate delivery accountability.</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06 · REFERENCE-SOURCED DEEP DIVE</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159</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C93131"/>
                </a:solidFill>
                <a:latin typeface="Arial"/>
              </a:rPr>
              <a:t>TOPIC 06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HarbourHub Team-Stage Diagnostic</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C9313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Observed behaviour</a:t>
            </a:r>
          </a:p>
        </p:txBody>
      </p:sp>
      <p:sp>
        <p:nvSpPr>
          <p:cNvPr id="9" name="Rectangle 8"/>
          <p:cNvSpPr/>
          <p:nvPr/>
        </p:nvSpPr>
        <p:spPr>
          <a:xfrm>
            <a:off x="4315968" y="1810512"/>
            <a:ext cx="3566160" cy="758952"/>
          </a:xfrm>
          <a:prstGeom prst="rect">
            <a:avLst/>
          </a:prstGeom>
          <a:solidFill>
            <a:srgbClr val="C9313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Stage diagnosis</a:t>
            </a:r>
          </a:p>
        </p:txBody>
      </p:sp>
      <p:sp>
        <p:nvSpPr>
          <p:cNvPr id="11" name="Rectangle 10"/>
          <p:cNvSpPr/>
          <p:nvPr/>
        </p:nvSpPr>
        <p:spPr>
          <a:xfrm>
            <a:off x="7882127" y="1810512"/>
            <a:ext cx="3566160" cy="758952"/>
          </a:xfrm>
          <a:prstGeom prst="rect">
            <a:avLst/>
          </a:prstGeom>
          <a:solidFill>
            <a:srgbClr val="C9313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Next leadership move</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Vendor and IT dispute interface ownership</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Storming</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Facilitate roles and decision rule</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Outlet champions share one job aid</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Norming</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Reinforce standard and peer coaching</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Test team resolves defects without escalation</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Performing</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Delegate within tolerance</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Pilot staff worry about release</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Adjourning</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Recognise contribution and confirm transition</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C931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Leadership changes with team evidence; it is not a fixed personal style.</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06 · REFERENCE-SOURCED DEEP DIVE</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160</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C93131"/>
                </a:solidFill>
                <a:latin typeface="Arial"/>
              </a:rPr>
              <a:t>TOPIC 06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Conflict Approaches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632460"/>
          </a:xfrm>
          <a:prstGeom prst="rect">
            <a:avLst/>
          </a:prstGeom>
          <a:solidFill>
            <a:srgbClr val="C9313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Approach</a:t>
            </a:r>
          </a:p>
        </p:txBody>
      </p:sp>
      <p:sp>
        <p:nvSpPr>
          <p:cNvPr id="9" name="Rectangle 8"/>
          <p:cNvSpPr/>
          <p:nvPr/>
        </p:nvSpPr>
        <p:spPr>
          <a:xfrm>
            <a:off x="4315968" y="1810512"/>
            <a:ext cx="3566160" cy="632460"/>
          </a:xfrm>
          <a:prstGeom prst="rect">
            <a:avLst/>
          </a:prstGeom>
          <a:solidFill>
            <a:srgbClr val="C9313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When useful</a:t>
            </a:r>
          </a:p>
        </p:txBody>
      </p:sp>
      <p:sp>
        <p:nvSpPr>
          <p:cNvPr id="11" name="Rectangle 10"/>
          <p:cNvSpPr/>
          <p:nvPr/>
        </p:nvSpPr>
        <p:spPr>
          <a:xfrm>
            <a:off x="7882127" y="1810512"/>
            <a:ext cx="3566160" cy="632460"/>
          </a:xfrm>
          <a:prstGeom prst="rect">
            <a:avLst/>
          </a:prstGeom>
          <a:solidFill>
            <a:srgbClr val="C9313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Trade-off</a:t>
            </a:r>
          </a:p>
        </p:txBody>
      </p:sp>
      <p:sp>
        <p:nvSpPr>
          <p:cNvPr id="13" name="Rectangle 12"/>
          <p:cNvSpPr/>
          <p:nvPr/>
        </p:nvSpPr>
        <p:spPr>
          <a:xfrm>
            <a:off x="74980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48869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Collaborate</a:t>
            </a:r>
          </a:p>
        </p:txBody>
      </p:sp>
      <p:sp>
        <p:nvSpPr>
          <p:cNvPr id="15" name="Rectangle 14"/>
          <p:cNvSpPr/>
          <p:nvPr/>
        </p:nvSpPr>
        <p:spPr>
          <a:xfrm>
            <a:off x="431596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Outcome and relationship both matter</a:t>
            </a:r>
          </a:p>
        </p:txBody>
      </p:sp>
      <p:sp>
        <p:nvSpPr>
          <p:cNvPr id="17" name="Rectangle 16"/>
          <p:cNvSpPr/>
          <p:nvPr/>
        </p:nvSpPr>
        <p:spPr>
          <a:xfrm>
            <a:off x="7882127"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Time and openness</a:t>
            </a:r>
          </a:p>
        </p:txBody>
      </p:sp>
      <p:sp>
        <p:nvSpPr>
          <p:cNvPr id="19" name="Rectangle 18"/>
          <p:cNvSpPr/>
          <p:nvPr/>
        </p:nvSpPr>
        <p:spPr>
          <a:xfrm>
            <a:off x="74980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12115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Compromise</a:t>
            </a:r>
          </a:p>
        </p:txBody>
      </p:sp>
      <p:sp>
        <p:nvSpPr>
          <p:cNvPr id="21" name="Rectangle 20"/>
          <p:cNvSpPr/>
          <p:nvPr/>
        </p:nvSpPr>
        <p:spPr>
          <a:xfrm>
            <a:off x="431596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Time-limited middle ground</a:t>
            </a:r>
          </a:p>
        </p:txBody>
      </p:sp>
      <p:sp>
        <p:nvSpPr>
          <p:cNvPr id="23" name="Rectangle 22"/>
          <p:cNvSpPr/>
          <p:nvPr/>
        </p:nvSpPr>
        <p:spPr>
          <a:xfrm>
            <a:off x="7882127"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Partial satisfaction</a:t>
            </a:r>
          </a:p>
        </p:txBody>
      </p:sp>
      <p:sp>
        <p:nvSpPr>
          <p:cNvPr id="25" name="Rectangle 24"/>
          <p:cNvSpPr/>
          <p:nvPr/>
        </p:nvSpPr>
        <p:spPr>
          <a:xfrm>
            <a:off x="74980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3753611"/>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Accommodate</a:t>
            </a:r>
          </a:p>
        </p:txBody>
      </p:sp>
      <p:sp>
        <p:nvSpPr>
          <p:cNvPr id="27" name="Rectangle 26"/>
          <p:cNvSpPr/>
          <p:nvPr/>
        </p:nvSpPr>
        <p:spPr>
          <a:xfrm>
            <a:off x="431596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Relationship or learning matters more</a:t>
            </a:r>
          </a:p>
        </p:txBody>
      </p:sp>
      <p:sp>
        <p:nvSpPr>
          <p:cNvPr id="29" name="Rectangle 28"/>
          <p:cNvSpPr/>
          <p:nvPr/>
        </p:nvSpPr>
        <p:spPr>
          <a:xfrm>
            <a:off x="7882127"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Your need deferred</a:t>
            </a:r>
          </a:p>
        </p:txBody>
      </p:sp>
      <p:sp>
        <p:nvSpPr>
          <p:cNvPr id="31" name="Rectangle 30"/>
          <p:cNvSpPr/>
          <p:nvPr/>
        </p:nvSpPr>
        <p:spPr>
          <a:xfrm>
            <a:off x="74980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38607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Direct / force</a:t>
            </a:r>
          </a:p>
        </p:txBody>
      </p:sp>
      <p:sp>
        <p:nvSpPr>
          <p:cNvPr id="33" name="Rectangle 32"/>
          <p:cNvSpPr/>
          <p:nvPr/>
        </p:nvSpPr>
        <p:spPr>
          <a:xfrm>
            <a:off x="431596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Emergency or authority decision</a:t>
            </a:r>
          </a:p>
        </p:txBody>
      </p:sp>
      <p:sp>
        <p:nvSpPr>
          <p:cNvPr id="35" name="Rectangle 34"/>
          <p:cNvSpPr/>
          <p:nvPr/>
        </p:nvSpPr>
        <p:spPr>
          <a:xfrm>
            <a:off x="7882127"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Commitment risk</a:t>
            </a:r>
          </a:p>
        </p:txBody>
      </p:sp>
      <p:sp>
        <p:nvSpPr>
          <p:cNvPr id="37" name="Rectangle 36"/>
          <p:cNvSpPr/>
          <p:nvPr/>
        </p:nvSpPr>
        <p:spPr>
          <a:xfrm>
            <a:off x="74980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 y="501853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Avoid</a:t>
            </a:r>
          </a:p>
        </p:txBody>
      </p:sp>
      <p:sp>
        <p:nvSpPr>
          <p:cNvPr id="39" name="Rectangle 38"/>
          <p:cNvSpPr/>
          <p:nvPr/>
        </p:nvSpPr>
        <p:spPr>
          <a:xfrm>
            <a:off x="431596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25696"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Low value or cooling period</a:t>
            </a:r>
          </a:p>
        </p:txBody>
      </p:sp>
      <p:sp>
        <p:nvSpPr>
          <p:cNvPr id="41" name="Rectangle 40"/>
          <p:cNvSpPr/>
          <p:nvPr/>
        </p:nvSpPr>
        <p:spPr>
          <a:xfrm>
            <a:off x="7882127"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91855"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Issue may persist</a:t>
            </a:r>
          </a:p>
        </p:txBody>
      </p:sp>
      <p:sp>
        <p:nvSpPr>
          <p:cNvPr id="43" name="Rounded Rectangle 42"/>
          <p:cNvSpPr/>
          <p:nvPr/>
        </p:nvSpPr>
        <p:spPr>
          <a:xfrm>
            <a:off x="749808" y="5815584"/>
            <a:ext cx="10698480" cy="420624"/>
          </a:xfrm>
          <a:prstGeom prst="roundRect">
            <a:avLst>
              <a:gd name="adj" fmla="val 8000"/>
            </a:avLst>
          </a:prstGeom>
          <a:solidFill>
            <a:srgbClr val="F4F7FB"/>
          </a:solidFill>
          <a:ln w="12700">
            <a:solidFill>
              <a:srgbClr val="C931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Conflict is information; choose the response based on stakes and relationship.</a:t>
            </a:r>
          </a:p>
        </p:txBody>
      </p:sp>
      <p:sp>
        <p:nvSpPr>
          <p:cNvPr id="45" name="TextBox 44"/>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6" name="TextBox 45"/>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06 · REFERENCE-SOURCED DEEP DIVE</a:t>
            </a:r>
          </a:p>
        </p:txBody>
      </p:sp>
      <p:sp>
        <p:nvSpPr>
          <p:cNvPr id="47" name="TextBox 46"/>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161</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C93131"/>
                </a:solidFill>
                <a:latin typeface="Arial"/>
              </a:rPr>
              <a:t>TOPIC 06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HarbourHub Bottleneck Options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C9313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Option tested</a:t>
            </a:r>
          </a:p>
        </p:txBody>
      </p:sp>
      <p:sp>
        <p:nvSpPr>
          <p:cNvPr id="9" name="Rectangle 8"/>
          <p:cNvSpPr/>
          <p:nvPr/>
        </p:nvSpPr>
        <p:spPr>
          <a:xfrm>
            <a:off x="4315968" y="1810512"/>
            <a:ext cx="3566160" cy="758952"/>
          </a:xfrm>
          <a:prstGeom prst="rect">
            <a:avLst/>
          </a:prstGeom>
          <a:solidFill>
            <a:srgbClr val="C9313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Schedule effect</a:t>
            </a:r>
          </a:p>
        </p:txBody>
      </p:sp>
      <p:sp>
        <p:nvSpPr>
          <p:cNvPr id="11" name="Rectangle 10"/>
          <p:cNvSpPr/>
          <p:nvPr/>
        </p:nvSpPr>
        <p:spPr>
          <a:xfrm>
            <a:off x="7882127" y="1810512"/>
            <a:ext cx="3566160" cy="758952"/>
          </a:xfrm>
          <a:prstGeom prst="rect">
            <a:avLst/>
          </a:prstGeom>
          <a:solidFill>
            <a:srgbClr val="C9313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Decision</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Smooth outlet training</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Uses two days of float</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Accept — no milestone impact</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Level integration work</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Moves launch by one week</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Reject unless scope is traded</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Crash data validation</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Recovers three days for S$3,600</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Approve inside reserve</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Fast-track testing</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May recover four days</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Reject — high rework and quality risk</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C931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The selected combination protects launch without hiding cost or quality trade-offs.</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06 · REFERENCE-SOURCED DEEP DIVE</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162</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C93131"/>
                </a:solidFill>
                <a:latin typeface="Arial"/>
              </a:rPr>
              <a:t>TOPIC 06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Team Performance Signals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2956559"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Delivery</a:t>
            </a:r>
          </a:p>
        </p:txBody>
      </p:sp>
      <p:sp>
        <p:nvSpPr>
          <p:cNvPr id="10" name="TextBox 9"/>
          <p:cNvSpPr txBox="1"/>
          <p:nvPr/>
        </p:nvSpPr>
        <p:spPr>
          <a:xfrm>
            <a:off x="100584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Commitments met with acceptance evidence.</a:t>
            </a:r>
          </a:p>
        </p:txBody>
      </p:sp>
      <p:sp>
        <p:nvSpPr>
          <p:cNvPr id="11" name="Rounded Rectangle 10"/>
          <p:cNvSpPr/>
          <p:nvPr/>
        </p:nvSpPr>
        <p:spPr>
          <a:xfrm>
            <a:off x="439216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92167"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8200" y="1947672"/>
            <a:ext cx="2956559"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Flow</a:t>
            </a:r>
          </a:p>
        </p:txBody>
      </p:sp>
      <p:sp>
        <p:nvSpPr>
          <p:cNvPr id="14" name="TextBox 13"/>
          <p:cNvSpPr txBox="1"/>
          <p:nvPr/>
        </p:nvSpPr>
        <p:spPr>
          <a:xfrm>
            <a:off x="464820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WIP, blockers and ageing visible.</a:t>
            </a:r>
          </a:p>
        </p:txBody>
      </p:sp>
      <p:sp>
        <p:nvSpPr>
          <p:cNvPr id="15" name="Rounded Rectangle 14"/>
          <p:cNvSpPr/>
          <p:nvPr/>
        </p:nvSpPr>
        <p:spPr>
          <a:xfrm>
            <a:off x="803452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34527" y="1783080"/>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559" y="1947672"/>
            <a:ext cx="2956559"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Quality</a:t>
            </a:r>
          </a:p>
        </p:txBody>
      </p:sp>
      <p:sp>
        <p:nvSpPr>
          <p:cNvPr id="18" name="TextBox 17"/>
          <p:cNvSpPr txBox="1"/>
          <p:nvPr/>
        </p:nvSpPr>
        <p:spPr>
          <a:xfrm>
            <a:off x="8290559"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Defects and rework trend.</a:t>
            </a:r>
          </a:p>
        </p:txBody>
      </p:sp>
      <p:sp>
        <p:nvSpPr>
          <p:cNvPr id="19" name="Rounded Rectangle 18"/>
          <p:cNvSpPr/>
          <p:nvPr/>
        </p:nvSpPr>
        <p:spPr>
          <a:xfrm>
            <a:off x="749808"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980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4283964"/>
            <a:ext cx="2956559"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Collaboration</a:t>
            </a:r>
          </a:p>
        </p:txBody>
      </p:sp>
      <p:sp>
        <p:nvSpPr>
          <p:cNvPr id="22" name="TextBox 21"/>
          <p:cNvSpPr txBox="1"/>
          <p:nvPr/>
        </p:nvSpPr>
        <p:spPr>
          <a:xfrm>
            <a:off x="100584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Handoffs, feedback and conflict resolved.</a:t>
            </a:r>
          </a:p>
        </p:txBody>
      </p:sp>
      <p:sp>
        <p:nvSpPr>
          <p:cNvPr id="23" name="Rounded Rectangle 22"/>
          <p:cNvSpPr/>
          <p:nvPr/>
        </p:nvSpPr>
        <p:spPr>
          <a:xfrm>
            <a:off x="4392167"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92167" y="4119372"/>
            <a:ext cx="91440" cy="2107692"/>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48200" y="4283964"/>
            <a:ext cx="2956559" cy="438912"/>
          </a:xfrm>
          <a:prstGeom prst="rect">
            <a:avLst/>
          </a:prstGeom>
          <a:noFill/>
        </p:spPr>
        <p:txBody>
          <a:bodyPr wrap="square" lIns="0" rIns="0" tIns="0" bIns="0" anchor="t">
            <a:spAutoFit/>
          </a:bodyPr>
          <a:lstStyle/>
          <a:p>
            <a:pPr algn="l">
              <a:spcAft>
                <a:spcPts val="300"/>
              </a:spcAft>
            </a:pPr>
            <a:r>
              <a:rPr sz="1300" b="1">
                <a:solidFill>
                  <a:srgbClr val="1A7F4B"/>
                </a:solidFill>
                <a:latin typeface="Arial"/>
              </a:rPr>
              <a:t>Learning</a:t>
            </a:r>
          </a:p>
        </p:txBody>
      </p:sp>
      <p:sp>
        <p:nvSpPr>
          <p:cNvPr id="26" name="TextBox 25"/>
          <p:cNvSpPr txBox="1"/>
          <p:nvPr/>
        </p:nvSpPr>
        <p:spPr>
          <a:xfrm>
            <a:off x="464820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Capability and knowledge transfer.</a:t>
            </a:r>
          </a:p>
        </p:txBody>
      </p:sp>
      <p:sp>
        <p:nvSpPr>
          <p:cNvPr id="27" name="Rounded Rectangle 26"/>
          <p:cNvSpPr/>
          <p:nvPr/>
        </p:nvSpPr>
        <p:spPr>
          <a:xfrm>
            <a:off x="8034527"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34527" y="4119372"/>
            <a:ext cx="91440" cy="2107692"/>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90559" y="4283964"/>
            <a:ext cx="2956559" cy="438912"/>
          </a:xfrm>
          <a:prstGeom prst="rect">
            <a:avLst/>
          </a:prstGeom>
          <a:noFill/>
        </p:spPr>
        <p:txBody>
          <a:bodyPr wrap="square" lIns="0" rIns="0" tIns="0" bIns="0" anchor="t">
            <a:spAutoFit/>
          </a:bodyPr>
          <a:lstStyle/>
          <a:p>
            <a:pPr algn="l">
              <a:spcAft>
                <a:spcPts val="300"/>
              </a:spcAft>
            </a:pPr>
            <a:r>
              <a:rPr sz="1300" b="1">
                <a:solidFill>
                  <a:srgbClr val="C93131"/>
                </a:solidFill>
                <a:latin typeface="Arial"/>
              </a:rPr>
              <a:t>Sustainability</a:t>
            </a:r>
          </a:p>
        </p:txBody>
      </p:sp>
      <p:sp>
        <p:nvSpPr>
          <p:cNvPr id="30" name="TextBox 29"/>
          <p:cNvSpPr txBox="1"/>
          <p:nvPr/>
        </p:nvSpPr>
        <p:spPr>
          <a:xfrm>
            <a:off x="8290559"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Workload remains safe and realistic.</a:t>
            </a:r>
          </a:p>
        </p:txBody>
      </p:sp>
      <p:sp>
        <p:nvSpPr>
          <p:cNvPr id="31" name="TextBox 30"/>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2" name="TextBox 31"/>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06 · REFERENCE-SOURCED DEEP DIVE</a:t>
            </a:r>
          </a:p>
        </p:txBody>
      </p:sp>
      <p:sp>
        <p:nvSpPr>
          <p:cNvPr id="33" name="TextBox 32"/>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163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06 · TOOL-BASED PRACTICE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Activity 9 Tool Pack</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40 Organisation Chart</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PPTX · editable project tool</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30 Kanban Board</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XLSX · editable project tool</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050" b="1">
                <a:solidFill>
                  <a:srgbClr val="703CC3"/>
                </a:solidFill>
                <a:latin typeface="Arial"/>
              </a:rPr>
              <a:t>32 Project Budget - Planned vs Actual - Weekly and Monthly</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XLSX · editable project tool</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150" b="1">
                <a:solidFill>
                  <a:srgbClr val="F59E0B"/>
                </a:solidFill>
                <a:latin typeface="Arial"/>
              </a:rPr>
              <a:t>09 Resource Capacity and Procurement Decision</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XLSX · editable project tool</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06 · TOOL-BASED PRACTICE</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164</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06 · HANDS-ON ACTIVITY</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Deploy Resources and Resolve the Bottleneck</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034272" y="384048"/>
            <a:ext cx="2377440" cy="402336"/>
          </a:xfrm>
          <a:prstGeom prst="roundRect">
            <a:avLst>
              <a:gd name="adj" fmla="val 8000"/>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34272" y="384048"/>
            <a:ext cx="2377440" cy="402336"/>
          </a:xfrm>
          <a:prstGeom prst="rect">
            <a:avLst/>
          </a:prstGeom>
          <a:noFill/>
        </p:spPr>
        <p:txBody>
          <a:bodyPr wrap="square" lIns="0" rIns="0" tIns="0" bIns="0" anchor="ctr">
            <a:spAutoFit/>
          </a:bodyPr>
          <a:lstStyle/>
          <a:p>
            <a:pPr algn="ctr">
              <a:spcAft>
                <a:spcPts val="300"/>
              </a:spcAft>
            </a:pPr>
            <a:r>
              <a:rPr sz="1050" b="1">
                <a:solidFill>
                  <a:srgbClr val="FFFFFF"/>
                </a:solidFill>
                <a:latin typeface="Arial"/>
              </a:rPr>
              <a:t>ACTIVITY 9 · 45 MIN</a:t>
            </a:r>
          </a:p>
        </p:txBody>
      </p:sp>
      <p:sp>
        <p:nvSpPr>
          <p:cNvPr id="9" name="Rounded Rectangle 8"/>
          <p:cNvSpPr/>
          <p:nvPr/>
        </p:nvSpPr>
        <p:spPr>
          <a:xfrm>
            <a:off x="749808" y="1773936"/>
            <a:ext cx="10698480" cy="12344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773936"/>
            <a:ext cx="91440" cy="123444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874519"/>
            <a:ext cx="10149840" cy="256032"/>
          </a:xfrm>
          <a:prstGeom prst="rect">
            <a:avLst/>
          </a:prstGeom>
          <a:noFill/>
        </p:spPr>
        <p:txBody>
          <a:bodyPr wrap="square" lIns="0" rIns="0" tIns="0" bIns="0" anchor="t">
            <a:spAutoFit/>
          </a:bodyPr>
          <a:lstStyle/>
          <a:p>
            <a:pPr algn="l">
              <a:spcAft>
                <a:spcPts val="300"/>
              </a:spcAft>
            </a:pPr>
            <a:r>
              <a:rPr sz="1050" b="1">
                <a:solidFill>
                  <a:srgbClr val="703CC3"/>
                </a:solidFill>
                <a:latin typeface="Arial"/>
              </a:rPr>
              <a:t>THE SITUATION</a:t>
            </a:r>
          </a:p>
        </p:txBody>
      </p:sp>
      <p:sp>
        <p:nvSpPr>
          <p:cNvPr id="12" name="TextBox 11"/>
          <p:cNvSpPr txBox="1"/>
          <p:nvPr/>
        </p:nvSpPr>
        <p:spPr>
          <a:xfrm>
            <a:off x="1005840" y="2139696"/>
            <a:ext cx="10149840" cy="731520"/>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Testing needs 22 person-days in two weeks, but only 16 are available. The business analyst is assigned to testing, training and vendor clarification. The sponsor wants evidence before accepting delay or extra cost.</a:t>
            </a:r>
          </a:p>
        </p:txBody>
      </p:sp>
      <p:sp>
        <p:nvSpPr>
          <p:cNvPr id="13" name="Rounded Rectangle 12"/>
          <p:cNvSpPr/>
          <p:nvPr/>
        </p:nvSpPr>
        <p:spPr>
          <a:xfrm>
            <a:off x="749808"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9808" y="3218688"/>
            <a:ext cx="3419856" cy="9144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 y="3401568"/>
            <a:ext cx="3017520" cy="274320"/>
          </a:xfrm>
          <a:prstGeom prst="rect">
            <a:avLst/>
          </a:prstGeom>
          <a:noFill/>
        </p:spPr>
        <p:txBody>
          <a:bodyPr wrap="square" lIns="0" rIns="0" tIns="0" bIns="0" anchor="t">
            <a:spAutoFit/>
          </a:bodyPr>
          <a:lstStyle/>
          <a:p>
            <a:pPr algn="l">
              <a:spcAft>
                <a:spcPts val="300"/>
              </a:spcAft>
            </a:pPr>
            <a:r>
              <a:rPr sz="1050" b="1">
                <a:solidFill>
                  <a:srgbClr val="1655D1"/>
                </a:solidFill>
                <a:latin typeface="Arial"/>
              </a:rPr>
              <a:t>WHAT YOU'LL DO</a:t>
            </a:r>
          </a:p>
        </p:txBody>
      </p:sp>
      <p:sp>
        <p:nvSpPr>
          <p:cNvPr id="16" name="TextBox 15"/>
          <p:cNvSpPr txBox="1"/>
          <p:nvPr/>
        </p:nvSpPr>
        <p:spPr>
          <a:xfrm>
            <a:off x="950976"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Map authority and skills, calculate demand-capacity gaps, test smoothing, levelling, crashing and fast tracking, compare make/buy options and recommend a funded deployment decision.</a:t>
            </a:r>
          </a:p>
        </p:txBody>
      </p:sp>
      <p:sp>
        <p:nvSpPr>
          <p:cNvPr id="17" name="Rounded Rectangle 16"/>
          <p:cNvSpPr/>
          <p:nvPr/>
        </p:nvSpPr>
        <p:spPr>
          <a:xfrm>
            <a:off x="4389120"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89120" y="3218688"/>
            <a:ext cx="341985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90288" y="3401568"/>
            <a:ext cx="3017520" cy="274320"/>
          </a:xfrm>
          <a:prstGeom prst="rect">
            <a:avLst/>
          </a:prstGeom>
          <a:noFill/>
        </p:spPr>
        <p:txBody>
          <a:bodyPr wrap="square" lIns="0" rIns="0" tIns="0" bIns="0" anchor="t">
            <a:spAutoFit/>
          </a:bodyPr>
          <a:lstStyle/>
          <a:p>
            <a:pPr algn="l">
              <a:spcAft>
                <a:spcPts val="300"/>
              </a:spcAft>
            </a:pPr>
            <a:r>
              <a:rPr sz="1050" b="1">
                <a:solidFill>
                  <a:srgbClr val="0F9D8A"/>
                </a:solidFill>
                <a:latin typeface="Arial"/>
              </a:rPr>
              <a:t>YOU'LL PRODUCE</a:t>
            </a:r>
          </a:p>
        </p:txBody>
      </p:sp>
      <p:sp>
        <p:nvSpPr>
          <p:cNvPr id="20" name="TextBox 19"/>
          <p:cNvSpPr txBox="1"/>
          <p:nvPr/>
        </p:nvSpPr>
        <p:spPr>
          <a:xfrm>
            <a:off x="4590288"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An organisation map, capacity heatmap, constraint-aware Kanban, procurement comparison, compression options, budget impact and sponsor recommendation.</a:t>
            </a:r>
          </a:p>
        </p:txBody>
      </p:sp>
      <p:sp>
        <p:nvSpPr>
          <p:cNvPr id="21" name="Rounded Rectangle 20"/>
          <p:cNvSpPr/>
          <p:nvPr/>
        </p:nvSpPr>
        <p:spPr>
          <a:xfrm>
            <a:off x="8028431"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28431" y="3218688"/>
            <a:ext cx="3419856"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0" y="3401568"/>
            <a:ext cx="3017520" cy="274320"/>
          </a:xfrm>
          <a:prstGeom prst="rect">
            <a:avLst/>
          </a:prstGeom>
          <a:noFill/>
        </p:spPr>
        <p:txBody>
          <a:bodyPr wrap="square" lIns="0" rIns="0" tIns="0" bIns="0" anchor="t">
            <a:spAutoFit/>
          </a:bodyPr>
          <a:lstStyle/>
          <a:p>
            <a:pPr algn="l">
              <a:spcAft>
                <a:spcPts val="300"/>
              </a:spcAft>
            </a:pPr>
            <a:r>
              <a:rPr sz="1050" b="1">
                <a:solidFill>
                  <a:srgbClr val="F59E0B"/>
                </a:solidFill>
                <a:latin typeface="Arial"/>
              </a:rPr>
              <a:t>DONE WHEN</a:t>
            </a:r>
          </a:p>
        </p:txBody>
      </p:sp>
      <p:sp>
        <p:nvSpPr>
          <p:cNvPr id="24" name="TextBox 23"/>
          <p:cNvSpPr txBox="1"/>
          <p:nvPr/>
        </p:nvSpPr>
        <p:spPr>
          <a:xfrm>
            <a:off x="8229600"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Capacity reconciles to named work and skills, the bottleneck is explicit, procurement/compression options show complete trade-offs and the chosen deployment remains within authorised constraints.</a:t>
            </a:r>
          </a:p>
        </p:txBody>
      </p:sp>
      <p:sp>
        <p:nvSpPr>
          <p:cNvPr id="25" name="Rounded Rectangle 24"/>
          <p:cNvSpPr/>
          <p:nvPr/>
        </p:nvSpPr>
        <p:spPr>
          <a:xfrm>
            <a:off x="749808" y="5486400"/>
            <a:ext cx="10698480" cy="713232"/>
          </a:xfrm>
          <a:prstGeom prst="roundRect">
            <a:avLst>
              <a:gd name="adj" fmla="val 8000"/>
            </a:avLst>
          </a:prstGeom>
          <a:solidFill>
            <a:srgbClr val="FFFFFF"/>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577840"/>
            <a:ext cx="10195560" cy="256032"/>
          </a:xfrm>
          <a:prstGeom prst="rect">
            <a:avLst/>
          </a:prstGeom>
          <a:noFill/>
        </p:spPr>
        <p:txBody>
          <a:bodyPr wrap="square" lIns="0" rIns="0" tIns="0" bIns="0" anchor="t">
            <a:spAutoFit/>
          </a:bodyPr>
          <a:lstStyle/>
          <a:p>
            <a:pPr algn="l">
              <a:spcAft>
                <a:spcPts val="300"/>
              </a:spcAft>
            </a:pPr>
            <a:r>
              <a:rPr sz="1100" b="1">
                <a:solidFill>
                  <a:srgbClr val="131B2A"/>
                </a:solidFill>
                <a:latin typeface="Arial"/>
              </a:rPr>
              <a:t>Tool: Organisation Chart, Resource Capacity, Procurement Decision, Kanban and Budget</a:t>
            </a:r>
          </a:p>
        </p:txBody>
      </p:sp>
      <p:sp>
        <p:nvSpPr>
          <p:cNvPr id="27" name="TextBox 26"/>
          <p:cNvSpPr txBox="1"/>
          <p:nvPr/>
        </p:nvSpPr>
        <p:spPr>
          <a:xfrm>
            <a:off x="960120" y="5843016"/>
            <a:ext cx="10195560" cy="219456"/>
          </a:xfrm>
          <a:prstGeom prst="rect">
            <a:avLst/>
          </a:prstGeom>
          <a:noFill/>
        </p:spPr>
        <p:txBody>
          <a:bodyPr wrap="square" lIns="0" rIns="0" tIns="0" bIns="0" anchor="t">
            <a:spAutoFit/>
          </a:bodyPr>
          <a:lstStyle/>
          <a:p>
            <a:pPr algn="l">
              <a:spcAft>
                <a:spcPts val="300"/>
              </a:spcAft>
            </a:pPr>
            <a:r>
              <a:rPr sz="950" b="0">
                <a:solidFill>
                  <a:srgbClr val="5F6B7A"/>
                </a:solidFill>
                <a:latin typeface="Arial"/>
              </a:rPr>
              <a:t>Full procedure, evidence fields and acceptance criteria: Learner Guide and Activity 9 folder.</a:t>
            </a:r>
          </a:p>
        </p:txBody>
      </p:sp>
      <p:sp>
        <p:nvSpPr>
          <p:cNvPr id="28" name="TextBox 27"/>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9" name="TextBox 28"/>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Activity 9 · LO6</a:t>
            </a:r>
          </a:p>
        </p:txBody>
      </p:sp>
      <p:sp>
        <p:nvSpPr>
          <p:cNvPr id="30" name="TextBox 29"/>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165</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703CC3"/>
                </a:solidFill>
                <a:latin typeface="Arial"/>
              </a:rPr>
              <a:t>TOPIC 06 · ACTIVITY DEBRIEF</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Debrief — Activity 9: What It Proves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1328928"/>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1024128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1</a:t>
            </a:r>
          </a:p>
        </p:txBody>
      </p:sp>
      <p:sp>
        <p:nvSpPr>
          <p:cNvPr id="10" name="TextBox 9"/>
          <p:cNvSpPr txBox="1"/>
          <p:nvPr/>
        </p:nvSpPr>
        <p:spPr>
          <a:xfrm>
            <a:off x="1005840" y="2313432"/>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 RACI assignment does not create capacity.</a:t>
            </a:r>
          </a:p>
        </p:txBody>
      </p:sp>
      <p:sp>
        <p:nvSpPr>
          <p:cNvPr id="11" name="Rounded Rectangle 10"/>
          <p:cNvSpPr/>
          <p:nvPr/>
        </p:nvSpPr>
        <p:spPr>
          <a:xfrm>
            <a:off x="749808" y="3340608"/>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 y="3340608"/>
            <a:ext cx="91440" cy="13289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505200"/>
            <a:ext cx="1024128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2</a:t>
            </a:r>
          </a:p>
        </p:txBody>
      </p:sp>
      <p:sp>
        <p:nvSpPr>
          <p:cNvPr id="14" name="TextBox 13"/>
          <p:cNvSpPr txBox="1"/>
          <p:nvPr/>
        </p:nvSpPr>
        <p:spPr>
          <a:xfrm>
            <a:off x="1005840" y="3870960"/>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Manage the constraint before adding capacity elsewhere.</a:t>
            </a:r>
          </a:p>
        </p:txBody>
      </p:sp>
      <p:sp>
        <p:nvSpPr>
          <p:cNvPr id="15" name="Rounded Rectangle 14"/>
          <p:cNvSpPr/>
          <p:nvPr/>
        </p:nvSpPr>
        <p:spPr>
          <a:xfrm>
            <a:off x="749808" y="4898136"/>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898136"/>
            <a:ext cx="91440" cy="1328928"/>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5062728"/>
            <a:ext cx="1024128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3</a:t>
            </a:r>
          </a:p>
        </p:txBody>
      </p:sp>
      <p:sp>
        <p:nvSpPr>
          <p:cNvPr id="18" name="TextBox 17"/>
          <p:cNvSpPr txBox="1"/>
          <p:nvPr/>
        </p:nvSpPr>
        <p:spPr>
          <a:xfrm>
            <a:off x="1005840" y="5428488"/>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Crashing buys time with cost; fast tracking buys time with risk.</a:t>
            </a:r>
          </a:p>
        </p:txBody>
      </p:sp>
      <p:sp>
        <p:nvSpPr>
          <p:cNvPr id="19" name="TextBox 1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0" name="TextBox 1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06 · ACTIVITY DEBRIEF</a:t>
            </a:r>
          </a:p>
        </p:txBody>
      </p:sp>
      <p:sp>
        <p:nvSpPr>
          <p:cNvPr id="21" name="TextBox 2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166</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A7F4B"/>
                </a:solidFill>
                <a:latin typeface="Arial"/>
              </a:rPr>
              <a:t>TOPIC 06 · A6 · LO6</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Topic 06 Recap</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Decision</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Resource planning links each work package to required skills, quantities, timing and availability.</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Method</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Fast tracking overlaps work and raises risk; crashing adds cost to critical-path work and may not shorten the project.</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Evidence</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200" b="0">
                <a:solidFill>
                  <a:srgbClr val="131B2A"/>
                </a:solidFill>
                <a:latin typeface="Arial"/>
              </a:rPr>
              <a:t>An organisation map, capacity heatmap, constraint-aware Kanban, procurement comparison, compression options, budget impact and sponsor recommendation.</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Capability</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Match skills, capacity, procurement and budget to critical work (A6).</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06 · A6 · LO6</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167</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58368" y="1554480"/>
            <a:ext cx="10881360" cy="36118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554480"/>
            <a:ext cx="128016" cy="361188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70432" y="1901952"/>
            <a:ext cx="7955279" cy="365760"/>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TOPIC 07 · A7 · LO7</a:t>
            </a:r>
          </a:p>
        </p:txBody>
      </p:sp>
      <p:sp>
        <p:nvSpPr>
          <p:cNvPr id="6" name="TextBox 5"/>
          <p:cNvSpPr txBox="1"/>
          <p:nvPr/>
        </p:nvSpPr>
        <p:spPr>
          <a:xfrm>
            <a:off x="1170432" y="2395728"/>
            <a:ext cx="9052560" cy="914400"/>
          </a:xfrm>
          <a:prstGeom prst="rect">
            <a:avLst/>
          </a:prstGeom>
          <a:noFill/>
        </p:spPr>
        <p:txBody>
          <a:bodyPr wrap="square" lIns="0" rIns="0" tIns="0" bIns="0" anchor="ctr">
            <a:spAutoFit/>
          </a:bodyPr>
          <a:lstStyle/>
          <a:p>
            <a:pPr algn="l">
              <a:spcAft>
                <a:spcPts val="300"/>
              </a:spcAft>
            </a:pPr>
            <a:r>
              <a:rPr sz="3400" b="1">
                <a:solidFill>
                  <a:srgbClr val="131B2A"/>
                </a:solidFill>
                <a:latin typeface="Arial"/>
              </a:rPr>
              <a:t>Track Project Deliverables and Correct Misalignments</a:t>
            </a:r>
          </a:p>
        </p:txBody>
      </p:sp>
      <p:sp>
        <p:nvSpPr>
          <p:cNvPr id="7" name="TextBox 6"/>
          <p:cNvSpPr txBox="1"/>
          <p:nvPr/>
        </p:nvSpPr>
        <p:spPr>
          <a:xfrm>
            <a:off x="1170432" y="3474720"/>
            <a:ext cx="9052560" cy="777240"/>
          </a:xfrm>
          <a:prstGeom prst="rect">
            <a:avLst/>
          </a:prstGeom>
          <a:noFill/>
        </p:spPr>
        <p:txBody>
          <a:bodyPr wrap="square" lIns="0" rIns="0" tIns="0" bIns="0" anchor="t">
            <a:spAutoFit/>
          </a:bodyPr>
          <a:lstStyle/>
          <a:p>
            <a:pPr algn="l">
              <a:spcAft>
                <a:spcPts val="300"/>
              </a:spcAft>
            </a:pPr>
            <a:r>
              <a:rPr sz="1600" b="0">
                <a:solidFill>
                  <a:srgbClr val="5F6B7A"/>
                </a:solidFill>
                <a:latin typeface="Arial"/>
              </a:rPr>
              <a:t>Performance · earned value · change · corrective action · handover · closure</a:t>
            </a:r>
          </a:p>
        </p:txBody>
      </p:sp>
      <p:sp>
        <p:nvSpPr>
          <p:cNvPr id="8" name="TextBox 7"/>
          <p:cNvSpPr txBox="1"/>
          <p:nvPr/>
        </p:nvSpPr>
        <p:spPr>
          <a:xfrm>
            <a:off x="9308592" y="594360"/>
            <a:ext cx="1920240" cy="1097280"/>
          </a:xfrm>
          <a:prstGeom prst="rect">
            <a:avLst/>
          </a:prstGeom>
          <a:noFill/>
        </p:spPr>
        <p:txBody>
          <a:bodyPr wrap="square" lIns="0" rIns="0" tIns="0" bIns="0" anchor="t">
            <a:spAutoFit/>
          </a:bodyPr>
          <a:lstStyle/>
          <a:p>
            <a:pPr algn="r">
              <a:spcAft>
                <a:spcPts val="300"/>
              </a:spcAft>
            </a:pPr>
            <a:r>
              <a:rPr sz="6200" b="1">
                <a:solidFill>
                  <a:srgbClr val="DAE2EC"/>
                </a:solidFill>
                <a:latin typeface="Arial"/>
              </a:rPr>
              <a:t>07</a:t>
            </a:r>
          </a:p>
        </p:txBody>
      </p:sp>
      <p:sp>
        <p:nvSpPr>
          <p:cNvPr id="9" name="TextBox 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10" name="TextBox 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07 · A7 · LO7</a:t>
            </a:r>
          </a:p>
        </p:txBody>
      </p:sp>
      <p:sp>
        <p:nvSpPr>
          <p:cNvPr id="11" name="TextBox 1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168</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07 · CENTRAL IDEA</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Control means deciding early enough to change the outcome.</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847088"/>
            <a:ext cx="10698480" cy="3977639"/>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847088"/>
            <a:ext cx="128016" cy="3977639"/>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2359152"/>
            <a:ext cx="9738360" cy="2834640"/>
          </a:xfrm>
          <a:prstGeom prst="rect">
            <a:avLst/>
          </a:prstGeom>
          <a:noFill/>
        </p:spPr>
        <p:txBody>
          <a:bodyPr wrap="square" lIns="0" rIns="0" tIns="0" bIns="0" anchor="ctr">
            <a:spAutoFit/>
          </a:bodyPr>
          <a:lstStyle/>
          <a:p>
            <a:pPr algn="l">
              <a:spcAft>
                <a:spcPts val="300"/>
              </a:spcAft>
            </a:pPr>
            <a:r>
              <a:rPr sz="2400" b="1">
                <a:solidFill>
                  <a:srgbClr val="131B2A"/>
                </a:solidFill>
                <a:latin typeface="Arial"/>
              </a:rPr>
              <a:t>Variance reporting without forecast, ownership and action is history. Good control protects value and makes closure evidence-ready.</a:t>
            </a:r>
          </a:p>
        </p:txBody>
      </p:sp>
      <p:sp>
        <p:nvSpPr>
          <p:cNvPr id="10" name="TextBox 9"/>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11" name="TextBox 10"/>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07 · CENTRAL IDEA</a:t>
            </a:r>
          </a:p>
        </p:txBody>
      </p:sp>
      <p:sp>
        <p:nvSpPr>
          <p:cNvPr id="12" name="TextBox 11"/>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169</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07 · CONCEPT MAP</a:t>
            </a:r>
          </a:p>
        </p:txBody>
      </p:sp>
      <p:sp>
        <p:nvSpPr>
          <p:cNvPr id="5" name="TextBox 4"/>
          <p:cNvSpPr txBox="1"/>
          <p:nvPr/>
        </p:nvSpPr>
        <p:spPr>
          <a:xfrm>
            <a:off x="749808" y="640080"/>
            <a:ext cx="10789920" cy="749808"/>
          </a:xfrm>
          <a:prstGeom prst="rect">
            <a:avLst/>
          </a:prstGeom>
          <a:noFill/>
        </p:spPr>
        <p:txBody>
          <a:bodyPr wrap="square" lIns="0" rIns="0" tIns="0" bIns="0" anchor="ctr">
            <a:spAutoFit/>
          </a:bodyPr>
          <a:lstStyle/>
          <a:p>
            <a:pPr algn="l">
              <a:spcAft>
                <a:spcPts val="300"/>
              </a:spcAft>
            </a:pPr>
            <a:r>
              <a:rPr sz="2200" b="1">
                <a:solidFill>
                  <a:srgbClr val="131B2A"/>
                </a:solidFill>
                <a:latin typeface="Arial"/>
              </a:rPr>
              <a:t>Track Project Deliverables and Correct Misalignments — Core Concepts I</a:t>
            </a:r>
          </a:p>
        </p:txBody>
      </p:sp>
      <p:sp>
        <p:nvSpPr>
          <p:cNvPr id="6" name="Rectangle 5"/>
          <p:cNvSpPr/>
          <p:nvPr/>
        </p:nvSpPr>
        <p:spPr>
          <a:xfrm>
            <a:off x="749808" y="1682496"/>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01</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Work performance data becomes information only after comparison with the approved baseline and thresholds.</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02</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 status report should answer: where are we, why, what is forecast, what decision is needed, and who owns the action.</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03</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Earned value integrates scope, schedule and cost: PV is planned work, EV is completed value, and AC is actual spend.</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04</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CPI = EV/AC and SPI = EV/PV; indices below 1.00 signal inefficiency against the baseline.</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07 · CONCEPT MAP</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170</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07 · CONCEPT MAP</a:t>
            </a:r>
          </a:p>
        </p:txBody>
      </p:sp>
      <p:sp>
        <p:nvSpPr>
          <p:cNvPr id="5" name="TextBox 4"/>
          <p:cNvSpPr txBox="1"/>
          <p:nvPr/>
        </p:nvSpPr>
        <p:spPr>
          <a:xfrm>
            <a:off x="749808" y="640080"/>
            <a:ext cx="10789920" cy="749808"/>
          </a:xfrm>
          <a:prstGeom prst="rect">
            <a:avLst/>
          </a:prstGeom>
          <a:noFill/>
        </p:spPr>
        <p:txBody>
          <a:bodyPr wrap="square" lIns="0" rIns="0" tIns="0" bIns="0" anchor="ctr">
            <a:spAutoFit/>
          </a:bodyPr>
          <a:lstStyle/>
          <a:p>
            <a:pPr algn="l">
              <a:spcAft>
                <a:spcPts val="300"/>
              </a:spcAft>
            </a:pPr>
            <a:r>
              <a:rPr sz="2200" b="1">
                <a:solidFill>
                  <a:srgbClr val="131B2A"/>
                </a:solidFill>
                <a:latin typeface="Arial"/>
              </a:rPr>
              <a:t>Track Project Deliverables and Correct Misalignments — Core Concepts II</a:t>
            </a:r>
          </a:p>
        </p:txBody>
      </p:sp>
      <p:sp>
        <p:nvSpPr>
          <p:cNvPr id="6" name="Rectangle 5"/>
          <p:cNvSpPr/>
          <p:nvPr/>
        </p:nvSpPr>
        <p:spPr>
          <a:xfrm>
            <a:off x="749808" y="1682496"/>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05</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 change request states reason, impact, options and recommendation; approved changes update baselines and traceability.</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06</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Corrective action brings performance back to plan; preventive action reduces the probability of future variance.</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07</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Schedule compression is applied to the current critical path and re-analysed after every change.</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08</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Closure confirms acceptance, transition, contract completion, records, benefits ownership and lessons learned.</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07 · CONCEPT MAP</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171</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07 · DECISION TOOL</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Earned Value at Week 12</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632460"/>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Measure</a:t>
            </a:r>
          </a:p>
        </p:txBody>
      </p:sp>
      <p:sp>
        <p:nvSpPr>
          <p:cNvPr id="9" name="Rectangle 8"/>
          <p:cNvSpPr/>
          <p:nvPr/>
        </p:nvSpPr>
        <p:spPr>
          <a:xfrm>
            <a:off x="4315968" y="1810512"/>
            <a:ext cx="3566160" cy="632460"/>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Formula / value</a:t>
            </a:r>
          </a:p>
        </p:txBody>
      </p:sp>
      <p:sp>
        <p:nvSpPr>
          <p:cNvPr id="11" name="Rectangle 10"/>
          <p:cNvSpPr/>
          <p:nvPr/>
        </p:nvSpPr>
        <p:spPr>
          <a:xfrm>
            <a:off x="7882127" y="1810512"/>
            <a:ext cx="3566160" cy="632460"/>
          </a:xfrm>
          <a:prstGeom prst="rect">
            <a:avLst/>
          </a:prstGeom>
          <a:solidFill>
            <a:srgbClr val="0F9D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Meaning</a:t>
            </a:r>
          </a:p>
        </p:txBody>
      </p:sp>
      <p:sp>
        <p:nvSpPr>
          <p:cNvPr id="13" name="Rectangle 12"/>
          <p:cNvSpPr/>
          <p:nvPr/>
        </p:nvSpPr>
        <p:spPr>
          <a:xfrm>
            <a:off x="74980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48869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PV</a:t>
            </a:r>
          </a:p>
        </p:txBody>
      </p:sp>
      <p:sp>
        <p:nvSpPr>
          <p:cNvPr id="15" name="Rectangle 14"/>
          <p:cNvSpPr/>
          <p:nvPr/>
        </p:nvSpPr>
        <p:spPr>
          <a:xfrm>
            <a:off x="431596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S$108,000</a:t>
            </a:r>
          </a:p>
        </p:txBody>
      </p:sp>
      <p:sp>
        <p:nvSpPr>
          <p:cNvPr id="17" name="Rectangle 16"/>
          <p:cNvSpPr/>
          <p:nvPr/>
        </p:nvSpPr>
        <p:spPr>
          <a:xfrm>
            <a:off x="7882127"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Budgeted work planned</a:t>
            </a:r>
          </a:p>
        </p:txBody>
      </p:sp>
      <p:sp>
        <p:nvSpPr>
          <p:cNvPr id="19" name="Rectangle 18"/>
          <p:cNvSpPr/>
          <p:nvPr/>
        </p:nvSpPr>
        <p:spPr>
          <a:xfrm>
            <a:off x="74980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12115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EV</a:t>
            </a:r>
          </a:p>
        </p:txBody>
      </p:sp>
      <p:sp>
        <p:nvSpPr>
          <p:cNvPr id="21" name="Rectangle 20"/>
          <p:cNvSpPr/>
          <p:nvPr/>
        </p:nvSpPr>
        <p:spPr>
          <a:xfrm>
            <a:off x="431596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S$90,000</a:t>
            </a:r>
          </a:p>
        </p:txBody>
      </p:sp>
      <p:sp>
        <p:nvSpPr>
          <p:cNvPr id="23" name="Rectangle 22"/>
          <p:cNvSpPr/>
          <p:nvPr/>
        </p:nvSpPr>
        <p:spPr>
          <a:xfrm>
            <a:off x="7882127"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Budgeted value completed</a:t>
            </a:r>
          </a:p>
        </p:txBody>
      </p:sp>
      <p:sp>
        <p:nvSpPr>
          <p:cNvPr id="25" name="Rectangle 24"/>
          <p:cNvSpPr/>
          <p:nvPr/>
        </p:nvSpPr>
        <p:spPr>
          <a:xfrm>
            <a:off x="74980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3753611"/>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AC</a:t>
            </a:r>
          </a:p>
        </p:txBody>
      </p:sp>
      <p:sp>
        <p:nvSpPr>
          <p:cNvPr id="27" name="Rectangle 26"/>
          <p:cNvSpPr/>
          <p:nvPr/>
        </p:nvSpPr>
        <p:spPr>
          <a:xfrm>
            <a:off x="431596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S$105,000</a:t>
            </a:r>
          </a:p>
        </p:txBody>
      </p:sp>
      <p:sp>
        <p:nvSpPr>
          <p:cNvPr id="29" name="Rectangle 28"/>
          <p:cNvSpPr/>
          <p:nvPr/>
        </p:nvSpPr>
        <p:spPr>
          <a:xfrm>
            <a:off x="7882127"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Actual cost incurred</a:t>
            </a:r>
          </a:p>
        </p:txBody>
      </p:sp>
      <p:sp>
        <p:nvSpPr>
          <p:cNvPr id="31" name="Rectangle 30"/>
          <p:cNvSpPr/>
          <p:nvPr/>
        </p:nvSpPr>
        <p:spPr>
          <a:xfrm>
            <a:off x="74980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38607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SPI</a:t>
            </a:r>
          </a:p>
        </p:txBody>
      </p:sp>
      <p:sp>
        <p:nvSpPr>
          <p:cNvPr id="33" name="Rectangle 32"/>
          <p:cNvSpPr/>
          <p:nvPr/>
        </p:nvSpPr>
        <p:spPr>
          <a:xfrm>
            <a:off x="431596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EV/PV = 0.83</a:t>
            </a:r>
          </a:p>
        </p:txBody>
      </p:sp>
      <p:sp>
        <p:nvSpPr>
          <p:cNvPr id="35" name="Rectangle 34"/>
          <p:cNvSpPr/>
          <p:nvPr/>
        </p:nvSpPr>
        <p:spPr>
          <a:xfrm>
            <a:off x="7882127"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Behind schedule</a:t>
            </a:r>
          </a:p>
        </p:txBody>
      </p:sp>
      <p:sp>
        <p:nvSpPr>
          <p:cNvPr id="37" name="Rectangle 36"/>
          <p:cNvSpPr/>
          <p:nvPr/>
        </p:nvSpPr>
        <p:spPr>
          <a:xfrm>
            <a:off x="74980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 y="501853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CPI</a:t>
            </a:r>
          </a:p>
        </p:txBody>
      </p:sp>
      <p:sp>
        <p:nvSpPr>
          <p:cNvPr id="39" name="Rectangle 38"/>
          <p:cNvSpPr/>
          <p:nvPr/>
        </p:nvSpPr>
        <p:spPr>
          <a:xfrm>
            <a:off x="431596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25696"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EV/AC = 0.86</a:t>
            </a:r>
          </a:p>
        </p:txBody>
      </p:sp>
      <p:sp>
        <p:nvSpPr>
          <p:cNvPr id="41" name="Rectangle 40"/>
          <p:cNvSpPr/>
          <p:nvPr/>
        </p:nvSpPr>
        <p:spPr>
          <a:xfrm>
            <a:off x="7882127"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91855"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Cost inefficient</a:t>
            </a:r>
          </a:p>
        </p:txBody>
      </p:sp>
      <p:sp>
        <p:nvSpPr>
          <p:cNvPr id="43" name="Rounded Rectangle 42"/>
          <p:cNvSpPr/>
          <p:nvPr/>
        </p:nvSpPr>
        <p:spPr>
          <a:xfrm>
            <a:off x="749808" y="5815584"/>
            <a:ext cx="10698480" cy="420624"/>
          </a:xfrm>
          <a:prstGeom prst="roundRect">
            <a:avLst>
              <a:gd name="adj" fmla="val 8000"/>
            </a:avLst>
          </a:prstGeom>
          <a:solidFill>
            <a:srgbClr val="F4F7FB"/>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Use the indices with milestones and quality evidence—no single metric tells the whole story.</a:t>
            </a:r>
          </a:p>
        </p:txBody>
      </p:sp>
      <p:sp>
        <p:nvSpPr>
          <p:cNvPr id="45" name="TextBox 44"/>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6" name="TextBox 45"/>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07 · DECISION TOOL</a:t>
            </a:r>
          </a:p>
        </p:txBody>
      </p:sp>
      <p:sp>
        <p:nvSpPr>
          <p:cNvPr id="47" name="TextBox 46"/>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172</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07 · APPLIED FRAMEWORK</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Integrated Change Control</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1645919"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1389887"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Request</a:t>
            </a:r>
          </a:p>
        </p:txBody>
      </p:sp>
      <p:sp>
        <p:nvSpPr>
          <p:cNvPr id="11" name="TextBox 10"/>
          <p:cNvSpPr txBox="1"/>
          <p:nvPr/>
        </p:nvSpPr>
        <p:spPr>
          <a:xfrm>
            <a:off x="896112"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reason and desired outcome</a:t>
            </a:r>
          </a:p>
        </p:txBody>
      </p:sp>
      <p:cxnSp>
        <p:nvCxnSpPr>
          <p:cNvPr id="12" name="Connector 11"/>
          <p:cNvCxnSpPr/>
          <p:nvPr/>
        </p:nvCxnSpPr>
        <p:spPr>
          <a:xfrm>
            <a:off x="2395727" y="3474720"/>
            <a:ext cx="164593"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560320"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60320" y="1965960"/>
            <a:ext cx="1645919"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88336" y="2240279"/>
            <a:ext cx="1389887"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2688336"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Analyse</a:t>
            </a:r>
          </a:p>
        </p:txBody>
      </p:sp>
      <p:sp>
        <p:nvSpPr>
          <p:cNvPr id="17" name="TextBox 16"/>
          <p:cNvSpPr txBox="1"/>
          <p:nvPr/>
        </p:nvSpPr>
        <p:spPr>
          <a:xfrm>
            <a:off x="2706624"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scope, time, cost, risk, quality</a:t>
            </a:r>
          </a:p>
        </p:txBody>
      </p:sp>
      <p:cxnSp>
        <p:nvCxnSpPr>
          <p:cNvPr id="18" name="Connector 17"/>
          <p:cNvCxnSpPr/>
          <p:nvPr/>
        </p:nvCxnSpPr>
        <p:spPr>
          <a:xfrm>
            <a:off x="4206240" y="3474720"/>
            <a:ext cx="164591"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370831"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70831" y="1965960"/>
            <a:ext cx="1645919"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98847" y="2240279"/>
            <a:ext cx="1389887"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4498847"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Options</a:t>
            </a:r>
          </a:p>
        </p:txBody>
      </p:sp>
      <p:sp>
        <p:nvSpPr>
          <p:cNvPr id="23" name="TextBox 22"/>
          <p:cNvSpPr txBox="1"/>
          <p:nvPr/>
        </p:nvSpPr>
        <p:spPr>
          <a:xfrm>
            <a:off x="4517136"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approve, reject, defer, trade</a:t>
            </a:r>
          </a:p>
        </p:txBody>
      </p:sp>
      <p:cxnSp>
        <p:nvCxnSpPr>
          <p:cNvPr id="24" name="Connector 23"/>
          <p:cNvCxnSpPr/>
          <p:nvPr/>
        </p:nvCxnSpPr>
        <p:spPr>
          <a:xfrm>
            <a:off x="6016751"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181344"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81344" y="1965960"/>
            <a:ext cx="1645919"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59" y="2240279"/>
            <a:ext cx="1389887"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6309359"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Decide</a:t>
            </a:r>
          </a:p>
        </p:txBody>
      </p:sp>
      <p:sp>
        <p:nvSpPr>
          <p:cNvPr id="29" name="TextBox 28"/>
          <p:cNvSpPr txBox="1"/>
          <p:nvPr/>
        </p:nvSpPr>
        <p:spPr>
          <a:xfrm>
            <a:off x="6327648"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authorised owner records rationale</a:t>
            </a:r>
          </a:p>
        </p:txBody>
      </p:sp>
      <p:cxnSp>
        <p:nvCxnSpPr>
          <p:cNvPr id="30" name="Connector 29"/>
          <p:cNvCxnSpPr/>
          <p:nvPr/>
        </p:nvCxnSpPr>
        <p:spPr>
          <a:xfrm>
            <a:off x="7827263"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991855"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91855" y="1965960"/>
            <a:ext cx="1645919" cy="13716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19871" y="2240279"/>
            <a:ext cx="1389887" cy="457200"/>
          </a:xfrm>
          <a:prstGeom prst="rect">
            <a:avLst/>
          </a:prstGeom>
          <a:noFill/>
        </p:spPr>
        <p:txBody>
          <a:bodyPr wrap="square" lIns="0" rIns="0" tIns="0" bIns="0" anchor="t">
            <a:spAutoFit/>
          </a:bodyPr>
          <a:lstStyle/>
          <a:p>
            <a:pPr algn="ctr">
              <a:spcAft>
                <a:spcPts val="300"/>
              </a:spcAft>
            </a:pPr>
            <a:r>
              <a:rPr sz="1400" b="1">
                <a:solidFill>
                  <a:srgbClr val="1A7F4B"/>
                </a:solidFill>
                <a:latin typeface="Arial"/>
              </a:rPr>
              <a:t>05</a:t>
            </a:r>
          </a:p>
        </p:txBody>
      </p:sp>
      <p:sp>
        <p:nvSpPr>
          <p:cNvPr id="34" name="TextBox 33"/>
          <p:cNvSpPr txBox="1"/>
          <p:nvPr/>
        </p:nvSpPr>
        <p:spPr>
          <a:xfrm>
            <a:off x="8119871"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Update</a:t>
            </a:r>
          </a:p>
        </p:txBody>
      </p:sp>
      <p:sp>
        <p:nvSpPr>
          <p:cNvPr id="35" name="TextBox 34"/>
          <p:cNvSpPr txBox="1"/>
          <p:nvPr/>
        </p:nvSpPr>
        <p:spPr>
          <a:xfrm>
            <a:off x="8138159"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baselines and traceability</a:t>
            </a:r>
          </a:p>
        </p:txBody>
      </p:sp>
      <p:cxnSp>
        <p:nvCxnSpPr>
          <p:cNvPr id="36" name="Connector 35"/>
          <p:cNvCxnSpPr/>
          <p:nvPr/>
        </p:nvCxnSpPr>
        <p:spPr>
          <a:xfrm>
            <a:off x="9637776" y="3474720"/>
            <a:ext cx="164591"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802367"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02367" y="1965960"/>
            <a:ext cx="1645919" cy="137160"/>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930384" y="2240279"/>
            <a:ext cx="1389887" cy="457200"/>
          </a:xfrm>
          <a:prstGeom prst="rect">
            <a:avLst/>
          </a:prstGeom>
          <a:noFill/>
        </p:spPr>
        <p:txBody>
          <a:bodyPr wrap="square" lIns="0" rIns="0" tIns="0" bIns="0" anchor="t">
            <a:spAutoFit/>
          </a:bodyPr>
          <a:lstStyle/>
          <a:p>
            <a:pPr algn="ctr">
              <a:spcAft>
                <a:spcPts val="300"/>
              </a:spcAft>
            </a:pPr>
            <a:r>
              <a:rPr sz="1400" b="1">
                <a:solidFill>
                  <a:srgbClr val="C93131"/>
                </a:solidFill>
                <a:latin typeface="Arial"/>
              </a:rPr>
              <a:t>06</a:t>
            </a:r>
          </a:p>
        </p:txBody>
      </p:sp>
      <p:sp>
        <p:nvSpPr>
          <p:cNvPr id="40" name="TextBox 39"/>
          <p:cNvSpPr txBox="1"/>
          <p:nvPr/>
        </p:nvSpPr>
        <p:spPr>
          <a:xfrm>
            <a:off x="9930384"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Communicate</a:t>
            </a:r>
          </a:p>
        </p:txBody>
      </p:sp>
      <p:sp>
        <p:nvSpPr>
          <p:cNvPr id="41" name="TextBox 40"/>
          <p:cNvSpPr txBox="1"/>
          <p:nvPr/>
        </p:nvSpPr>
        <p:spPr>
          <a:xfrm>
            <a:off x="9948672"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owners, stakeholders and vendors</a:t>
            </a:r>
          </a:p>
        </p:txBody>
      </p:sp>
      <p:sp>
        <p:nvSpPr>
          <p:cNvPr id="42" name="Rounded Rectangle 41"/>
          <p:cNvSpPr/>
          <p:nvPr/>
        </p:nvSpPr>
        <p:spPr>
          <a:xfrm>
            <a:off x="749808" y="5303520"/>
            <a:ext cx="10698480" cy="713232"/>
          </a:xfrm>
          <a:prstGeom prst="roundRect">
            <a:avLst>
              <a:gd name="adj" fmla="val 8000"/>
            </a:avLst>
          </a:prstGeom>
          <a:solidFill>
            <a:srgbClr val="FFFFFF"/>
          </a:solidFill>
          <a:ln w="12700">
            <a:solidFill>
              <a:srgbClr val="1655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An approved change is unfinished until affected baselines and acceptance evidence are updated.</a:t>
            </a:r>
          </a:p>
        </p:txBody>
      </p:sp>
      <p:sp>
        <p:nvSpPr>
          <p:cNvPr id="44" name="TextBox 43"/>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5" name="TextBox 44"/>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07 · APPLIED FRAMEWORK</a:t>
            </a:r>
          </a:p>
        </p:txBody>
      </p:sp>
      <p:sp>
        <p:nvSpPr>
          <p:cNvPr id="46" name="TextBox 45"/>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173</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07 · APPLIED FRAMEWORK</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Closeout Gates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1645919"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1389887"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Accept</a:t>
            </a:r>
          </a:p>
        </p:txBody>
      </p:sp>
      <p:sp>
        <p:nvSpPr>
          <p:cNvPr id="11" name="TextBox 10"/>
          <p:cNvSpPr txBox="1"/>
          <p:nvPr/>
        </p:nvSpPr>
        <p:spPr>
          <a:xfrm>
            <a:off x="896112"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deliverables and criteria</a:t>
            </a:r>
          </a:p>
        </p:txBody>
      </p:sp>
      <p:cxnSp>
        <p:nvCxnSpPr>
          <p:cNvPr id="12" name="Connector 11"/>
          <p:cNvCxnSpPr/>
          <p:nvPr/>
        </p:nvCxnSpPr>
        <p:spPr>
          <a:xfrm>
            <a:off x="2395727" y="3474720"/>
            <a:ext cx="164593"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560320"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60320" y="1965960"/>
            <a:ext cx="1645919"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88336" y="2240279"/>
            <a:ext cx="1389887"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2688336"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Transition</a:t>
            </a:r>
          </a:p>
        </p:txBody>
      </p:sp>
      <p:sp>
        <p:nvSpPr>
          <p:cNvPr id="17" name="TextBox 16"/>
          <p:cNvSpPr txBox="1"/>
          <p:nvPr/>
        </p:nvSpPr>
        <p:spPr>
          <a:xfrm>
            <a:off x="2706624"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operations, support and data</a:t>
            </a:r>
          </a:p>
        </p:txBody>
      </p:sp>
      <p:cxnSp>
        <p:nvCxnSpPr>
          <p:cNvPr id="18" name="Connector 17"/>
          <p:cNvCxnSpPr/>
          <p:nvPr/>
        </p:nvCxnSpPr>
        <p:spPr>
          <a:xfrm>
            <a:off x="4206240" y="3474720"/>
            <a:ext cx="164591"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370831"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70831" y="1965960"/>
            <a:ext cx="1645919"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98847" y="2240279"/>
            <a:ext cx="1389887"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4498847"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Contract</a:t>
            </a:r>
          </a:p>
        </p:txBody>
      </p:sp>
      <p:sp>
        <p:nvSpPr>
          <p:cNvPr id="23" name="TextBox 22"/>
          <p:cNvSpPr txBox="1"/>
          <p:nvPr/>
        </p:nvSpPr>
        <p:spPr>
          <a:xfrm>
            <a:off x="4517136"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claims, payment and records</a:t>
            </a:r>
          </a:p>
        </p:txBody>
      </p:sp>
      <p:cxnSp>
        <p:nvCxnSpPr>
          <p:cNvPr id="24" name="Connector 23"/>
          <p:cNvCxnSpPr/>
          <p:nvPr/>
        </p:nvCxnSpPr>
        <p:spPr>
          <a:xfrm>
            <a:off x="6016751"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181344"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81344" y="1965960"/>
            <a:ext cx="1645919"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59" y="2240279"/>
            <a:ext cx="1389887"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6309359"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Learn</a:t>
            </a:r>
          </a:p>
        </p:txBody>
      </p:sp>
      <p:sp>
        <p:nvSpPr>
          <p:cNvPr id="29" name="TextBox 28"/>
          <p:cNvSpPr txBox="1"/>
          <p:nvPr/>
        </p:nvSpPr>
        <p:spPr>
          <a:xfrm>
            <a:off x="6327648"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causes and reusable actions</a:t>
            </a:r>
          </a:p>
        </p:txBody>
      </p:sp>
      <p:cxnSp>
        <p:nvCxnSpPr>
          <p:cNvPr id="30" name="Connector 29"/>
          <p:cNvCxnSpPr/>
          <p:nvPr/>
        </p:nvCxnSpPr>
        <p:spPr>
          <a:xfrm>
            <a:off x="7827263"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991855"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91855" y="1965960"/>
            <a:ext cx="1645919" cy="13716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19871" y="2240279"/>
            <a:ext cx="1389887" cy="457200"/>
          </a:xfrm>
          <a:prstGeom prst="rect">
            <a:avLst/>
          </a:prstGeom>
          <a:noFill/>
        </p:spPr>
        <p:txBody>
          <a:bodyPr wrap="square" lIns="0" rIns="0" tIns="0" bIns="0" anchor="t">
            <a:spAutoFit/>
          </a:bodyPr>
          <a:lstStyle/>
          <a:p>
            <a:pPr algn="ctr">
              <a:spcAft>
                <a:spcPts val="300"/>
              </a:spcAft>
            </a:pPr>
            <a:r>
              <a:rPr sz="1400" b="1">
                <a:solidFill>
                  <a:srgbClr val="1A7F4B"/>
                </a:solidFill>
                <a:latin typeface="Arial"/>
              </a:rPr>
              <a:t>05</a:t>
            </a:r>
          </a:p>
        </p:txBody>
      </p:sp>
      <p:sp>
        <p:nvSpPr>
          <p:cNvPr id="34" name="TextBox 33"/>
          <p:cNvSpPr txBox="1"/>
          <p:nvPr/>
        </p:nvSpPr>
        <p:spPr>
          <a:xfrm>
            <a:off x="8119871"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Benefits</a:t>
            </a:r>
          </a:p>
        </p:txBody>
      </p:sp>
      <p:sp>
        <p:nvSpPr>
          <p:cNvPr id="35" name="TextBox 34"/>
          <p:cNvSpPr txBox="1"/>
          <p:nvPr/>
        </p:nvSpPr>
        <p:spPr>
          <a:xfrm>
            <a:off x="8138159"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owner and measurement rhythm</a:t>
            </a:r>
          </a:p>
        </p:txBody>
      </p:sp>
      <p:cxnSp>
        <p:nvCxnSpPr>
          <p:cNvPr id="36" name="Connector 35"/>
          <p:cNvCxnSpPr/>
          <p:nvPr/>
        </p:nvCxnSpPr>
        <p:spPr>
          <a:xfrm>
            <a:off x="9637776" y="3474720"/>
            <a:ext cx="164591"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802367"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02367" y="1965960"/>
            <a:ext cx="1645919" cy="137160"/>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930384" y="2240279"/>
            <a:ext cx="1389887" cy="457200"/>
          </a:xfrm>
          <a:prstGeom prst="rect">
            <a:avLst/>
          </a:prstGeom>
          <a:noFill/>
        </p:spPr>
        <p:txBody>
          <a:bodyPr wrap="square" lIns="0" rIns="0" tIns="0" bIns="0" anchor="t">
            <a:spAutoFit/>
          </a:bodyPr>
          <a:lstStyle/>
          <a:p>
            <a:pPr algn="ctr">
              <a:spcAft>
                <a:spcPts val="300"/>
              </a:spcAft>
            </a:pPr>
            <a:r>
              <a:rPr sz="1400" b="1">
                <a:solidFill>
                  <a:srgbClr val="C93131"/>
                </a:solidFill>
                <a:latin typeface="Arial"/>
              </a:rPr>
              <a:t>06</a:t>
            </a:r>
          </a:p>
        </p:txBody>
      </p:sp>
      <p:sp>
        <p:nvSpPr>
          <p:cNvPr id="40" name="TextBox 39"/>
          <p:cNvSpPr txBox="1"/>
          <p:nvPr/>
        </p:nvSpPr>
        <p:spPr>
          <a:xfrm>
            <a:off x="9930384"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Close</a:t>
            </a:r>
          </a:p>
        </p:txBody>
      </p:sp>
      <p:sp>
        <p:nvSpPr>
          <p:cNvPr id="41" name="TextBox 40"/>
          <p:cNvSpPr txBox="1"/>
          <p:nvPr/>
        </p:nvSpPr>
        <p:spPr>
          <a:xfrm>
            <a:off x="9948672"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archive and release resources</a:t>
            </a:r>
          </a:p>
        </p:txBody>
      </p:sp>
      <p:sp>
        <p:nvSpPr>
          <p:cNvPr id="42" name="Rounded Rectangle 41"/>
          <p:cNvSpPr/>
          <p:nvPr/>
        </p:nvSpPr>
        <p:spPr>
          <a:xfrm>
            <a:off x="749808" y="5303520"/>
            <a:ext cx="10698480" cy="713232"/>
          </a:xfrm>
          <a:prstGeom prst="roundRect">
            <a:avLst>
              <a:gd name="adj" fmla="val 8000"/>
            </a:avLst>
          </a:prstGeom>
          <a:solidFill>
            <a:srgbClr val="FFFFFF"/>
          </a:solidFill>
          <a:ln w="12700">
            <a:solidFill>
              <a:srgbClr val="1655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Do not close on elapsed time; close on complete evidence and transferred accountability.</a:t>
            </a:r>
          </a:p>
        </p:txBody>
      </p:sp>
      <p:sp>
        <p:nvSpPr>
          <p:cNvPr id="44" name="TextBox 43"/>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5" name="TextBox 44"/>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07 · APPLIED FRAMEWORK</a:t>
            </a:r>
          </a:p>
        </p:txBody>
      </p:sp>
      <p:sp>
        <p:nvSpPr>
          <p:cNvPr id="46" name="TextBox 45"/>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174</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07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The Monitoring and Control Cycle</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1645919"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1389887"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Collect</a:t>
            </a:r>
          </a:p>
        </p:txBody>
      </p:sp>
      <p:sp>
        <p:nvSpPr>
          <p:cNvPr id="11" name="TextBox 10"/>
          <p:cNvSpPr txBox="1"/>
          <p:nvPr/>
        </p:nvSpPr>
        <p:spPr>
          <a:xfrm>
            <a:off x="896112"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work performance data</a:t>
            </a:r>
          </a:p>
        </p:txBody>
      </p:sp>
      <p:cxnSp>
        <p:nvCxnSpPr>
          <p:cNvPr id="12" name="Connector 11"/>
          <p:cNvCxnSpPr/>
          <p:nvPr/>
        </p:nvCxnSpPr>
        <p:spPr>
          <a:xfrm>
            <a:off x="2395727" y="3474720"/>
            <a:ext cx="164593"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560320"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60320" y="1965960"/>
            <a:ext cx="1645919"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88336" y="2240279"/>
            <a:ext cx="1389887"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2688336"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Compare</a:t>
            </a:r>
          </a:p>
        </p:txBody>
      </p:sp>
      <p:sp>
        <p:nvSpPr>
          <p:cNvPr id="17" name="TextBox 16"/>
          <p:cNvSpPr txBox="1"/>
          <p:nvPr/>
        </p:nvSpPr>
        <p:spPr>
          <a:xfrm>
            <a:off x="2706624"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baseline, threshold and acceptance</a:t>
            </a:r>
          </a:p>
        </p:txBody>
      </p:sp>
      <p:cxnSp>
        <p:nvCxnSpPr>
          <p:cNvPr id="18" name="Connector 17"/>
          <p:cNvCxnSpPr/>
          <p:nvPr/>
        </p:nvCxnSpPr>
        <p:spPr>
          <a:xfrm>
            <a:off x="4206240" y="3474720"/>
            <a:ext cx="164591"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370831"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70831" y="1965960"/>
            <a:ext cx="1645919"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98847" y="2240279"/>
            <a:ext cx="1389887"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4498847"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Analyse</a:t>
            </a:r>
          </a:p>
        </p:txBody>
      </p:sp>
      <p:sp>
        <p:nvSpPr>
          <p:cNvPr id="23" name="TextBox 22"/>
          <p:cNvSpPr txBox="1"/>
          <p:nvPr/>
        </p:nvSpPr>
        <p:spPr>
          <a:xfrm>
            <a:off x="4517136"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cause and forecast</a:t>
            </a:r>
          </a:p>
        </p:txBody>
      </p:sp>
      <p:cxnSp>
        <p:nvCxnSpPr>
          <p:cNvPr id="24" name="Connector 23"/>
          <p:cNvCxnSpPr/>
          <p:nvPr/>
        </p:nvCxnSpPr>
        <p:spPr>
          <a:xfrm>
            <a:off x="6016751"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181344"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81344" y="1965960"/>
            <a:ext cx="1645919"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59" y="2240279"/>
            <a:ext cx="1389887"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6309359"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Decide</a:t>
            </a:r>
          </a:p>
        </p:txBody>
      </p:sp>
      <p:sp>
        <p:nvSpPr>
          <p:cNvPr id="29" name="TextBox 28"/>
          <p:cNvSpPr txBox="1"/>
          <p:nvPr/>
        </p:nvSpPr>
        <p:spPr>
          <a:xfrm>
            <a:off x="6327648"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action, change or escalation</a:t>
            </a:r>
          </a:p>
        </p:txBody>
      </p:sp>
      <p:cxnSp>
        <p:nvCxnSpPr>
          <p:cNvPr id="30" name="Connector 29"/>
          <p:cNvCxnSpPr/>
          <p:nvPr/>
        </p:nvCxnSpPr>
        <p:spPr>
          <a:xfrm>
            <a:off x="7827263"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991855"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91855" y="1965960"/>
            <a:ext cx="1645919" cy="13716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19871" y="2240279"/>
            <a:ext cx="1389887" cy="457200"/>
          </a:xfrm>
          <a:prstGeom prst="rect">
            <a:avLst/>
          </a:prstGeom>
          <a:noFill/>
        </p:spPr>
        <p:txBody>
          <a:bodyPr wrap="square" lIns="0" rIns="0" tIns="0" bIns="0" anchor="t">
            <a:spAutoFit/>
          </a:bodyPr>
          <a:lstStyle/>
          <a:p>
            <a:pPr algn="ctr">
              <a:spcAft>
                <a:spcPts val="300"/>
              </a:spcAft>
            </a:pPr>
            <a:r>
              <a:rPr sz="1400" b="1">
                <a:solidFill>
                  <a:srgbClr val="1A7F4B"/>
                </a:solidFill>
                <a:latin typeface="Arial"/>
              </a:rPr>
              <a:t>05</a:t>
            </a:r>
          </a:p>
        </p:txBody>
      </p:sp>
      <p:sp>
        <p:nvSpPr>
          <p:cNvPr id="34" name="TextBox 33"/>
          <p:cNvSpPr txBox="1"/>
          <p:nvPr/>
        </p:nvSpPr>
        <p:spPr>
          <a:xfrm>
            <a:off x="8119871"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Update</a:t>
            </a:r>
          </a:p>
        </p:txBody>
      </p:sp>
      <p:sp>
        <p:nvSpPr>
          <p:cNvPr id="35" name="TextBox 34"/>
          <p:cNvSpPr txBox="1"/>
          <p:nvPr/>
        </p:nvSpPr>
        <p:spPr>
          <a:xfrm>
            <a:off x="8138159"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owners, plans and records</a:t>
            </a:r>
          </a:p>
        </p:txBody>
      </p:sp>
      <p:cxnSp>
        <p:nvCxnSpPr>
          <p:cNvPr id="36" name="Connector 35"/>
          <p:cNvCxnSpPr/>
          <p:nvPr/>
        </p:nvCxnSpPr>
        <p:spPr>
          <a:xfrm>
            <a:off x="9637776" y="3474720"/>
            <a:ext cx="164591"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802367"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02367" y="1965960"/>
            <a:ext cx="1645919" cy="137160"/>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930384" y="2240279"/>
            <a:ext cx="1389887" cy="457200"/>
          </a:xfrm>
          <a:prstGeom prst="rect">
            <a:avLst/>
          </a:prstGeom>
          <a:noFill/>
        </p:spPr>
        <p:txBody>
          <a:bodyPr wrap="square" lIns="0" rIns="0" tIns="0" bIns="0" anchor="t">
            <a:spAutoFit/>
          </a:bodyPr>
          <a:lstStyle/>
          <a:p>
            <a:pPr algn="ctr">
              <a:spcAft>
                <a:spcPts val="300"/>
              </a:spcAft>
            </a:pPr>
            <a:r>
              <a:rPr sz="1400" b="1">
                <a:solidFill>
                  <a:srgbClr val="C93131"/>
                </a:solidFill>
                <a:latin typeface="Arial"/>
              </a:rPr>
              <a:t>06</a:t>
            </a:r>
          </a:p>
        </p:txBody>
      </p:sp>
      <p:sp>
        <p:nvSpPr>
          <p:cNvPr id="40" name="TextBox 39"/>
          <p:cNvSpPr txBox="1"/>
          <p:nvPr/>
        </p:nvSpPr>
        <p:spPr>
          <a:xfrm>
            <a:off x="9930384"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Verify</a:t>
            </a:r>
          </a:p>
        </p:txBody>
      </p:sp>
      <p:sp>
        <p:nvSpPr>
          <p:cNvPr id="41" name="TextBox 40"/>
          <p:cNvSpPr txBox="1"/>
          <p:nvPr/>
        </p:nvSpPr>
        <p:spPr>
          <a:xfrm>
            <a:off x="9948672"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did action change outcome?</a:t>
            </a:r>
          </a:p>
        </p:txBody>
      </p:sp>
      <p:sp>
        <p:nvSpPr>
          <p:cNvPr id="42" name="Rounded Rectangle 41"/>
          <p:cNvSpPr/>
          <p:nvPr/>
        </p:nvSpPr>
        <p:spPr>
          <a:xfrm>
            <a:off x="749808" y="5303520"/>
            <a:ext cx="10698480" cy="713232"/>
          </a:xfrm>
          <a:prstGeom prst="roundRect">
            <a:avLst>
              <a:gd name="adj" fmla="val 8000"/>
            </a:avLst>
          </a:prstGeom>
          <a:solidFill>
            <a:srgbClr val="FFFFFF"/>
          </a:solidFill>
          <a:ln w="12700">
            <a:solidFill>
              <a:srgbClr val="1655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Control is forward-looking: the purpose of variance is to improve the forecast and decision.</a:t>
            </a:r>
          </a:p>
        </p:txBody>
      </p:sp>
      <p:sp>
        <p:nvSpPr>
          <p:cNvPr id="44" name="TextBox 43"/>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5" name="TextBox 44"/>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07 · REFERENCE-SOURCED DEEP DIVE</a:t>
            </a:r>
          </a:p>
        </p:txBody>
      </p:sp>
      <p:sp>
        <p:nvSpPr>
          <p:cNvPr id="46" name="TextBox 45"/>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175</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07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Data, Information and Reports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948690"/>
          </a:xfrm>
          <a:prstGeom prst="rect">
            <a:avLst/>
          </a:prstGeom>
          <a:solidFill>
            <a:srgbClr val="1655D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80238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Level</a:t>
            </a:r>
          </a:p>
        </p:txBody>
      </p:sp>
      <p:sp>
        <p:nvSpPr>
          <p:cNvPr id="9" name="Rectangle 8"/>
          <p:cNvSpPr/>
          <p:nvPr/>
        </p:nvSpPr>
        <p:spPr>
          <a:xfrm>
            <a:off x="4315968" y="1810512"/>
            <a:ext cx="3566160" cy="948690"/>
          </a:xfrm>
          <a:prstGeom prst="rect">
            <a:avLst/>
          </a:prstGeom>
          <a:solidFill>
            <a:srgbClr val="1655D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80238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Example</a:t>
            </a:r>
          </a:p>
        </p:txBody>
      </p:sp>
      <p:sp>
        <p:nvSpPr>
          <p:cNvPr id="11" name="Rectangle 10"/>
          <p:cNvSpPr/>
          <p:nvPr/>
        </p:nvSpPr>
        <p:spPr>
          <a:xfrm>
            <a:off x="7882127" y="1810512"/>
            <a:ext cx="3566160" cy="948690"/>
          </a:xfrm>
          <a:prstGeom prst="rect">
            <a:avLst/>
          </a:prstGeom>
          <a:solidFill>
            <a:srgbClr val="1655D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80238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Use</a:t>
            </a:r>
          </a:p>
        </p:txBody>
      </p:sp>
      <p:sp>
        <p:nvSpPr>
          <p:cNvPr id="13" name="Rectangle 12"/>
          <p:cNvSpPr/>
          <p:nvPr/>
        </p:nvSpPr>
        <p:spPr>
          <a:xfrm>
            <a:off x="749808" y="2759202"/>
            <a:ext cx="3566160" cy="94869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804922"/>
            <a:ext cx="3346704" cy="85725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Data</a:t>
            </a:r>
          </a:p>
        </p:txBody>
      </p:sp>
      <p:sp>
        <p:nvSpPr>
          <p:cNvPr id="15" name="Rectangle 14"/>
          <p:cNvSpPr/>
          <p:nvPr/>
        </p:nvSpPr>
        <p:spPr>
          <a:xfrm>
            <a:off x="4315968" y="2759202"/>
            <a:ext cx="3566160" cy="94869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804922"/>
            <a:ext cx="3346704" cy="85725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7 defects, S$105k actual cost</a:t>
            </a:r>
          </a:p>
        </p:txBody>
      </p:sp>
      <p:sp>
        <p:nvSpPr>
          <p:cNvPr id="17" name="Rectangle 16"/>
          <p:cNvSpPr/>
          <p:nvPr/>
        </p:nvSpPr>
        <p:spPr>
          <a:xfrm>
            <a:off x="7882127" y="2759202"/>
            <a:ext cx="3566160" cy="94869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804922"/>
            <a:ext cx="3346704" cy="85725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Raw observation</a:t>
            </a:r>
          </a:p>
        </p:txBody>
      </p:sp>
      <p:sp>
        <p:nvSpPr>
          <p:cNvPr id="19" name="Rectangle 18"/>
          <p:cNvSpPr/>
          <p:nvPr/>
        </p:nvSpPr>
        <p:spPr>
          <a:xfrm>
            <a:off x="749808" y="3707891"/>
            <a:ext cx="3566160" cy="94869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753611"/>
            <a:ext cx="3346704" cy="85725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Information</a:t>
            </a:r>
          </a:p>
        </p:txBody>
      </p:sp>
      <p:sp>
        <p:nvSpPr>
          <p:cNvPr id="21" name="Rectangle 20"/>
          <p:cNvSpPr/>
          <p:nvPr/>
        </p:nvSpPr>
        <p:spPr>
          <a:xfrm>
            <a:off x="4315968" y="3707891"/>
            <a:ext cx="3566160" cy="94869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753611"/>
            <a:ext cx="3346704" cy="85725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Defects above threshold, CPI 0.86</a:t>
            </a:r>
          </a:p>
        </p:txBody>
      </p:sp>
      <p:sp>
        <p:nvSpPr>
          <p:cNvPr id="23" name="Rectangle 22"/>
          <p:cNvSpPr/>
          <p:nvPr/>
        </p:nvSpPr>
        <p:spPr>
          <a:xfrm>
            <a:off x="7882127" y="3707891"/>
            <a:ext cx="3566160" cy="94869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753611"/>
            <a:ext cx="3346704" cy="85725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Meaning through comparison</a:t>
            </a:r>
          </a:p>
        </p:txBody>
      </p:sp>
      <p:sp>
        <p:nvSpPr>
          <p:cNvPr id="25" name="Rectangle 24"/>
          <p:cNvSpPr/>
          <p:nvPr/>
        </p:nvSpPr>
        <p:spPr>
          <a:xfrm>
            <a:off x="749808" y="4656582"/>
            <a:ext cx="3566160" cy="94869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702302"/>
            <a:ext cx="3346704" cy="85725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Report</a:t>
            </a:r>
          </a:p>
        </p:txBody>
      </p:sp>
      <p:sp>
        <p:nvSpPr>
          <p:cNvPr id="27" name="Rectangle 26"/>
          <p:cNvSpPr/>
          <p:nvPr/>
        </p:nvSpPr>
        <p:spPr>
          <a:xfrm>
            <a:off x="4315968" y="4656582"/>
            <a:ext cx="3566160" cy="94869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702302"/>
            <a:ext cx="3346704" cy="85725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Forecast, cause, action and decision</a:t>
            </a:r>
          </a:p>
        </p:txBody>
      </p:sp>
      <p:sp>
        <p:nvSpPr>
          <p:cNvPr id="29" name="Rectangle 28"/>
          <p:cNvSpPr/>
          <p:nvPr/>
        </p:nvSpPr>
        <p:spPr>
          <a:xfrm>
            <a:off x="7882127" y="4656582"/>
            <a:ext cx="3566160" cy="94869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702302"/>
            <a:ext cx="3346704" cy="85725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Governance and coordination</a:t>
            </a:r>
          </a:p>
        </p:txBody>
      </p:sp>
      <p:sp>
        <p:nvSpPr>
          <p:cNvPr id="31" name="Rounded Rectangle 30"/>
          <p:cNvSpPr/>
          <p:nvPr/>
        </p:nvSpPr>
        <p:spPr>
          <a:xfrm>
            <a:off x="749808" y="5815584"/>
            <a:ext cx="10698480" cy="420624"/>
          </a:xfrm>
          <a:prstGeom prst="roundRect">
            <a:avLst>
              <a:gd name="adj" fmla="val 8000"/>
            </a:avLst>
          </a:prstGeom>
          <a:solidFill>
            <a:srgbClr val="F4F7FB"/>
          </a:solidFill>
          <a:ln w="12700">
            <a:solidFill>
              <a:srgbClr val="1655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A dashboard without interpretation is data display, not project control.</a:t>
            </a:r>
          </a:p>
        </p:txBody>
      </p:sp>
      <p:sp>
        <p:nvSpPr>
          <p:cNvPr id="33" name="TextBox 3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4" name="TextBox 3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07 · REFERENCE-SOURCED DEEP DIVE</a:t>
            </a:r>
          </a:p>
        </p:txBody>
      </p:sp>
      <p:sp>
        <p:nvSpPr>
          <p:cNvPr id="35" name="TextBox 3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176</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07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A Decision-Ready Status Report</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2956559"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Where</a:t>
            </a:r>
          </a:p>
        </p:txBody>
      </p:sp>
      <p:sp>
        <p:nvSpPr>
          <p:cNvPr id="10" name="TextBox 9"/>
          <p:cNvSpPr txBox="1"/>
          <p:nvPr/>
        </p:nvSpPr>
        <p:spPr>
          <a:xfrm>
            <a:off x="100584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Current milestone and acceptance state.</a:t>
            </a:r>
          </a:p>
        </p:txBody>
      </p:sp>
      <p:sp>
        <p:nvSpPr>
          <p:cNvPr id="11" name="Rounded Rectangle 10"/>
          <p:cNvSpPr/>
          <p:nvPr/>
        </p:nvSpPr>
        <p:spPr>
          <a:xfrm>
            <a:off x="439216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92167"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8200" y="1947672"/>
            <a:ext cx="2956559"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Variance</a:t>
            </a:r>
          </a:p>
        </p:txBody>
      </p:sp>
      <p:sp>
        <p:nvSpPr>
          <p:cNvPr id="14" name="TextBox 13"/>
          <p:cNvSpPr txBox="1"/>
          <p:nvPr/>
        </p:nvSpPr>
        <p:spPr>
          <a:xfrm>
            <a:off x="464820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Scope, time, cost, quality and resource.</a:t>
            </a:r>
          </a:p>
        </p:txBody>
      </p:sp>
      <p:sp>
        <p:nvSpPr>
          <p:cNvPr id="15" name="Rounded Rectangle 14"/>
          <p:cNvSpPr/>
          <p:nvPr/>
        </p:nvSpPr>
        <p:spPr>
          <a:xfrm>
            <a:off x="803452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34527" y="1783080"/>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559" y="1947672"/>
            <a:ext cx="2956559"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Why</a:t>
            </a:r>
          </a:p>
        </p:txBody>
      </p:sp>
      <p:sp>
        <p:nvSpPr>
          <p:cNvPr id="18" name="TextBox 17"/>
          <p:cNvSpPr txBox="1"/>
          <p:nvPr/>
        </p:nvSpPr>
        <p:spPr>
          <a:xfrm>
            <a:off x="8290559"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Cause, not just symptom.</a:t>
            </a:r>
          </a:p>
        </p:txBody>
      </p:sp>
      <p:sp>
        <p:nvSpPr>
          <p:cNvPr id="19" name="Rounded Rectangle 18"/>
          <p:cNvSpPr/>
          <p:nvPr/>
        </p:nvSpPr>
        <p:spPr>
          <a:xfrm>
            <a:off x="749808"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980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4283964"/>
            <a:ext cx="2956559"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Forecast</a:t>
            </a:r>
          </a:p>
        </p:txBody>
      </p:sp>
      <p:sp>
        <p:nvSpPr>
          <p:cNvPr id="22" name="TextBox 21"/>
          <p:cNvSpPr txBox="1"/>
          <p:nvPr/>
        </p:nvSpPr>
        <p:spPr>
          <a:xfrm>
            <a:off x="100584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Expected finish and cost.</a:t>
            </a:r>
          </a:p>
        </p:txBody>
      </p:sp>
      <p:sp>
        <p:nvSpPr>
          <p:cNvPr id="23" name="Rounded Rectangle 22"/>
          <p:cNvSpPr/>
          <p:nvPr/>
        </p:nvSpPr>
        <p:spPr>
          <a:xfrm>
            <a:off x="4392167"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92167" y="4119372"/>
            <a:ext cx="91440" cy="2107692"/>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48200" y="4283964"/>
            <a:ext cx="2956559" cy="438912"/>
          </a:xfrm>
          <a:prstGeom prst="rect">
            <a:avLst/>
          </a:prstGeom>
          <a:noFill/>
        </p:spPr>
        <p:txBody>
          <a:bodyPr wrap="square" lIns="0" rIns="0" tIns="0" bIns="0" anchor="t">
            <a:spAutoFit/>
          </a:bodyPr>
          <a:lstStyle/>
          <a:p>
            <a:pPr algn="l">
              <a:spcAft>
                <a:spcPts val="300"/>
              </a:spcAft>
            </a:pPr>
            <a:r>
              <a:rPr sz="1300" b="1">
                <a:solidFill>
                  <a:srgbClr val="1A7F4B"/>
                </a:solidFill>
                <a:latin typeface="Arial"/>
              </a:rPr>
              <a:t>Action</a:t>
            </a:r>
          </a:p>
        </p:txBody>
      </p:sp>
      <p:sp>
        <p:nvSpPr>
          <p:cNvPr id="26" name="TextBox 25"/>
          <p:cNvSpPr txBox="1"/>
          <p:nvPr/>
        </p:nvSpPr>
        <p:spPr>
          <a:xfrm>
            <a:off x="464820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Owner, due date and verification.</a:t>
            </a:r>
          </a:p>
        </p:txBody>
      </p:sp>
      <p:sp>
        <p:nvSpPr>
          <p:cNvPr id="27" name="Rounded Rectangle 26"/>
          <p:cNvSpPr/>
          <p:nvPr/>
        </p:nvSpPr>
        <p:spPr>
          <a:xfrm>
            <a:off x="8034527"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34527" y="4119372"/>
            <a:ext cx="91440" cy="2107692"/>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90559" y="4283964"/>
            <a:ext cx="2956559" cy="438912"/>
          </a:xfrm>
          <a:prstGeom prst="rect">
            <a:avLst/>
          </a:prstGeom>
          <a:noFill/>
        </p:spPr>
        <p:txBody>
          <a:bodyPr wrap="square" lIns="0" rIns="0" tIns="0" bIns="0" anchor="t">
            <a:spAutoFit/>
          </a:bodyPr>
          <a:lstStyle/>
          <a:p>
            <a:pPr algn="l">
              <a:spcAft>
                <a:spcPts val="300"/>
              </a:spcAft>
            </a:pPr>
            <a:r>
              <a:rPr sz="1300" b="1">
                <a:solidFill>
                  <a:srgbClr val="C93131"/>
                </a:solidFill>
                <a:latin typeface="Arial"/>
              </a:rPr>
              <a:t>Decision</a:t>
            </a:r>
          </a:p>
        </p:txBody>
      </p:sp>
      <p:sp>
        <p:nvSpPr>
          <p:cNvPr id="30" name="TextBox 29"/>
          <p:cNvSpPr txBox="1"/>
          <p:nvPr/>
        </p:nvSpPr>
        <p:spPr>
          <a:xfrm>
            <a:off x="8290559"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Escalation with options and deadline.</a:t>
            </a:r>
          </a:p>
        </p:txBody>
      </p:sp>
      <p:sp>
        <p:nvSpPr>
          <p:cNvPr id="31" name="TextBox 30"/>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2" name="TextBox 31"/>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07 · REFERENCE-SOURCED DEEP DIVE</a:t>
            </a:r>
          </a:p>
        </p:txBody>
      </p:sp>
      <p:sp>
        <p:nvSpPr>
          <p:cNvPr id="33" name="TextBox 32"/>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177</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07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Validate Scope versus Control Scope</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948690"/>
          </a:xfrm>
          <a:prstGeom prst="rect">
            <a:avLst/>
          </a:prstGeom>
          <a:solidFill>
            <a:srgbClr val="1655D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80238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Process</a:t>
            </a:r>
          </a:p>
        </p:txBody>
      </p:sp>
      <p:sp>
        <p:nvSpPr>
          <p:cNvPr id="9" name="Rectangle 8"/>
          <p:cNvSpPr/>
          <p:nvPr/>
        </p:nvSpPr>
        <p:spPr>
          <a:xfrm>
            <a:off x="4315968" y="1810512"/>
            <a:ext cx="3566160" cy="948690"/>
          </a:xfrm>
          <a:prstGeom prst="rect">
            <a:avLst/>
          </a:prstGeom>
          <a:solidFill>
            <a:srgbClr val="1655D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80238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Question</a:t>
            </a:r>
          </a:p>
        </p:txBody>
      </p:sp>
      <p:sp>
        <p:nvSpPr>
          <p:cNvPr id="11" name="Rectangle 10"/>
          <p:cNvSpPr/>
          <p:nvPr/>
        </p:nvSpPr>
        <p:spPr>
          <a:xfrm>
            <a:off x="7882127" y="1810512"/>
            <a:ext cx="3566160" cy="948690"/>
          </a:xfrm>
          <a:prstGeom prst="rect">
            <a:avLst/>
          </a:prstGeom>
          <a:solidFill>
            <a:srgbClr val="1655D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80238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Evidence</a:t>
            </a:r>
          </a:p>
        </p:txBody>
      </p:sp>
      <p:sp>
        <p:nvSpPr>
          <p:cNvPr id="13" name="Rectangle 12"/>
          <p:cNvSpPr/>
          <p:nvPr/>
        </p:nvSpPr>
        <p:spPr>
          <a:xfrm>
            <a:off x="749808" y="2759202"/>
            <a:ext cx="3566160" cy="94869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804922"/>
            <a:ext cx="3346704" cy="85725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Validate scope</a:t>
            </a:r>
          </a:p>
        </p:txBody>
      </p:sp>
      <p:sp>
        <p:nvSpPr>
          <p:cNvPr id="15" name="Rectangle 14"/>
          <p:cNvSpPr/>
          <p:nvPr/>
        </p:nvSpPr>
        <p:spPr>
          <a:xfrm>
            <a:off x="4315968" y="2759202"/>
            <a:ext cx="3566160" cy="94869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804922"/>
            <a:ext cx="3346704" cy="85725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Will the authorised stakeholder accept it?</a:t>
            </a:r>
          </a:p>
        </p:txBody>
      </p:sp>
      <p:sp>
        <p:nvSpPr>
          <p:cNvPr id="17" name="Rectangle 16"/>
          <p:cNvSpPr/>
          <p:nvPr/>
        </p:nvSpPr>
        <p:spPr>
          <a:xfrm>
            <a:off x="7882127" y="2759202"/>
            <a:ext cx="3566160" cy="94869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804922"/>
            <a:ext cx="3346704" cy="85725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Accepted deliverable</a:t>
            </a:r>
          </a:p>
        </p:txBody>
      </p:sp>
      <p:sp>
        <p:nvSpPr>
          <p:cNvPr id="19" name="Rectangle 18"/>
          <p:cNvSpPr/>
          <p:nvPr/>
        </p:nvSpPr>
        <p:spPr>
          <a:xfrm>
            <a:off x="749808" y="3707891"/>
            <a:ext cx="3566160" cy="94869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753611"/>
            <a:ext cx="3346704" cy="85725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Control scope</a:t>
            </a:r>
          </a:p>
        </p:txBody>
      </p:sp>
      <p:sp>
        <p:nvSpPr>
          <p:cNvPr id="21" name="Rectangle 20"/>
          <p:cNvSpPr/>
          <p:nvPr/>
        </p:nvSpPr>
        <p:spPr>
          <a:xfrm>
            <a:off x="4315968" y="3707891"/>
            <a:ext cx="3566160" cy="94869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753611"/>
            <a:ext cx="3346704" cy="85725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Has authorised scope changed?</a:t>
            </a:r>
          </a:p>
        </p:txBody>
      </p:sp>
      <p:sp>
        <p:nvSpPr>
          <p:cNvPr id="23" name="Rectangle 22"/>
          <p:cNvSpPr/>
          <p:nvPr/>
        </p:nvSpPr>
        <p:spPr>
          <a:xfrm>
            <a:off x="7882127" y="3707891"/>
            <a:ext cx="3566160" cy="94869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753611"/>
            <a:ext cx="3346704" cy="85725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Baseline, RTM and change log</a:t>
            </a:r>
          </a:p>
        </p:txBody>
      </p:sp>
      <p:sp>
        <p:nvSpPr>
          <p:cNvPr id="25" name="Rectangle 24"/>
          <p:cNvSpPr/>
          <p:nvPr/>
        </p:nvSpPr>
        <p:spPr>
          <a:xfrm>
            <a:off x="749808" y="4656582"/>
            <a:ext cx="3566160" cy="94869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702302"/>
            <a:ext cx="3346704" cy="85725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Control quality</a:t>
            </a:r>
          </a:p>
        </p:txBody>
      </p:sp>
      <p:sp>
        <p:nvSpPr>
          <p:cNvPr id="27" name="Rectangle 26"/>
          <p:cNvSpPr/>
          <p:nvPr/>
        </p:nvSpPr>
        <p:spPr>
          <a:xfrm>
            <a:off x="4315968" y="4656582"/>
            <a:ext cx="3566160" cy="94869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702302"/>
            <a:ext cx="3346704" cy="85725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Does the result conform?</a:t>
            </a:r>
          </a:p>
        </p:txBody>
      </p:sp>
      <p:sp>
        <p:nvSpPr>
          <p:cNvPr id="29" name="Rectangle 28"/>
          <p:cNvSpPr/>
          <p:nvPr/>
        </p:nvSpPr>
        <p:spPr>
          <a:xfrm>
            <a:off x="7882127" y="4656582"/>
            <a:ext cx="3566160" cy="94869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702302"/>
            <a:ext cx="3346704" cy="85725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Inspection and test record</a:t>
            </a:r>
          </a:p>
        </p:txBody>
      </p:sp>
      <p:sp>
        <p:nvSpPr>
          <p:cNvPr id="31" name="Rounded Rectangle 30"/>
          <p:cNvSpPr/>
          <p:nvPr/>
        </p:nvSpPr>
        <p:spPr>
          <a:xfrm>
            <a:off x="749808" y="5815584"/>
            <a:ext cx="10698480" cy="420624"/>
          </a:xfrm>
          <a:prstGeom prst="roundRect">
            <a:avLst>
              <a:gd name="adj" fmla="val 8000"/>
            </a:avLst>
          </a:prstGeom>
          <a:solidFill>
            <a:srgbClr val="F4F7FB"/>
          </a:solidFill>
          <a:ln w="12700">
            <a:solidFill>
              <a:srgbClr val="1655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Verified quality is not the same as formal customer acceptance.</a:t>
            </a:r>
          </a:p>
        </p:txBody>
      </p:sp>
      <p:sp>
        <p:nvSpPr>
          <p:cNvPr id="33" name="TextBox 3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4" name="TextBox 3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07 · REFERENCE-SOURCED DEEP DIVE</a:t>
            </a:r>
          </a:p>
        </p:txBody>
      </p:sp>
      <p:sp>
        <p:nvSpPr>
          <p:cNvPr id="35" name="TextBox 3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178</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07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Earned Value Building Blocks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2956559"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PV</a:t>
            </a:r>
          </a:p>
        </p:txBody>
      </p:sp>
      <p:sp>
        <p:nvSpPr>
          <p:cNvPr id="10" name="TextBox 9"/>
          <p:cNvSpPr txBox="1"/>
          <p:nvPr/>
        </p:nvSpPr>
        <p:spPr>
          <a:xfrm>
            <a:off x="100584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Budgeted value of work planned by status date.</a:t>
            </a:r>
          </a:p>
        </p:txBody>
      </p:sp>
      <p:sp>
        <p:nvSpPr>
          <p:cNvPr id="11" name="Rounded Rectangle 10"/>
          <p:cNvSpPr/>
          <p:nvPr/>
        </p:nvSpPr>
        <p:spPr>
          <a:xfrm>
            <a:off x="439216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92167"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8200" y="1947672"/>
            <a:ext cx="2956559"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EV</a:t>
            </a:r>
          </a:p>
        </p:txBody>
      </p:sp>
      <p:sp>
        <p:nvSpPr>
          <p:cNvPr id="14" name="TextBox 13"/>
          <p:cNvSpPr txBox="1"/>
          <p:nvPr/>
        </p:nvSpPr>
        <p:spPr>
          <a:xfrm>
            <a:off x="464820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Budgeted value of work actually completed.</a:t>
            </a:r>
          </a:p>
        </p:txBody>
      </p:sp>
      <p:sp>
        <p:nvSpPr>
          <p:cNvPr id="15" name="Rounded Rectangle 14"/>
          <p:cNvSpPr/>
          <p:nvPr/>
        </p:nvSpPr>
        <p:spPr>
          <a:xfrm>
            <a:off x="803452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34527" y="1783080"/>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559" y="1947672"/>
            <a:ext cx="2956559"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AC</a:t>
            </a:r>
          </a:p>
        </p:txBody>
      </p:sp>
      <p:sp>
        <p:nvSpPr>
          <p:cNvPr id="18" name="TextBox 17"/>
          <p:cNvSpPr txBox="1"/>
          <p:nvPr/>
        </p:nvSpPr>
        <p:spPr>
          <a:xfrm>
            <a:off x="8290559"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Actual cost of completed work.</a:t>
            </a:r>
          </a:p>
        </p:txBody>
      </p:sp>
      <p:sp>
        <p:nvSpPr>
          <p:cNvPr id="19" name="Rounded Rectangle 18"/>
          <p:cNvSpPr/>
          <p:nvPr/>
        </p:nvSpPr>
        <p:spPr>
          <a:xfrm>
            <a:off x="2570988"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7098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27020" y="4283964"/>
            <a:ext cx="2956559"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BAC</a:t>
            </a:r>
          </a:p>
        </p:txBody>
      </p:sp>
      <p:sp>
        <p:nvSpPr>
          <p:cNvPr id="22" name="TextBox 21"/>
          <p:cNvSpPr txBox="1"/>
          <p:nvPr/>
        </p:nvSpPr>
        <p:spPr>
          <a:xfrm>
            <a:off x="282702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Total authorised budget for measured scope.</a:t>
            </a:r>
          </a:p>
        </p:txBody>
      </p:sp>
      <p:sp>
        <p:nvSpPr>
          <p:cNvPr id="23" name="Rounded Rectangle 22"/>
          <p:cNvSpPr/>
          <p:nvPr/>
        </p:nvSpPr>
        <p:spPr>
          <a:xfrm>
            <a:off x="6213348"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3348" y="4119372"/>
            <a:ext cx="91440" cy="2107692"/>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283964"/>
            <a:ext cx="2956559" cy="438912"/>
          </a:xfrm>
          <a:prstGeom prst="rect">
            <a:avLst/>
          </a:prstGeom>
          <a:noFill/>
        </p:spPr>
        <p:txBody>
          <a:bodyPr wrap="square" lIns="0" rIns="0" tIns="0" bIns="0" anchor="t">
            <a:spAutoFit/>
          </a:bodyPr>
          <a:lstStyle/>
          <a:p>
            <a:pPr algn="l">
              <a:spcAft>
                <a:spcPts val="300"/>
              </a:spcAft>
            </a:pPr>
            <a:r>
              <a:rPr sz="1300" b="1">
                <a:solidFill>
                  <a:srgbClr val="1A7F4B"/>
                </a:solidFill>
                <a:latin typeface="Arial"/>
              </a:rPr>
              <a:t>Status date</a:t>
            </a:r>
          </a:p>
        </p:txBody>
      </p:sp>
      <p:sp>
        <p:nvSpPr>
          <p:cNvPr id="26" name="TextBox 25"/>
          <p:cNvSpPr txBox="1"/>
          <p:nvPr/>
        </p:nvSpPr>
        <p:spPr>
          <a:xfrm>
            <a:off x="646938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The same cut-off for every measure.</a:t>
            </a:r>
          </a:p>
        </p:txBody>
      </p:sp>
      <p:sp>
        <p:nvSpPr>
          <p:cNvPr id="27" name="TextBox 26"/>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8" name="TextBox 27"/>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07 · REFERENCE-SOURCED DEEP DIVE</a:t>
            </a:r>
          </a:p>
        </p:txBody>
      </p:sp>
      <p:sp>
        <p:nvSpPr>
          <p:cNvPr id="29" name="TextBox 28"/>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179</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07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Variance and Performance Indices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1655D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Measure</a:t>
            </a:r>
          </a:p>
        </p:txBody>
      </p:sp>
      <p:sp>
        <p:nvSpPr>
          <p:cNvPr id="9" name="Rectangle 8"/>
          <p:cNvSpPr/>
          <p:nvPr/>
        </p:nvSpPr>
        <p:spPr>
          <a:xfrm>
            <a:off x="4315968" y="1810512"/>
            <a:ext cx="3566160" cy="758952"/>
          </a:xfrm>
          <a:prstGeom prst="rect">
            <a:avLst/>
          </a:prstGeom>
          <a:solidFill>
            <a:srgbClr val="1655D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Formula</a:t>
            </a:r>
          </a:p>
        </p:txBody>
      </p:sp>
      <p:sp>
        <p:nvSpPr>
          <p:cNvPr id="11" name="Rectangle 10"/>
          <p:cNvSpPr/>
          <p:nvPr/>
        </p:nvSpPr>
        <p:spPr>
          <a:xfrm>
            <a:off x="7882127" y="1810512"/>
            <a:ext cx="3566160" cy="758952"/>
          </a:xfrm>
          <a:prstGeom prst="rect">
            <a:avLst/>
          </a:prstGeom>
          <a:solidFill>
            <a:srgbClr val="1655D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Interpretation</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SV</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EV − PV</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Negative means less value completed than planned</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CV</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EV − AC</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Negative means completed value cost more than budgeted</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SPI</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EV ÷ PV</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Below 1.00 means schedule inefficiency</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CPI</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EV ÷ AC</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Below 1.00 means cost inefficiency</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1655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Translate every index into operational consequence and required decision.</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07 · REFERENCE-SOURCED DEEP DIVE</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180</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07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Forecasting with EAC</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758952"/>
          </a:xfrm>
          <a:prstGeom prst="rect">
            <a:avLst/>
          </a:prstGeom>
          <a:solidFill>
            <a:srgbClr val="1655D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Situation</a:t>
            </a:r>
          </a:p>
        </p:txBody>
      </p:sp>
      <p:sp>
        <p:nvSpPr>
          <p:cNvPr id="9" name="Rectangle 8"/>
          <p:cNvSpPr/>
          <p:nvPr/>
        </p:nvSpPr>
        <p:spPr>
          <a:xfrm>
            <a:off x="4315968" y="1810512"/>
            <a:ext cx="3566160" cy="758952"/>
          </a:xfrm>
          <a:prstGeom prst="rect">
            <a:avLst/>
          </a:prstGeom>
          <a:solidFill>
            <a:srgbClr val="1655D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Formula</a:t>
            </a:r>
          </a:p>
        </p:txBody>
      </p:sp>
      <p:sp>
        <p:nvSpPr>
          <p:cNvPr id="11" name="Rectangle 10"/>
          <p:cNvSpPr/>
          <p:nvPr/>
        </p:nvSpPr>
        <p:spPr>
          <a:xfrm>
            <a:off x="7882127" y="1810512"/>
            <a:ext cx="3566160" cy="758952"/>
          </a:xfrm>
          <a:prstGeom prst="rect">
            <a:avLst/>
          </a:prstGeom>
          <a:solidFill>
            <a:srgbClr val="1655D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612648"/>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Assumption</a:t>
            </a:r>
          </a:p>
        </p:txBody>
      </p:sp>
      <p:sp>
        <p:nvSpPr>
          <p:cNvPr id="13" name="Rectangle 12"/>
          <p:cNvSpPr/>
          <p:nvPr/>
        </p:nvSpPr>
        <p:spPr>
          <a:xfrm>
            <a:off x="74980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615184"/>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Current cost efficiency continues</a:t>
            </a:r>
          </a:p>
        </p:txBody>
      </p:sp>
      <p:sp>
        <p:nvSpPr>
          <p:cNvPr id="15" name="Rectangle 14"/>
          <p:cNvSpPr/>
          <p:nvPr/>
        </p:nvSpPr>
        <p:spPr>
          <a:xfrm>
            <a:off x="4315968"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EAC = BAC ÷ CPI</a:t>
            </a:r>
          </a:p>
        </p:txBody>
      </p:sp>
      <p:sp>
        <p:nvSpPr>
          <p:cNvPr id="17" name="Rectangle 16"/>
          <p:cNvSpPr/>
          <p:nvPr/>
        </p:nvSpPr>
        <p:spPr>
          <a:xfrm>
            <a:off x="7882127" y="2569464"/>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615184"/>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Past cost performance persists</a:t>
            </a:r>
          </a:p>
        </p:txBody>
      </p:sp>
      <p:sp>
        <p:nvSpPr>
          <p:cNvPr id="19" name="Rectangle 18"/>
          <p:cNvSpPr/>
          <p:nvPr/>
        </p:nvSpPr>
        <p:spPr>
          <a:xfrm>
            <a:off x="74980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374136"/>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Remaining work re-estimated</a:t>
            </a:r>
          </a:p>
        </p:txBody>
      </p:sp>
      <p:sp>
        <p:nvSpPr>
          <p:cNvPr id="21" name="Rectangle 20"/>
          <p:cNvSpPr/>
          <p:nvPr/>
        </p:nvSpPr>
        <p:spPr>
          <a:xfrm>
            <a:off x="4315968"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EAC = AC + bottom-up ETC</a:t>
            </a:r>
          </a:p>
        </p:txBody>
      </p:sp>
      <p:sp>
        <p:nvSpPr>
          <p:cNvPr id="23" name="Rectangle 22"/>
          <p:cNvSpPr/>
          <p:nvPr/>
        </p:nvSpPr>
        <p:spPr>
          <a:xfrm>
            <a:off x="7882127" y="3328416"/>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374136"/>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New detailed forecast is credible</a:t>
            </a:r>
          </a:p>
        </p:txBody>
      </p:sp>
      <p:sp>
        <p:nvSpPr>
          <p:cNvPr id="25" name="Rectangle 24"/>
          <p:cNvSpPr/>
          <p:nvPr/>
        </p:nvSpPr>
        <p:spPr>
          <a:xfrm>
            <a:off x="74980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133088"/>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Original variance is one-off</a:t>
            </a:r>
          </a:p>
        </p:txBody>
      </p:sp>
      <p:sp>
        <p:nvSpPr>
          <p:cNvPr id="27" name="Rectangle 26"/>
          <p:cNvSpPr/>
          <p:nvPr/>
        </p:nvSpPr>
        <p:spPr>
          <a:xfrm>
            <a:off x="4315968"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EAC = AC + (BAC − EV)</a:t>
            </a:r>
          </a:p>
        </p:txBody>
      </p:sp>
      <p:sp>
        <p:nvSpPr>
          <p:cNvPr id="29" name="Rectangle 28"/>
          <p:cNvSpPr/>
          <p:nvPr/>
        </p:nvSpPr>
        <p:spPr>
          <a:xfrm>
            <a:off x="7882127" y="4087368"/>
            <a:ext cx="3566160" cy="758952"/>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133088"/>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Future returns to plan</a:t>
            </a:r>
          </a:p>
        </p:txBody>
      </p:sp>
      <p:sp>
        <p:nvSpPr>
          <p:cNvPr id="31" name="Rectangle 30"/>
          <p:cNvSpPr/>
          <p:nvPr/>
        </p:nvSpPr>
        <p:spPr>
          <a:xfrm>
            <a:off x="74980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892040"/>
            <a:ext cx="3346704" cy="667512"/>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Cost and schedule both constrain</a:t>
            </a:r>
          </a:p>
        </p:txBody>
      </p:sp>
      <p:sp>
        <p:nvSpPr>
          <p:cNvPr id="33" name="Rectangle 32"/>
          <p:cNvSpPr/>
          <p:nvPr/>
        </p:nvSpPr>
        <p:spPr>
          <a:xfrm>
            <a:off x="4315968"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EAC = AC + (BAC − EV)/(CPI × SPI)</a:t>
            </a:r>
          </a:p>
        </p:txBody>
      </p:sp>
      <p:sp>
        <p:nvSpPr>
          <p:cNvPr id="35" name="Rectangle 34"/>
          <p:cNvSpPr/>
          <p:nvPr/>
        </p:nvSpPr>
        <p:spPr>
          <a:xfrm>
            <a:off x="7882127" y="4846320"/>
            <a:ext cx="3566160" cy="758952"/>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892040"/>
            <a:ext cx="3346704" cy="667512"/>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Both inefficiencies persist</a:t>
            </a:r>
          </a:p>
        </p:txBody>
      </p:sp>
      <p:sp>
        <p:nvSpPr>
          <p:cNvPr id="37" name="Rounded Rectangle 36"/>
          <p:cNvSpPr/>
          <p:nvPr/>
        </p:nvSpPr>
        <p:spPr>
          <a:xfrm>
            <a:off x="749808" y="5815584"/>
            <a:ext cx="10698480" cy="420624"/>
          </a:xfrm>
          <a:prstGeom prst="roundRect">
            <a:avLst>
              <a:gd name="adj" fmla="val 8000"/>
            </a:avLst>
          </a:prstGeom>
          <a:solidFill>
            <a:srgbClr val="F4F7FB"/>
          </a:solidFill>
          <a:ln w="12700">
            <a:solidFill>
              <a:srgbClr val="1655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Forecast choice is a management assumption and must be stated.</a:t>
            </a:r>
          </a:p>
        </p:txBody>
      </p:sp>
      <p:sp>
        <p:nvSpPr>
          <p:cNvPr id="39" name="TextBox 3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0" name="TextBox 3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07 · REFERENCE-SOURCED DEEP DIVE</a:t>
            </a:r>
          </a:p>
        </p:txBody>
      </p:sp>
      <p:sp>
        <p:nvSpPr>
          <p:cNvPr id="41" name="TextBox 4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181</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07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Issue Management</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1645919"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1389887"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Log</a:t>
            </a:r>
          </a:p>
        </p:txBody>
      </p:sp>
      <p:sp>
        <p:nvSpPr>
          <p:cNvPr id="11" name="TextBox 10"/>
          <p:cNvSpPr txBox="1"/>
          <p:nvPr/>
        </p:nvSpPr>
        <p:spPr>
          <a:xfrm>
            <a:off x="896112"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fact, impact and detection date</a:t>
            </a:r>
          </a:p>
        </p:txBody>
      </p:sp>
      <p:cxnSp>
        <p:nvCxnSpPr>
          <p:cNvPr id="12" name="Connector 11"/>
          <p:cNvCxnSpPr/>
          <p:nvPr/>
        </p:nvCxnSpPr>
        <p:spPr>
          <a:xfrm>
            <a:off x="2395727" y="3474720"/>
            <a:ext cx="164593"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560320"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60320" y="1965960"/>
            <a:ext cx="1645919"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88336" y="2240279"/>
            <a:ext cx="1389887"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2688336"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Contain</a:t>
            </a:r>
          </a:p>
        </p:txBody>
      </p:sp>
      <p:sp>
        <p:nvSpPr>
          <p:cNvPr id="17" name="TextBox 16"/>
          <p:cNvSpPr txBox="1"/>
          <p:nvPr/>
        </p:nvSpPr>
        <p:spPr>
          <a:xfrm>
            <a:off x="2706624"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protect customer or milestone</a:t>
            </a:r>
          </a:p>
        </p:txBody>
      </p:sp>
      <p:cxnSp>
        <p:nvCxnSpPr>
          <p:cNvPr id="18" name="Connector 17"/>
          <p:cNvCxnSpPr/>
          <p:nvPr/>
        </p:nvCxnSpPr>
        <p:spPr>
          <a:xfrm>
            <a:off x="4206240" y="3474720"/>
            <a:ext cx="164591"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370831"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70831" y="1965960"/>
            <a:ext cx="1645919"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98847" y="2240279"/>
            <a:ext cx="1389887"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4498847"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Own</a:t>
            </a:r>
          </a:p>
        </p:txBody>
      </p:sp>
      <p:sp>
        <p:nvSpPr>
          <p:cNvPr id="23" name="TextBox 22"/>
          <p:cNvSpPr txBox="1"/>
          <p:nvPr/>
        </p:nvSpPr>
        <p:spPr>
          <a:xfrm>
            <a:off x="4517136"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resolution and decision owner</a:t>
            </a:r>
          </a:p>
        </p:txBody>
      </p:sp>
      <p:cxnSp>
        <p:nvCxnSpPr>
          <p:cNvPr id="24" name="Connector 23"/>
          <p:cNvCxnSpPr/>
          <p:nvPr/>
        </p:nvCxnSpPr>
        <p:spPr>
          <a:xfrm>
            <a:off x="6016751"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181344"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81344" y="1965960"/>
            <a:ext cx="1645919"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59" y="2240279"/>
            <a:ext cx="1389887"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6309359"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Resolve</a:t>
            </a:r>
          </a:p>
        </p:txBody>
      </p:sp>
      <p:sp>
        <p:nvSpPr>
          <p:cNvPr id="29" name="TextBox 28"/>
          <p:cNvSpPr txBox="1"/>
          <p:nvPr/>
        </p:nvSpPr>
        <p:spPr>
          <a:xfrm>
            <a:off x="6327648"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root cause and action</a:t>
            </a:r>
          </a:p>
        </p:txBody>
      </p:sp>
      <p:cxnSp>
        <p:nvCxnSpPr>
          <p:cNvPr id="30" name="Connector 29"/>
          <p:cNvCxnSpPr/>
          <p:nvPr/>
        </p:nvCxnSpPr>
        <p:spPr>
          <a:xfrm>
            <a:off x="7827263"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991855"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91855" y="1965960"/>
            <a:ext cx="1645919" cy="13716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19871" y="2240279"/>
            <a:ext cx="1389887" cy="457200"/>
          </a:xfrm>
          <a:prstGeom prst="rect">
            <a:avLst/>
          </a:prstGeom>
          <a:noFill/>
        </p:spPr>
        <p:txBody>
          <a:bodyPr wrap="square" lIns="0" rIns="0" tIns="0" bIns="0" anchor="t">
            <a:spAutoFit/>
          </a:bodyPr>
          <a:lstStyle/>
          <a:p>
            <a:pPr algn="ctr">
              <a:spcAft>
                <a:spcPts val="300"/>
              </a:spcAft>
            </a:pPr>
            <a:r>
              <a:rPr sz="1400" b="1">
                <a:solidFill>
                  <a:srgbClr val="1A7F4B"/>
                </a:solidFill>
                <a:latin typeface="Arial"/>
              </a:rPr>
              <a:t>05</a:t>
            </a:r>
          </a:p>
        </p:txBody>
      </p:sp>
      <p:sp>
        <p:nvSpPr>
          <p:cNvPr id="34" name="TextBox 33"/>
          <p:cNvSpPr txBox="1"/>
          <p:nvPr/>
        </p:nvSpPr>
        <p:spPr>
          <a:xfrm>
            <a:off x="8119871"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Escalate</a:t>
            </a:r>
          </a:p>
        </p:txBody>
      </p:sp>
      <p:sp>
        <p:nvSpPr>
          <p:cNvPr id="35" name="TextBox 34"/>
          <p:cNvSpPr txBox="1"/>
          <p:nvPr/>
        </p:nvSpPr>
        <p:spPr>
          <a:xfrm>
            <a:off x="8138159"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outside authority or tolerance</a:t>
            </a:r>
          </a:p>
        </p:txBody>
      </p:sp>
      <p:cxnSp>
        <p:nvCxnSpPr>
          <p:cNvPr id="36" name="Connector 35"/>
          <p:cNvCxnSpPr/>
          <p:nvPr/>
        </p:nvCxnSpPr>
        <p:spPr>
          <a:xfrm>
            <a:off x="9637776" y="3474720"/>
            <a:ext cx="164591"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802367"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02367" y="1965960"/>
            <a:ext cx="1645919" cy="137160"/>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930384" y="2240279"/>
            <a:ext cx="1389887" cy="457200"/>
          </a:xfrm>
          <a:prstGeom prst="rect">
            <a:avLst/>
          </a:prstGeom>
          <a:noFill/>
        </p:spPr>
        <p:txBody>
          <a:bodyPr wrap="square" lIns="0" rIns="0" tIns="0" bIns="0" anchor="t">
            <a:spAutoFit/>
          </a:bodyPr>
          <a:lstStyle/>
          <a:p>
            <a:pPr algn="ctr">
              <a:spcAft>
                <a:spcPts val="300"/>
              </a:spcAft>
            </a:pPr>
            <a:r>
              <a:rPr sz="1400" b="1">
                <a:solidFill>
                  <a:srgbClr val="C93131"/>
                </a:solidFill>
                <a:latin typeface="Arial"/>
              </a:rPr>
              <a:t>06</a:t>
            </a:r>
          </a:p>
        </p:txBody>
      </p:sp>
      <p:sp>
        <p:nvSpPr>
          <p:cNvPr id="40" name="TextBox 39"/>
          <p:cNvSpPr txBox="1"/>
          <p:nvPr/>
        </p:nvSpPr>
        <p:spPr>
          <a:xfrm>
            <a:off x="9930384"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Verify</a:t>
            </a:r>
          </a:p>
        </p:txBody>
      </p:sp>
      <p:sp>
        <p:nvSpPr>
          <p:cNvPr id="41" name="TextBox 40"/>
          <p:cNvSpPr txBox="1"/>
          <p:nvPr/>
        </p:nvSpPr>
        <p:spPr>
          <a:xfrm>
            <a:off x="9948672"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evidence and closure</a:t>
            </a:r>
          </a:p>
        </p:txBody>
      </p:sp>
      <p:sp>
        <p:nvSpPr>
          <p:cNvPr id="42" name="Rounded Rectangle 41"/>
          <p:cNvSpPr/>
          <p:nvPr/>
        </p:nvSpPr>
        <p:spPr>
          <a:xfrm>
            <a:off x="749808" y="5303520"/>
            <a:ext cx="10698480" cy="713232"/>
          </a:xfrm>
          <a:prstGeom prst="roundRect">
            <a:avLst>
              <a:gd name="adj" fmla="val 8000"/>
            </a:avLst>
          </a:prstGeom>
          <a:solidFill>
            <a:srgbClr val="FFFFFF"/>
          </a:solidFill>
          <a:ln w="12700">
            <a:solidFill>
              <a:srgbClr val="1655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Do not keep an issue disguised as a risk after it has occurred.</a:t>
            </a:r>
          </a:p>
        </p:txBody>
      </p:sp>
      <p:sp>
        <p:nvSpPr>
          <p:cNvPr id="44" name="TextBox 43"/>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5" name="TextBox 44"/>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07 · REFERENCE-SOURCED DEEP DIVE</a:t>
            </a:r>
          </a:p>
        </p:txBody>
      </p:sp>
      <p:sp>
        <p:nvSpPr>
          <p:cNvPr id="46" name="TextBox 45"/>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182</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07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Loyalty-Points Change Worked Example</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632460"/>
          </a:xfrm>
          <a:prstGeom prst="rect">
            <a:avLst/>
          </a:prstGeom>
          <a:solidFill>
            <a:srgbClr val="1655D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Analysis lens</a:t>
            </a:r>
          </a:p>
        </p:txBody>
      </p:sp>
      <p:sp>
        <p:nvSpPr>
          <p:cNvPr id="9" name="Rectangle 8"/>
          <p:cNvSpPr/>
          <p:nvPr/>
        </p:nvSpPr>
        <p:spPr>
          <a:xfrm>
            <a:off x="4315968" y="1810512"/>
            <a:ext cx="3566160" cy="632460"/>
          </a:xfrm>
          <a:prstGeom prst="rect">
            <a:avLst/>
          </a:prstGeom>
          <a:solidFill>
            <a:srgbClr val="1655D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Finding</a:t>
            </a:r>
          </a:p>
        </p:txBody>
      </p:sp>
      <p:sp>
        <p:nvSpPr>
          <p:cNvPr id="11" name="Rectangle 10"/>
          <p:cNvSpPr/>
          <p:nvPr/>
        </p:nvSpPr>
        <p:spPr>
          <a:xfrm>
            <a:off x="7882127" y="1810512"/>
            <a:ext cx="3566160" cy="632460"/>
          </a:xfrm>
          <a:prstGeom prst="rect">
            <a:avLst/>
          </a:prstGeom>
          <a:solidFill>
            <a:srgbClr val="1655D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48615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Implication</a:t>
            </a:r>
          </a:p>
        </p:txBody>
      </p:sp>
      <p:sp>
        <p:nvSpPr>
          <p:cNvPr id="13" name="Rectangle 12"/>
          <p:cNvSpPr/>
          <p:nvPr/>
        </p:nvSpPr>
        <p:spPr>
          <a:xfrm>
            <a:off x="74980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48869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Value</a:t>
            </a:r>
          </a:p>
        </p:txBody>
      </p:sp>
      <p:sp>
        <p:nvSpPr>
          <p:cNvPr id="15" name="Rectangle 14"/>
          <p:cNvSpPr/>
          <p:nvPr/>
        </p:nvSpPr>
        <p:spPr>
          <a:xfrm>
            <a:off x="4315968"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Could lift repeat purchase</a:t>
            </a:r>
          </a:p>
        </p:txBody>
      </p:sp>
      <p:sp>
        <p:nvSpPr>
          <p:cNvPr id="17" name="Rectangle 16"/>
          <p:cNvSpPr/>
          <p:nvPr/>
        </p:nvSpPr>
        <p:spPr>
          <a:xfrm>
            <a:off x="7882127" y="244297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48869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Benefit is plausible but unvalidated</a:t>
            </a:r>
          </a:p>
        </p:txBody>
      </p:sp>
      <p:sp>
        <p:nvSpPr>
          <p:cNvPr id="19" name="Rectangle 18"/>
          <p:cNvSpPr/>
          <p:nvPr/>
        </p:nvSpPr>
        <p:spPr>
          <a:xfrm>
            <a:off x="74980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12115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Scope and schedule</a:t>
            </a:r>
          </a:p>
        </p:txBody>
      </p:sp>
      <p:sp>
        <p:nvSpPr>
          <p:cNvPr id="21" name="Rectangle 20"/>
          <p:cNvSpPr/>
          <p:nvPr/>
        </p:nvSpPr>
        <p:spPr>
          <a:xfrm>
            <a:off x="4315968"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Adds API and two test cycles</a:t>
            </a:r>
          </a:p>
        </p:txBody>
      </p:sp>
      <p:sp>
        <p:nvSpPr>
          <p:cNvPr id="23" name="Rectangle 22"/>
          <p:cNvSpPr/>
          <p:nvPr/>
        </p:nvSpPr>
        <p:spPr>
          <a:xfrm>
            <a:off x="7882127" y="307543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12115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Launch slips nine working days</a:t>
            </a:r>
          </a:p>
        </p:txBody>
      </p:sp>
      <p:sp>
        <p:nvSpPr>
          <p:cNvPr id="25" name="Rectangle 24"/>
          <p:cNvSpPr/>
          <p:nvPr/>
        </p:nvSpPr>
        <p:spPr>
          <a:xfrm>
            <a:off x="74980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3753611"/>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Cost and resource</a:t>
            </a:r>
          </a:p>
        </p:txBody>
      </p:sp>
      <p:sp>
        <p:nvSpPr>
          <p:cNvPr id="27" name="Rectangle 26"/>
          <p:cNvSpPr/>
          <p:nvPr/>
        </p:nvSpPr>
        <p:spPr>
          <a:xfrm>
            <a:off x="4315968"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S$18,000 plus scarce developer</a:t>
            </a:r>
          </a:p>
        </p:txBody>
      </p:sp>
      <p:sp>
        <p:nvSpPr>
          <p:cNvPr id="29" name="Rectangle 28"/>
          <p:cNvSpPr/>
          <p:nvPr/>
        </p:nvSpPr>
        <p:spPr>
          <a:xfrm>
            <a:off x="7882127" y="3707891"/>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3753611"/>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Exceeds PM tolerance</a:t>
            </a:r>
          </a:p>
        </p:txBody>
      </p:sp>
      <p:sp>
        <p:nvSpPr>
          <p:cNvPr id="31" name="Rectangle 30"/>
          <p:cNvSpPr/>
          <p:nvPr/>
        </p:nvSpPr>
        <p:spPr>
          <a:xfrm>
            <a:off x="74980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438607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Risk and quality</a:t>
            </a:r>
          </a:p>
        </p:txBody>
      </p:sp>
      <p:sp>
        <p:nvSpPr>
          <p:cNvPr id="33" name="Rectangle 32"/>
          <p:cNvSpPr/>
          <p:nvPr/>
        </p:nvSpPr>
        <p:spPr>
          <a:xfrm>
            <a:off x="4315968"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25696"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New data/privacy interface</a:t>
            </a:r>
          </a:p>
        </p:txBody>
      </p:sp>
      <p:sp>
        <p:nvSpPr>
          <p:cNvPr id="35" name="Rectangle 34"/>
          <p:cNvSpPr/>
          <p:nvPr/>
        </p:nvSpPr>
        <p:spPr>
          <a:xfrm>
            <a:off x="7882127" y="4340352"/>
            <a:ext cx="3566160" cy="63246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91855" y="438607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Needs security and regression evidence</a:t>
            </a:r>
          </a:p>
        </p:txBody>
      </p:sp>
      <p:sp>
        <p:nvSpPr>
          <p:cNvPr id="37" name="Rectangle 36"/>
          <p:cNvSpPr/>
          <p:nvPr/>
        </p:nvSpPr>
        <p:spPr>
          <a:xfrm>
            <a:off x="74980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 y="5018532"/>
            <a:ext cx="3346704" cy="54102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Decision</a:t>
            </a:r>
          </a:p>
        </p:txBody>
      </p:sp>
      <p:sp>
        <p:nvSpPr>
          <p:cNvPr id="39" name="Rectangle 38"/>
          <p:cNvSpPr/>
          <p:nvPr/>
        </p:nvSpPr>
        <p:spPr>
          <a:xfrm>
            <a:off x="4315968"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25696"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Defer to post-pilot release</a:t>
            </a:r>
          </a:p>
        </p:txBody>
      </p:sp>
      <p:sp>
        <p:nvSpPr>
          <p:cNvPr id="41" name="Rectangle 40"/>
          <p:cNvSpPr/>
          <p:nvPr/>
        </p:nvSpPr>
        <p:spPr>
          <a:xfrm>
            <a:off x="7882127" y="4972812"/>
            <a:ext cx="3566160" cy="63246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91855" y="5018532"/>
            <a:ext cx="3346704" cy="54102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Protect baseline; retain request and rationale</a:t>
            </a:r>
          </a:p>
        </p:txBody>
      </p:sp>
      <p:sp>
        <p:nvSpPr>
          <p:cNvPr id="43" name="Rounded Rectangle 42"/>
          <p:cNvSpPr/>
          <p:nvPr/>
        </p:nvSpPr>
        <p:spPr>
          <a:xfrm>
            <a:off x="749808" y="5815584"/>
            <a:ext cx="10698480" cy="420624"/>
          </a:xfrm>
          <a:prstGeom prst="roundRect">
            <a:avLst>
              <a:gd name="adj" fmla="val 8000"/>
            </a:avLst>
          </a:prstGeom>
          <a:solidFill>
            <a:srgbClr val="F4F7FB"/>
          </a:solidFill>
          <a:ln w="12700">
            <a:solidFill>
              <a:srgbClr val="1655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Useful ideas are not automatically urgent: the sponsor protects the pilot while preserving the option.</a:t>
            </a:r>
          </a:p>
        </p:txBody>
      </p:sp>
      <p:sp>
        <p:nvSpPr>
          <p:cNvPr id="45" name="TextBox 44"/>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6" name="TextBox 45"/>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07 · REFERENCE-SOURCED DEEP DIVE</a:t>
            </a:r>
          </a:p>
        </p:txBody>
      </p:sp>
      <p:sp>
        <p:nvSpPr>
          <p:cNvPr id="47" name="TextBox 46"/>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183</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07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Three Types of Action</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810512"/>
            <a:ext cx="3566160" cy="948690"/>
          </a:xfrm>
          <a:prstGeom prst="rect">
            <a:avLst/>
          </a:prstGeom>
          <a:solidFill>
            <a:srgbClr val="1655D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83664"/>
            <a:ext cx="3383279" cy="80238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Action</a:t>
            </a:r>
          </a:p>
        </p:txBody>
      </p:sp>
      <p:sp>
        <p:nvSpPr>
          <p:cNvPr id="9" name="Rectangle 8"/>
          <p:cNvSpPr/>
          <p:nvPr/>
        </p:nvSpPr>
        <p:spPr>
          <a:xfrm>
            <a:off x="4315968" y="1810512"/>
            <a:ext cx="3566160" cy="948690"/>
          </a:xfrm>
          <a:prstGeom prst="rect">
            <a:avLst/>
          </a:prstGeom>
          <a:solidFill>
            <a:srgbClr val="1655D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7407" y="1883664"/>
            <a:ext cx="3383279" cy="80238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Purpose</a:t>
            </a:r>
          </a:p>
        </p:txBody>
      </p:sp>
      <p:sp>
        <p:nvSpPr>
          <p:cNvPr id="11" name="Rectangle 10"/>
          <p:cNvSpPr/>
          <p:nvPr/>
        </p:nvSpPr>
        <p:spPr>
          <a:xfrm>
            <a:off x="7882127" y="1810512"/>
            <a:ext cx="3566160" cy="948690"/>
          </a:xfrm>
          <a:prstGeom prst="rect">
            <a:avLst/>
          </a:prstGeom>
          <a:solidFill>
            <a:srgbClr val="1655D1"/>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73567" y="1883664"/>
            <a:ext cx="3383279" cy="802386"/>
          </a:xfrm>
          <a:prstGeom prst="rect">
            <a:avLst/>
          </a:prstGeom>
          <a:noFill/>
        </p:spPr>
        <p:txBody>
          <a:bodyPr wrap="square" lIns="0" rIns="0" tIns="0" bIns="0" anchor="ctr">
            <a:spAutoFit/>
          </a:bodyPr>
          <a:lstStyle/>
          <a:p>
            <a:pPr algn="ctr">
              <a:spcAft>
                <a:spcPts val="300"/>
              </a:spcAft>
            </a:pPr>
            <a:r>
              <a:rPr sz="1100" b="1">
                <a:solidFill>
                  <a:srgbClr val="FFFFFF"/>
                </a:solidFill>
                <a:latin typeface="Arial"/>
              </a:rPr>
              <a:t>Example</a:t>
            </a:r>
          </a:p>
        </p:txBody>
      </p:sp>
      <p:sp>
        <p:nvSpPr>
          <p:cNvPr id="13" name="Rectangle 12"/>
          <p:cNvSpPr/>
          <p:nvPr/>
        </p:nvSpPr>
        <p:spPr>
          <a:xfrm>
            <a:off x="749808" y="2759202"/>
            <a:ext cx="3566160" cy="94869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804922"/>
            <a:ext cx="3346704" cy="85725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Corrective</a:t>
            </a:r>
          </a:p>
        </p:txBody>
      </p:sp>
      <p:sp>
        <p:nvSpPr>
          <p:cNvPr id="15" name="Rectangle 14"/>
          <p:cNvSpPr/>
          <p:nvPr/>
        </p:nvSpPr>
        <p:spPr>
          <a:xfrm>
            <a:off x="4315968" y="2759202"/>
            <a:ext cx="3566160" cy="94869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2804922"/>
            <a:ext cx="3346704" cy="85725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Bring future performance back to plan</a:t>
            </a:r>
          </a:p>
        </p:txBody>
      </p:sp>
      <p:sp>
        <p:nvSpPr>
          <p:cNvPr id="17" name="Rectangle 16"/>
          <p:cNvSpPr/>
          <p:nvPr/>
        </p:nvSpPr>
        <p:spPr>
          <a:xfrm>
            <a:off x="7882127" y="2759202"/>
            <a:ext cx="3566160" cy="94869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91855" y="2804922"/>
            <a:ext cx="3346704" cy="85725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Add test capacity to recover milestone</a:t>
            </a:r>
          </a:p>
        </p:txBody>
      </p:sp>
      <p:sp>
        <p:nvSpPr>
          <p:cNvPr id="19" name="Rectangle 18"/>
          <p:cNvSpPr/>
          <p:nvPr/>
        </p:nvSpPr>
        <p:spPr>
          <a:xfrm>
            <a:off x="749808" y="3707891"/>
            <a:ext cx="3566160" cy="94869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753611"/>
            <a:ext cx="3346704" cy="85725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Preventive</a:t>
            </a:r>
          </a:p>
        </p:txBody>
      </p:sp>
      <p:sp>
        <p:nvSpPr>
          <p:cNvPr id="21" name="Rectangle 20"/>
          <p:cNvSpPr/>
          <p:nvPr/>
        </p:nvSpPr>
        <p:spPr>
          <a:xfrm>
            <a:off x="4315968" y="3707891"/>
            <a:ext cx="3566160" cy="94869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25696" y="3753611"/>
            <a:ext cx="3346704" cy="85725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Reduce probability of future variance</a:t>
            </a:r>
          </a:p>
        </p:txBody>
      </p:sp>
      <p:sp>
        <p:nvSpPr>
          <p:cNvPr id="23" name="Rectangle 22"/>
          <p:cNvSpPr/>
          <p:nvPr/>
        </p:nvSpPr>
        <p:spPr>
          <a:xfrm>
            <a:off x="7882127" y="3707891"/>
            <a:ext cx="3566160" cy="948690"/>
          </a:xfrm>
          <a:prstGeom prst="rect">
            <a:avLst/>
          </a:prstGeom>
          <a:solidFill>
            <a:srgbClr val="F4F7FB"/>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5" y="3753611"/>
            <a:ext cx="3346704" cy="85725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Add interface review before integration</a:t>
            </a:r>
          </a:p>
        </p:txBody>
      </p:sp>
      <p:sp>
        <p:nvSpPr>
          <p:cNvPr id="25" name="Rectangle 24"/>
          <p:cNvSpPr/>
          <p:nvPr/>
        </p:nvSpPr>
        <p:spPr>
          <a:xfrm>
            <a:off x="749808" y="4656582"/>
            <a:ext cx="3566160" cy="94869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702302"/>
            <a:ext cx="3346704" cy="857250"/>
          </a:xfrm>
          <a:prstGeom prst="rect">
            <a:avLst/>
          </a:prstGeom>
          <a:noFill/>
        </p:spPr>
        <p:txBody>
          <a:bodyPr wrap="square" lIns="0" rIns="0" tIns="0" bIns="0" anchor="ctr">
            <a:spAutoFit/>
          </a:bodyPr>
          <a:lstStyle/>
          <a:p>
            <a:pPr algn="l">
              <a:spcAft>
                <a:spcPts val="300"/>
              </a:spcAft>
            </a:pPr>
            <a:r>
              <a:rPr sz="1150" b="1">
                <a:solidFill>
                  <a:srgbClr val="131B2A"/>
                </a:solidFill>
                <a:latin typeface="Arial"/>
              </a:rPr>
              <a:t>Defect repair</a:t>
            </a:r>
          </a:p>
        </p:txBody>
      </p:sp>
      <p:sp>
        <p:nvSpPr>
          <p:cNvPr id="27" name="Rectangle 26"/>
          <p:cNvSpPr/>
          <p:nvPr/>
        </p:nvSpPr>
        <p:spPr>
          <a:xfrm>
            <a:off x="4315968" y="4656582"/>
            <a:ext cx="3566160" cy="94869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25696" y="4702302"/>
            <a:ext cx="3346704" cy="85725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Modify non-conforming deliverable</a:t>
            </a:r>
          </a:p>
        </p:txBody>
      </p:sp>
      <p:sp>
        <p:nvSpPr>
          <p:cNvPr id="29" name="Rectangle 28"/>
          <p:cNvSpPr/>
          <p:nvPr/>
        </p:nvSpPr>
        <p:spPr>
          <a:xfrm>
            <a:off x="7882127" y="4656582"/>
            <a:ext cx="3566160" cy="948690"/>
          </a:xfrm>
          <a:prstGeom prst="rect">
            <a:avLst/>
          </a:prstGeom>
          <a:solidFill>
            <a:srgbClr val="FFFFFF"/>
          </a:solidFill>
          <a:ln w="12700">
            <a:solidFill>
              <a:srgbClr val="DA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91855" y="4702302"/>
            <a:ext cx="3346704" cy="857250"/>
          </a:xfrm>
          <a:prstGeom prst="rect">
            <a:avLst/>
          </a:prstGeom>
          <a:noFill/>
        </p:spPr>
        <p:txBody>
          <a:bodyPr wrap="square" lIns="0" rIns="0" tIns="0" bIns="0" anchor="ctr">
            <a:spAutoFit/>
          </a:bodyPr>
          <a:lstStyle/>
          <a:p>
            <a:pPr algn="l">
              <a:spcAft>
                <a:spcPts val="300"/>
              </a:spcAft>
            </a:pPr>
            <a:r>
              <a:rPr sz="1150" b="0">
                <a:solidFill>
                  <a:srgbClr val="131B2A"/>
                </a:solidFill>
                <a:latin typeface="Arial"/>
              </a:rPr>
              <a:t>Correct catalogue mapping</a:t>
            </a:r>
          </a:p>
        </p:txBody>
      </p:sp>
      <p:sp>
        <p:nvSpPr>
          <p:cNvPr id="31" name="Rounded Rectangle 30"/>
          <p:cNvSpPr/>
          <p:nvPr/>
        </p:nvSpPr>
        <p:spPr>
          <a:xfrm>
            <a:off x="749808" y="5815584"/>
            <a:ext cx="10698480" cy="420624"/>
          </a:xfrm>
          <a:prstGeom prst="roundRect">
            <a:avLst>
              <a:gd name="adj" fmla="val 8000"/>
            </a:avLst>
          </a:prstGeom>
          <a:solidFill>
            <a:srgbClr val="F4F7FB"/>
          </a:solidFill>
          <a:ln w="12700">
            <a:solidFill>
              <a:srgbClr val="1655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41832" y="5879592"/>
            <a:ext cx="10314432" cy="274320"/>
          </a:xfrm>
          <a:prstGeom prst="rect">
            <a:avLst/>
          </a:prstGeom>
          <a:noFill/>
        </p:spPr>
        <p:txBody>
          <a:bodyPr wrap="square" lIns="0" rIns="0" tIns="0" bIns="0" anchor="ctr">
            <a:spAutoFit/>
          </a:bodyPr>
          <a:lstStyle/>
          <a:p>
            <a:pPr algn="ctr">
              <a:spcAft>
                <a:spcPts val="300"/>
              </a:spcAft>
            </a:pPr>
            <a:r>
              <a:rPr sz="1100" b="1">
                <a:solidFill>
                  <a:srgbClr val="5F6B7A"/>
                </a:solidFill>
                <a:latin typeface="Arial"/>
              </a:rPr>
              <a:t>Each action needs authority, ownership, due date and verification.</a:t>
            </a:r>
          </a:p>
        </p:txBody>
      </p:sp>
      <p:sp>
        <p:nvSpPr>
          <p:cNvPr id="33" name="TextBox 3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4" name="TextBox 3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07 · REFERENCE-SOURCED DEEP DIVE</a:t>
            </a:r>
          </a:p>
        </p:txBody>
      </p:sp>
      <p:sp>
        <p:nvSpPr>
          <p:cNvPr id="35" name="TextBox 3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184</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07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Control Across Knowledge Areas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2956559"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Schedule</a:t>
            </a:r>
          </a:p>
        </p:txBody>
      </p:sp>
      <p:sp>
        <p:nvSpPr>
          <p:cNvPr id="10" name="TextBox 9"/>
          <p:cNvSpPr txBox="1"/>
          <p:nvPr/>
        </p:nvSpPr>
        <p:spPr>
          <a:xfrm>
            <a:off x="100584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Critical path, float and milestone forecast.</a:t>
            </a:r>
          </a:p>
        </p:txBody>
      </p:sp>
      <p:sp>
        <p:nvSpPr>
          <p:cNvPr id="11" name="Rounded Rectangle 10"/>
          <p:cNvSpPr/>
          <p:nvPr/>
        </p:nvSpPr>
        <p:spPr>
          <a:xfrm>
            <a:off x="439216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92167"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8200" y="1947672"/>
            <a:ext cx="2956559"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Cost</a:t>
            </a:r>
          </a:p>
        </p:txBody>
      </p:sp>
      <p:sp>
        <p:nvSpPr>
          <p:cNvPr id="14" name="TextBox 13"/>
          <p:cNvSpPr txBox="1"/>
          <p:nvPr/>
        </p:nvSpPr>
        <p:spPr>
          <a:xfrm>
            <a:off x="4648200"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Actuals, earned value and forecast.</a:t>
            </a:r>
          </a:p>
        </p:txBody>
      </p:sp>
      <p:sp>
        <p:nvSpPr>
          <p:cNvPr id="15" name="Rounded Rectangle 14"/>
          <p:cNvSpPr/>
          <p:nvPr/>
        </p:nvSpPr>
        <p:spPr>
          <a:xfrm>
            <a:off x="8034527" y="1783080"/>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34527" y="1783080"/>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559" y="1947672"/>
            <a:ext cx="2956559"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Quality</a:t>
            </a:r>
          </a:p>
        </p:txBody>
      </p:sp>
      <p:sp>
        <p:nvSpPr>
          <p:cNvPr id="18" name="TextBox 17"/>
          <p:cNvSpPr txBox="1"/>
          <p:nvPr/>
        </p:nvSpPr>
        <p:spPr>
          <a:xfrm>
            <a:off x="8290559" y="2313432"/>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Conformance, variation and corrective action.</a:t>
            </a:r>
          </a:p>
        </p:txBody>
      </p:sp>
      <p:sp>
        <p:nvSpPr>
          <p:cNvPr id="19" name="Rounded Rectangle 18"/>
          <p:cNvSpPr/>
          <p:nvPr/>
        </p:nvSpPr>
        <p:spPr>
          <a:xfrm>
            <a:off x="749808"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980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4283964"/>
            <a:ext cx="2956559"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Resources</a:t>
            </a:r>
          </a:p>
        </p:txBody>
      </p:sp>
      <p:sp>
        <p:nvSpPr>
          <p:cNvPr id="22" name="TextBox 21"/>
          <p:cNvSpPr txBox="1"/>
          <p:nvPr/>
        </p:nvSpPr>
        <p:spPr>
          <a:xfrm>
            <a:off x="100584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Utilisation, capacity and bottlenecks.</a:t>
            </a:r>
          </a:p>
        </p:txBody>
      </p:sp>
      <p:sp>
        <p:nvSpPr>
          <p:cNvPr id="23" name="Rounded Rectangle 22"/>
          <p:cNvSpPr/>
          <p:nvPr/>
        </p:nvSpPr>
        <p:spPr>
          <a:xfrm>
            <a:off x="4392167"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92167" y="4119372"/>
            <a:ext cx="91440" cy="2107692"/>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48200" y="4283964"/>
            <a:ext cx="2956559" cy="438912"/>
          </a:xfrm>
          <a:prstGeom prst="rect">
            <a:avLst/>
          </a:prstGeom>
          <a:noFill/>
        </p:spPr>
        <p:txBody>
          <a:bodyPr wrap="square" lIns="0" rIns="0" tIns="0" bIns="0" anchor="t">
            <a:spAutoFit/>
          </a:bodyPr>
          <a:lstStyle/>
          <a:p>
            <a:pPr algn="l">
              <a:spcAft>
                <a:spcPts val="300"/>
              </a:spcAft>
            </a:pPr>
            <a:r>
              <a:rPr sz="1300" b="1">
                <a:solidFill>
                  <a:srgbClr val="1A7F4B"/>
                </a:solidFill>
                <a:latin typeface="Arial"/>
              </a:rPr>
              <a:t>Risk</a:t>
            </a:r>
          </a:p>
        </p:txBody>
      </p:sp>
      <p:sp>
        <p:nvSpPr>
          <p:cNvPr id="26" name="TextBox 25"/>
          <p:cNvSpPr txBox="1"/>
          <p:nvPr/>
        </p:nvSpPr>
        <p:spPr>
          <a:xfrm>
            <a:off x="4648200"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Triggers, exposure and reserve.</a:t>
            </a:r>
          </a:p>
        </p:txBody>
      </p:sp>
      <p:sp>
        <p:nvSpPr>
          <p:cNvPr id="27" name="Rounded Rectangle 26"/>
          <p:cNvSpPr/>
          <p:nvPr/>
        </p:nvSpPr>
        <p:spPr>
          <a:xfrm>
            <a:off x="8034527" y="4119372"/>
            <a:ext cx="3413759"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34527" y="4119372"/>
            <a:ext cx="91440" cy="2107692"/>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90559" y="4283964"/>
            <a:ext cx="2956559" cy="438912"/>
          </a:xfrm>
          <a:prstGeom prst="rect">
            <a:avLst/>
          </a:prstGeom>
          <a:noFill/>
        </p:spPr>
        <p:txBody>
          <a:bodyPr wrap="square" lIns="0" rIns="0" tIns="0" bIns="0" anchor="t">
            <a:spAutoFit/>
          </a:bodyPr>
          <a:lstStyle/>
          <a:p>
            <a:pPr algn="l">
              <a:spcAft>
                <a:spcPts val="300"/>
              </a:spcAft>
            </a:pPr>
            <a:r>
              <a:rPr sz="1300" b="1">
                <a:solidFill>
                  <a:srgbClr val="C93131"/>
                </a:solidFill>
                <a:latin typeface="Arial"/>
              </a:rPr>
              <a:t>Communication &amp; procurement</a:t>
            </a:r>
          </a:p>
        </p:txBody>
      </p:sp>
      <p:sp>
        <p:nvSpPr>
          <p:cNvPr id="30" name="TextBox 29"/>
          <p:cNvSpPr txBox="1"/>
          <p:nvPr/>
        </p:nvSpPr>
        <p:spPr>
          <a:xfrm>
            <a:off x="8290559" y="4649724"/>
            <a:ext cx="2956559"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Effectiveness, obligations and disputes.</a:t>
            </a:r>
          </a:p>
        </p:txBody>
      </p:sp>
      <p:sp>
        <p:nvSpPr>
          <p:cNvPr id="31" name="TextBox 30"/>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2" name="TextBox 31"/>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07 · REFERENCE-SOURCED DEEP DIVE</a:t>
            </a:r>
          </a:p>
        </p:txBody>
      </p:sp>
      <p:sp>
        <p:nvSpPr>
          <p:cNvPr id="33" name="TextBox 32"/>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185</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TOPIC 07 · REFERENCE-SOURCED DEEP DIVE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Closure from Acceptance to Benefits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1645919"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1389887"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Accept</a:t>
            </a:r>
          </a:p>
        </p:txBody>
      </p:sp>
      <p:sp>
        <p:nvSpPr>
          <p:cNvPr id="11" name="TextBox 10"/>
          <p:cNvSpPr txBox="1"/>
          <p:nvPr/>
        </p:nvSpPr>
        <p:spPr>
          <a:xfrm>
            <a:off x="896112"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criteria and authorised sign-off</a:t>
            </a:r>
          </a:p>
        </p:txBody>
      </p:sp>
      <p:cxnSp>
        <p:nvCxnSpPr>
          <p:cNvPr id="12" name="Connector 11"/>
          <p:cNvCxnSpPr/>
          <p:nvPr/>
        </p:nvCxnSpPr>
        <p:spPr>
          <a:xfrm>
            <a:off x="2395727" y="3474720"/>
            <a:ext cx="164593"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560320"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60320" y="1965960"/>
            <a:ext cx="1645919"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88336" y="2240279"/>
            <a:ext cx="1389887"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2688336"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Transition</a:t>
            </a:r>
          </a:p>
        </p:txBody>
      </p:sp>
      <p:sp>
        <p:nvSpPr>
          <p:cNvPr id="17" name="TextBox 16"/>
          <p:cNvSpPr txBox="1"/>
          <p:nvPr/>
        </p:nvSpPr>
        <p:spPr>
          <a:xfrm>
            <a:off x="2706624"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operations, support, data and training</a:t>
            </a:r>
          </a:p>
        </p:txBody>
      </p:sp>
      <p:cxnSp>
        <p:nvCxnSpPr>
          <p:cNvPr id="18" name="Connector 17"/>
          <p:cNvCxnSpPr/>
          <p:nvPr/>
        </p:nvCxnSpPr>
        <p:spPr>
          <a:xfrm>
            <a:off x="4206240" y="3474720"/>
            <a:ext cx="164591"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370831"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70831" y="1965960"/>
            <a:ext cx="1645919"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98847" y="2240279"/>
            <a:ext cx="1389887"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4498847"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Close contracts</a:t>
            </a:r>
          </a:p>
        </p:txBody>
      </p:sp>
      <p:sp>
        <p:nvSpPr>
          <p:cNvPr id="23" name="TextBox 22"/>
          <p:cNvSpPr txBox="1"/>
          <p:nvPr/>
        </p:nvSpPr>
        <p:spPr>
          <a:xfrm>
            <a:off x="4517136"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claims, invoices, warranties and records</a:t>
            </a:r>
          </a:p>
        </p:txBody>
      </p:sp>
      <p:cxnSp>
        <p:nvCxnSpPr>
          <p:cNvPr id="24" name="Connector 23"/>
          <p:cNvCxnSpPr/>
          <p:nvPr/>
        </p:nvCxnSpPr>
        <p:spPr>
          <a:xfrm>
            <a:off x="6016751"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181344"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81344" y="1965960"/>
            <a:ext cx="1645919"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59" y="2240279"/>
            <a:ext cx="1389887"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6309359"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Learn</a:t>
            </a:r>
          </a:p>
        </p:txBody>
      </p:sp>
      <p:sp>
        <p:nvSpPr>
          <p:cNvPr id="29" name="TextBox 28"/>
          <p:cNvSpPr txBox="1"/>
          <p:nvPr/>
        </p:nvSpPr>
        <p:spPr>
          <a:xfrm>
            <a:off x="6327648"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causes and reusable recommendations</a:t>
            </a:r>
          </a:p>
        </p:txBody>
      </p:sp>
      <p:cxnSp>
        <p:nvCxnSpPr>
          <p:cNvPr id="30" name="Connector 29"/>
          <p:cNvCxnSpPr/>
          <p:nvPr/>
        </p:nvCxnSpPr>
        <p:spPr>
          <a:xfrm>
            <a:off x="7827263" y="3474720"/>
            <a:ext cx="164592"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991855"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91855" y="1965960"/>
            <a:ext cx="1645919" cy="13716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19871" y="2240279"/>
            <a:ext cx="1389887" cy="457200"/>
          </a:xfrm>
          <a:prstGeom prst="rect">
            <a:avLst/>
          </a:prstGeom>
          <a:noFill/>
        </p:spPr>
        <p:txBody>
          <a:bodyPr wrap="square" lIns="0" rIns="0" tIns="0" bIns="0" anchor="t">
            <a:spAutoFit/>
          </a:bodyPr>
          <a:lstStyle/>
          <a:p>
            <a:pPr algn="ctr">
              <a:spcAft>
                <a:spcPts val="300"/>
              </a:spcAft>
            </a:pPr>
            <a:r>
              <a:rPr sz="1400" b="1">
                <a:solidFill>
                  <a:srgbClr val="1A7F4B"/>
                </a:solidFill>
                <a:latin typeface="Arial"/>
              </a:rPr>
              <a:t>05</a:t>
            </a:r>
          </a:p>
        </p:txBody>
      </p:sp>
      <p:sp>
        <p:nvSpPr>
          <p:cNvPr id="34" name="TextBox 33"/>
          <p:cNvSpPr txBox="1"/>
          <p:nvPr/>
        </p:nvSpPr>
        <p:spPr>
          <a:xfrm>
            <a:off x="8119871"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Transfer benefits</a:t>
            </a:r>
          </a:p>
        </p:txBody>
      </p:sp>
      <p:sp>
        <p:nvSpPr>
          <p:cNvPr id="35" name="TextBox 34"/>
          <p:cNvSpPr txBox="1"/>
          <p:nvPr/>
        </p:nvSpPr>
        <p:spPr>
          <a:xfrm>
            <a:off x="8138159"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owner, baseline, target and review</a:t>
            </a:r>
          </a:p>
        </p:txBody>
      </p:sp>
      <p:cxnSp>
        <p:nvCxnSpPr>
          <p:cNvPr id="36" name="Connector 35"/>
          <p:cNvCxnSpPr/>
          <p:nvPr/>
        </p:nvCxnSpPr>
        <p:spPr>
          <a:xfrm>
            <a:off x="9637776" y="3474720"/>
            <a:ext cx="164591" cy="0"/>
          </a:xfrm>
          <a:prstGeom prst="line">
            <a:avLst/>
          </a:prstGeom>
          <a:ln w="25400">
            <a:solidFill>
              <a:srgbClr val="1655D1"/>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802367"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02367" y="1965960"/>
            <a:ext cx="1645919" cy="137160"/>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930384" y="2240279"/>
            <a:ext cx="1389887" cy="457200"/>
          </a:xfrm>
          <a:prstGeom prst="rect">
            <a:avLst/>
          </a:prstGeom>
          <a:noFill/>
        </p:spPr>
        <p:txBody>
          <a:bodyPr wrap="square" lIns="0" rIns="0" tIns="0" bIns="0" anchor="t">
            <a:spAutoFit/>
          </a:bodyPr>
          <a:lstStyle/>
          <a:p>
            <a:pPr algn="ctr">
              <a:spcAft>
                <a:spcPts val="300"/>
              </a:spcAft>
            </a:pPr>
            <a:r>
              <a:rPr sz="1400" b="1">
                <a:solidFill>
                  <a:srgbClr val="C93131"/>
                </a:solidFill>
                <a:latin typeface="Arial"/>
              </a:rPr>
              <a:t>06</a:t>
            </a:r>
          </a:p>
        </p:txBody>
      </p:sp>
      <p:sp>
        <p:nvSpPr>
          <p:cNvPr id="40" name="TextBox 39"/>
          <p:cNvSpPr txBox="1"/>
          <p:nvPr/>
        </p:nvSpPr>
        <p:spPr>
          <a:xfrm>
            <a:off x="9930384"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Close</a:t>
            </a:r>
          </a:p>
        </p:txBody>
      </p:sp>
      <p:sp>
        <p:nvSpPr>
          <p:cNvPr id="41" name="TextBox 40"/>
          <p:cNvSpPr txBox="1"/>
          <p:nvPr/>
        </p:nvSpPr>
        <p:spPr>
          <a:xfrm>
            <a:off x="9948672"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archive and release resources</a:t>
            </a:r>
          </a:p>
        </p:txBody>
      </p:sp>
      <p:sp>
        <p:nvSpPr>
          <p:cNvPr id="42" name="Rounded Rectangle 41"/>
          <p:cNvSpPr/>
          <p:nvPr/>
        </p:nvSpPr>
        <p:spPr>
          <a:xfrm>
            <a:off x="749808" y="5303520"/>
            <a:ext cx="10698480" cy="713232"/>
          </a:xfrm>
          <a:prstGeom prst="roundRect">
            <a:avLst>
              <a:gd name="adj" fmla="val 8000"/>
            </a:avLst>
          </a:prstGeom>
          <a:solidFill>
            <a:srgbClr val="FFFFFF"/>
          </a:solidFill>
          <a:ln w="12700">
            <a:solidFill>
              <a:srgbClr val="1655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The project can close only after unresolved work is completed or formally transferred.</a:t>
            </a:r>
          </a:p>
        </p:txBody>
      </p:sp>
      <p:sp>
        <p:nvSpPr>
          <p:cNvPr id="44" name="TextBox 43"/>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5" name="TextBox 44"/>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07 · REFERENCE-SOURCED DEEP DIVE</a:t>
            </a:r>
          </a:p>
        </p:txBody>
      </p:sp>
      <p:sp>
        <p:nvSpPr>
          <p:cNvPr id="46" name="TextBox 45"/>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186</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07 · TOOL-BASED PRACTICE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Activity 11 Tool Pack</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31 Burndown Chart</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XLSX · editable project tool</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050" b="1">
                <a:solidFill>
                  <a:srgbClr val="0F9D8A"/>
                </a:solidFill>
                <a:latin typeface="Arial"/>
              </a:rPr>
              <a:t>32 Project Budget - Planned vs Actual - Weekly and Monthly</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XLSX · editable project tool</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34 Control Chart</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XLSX · editable project tool</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150" b="1">
                <a:solidFill>
                  <a:srgbClr val="F59E0B"/>
                </a:solidFill>
                <a:latin typeface="Arial"/>
              </a:rPr>
              <a:t>11 Integrated Status Change and Issue Log</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XLSX · editable project tool</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07 · TOOL-BASED PRACTICE</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187</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07 · HANDS-ON ACTIVITY</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Control Performance, Issues and Change</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034272" y="384048"/>
            <a:ext cx="2377440" cy="402336"/>
          </a:xfrm>
          <a:prstGeom prst="roundRect">
            <a:avLst>
              <a:gd name="adj" fmla="val 8000"/>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34272" y="384048"/>
            <a:ext cx="2377440" cy="402336"/>
          </a:xfrm>
          <a:prstGeom prst="rect">
            <a:avLst/>
          </a:prstGeom>
          <a:noFill/>
        </p:spPr>
        <p:txBody>
          <a:bodyPr wrap="square" lIns="0" rIns="0" tIns="0" bIns="0" anchor="ctr">
            <a:spAutoFit/>
          </a:bodyPr>
          <a:lstStyle/>
          <a:p>
            <a:pPr algn="ctr">
              <a:spcAft>
                <a:spcPts val="300"/>
              </a:spcAft>
            </a:pPr>
            <a:r>
              <a:rPr sz="1050" b="1">
                <a:solidFill>
                  <a:srgbClr val="FFFFFF"/>
                </a:solidFill>
                <a:latin typeface="Arial"/>
              </a:rPr>
              <a:t>ACTIVITY 11 · 45 MIN</a:t>
            </a:r>
          </a:p>
        </p:txBody>
      </p:sp>
      <p:sp>
        <p:nvSpPr>
          <p:cNvPr id="9" name="Rounded Rectangle 8"/>
          <p:cNvSpPr/>
          <p:nvPr/>
        </p:nvSpPr>
        <p:spPr>
          <a:xfrm>
            <a:off x="749808" y="1773936"/>
            <a:ext cx="10698480" cy="12344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773936"/>
            <a:ext cx="91440" cy="123444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874519"/>
            <a:ext cx="10149840" cy="256032"/>
          </a:xfrm>
          <a:prstGeom prst="rect">
            <a:avLst/>
          </a:prstGeom>
          <a:noFill/>
        </p:spPr>
        <p:txBody>
          <a:bodyPr wrap="square" lIns="0" rIns="0" tIns="0" bIns="0" anchor="t">
            <a:spAutoFit/>
          </a:bodyPr>
          <a:lstStyle/>
          <a:p>
            <a:pPr algn="l">
              <a:spcAft>
                <a:spcPts val="300"/>
              </a:spcAft>
            </a:pPr>
            <a:r>
              <a:rPr sz="1050" b="1">
                <a:solidFill>
                  <a:srgbClr val="703CC3"/>
                </a:solidFill>
                <a:latin typeface="Arial"/>
              </a:rPr>
              <a:t>THE SITUATION</a:t>
            </a:r>
          </a:p>
        </p:txBody>
      </p:sp>
      <p:sp>
        <p:nvSpPr>
          <p:cNvPr id="12" name="TextBox 11"/>
          <p:cNvSpPr txBox="1"/>
          <p:nvPr/>
        </p:nvSpPr>
        <p:spPr>
          <a:xfrm>
            <a:off x="1005840" y="2139696"/>
            <a:ext cx="10149840" cy="731520"/>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At week 12, PV is S$108,000, EV is S$90,000 and AC is S$105,000. The sponsor requests loyalty points for S$24,000 and three weeks while a vendor interface issue threatens acceptance.</a:t>
            </a:r>
          </a:p>
        </p:txBody>
      </p:sp>
      <p:sp>
        <p:nvSpPr>
          <p:cNvPr id="13" name="Rounded Rectangle 12"/>
          <p:cNvSpPr/>
          <p:nvPr/>
        </p:nvSpPr>
        <p:spPr>
          <a:xfrm>
            <a:off x="749808"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9808" y="3218688"/>
            <a:ext cx="3419856" cy="9144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 y="3401568"/>
            <a:ext cx="3017520" cy="274320"/>
          </a:xfrm>
          <a:prstGeom prst="rect">
            <a:avLst/>
          </a:prstGeom>
          <a:noFill/>
        </p:spPr>
        <p:txBody>
          <a:bodyPr wrap="square" lIns="0" rIns="0" tIns="0" bIns="0" anchor="t">
            <a:spAutoFit/>
          </a:bodyPr>
          <a:lstStyle/>
          <a:p>
            <a:pPr algn="l">
              <a:spcAft>
                <a:spcPts val="300"/>
              </a:spcAft>
            </a:pPr>
            <a:r>
              <a:rPr sz="1050" b="1">
                <a:solidFill>
                  <a:srgbClr val="1655D1"/>
                </a:solidFill>
                <a:latin typeface="Arial"/>
              </a:rPr>
              <a:t>WHAT YOU'LL DO</a:t>
            </a:r>
          </a:p>
        </p:txBody>
      </p:sp>
      <p:sp>
        <p:nvSpPr>
          <p:cNvPr id="16" name="TextBox 15"/>
          <p:cNvSpPr txBox="1"/>
          <p:nvPr/>
        </p:nvSpPr>
        <p:spPr>
          <a:xfrm>
            <a:off x="950976"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Calculate earned value and forecast, integrate quality and milestone evidence, triage the issue, analyse the change, obtain an authorised decision and define corrective action.</a:t>
            </a:r>
          </a:p>
        </p:txBody>
      </p:sp>
      <p:sp>
        <p:nvSpPr>
          <p:cNvPr id="17" name="Rounded Rectangle 16"/>
          <p:cNvSpPr/>
          <p:nvPr/>
        </p:nvSpPr>
        <p:spPr>
          <a:xfrm>
            <a:off x="4389120"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89120" y="3218688"/>
            <a:ext cx="341985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90288" y="3401568"/>
            <a:ext cx="3017520" cy="274320"/>
          </a:xfrm>
          <a:prstGeom prst="rect">
            <a:avLst/>
          </a:prstGeom>
          <a:noFill/>
        </p:spPr>
        <p:txBody>
          <a:bodyPr wrap="square" lIns="0" rIns="0" tIns="0" bIns="0" anchor="t">
            <a:spAutoFit/>
          </a:bodyPr>
          <a:lstStyle/>
          <a:p>
            <a:pPr algn="l">
              <a:spcAft>
                <a:spcPts val="300"/>
              </a:spcAft>
            </a:pPr>
            <a:r>
              <a:rPr sz="1050" b="1">
                <a:solidFill>
                  <a:srgbClr val="0F9D8A"/>
                </a:solidFill>
                <a:latin typeface="Arial"/>
              </a:rPr>
              <a:t>YOU'LL PRODUCE</a:t>
            </a:r>
          </a:p>
        </p:txBody>
      </p:sp>
      <p:sp>
        <p:nvSpPr>
          <p:cNvPr id="20" name="TextBox 19"/>
          <p:cNvSpPr txBox="1"/>
          <p:nvPr/>
        </p:nvSpPr>
        <p:spPr>
          <a:xfrm>
            <a:off x="4590288"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An integrated status report, EVM calculations and forecast, issue decision, change-impact analysis, decision log, corrective action and updated control records.</a:t>
            </a:r>
          </a:p>
        </p:txBody>
      </p:sp>
      <p:sp>
        <p:nvSpPr>
          <p:cNvPr id="21" name="Rounded Rectangle 20"/>
          <p:cNvSpPr/>
          <p:nvPr/>
        </p:nvSpPr>
        <p:spPr>
          <a:xfrm>
            <a:off x="8028431"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28431" y="3218688"/>
            <a:ext cx="3419856"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0" y="3401568"/>
            <a:ext cx="3017520" cy="274320"/>
          </a:xfrm>
          <a:prstGeom prst="rect">
            <a:avLst/>
          </a:prstGeom>
          <a:noFill/>
        </p:spPr>
        <p:txBody>
          <a:bodyPr wrap="square" lIns="0" rIns="0" tIns="0" bIns="0" anchor="t">
            <a:spAutoFit/>
          </a:bodyPr>
          <a:lstStyle/>
          <a:p>
            <a:pPr algn="l">
              <a:spcAft>
                <a:spcPts val="300"/>
              </a:spcAft>
            </a:pPr>
            <a:r>
              <a:rPr sz="1050" b="1">
                <a:solidFill>
                  <a:srgbClr val="F59E0B"/>
                </a:solidFill>
                <a:latin typeface="Arial"/>
              </a:rPr>
              <a:t>DONE WHEN</a:t>
            </a:r>
          </a:p>
        </p:txBody>
      </p:sp>
      <p:sp>
        <p:nvSpPr>
          <p:cNvPr id="24" name="TextBox 23"/>
          <p:cNvSpPr txBox="1"/>
          <p:nvPr/>
        </p:nvSpPr>
        <p:spPr>
          <a:xfrm>
            <a:off x="8229600"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EVM and forecast reconcile, issue and change records are distinct, the decision is authorised, all affected records are updated and corrective action is measurable.</a:t>
            </a:r>
          </a:p>
        </p:txBody>
      </p:sp>
      <p:sp>
        <p:nvSpPr>
          <p:cNvPr id="25" name="Rounded Rectangle 24"/>
          <p:cNvSpPr/>
          <p:nvPr/>
        </p:nvSpPr>
        <p:spPr>
          <a:xfrm>
            <a:off x="749808" y="5486400"/>
            <a:ext cx="10698480" cy="713232"/>
          </a:xfrm>
          <a:prstGeom prst="roundRect">
            <a:avLst>
              <a:gd name="adj" fmla="val 8000"/>
            </a:avLst>
          </a:prstGeom>
          <a:solidFill>
            <a:srgbClr val="FFFFFF"/>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577840"/>
            <a:ext cx="10195560" cy="256032"/>
          </a:xfrm>
          <a:prstGeom prst="rect">
            <a:avLst/>
          </a:prstGeom>
          <a:noFill/>
        </p:spPr>
        <p:txBody>
          <a:bodyPr wrap="square" lIns="0" rIns="0" tIns="0" bIns="0" anchor="t">
            <a:spAutoFit/>
          </a:bodyPr>
          <a:lstStyle/>
          <a:p>
            <a:pPr algn="l">
              <a:spcAft>
                <a:spcPts val="300"/>
              </a:spcAft>
            </a:pPr>
            <a:r>
              <a:rPr sz="1100" b="1">
                <a:solidFill>
                  <a:srgbClr val="131B2A"/>
                </a:solidFill>
                <a:latin typeface="Arial"/>
              </a:rPr>
              <a:t>Tool: Integrated Status, Change and Issue Log, Burndown, Budget and Control Chart</a:t>
            </a:r>
          </a:p>
        </p:txBody>
      </p:sp>
      <p:sp>
        <p:nvSpPr>
          <p:cNvPr id="27" name="TextBox 26"/>
          <p:cNvSpPr txBox="1"/>
          <p:nvPr/>
        </p:nvSpPr>
        <p:spPr>
          <a:xfrm>
            <a:off x="960120" y="5843016"/>
            <a:ext cx="10195560" cy="219456"/>
          </a:xfrm>
          <a:prstGeom prst="rect">
            <a:avLst/>
          </a:prstGeom>
          <a:noFill/>
        </p:spPr>
        <p:txBody>
          <a:bodyPr wrap="square" lIns="0" rIns="0" tIns="0" bIns="0" anchor="t">
            <a:spAutoFit/>
          </a:bodyPr>
          <a:lstStyle/>
          <a:p>
            <a:pPr algn="l">
              <a:spcAft>
                <a:spcPts val="300"/>
              </a:spcAft>
            </a:pPr>
            <a:r>
              <a:rPr sz="950" b="0">
                <a:solidFill>
                  <a:srgbClr val="5F6B7A"/>
                </a:solidFill>
                <a:latin typeface="Arial"/>
              </a:rPr>
              <a:t>Full procedure, evidence fields and acceptance criteria: Learner Guide and Activity 11 folder.</a:t>
            </a:r>
          </a:p>
        </p:txBody>
      </p:sp>
      <p:sp>
        <p:nvSpPr>
          <p:cNvPr id="28" name="TextBox 27"/>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9" name="TextBox 28"/>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Activity 11 · LO7</a:t>
            </a:r>
          </a:p>
        </p:txBody>
      </p:sp>
      <p:sp>
        <p:nvSpPr>
          <p:cNvPr id="30" name="TextBox 29"/>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188</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703CC3"/>
                </a:solidFill>
                <a:latin typeface="Arial"/>
              </a:rPr>
              <a:t>TOPIC 07 · ACTIVITY DEBRIEF</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Debrief — Activity 11: What It Proves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1328928"/>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1024128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1</a:t>
            </a:r>
          </a:p>
        </p:txBody>
      </p:sp>
      <p:sp>
        <p:nvSpPr>
          <p:cNvPr id="10" name="TextBox 9"/>
          <p:cNvSpPr txBox="1"/>
          <p:nvPr/>
        </p:nvSpPr>
        <p:spPr>
          <a:xfrm>
            <a:off x="1005840" y="2313432"/>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Status reporting is a decision system, not a colour-coded history lesson.</a:t>
            </a:r>
          </a:p>
        </p:txBody>
      </p:sp>
      <p:sp>
        <p:nvSpPr>
          <p:cNvPr id="11" name="Rounded Rectangle 10"/>
          <p:cNvSpPr/>
          <p:nvPr/>
        </p:nvSpPr>
        <p:spPr>
          <a:xfrm>
            <a:off x="749808" y="3340608"/>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 y="3340608"/>
            <a:ext cx="91440" cy="13289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505200"/>
            <a:ext cx="1024128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2</a:t>
            </a:r>
          </a:p>
        </p:txBody>
      </p:sp>
      <p:sp>
        <p:nvSpPr>
          <p:cNvPr id="14" name="TextBox 13"/>
          <p:cNvSpPr txBox="1"/>
          <p:nvPr/>
        </p:nvSpPr>
        <p:spPr>
          <a:xfrm>
            <a:off x="1005840" y="3870960"/>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Change control enables deliberate trade-offs; it does not prevent change.</a:t>
            </a:r>
          </a:p>
        </p:txBody>
      </p:sp>
      <p:sp>
        <p:nvSpPr>
          <p:cNvPr id="15" name="Rounded Rectangle 14"/>
          <p:cNvSpPr/>
          <p:nvPr/>
        </p:nvSpPr>
        <p:spPr>
          <a:xfrm>
            <a:off x="749808" y="4898136"/>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898136"/>
            <a:ext cx="91440" cy="1328928"/>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5062728"/>
            <a:ext cx="1024128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3</a:t>
            </a:r>
          </a:p>
        </p:txBody>
      </p:sp>
      <p:sp>
        <p:nvSpPr>
          <p:cNvPr id="18" name="TextBox 17"/>
          <p:cNvSpPr txBox="1"/>
          <p:nvPr/>
        </p:nvSpPr>
        <p:spPr>
          <a:xfrm>
            <a:off x="1005840" y="5428488"/>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An approved change is incomplete until every affected baseline is updated.</a:t>
            </a:r>
          </a:p>
        </p:txBody>
      </p:sp>
      <p:sp>
        <p:nvSpPr>
          <p:cNvPr id="19" name="TextBox 1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0" name="TextBox 1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07 · ACTIVITY DEBRIEF</a:t>
            </a:r>
          </a:p>
        </p:txBody>
      </p:sp>
      <p:sp>
        <p:nvSpPr>
          <p:cNvPr id="21" name="TextBox 2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189</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07 · TOOL-BASED PRACTICE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Activity 12 Tool Pack</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706727" y="2057400"/>
            <a:ext cx="4251960" cy="1874519"/>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706727" y="2057400"/>
            <a:ext cx="4251960" cy="109728"/>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935327" y="2304288"/>
            <a:ext cx="3794760" cy="292608"/>
          </a:xfrm>
          <a:prstGeom prst="rect">
            <a:avLst/>
          </a:prstGeom>
          <a:noFill/>
        </p:spPr>
        <p:txBody>
          <a:bodyPr wrap="square" lIns="0" rIns="0" tIns="0" bIns="0" anchor="t">
            <a:spAutoFit/>
          </a:bodyPr>
          <a:lstStyle/>
          <a:p>
            <a:pPr algn="ctr">
              <a:spcAft>
                <a:spcPts val="300"/>
              </a:spcAft>
            </a:pPr>
            <a:r>
              <a:rPr sz="1100" b="1">
                <a:solidFill>
                  <a:srgbClr val="1655D1"/>
                </a:solidFill>
                <a:latin typeface="Arial"/>
              </a:rPr>
              <a:t>XLSX</a:t>
            </a:r>
          </a:p>
        </p:txBody>
      </p:sp>
      <p:sp>
        <p:nvSpPr>
          <p:cNvPr id="10" name="TextBox 9"/>
          <p:cNvSpPr txBox="1"/>
          <p:nvPr/>
        </p:nvSpPr>
        <p:spPr>
          <a:xfrm>
            <a:off x="1935327" y="2624328"/>
            <a:ext cx="3794760" cy="640080"/>
          </a:xfrm>
          <a:prstGeom prst="rect">
            <a:avLst/>
          </a:prstGeom>
          <a:noFill/>
        </p:spPr>
        <p:txBody>
          <a:bodyPr wrap="square" lIns="0" rIns="0" tIns="0" bIns="0" anchor="ctr">
            <a:spAutoFit/>
          </a:bodyPr>
          <a:lstStyle/>
          <a:p>
            <a:pPr algn="ctr">
              <a:spcAft>
                <a:spcPts val="300"/>
              </a:spcAft>
            </a:pPr>
            <a:r>
              <a:rPr sz="1250" b="1">
                <a:solidFill>
                  <a:srgbClr val="131B2A"/>
                </a:solidFill>
                <a:latin typeface="Arial"/>
              </a:rPr>
              <a:t>44 Agile Retrospective</a:t>
            </a:r>
          </a:p>
        </p:txBody>
      </p:sp>
      <p:sp>
        <p:nvSpPr>
          <p:cNvPr id="11" name="TextBox 10"/>
          <p:cNvSpPr txBox="1"/>
          <p:nvPr/>
        </p:nvSpPr>
        <p:spPr>
          <a:xfrm>
            <a:off x="1935327" y="3337560"/>
            <a:ext cx="3794760" cy="320040"/>
          </a:xfrm>
          <a:prstGeom prst="rect">
            <a:avLst/>
          </a:prstGeom>
          <a:noFill/>
        </p:spPr>
        <p:txBody>
          <a:bodyPr wrap="square" lIns="0" rIns="0" tIns="0" bIns="0" anchor="t">
            <a:spAutoFit/>
          </a:bodyPr>
          <a:lstStyle/>
          <a:p>
            <a:pPr algn="ctr">
              <a:spcAft>
                <a:spcPts val="300"/>
              </a:spcAft>
            </a:pPr>
            <a:r>
              <a:rPr sz="1050" b="0">
                <a:solidFill>
                  <a:srgbClr val="5F6B7A"/>
                </a:solidFill>
                <a:latin typeface="Arial"/>
              </a:rPr>
              <a:t>Editable evidence file</a:t>
            </a:r>
          </a:p>
        </p:txBody>
      </p:sp>
      <p:sp>
        <p:nvSpPr>
          <p:cNvPr id="12" name="Rounded Rectangle 11"/>
          <p:cNvSpPr/>
          <p:nvPr/>
        </p:nvSpPr>
        <p:spPr>
          <a:xfrm>
            <a:off x="6233007" y="2057400"/>
            <a:ext cx="4251960" cy="1874519"/>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2057400"/>
            <a:ext cx="4251960" cy="1097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1607" y="2304288"/>
            <a:ext cx="3794760" cy="292608"/>
          </a:xfrm>
          <a:prstGeom prst="rect">
            <a:avLst/>
          </a:prstGeom>
          <a:noFill/>
        </p:spPr>
        <p:txBody>
          <a:bodyPr wrap="square" lIns="0" rIns="0" tIns="0" bIns="0" anchor="t">
            <a:spAutoFit/>
          </a:bodyPr>
          <a:lstStyle/>
          <a:p>
            <a:pPr algn="ctr">
              <a:spcAft>
                <a:spcPts val="300"/>
              </a:spcAft>
            </a:pPr>
            <a:r>
              <a:rPr sz="1100" b="1">
                <a:solidFill>
                  <a:srgbClr val="0F9D8A"/>
                </a:solidFill>
                <a:latin typeface="Arial"/>
              </a:rPr>
              <a:t>XLSX</a:t>
            </a:r>
          </a:p>
        </p:txBody>
      </p:sp>
      <p:sp>
        <p:nvSpPr>
          <p:cNvPr id="15" name="TextBox 14"/>
          <p:cNvSpPr txBox="1"/>
          <p:nvPr/>
        </p:nvSpPr>
        <p:spPr>
          <a:xfrm>
            <a:off x="6461607" y="2624328"/>
            <a:ext cx="3794760" cy="640080"/>
          </a:xfrm>
          <a:prstGeom prst="rect">
            <a:avLst/>
          </a:prstGeom>
          <a:noFill/>
        </p:spPr>
        <p:txBody>
          <a:bodyPr wrap="square" lIns="0" rIns="0" tIns="0" bIns="0" anchor="ctr">
            <a:spAutoFit/>
          </a:bodyPr>
          <a:lstStyle/>
          <a:p>
            <a:pPr algn="ctr">
              <a:spcAft>
                <a:spcPts val="300"/>
              </a:spcAft>
            </a:pPr>
            <a:r>
              <a:rPr sz="1250" b="1">
                <a:solidFill>
                  <a:srgbClr val="131B2A"/>
                </a:solidFill>
                <a:latin typeface="Arial"/>
              </a:rPr>
              <a:t>12 Acceptance Handover Closure and Benefits</a:t>
            </a:r>
          </a:p>
        </p:txBody>
      </p:sp>
      <p:sp>
        <p:nvSpPr>
          <p:cNvPr id="16" name="TextBox 15"/>
          <p:cNvSpPr txBox="1"/>
          <p:nvPr/>
        </p:nvSpPr>
        <p:spPr>
          <a:xfrm>
            <a:off x="6461607" y="3337560"/>
            <a:ext cx="3794760" cy="320040"/>
          </a:xfrm>
          <a:prstGeom prst="rect">
            <a:avLst/>
          </a:prstGeom>
          <a:noFill/>
        </p:spPr>
        <p:txBody>
          <a:bodyPr wrap="square" lIns="0" rIns="0" tIns="0" bIns="0" anchor="t">
            <a:spAutoFit/>
          </a:bodyPr>
          <a:lstStyle/>
          <a:p>
            <a:pPr algn="ctr">
              <a:spcAft>
                <a:spcPts val="300"/>
              </a:spcAft>
            </a:pPr>
            <a:r>
              <a:rPr sz="1050" b="0">
                <a:solidFill>
                  <a:srgbClr val="5F6B7A"/>
                </a:solidFill>
                <a:latin typeface="Arial"/>
              </a:rPr>
              <a:t>Editable evidence file</a:t>
            </a:r>
          </a:p>
        </p:txBody>
      </p:sp>
      <p:sp>
        <p:nvSpPr>
          <p:cNvPr id="17" name="Rounded Rectangle 16"/>
          <p:cNvSpPr/>
          <p:nvPr/>
        </p:nvSpPr>
        <p:spPr>
          <a:xfrm>
            <a:off x="749808" y="4343400"/>
            <a:ext cx="10698480" cy="1143000"/>
          </a:xfrm>
          <a:prstGeom prst="roundRect">
            <a:avLst>
              <a:gd name="adj" fmla="val 8000"/>
            </a:avLst>
          </a:prstGeom>
          <a:solidFill>
            <a:srgbClr val="FFFFFF"/>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4544568"/>
            <a:ext cx="1828800" cy="274320"/>
          </a:xfrm>
          <a:prstGeom prst="rect">
            <a:avLst/>
          </a:prstGeom>
          <a:noFill/>
        </p:spPr>
        <p:txBody>
          <a:bodyPr wrap="square" lIns="0" rIns="0" tIns="0" bIns="0" anchor="t">
            <a:spAutoFit/>
          </a:bodyPr>
          <a:lstStyle/>
          <a:p>
            <a:pPr algn="l">
              <a:spcAft>
                <a:spcPts val="300"/>
              </a:spcAft>
            </a:pPr>
            <a:r>
              <a:rPr sz="1050" b="1">
                <a:solidFill>
                  <a:srgbClr val="0F9D8A"/>
                </a:solidFill>
                <a:latin typeface="Arial"/>
              </a:rPr>
              <a:t>DECISION ENABLED</a:t>
            </a:r>
          </a:p>
        </p:txBody>
      </p:sp>
      <p:sp>
        <p:nvSpPr>
          <p:cNvPr id="19" name="TextBox 18"/>
          <p:cNvSpPr txBox="1"/>
          <p:nvPr/>
        </p:nvSpPr>
        <p:spPr>
          <a:xfrm>
            <a:off x="2788920" y="4453128"/>
            <a:ext cx="8229600" cy="685800"/>
          </a:xfrm>
          <a:prstGeom prst="rect">
            <a:avLst/>
          </a:prstGeom>
          <a:noFill/>
        </p:spPr>
        <p:txBody>
          <a:bodyPr wrap="square" lIns="0" rIns="0" tIns="0" bIns="0" anchor="ctr">
            <a:spAutoFit/>
          </a:bodyPr>
          <a:lstStyle/>
          <a:p>
            <a:pPr algn="l">
              <a:spcAft>
                <a:spcPts val="300"/>
              </a:spcAft>
            </a:pPr>
            <a:r>
              <a:rPr sz="1250" b="1">
                <a:solidFill>
                  <a:srgbClr val="131B2A"/>
                </a:solidFill>
                <a:latin typeface="Arial"/>
              </a:rPr>
              <a:t>Signed acceptance matrix, handover and training evidence, unresolved-item disposition, contract closeout, lessons register, benefits tracker and formal closure recommendation.</a:t>
            </a:r>
          </a:p>
        </p:txBody>
      </p:sp>
      <p:sp>
        <p:nvSpPr>
          <p:cNvPr id="20" name="TextBox 19"/>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1" name="TextBox 20"/>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07 · TOOL-BASED PRACTICE</a:t>
            </a:r>
          </a:p>
        </p:txBody>
      </p:sp>
      <p:sp>
        <p:nvSpPr>
          <p:cNvPr id="22" name="TextBox 21"/>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190</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TOPIC 07 · HANDS-ON ACTIVITY</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Accept, Handover and Close the Project</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034272" y="384048"/>
            <a:ext cx="2377440" cy="402336"/>
          </a:xfrm>
          <a:prstGeom prst="roundRect">
            <a:avLst>
              <a:gd name="adj" fmla="val 8000"/>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34272" y="384048"/>
            <a:ext cx="2377440" cy="402336"/>
          </a:xfrm>
          <a:prstGeom prst="rect">
            <a:avLst/>
          </a:prstGeom>
          <a:noFill/>
        </p:spPr>
        <p:txBody>
          <a:bodyPr wrap="square" lIns="0" rIns="0" tIns="0" bIns="0" anchor="ctr">
            <a:spAutoFit/>
          </a:bodyPr>
          <a:lstStyle/>
          <a:p>
            <a:pPr algn="ctr">
              <a:spcAft>
                <a:spcPts val="300"/>
              </a:spcAft>
            </a:pPr>
            <a:r>
              <a:rPr sz="1050" b="1">
                <a:solidFill>
                  <a:srgbClr val="FFFFFF"/>
                </a:solidFill>
                <a:latin typeface="Arial"/>
              </a:rPr>
              <a:t>ACTIVITY 12 · 35 MIN</a:t>
            </a:r>
          </a:p>
        </p:txBody>
      </p:sp>
      <p:sp>
        <p:nvSpPr>
          <p:cNvPr id="9" name="Rounded Rectangle 8"/>
          <p:cNvSpPr/>
          <p:nvPr/>
        </p:nvSpPr>
        <p:spPr>
          <a:xfrm>
            <a:off x="749808" y="1773936"/>
            <a:ext cx="10698480" cy="12344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773936"/>
            <a:ext cx="91440" cy="123444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874519"/>
            <a:ext cx="10149840" cy="256032"/>
          </a:xfrm>
          <a:prstGeom prst="rect">
            <a:avLst/>
          </a:prstGeom>
          <a:noFill/>
        </p:spPr>
        <p:txBody>
          <a:bodyPr wrap="square" lIns="0" rIns="0" tIns="0" bIns="0" anchor="t">
            <a:spAutoFit/>
          </a:bodyPr>
          <a:lstStyle/>
          <a:p>
            <a:pPr algn="l">
              <a:spcAft>
                <a:spcPts val="300"/>
              </a:spcAft>
            </a:pPr>
            <a:r>
              <a:rPr sz="1050" b="1">
                <a:solidFill>
                  <a:srgbClr val="703CC3"/>
                </a:solidFill>
                <a:latin typeface="Arial"/>
              </a:rPr>
              <a:t>THE SITUATION</a:t>
            </a:r>
          </a:p>
        </p:txBody>
      </p:sp>
      <p:sp>
        <p:nvSpPr>
          <p:cNvPr id="12" name="TextBox 11"/>
          <p:cNvSpPr txBox="1"/>
          <p:nvPr/>
        </p:nvSpPr>
        <p:spPr>
          <a:xfrm>
            <a:off x="1005840" y="2139696"/>
            <a:ext cx="10149840" cy="731520"/>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All three outlets are live, but final payment is requested before complete acceptance evidence, support ownership, training records and unresolved-item decisions are consolidated. Benefits will continue after project closure.</a:t>
            </a:r>
          </a:p>
        </p:txBody>
      </p:sp>
      <p:sp>
        <p:nvSpPr>
          <p:cNvPr id="13" name="Rounded Rectangle 12"/>
          <p:cNvSpPr/>
          <p:nvPr/>
        </p:nvSpPr>
        <p:spPr>
          <a:xfrm>
            <a:off x="749808"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9808" y="3218688"/>
            <a:ext cx="3419856" cy="9144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 y="3401568"/>
            <a:ext cx="3017520" cy="274320"/>
          </a:xfrm>
          <a:prstGeom prst="rect">
            <a:avLst/>
          </a:prstGeom>
          <a:noFill/>
        </p:spPr>
        <p:txBody>
          <a:bodyPr wrap="square" lIns="0" rIns="0" tIns="0" bIns="0" anchor="t">
            <a:spAutoFit/>
          </a:bodyPr>
          <a:lstStyle/>
          <a:p>
            <a:pPr algn="l">
              <a:spcAft>
                <a:spcPts val="300"/>
              </a:spcAft>
            </a:pPr>
            <a:r>
              <a:rPr sz="1050" b="1">
                <a:solidFill>
                  <a:srgbClr val="1655D1"/>
                </a:solidFill>
                <a:latin typeface="Arial"/>
              </a:rPr>
              <a:t>WHAT YOU'LL DO</a:t>
            </a:r>
          </a:p>
        </p:txBody>
      </p:sp>
      <p:sp>
        <p:nvSpPr>
          <p:cNvPr id="16" name="TextBox 15"/>
          <p:cNvSpPr txBox="1"/>
          <p:nvPr/>
        </p:nvSpPr>
        <p:spPr>
          <a:xfrm>
            <a:off x="950976"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Validate acceptance, transfer operations and knowledge, resolve contracts and open items, capture lessons and assign post-project benefits measures before recommending closure.</a:t>
            </a:r>
          </a:p>
        </p:txBody>
      </p:sp>
      <p:sp>
        <p:nvSpPr>
          <p:cNvPr id="17" name="Rounded Rectangle 16"/>
          <p:cNvSpPr/>
          <p:nvPr/>
        </p:nvSpPr>
        <p:spPr>
          <a:xfrm>
            <a:off x="4389120"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89120" y="3218688"/>
            <a:ext cx="3419856" cy="9144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90288" y="3401568"/>
            <a:ext cx="3017520" cy="274320"/>
          </a:xfrm>
          <a:prstGeom prst="rect">
            <a:avLst/>
          </a:prstGeom>
          <a:noFill/>
        </p:spPr>
        <p:txBody>
          <a:bodyPr wrap="square" lIns="0" rIns="0" tIns="0" bIns="0" anchor="t">
            <a:spAutoFit/>
          </a:bodyPr>
          <a:lstStyle/>
          <a:p>
            <a:pPr algn="l">
              <a:spcAft>
                <a:spcPts val="300"/>
              </a:spcAft>
            </a:pPr>
            <a:r>
              <a:rPr sz="1050" b="1">
                <a:solidFill>
                  <a:srgbClr val="0F9D8A"/>
                </a:solidFill>
                <a:latin typeface="Arial"/>
              </a:rPr>
              <a:t>YOU'LL PRODUCE</a:t>
            </a:r>
          </a:p>
        </p:txBody>
      </p:sp>
      <p:sp>
        <p:nvSpPr>
          <p:cNvPr id="20" name="TextBox 19"/>
          <p:cNvSpPr txBox="1"/>
          <p:nvPr/>
        </p:nvSpPr>
        <p:spPr>
          <a:xfrm>
            <a:off x="4590288"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Signed acceptance matrix, handover and training evidence, unresolved-item disposition, contract closeout, lessons register, benefits tracker and formal closure recommendation.</a:t>
            </a:r>
          </a:p>
        </p:txBody>
      </p:sp>
      <p:sp>
        <p:nvSpPr>
          <p:cNvPr id="21" name="Rounded Rectangle 20"/>
          <p:cNvSpPr/>
          <p:nvPr/>
        </p:nvSpPr>
        <p:spPr>
          <a:xfrm>
            <a:off x="8028431" y="3218688"/>
            <a:ext cx="3419856" cy="205740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28431" y="3218688"/>
            <a:ext cx="3419856"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0" y="3401568"/>
            <a:ext cx="3017520" cy="274320"/>
          </a:xfrm>
          <a:prstGeom prst="rect">
            <a:avLst/>
          </a:prstGeom>
          <a:noFill/>
        </p:spPr>
        <p:txBody>
          <a:bodyPr wrap="square" lIns="0" rIns="0" tIns="0" bIns="0" anchor="t">
            <a:spAutoFit/>
          </a:bodyPr>
          <a:lstStyle/>
          <a:p>
            <a:pPr algn="l">
              <a:spcAft>
                <a:spcPts val="300"/>
              </a:spcAft>
            </a:pPr>
            <a:r>
              <a:rPr sz="1050" b="1">
                <a:solidFill>
                  <a:srgbClr val="F59E0B"/>
                </a:solidFill>
                <a:latin typeface="Arial"/>
              </a:rPr>
              <a:t>DONE WHEN</a:t>
            </a:r>
          </a:p>
        </p:txBody>
      </p:sp>
      <p:sp>
        <p:nvSpPr>
          <p:cNvPr id="24" name="TextBox 23"/>
          <p:cNvSpPr txBox="1"/>
          <p:nvPr/>
        </p:nvSpPr>
        <p:spPr>
          <a:xfrm>
            <a:off x="8229600" y="3712463"/>
            <a:ext cx="3017520" cy="1389888"/>
          </a:xfrm>
          <a:prstGeom prst="rect">
            <a:avLst/>
          </a:prstGeom>
          <a:noFill/>
        </p:spPr>
        <p:txBody>
          <a:bodyPr wrap="square" lIns="0" rIns="0" tIns="0" bIns="0" anchor="ctr">
            <a:spAutoFit/>
          </a:bodyPr>
          <a:lstStyle/>
          <a:p>
            <a:pPr algn="l">
              <a:spcAft>
                <a:spcPts val="300"/>
              </a:spcAft>
            </a:pPr>
            <a:r>
              <a:rPr sz="1050" b="0">
                <a:solidFill>
                  <a:srgbClr val="131B2A"/>
                </a:solidFill>
                <a:latin typeface="Arial"/>
              </a:rPr>
              <a:t>Acceptance is traceable, handover ownership is explicit, open items have formal disposition, contracts and records reconcile, and benefits continue under named operational owners.</a:t>
            </a:r>
          </a:p>
        </p:txBody>
      </p:sp>
      <p:sp>
        <p:nvSpPr>
          <p:cNvPr id="25" name="Rounded Rectangle 24"/>
          <p:cNvSpPr/>
          <p:nvPr/>
        </p:nvSpPr>
        <p:spPr>
          <a:xfrm>
            <a:off x="749808" y="5486400"/>
            <a:ext cx="10698480" cy="713232"/>
          </a:xfrm>
          <a:prstGeom prst="roundRect">
            <a:avLst>
              <a:gd name="adj" fmla="val 8000"/>
            </a:avLst>
          </a:prstGeom>
          <a:solidFill>
            <a:srgbClr val="FFFFFF"/>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577840"/>
            <a:ext cx="10195560" cy="256032"/>
          </a:xfrm>
          <a:prstGeom prst="rect">
            <a:avLst/>
          </a:prstGeom>
          <a:noFill/>
        </p:spPr>
        <p:txBody>
          <a:bodyPr wrap="square" lIns="0" rIns="0" tIns="0" bIns="0" anchor="t">
            <a:spAutoFit/>
          </a:bodyPr>
          <a:lstStyle/>
          <a:p>
            <a:pPr algn="l">
              <a:spcAft>
                <a:spcPts val="300"/>
              </a:spcAft>
            </a:pPr>
            <a:r>
              <a:rPr sz="1100" b="1">
                <a:solidFill>
                  <a:srgbClr val="131B2A"/>
                </a:solidFill>
                <a:latin typeface="Arial"/>
              </a:rPr>
              <a:t>Tool: Acceptance, Handover, Closure and Benefits Tracker plus Retrospective</a:t>
            </a:r>
          </a:p>
        </p:txBody>
      </p:sp>
      <p:sp>
        <p:nvSpPr>
          <p:cNvPr id="27" name="TextBox 26"/>
          <p:cNvSpPr txBox="1"/>
          <p:nvPr/>
        </p:nvSpPr>
        <p:spPr>
          <a:xfrm>
            <a:off x="960120" y="5843016"/>
            <a:ext cx="10195560" cy="219456"/>
          </a:xfrm>
          <a:prstGeom prst="rect">
            <a:avLst/>
          </a:prstGeom>
          <a:noFill/>
        </p:spPr>
        <p:txBody>
          <a:bodyPr wrap="square" lIns="0" rIns="0" tIns="0" bIns="0" anchor="t">
            <a:spAutoFit/>
          </a:bodyPr>
          <a:lstStyle/>
          <a:p>
            <a:pPr algn="l">
              <a:spcAft>
                <a:spcPts val="300"/>
              </a:spcAft>
            </a:pPr>
            <a:r>
              <a:rPr sz="950" b="0">
                <a:solidFill>
                  <a:srgbClr val="5F6B7A"/>
                </a:solidFill>
                <a:latin typeface="Arial"/>
              </a:rPr>
              <a:t>Full procedure, evidence fields and acceptance criteria: Learner Guide and Activity 12 folder.</a:t>
            </a:r>
          </a:p>
        </p:txBody>
      </p:sp>
      <p:sp>
        <p:nvSpPr>
          <p:cNvPr id="28" name="TextBox 27"/>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9" name="TextBox 28"/>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Activity 12 · LO7</a:t>
            </a:r>
          </a:p>
        </p:txBody>
      </p:sp>
      <p:sp>
        <p:nvSpPr>
          <p:cNvPr id="30" name="TextBox 29"/>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191</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703CC3"/>
                </a:solidFill>
                <a:latin typeface="Arial"/>
              </a:rPr>
              <a:t>TOPIC 07 · ACTIVITY DEBRIEF</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Debrief — Activity 12: What It Proves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1328928"/>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1024128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1</a:t>
            </a:r>
          </a:p>
        </p:txBody>
      </p:sp>
      <p:sp>
        <p:nvSpPr>
          <p:cNvPr id="10" name="TextBox 9"/>
          <p:cNvSpPr txBox="1"/>
          <p:nvPr/>
        </p:nvSpPr>
        <p:spPr>
          <a:xfrm>
            <a:off x="1005840" y="2313432"/>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Elapsed time does not close a project; complete evidence and transferred accountability do.</a:t>
            </a:r>
          </a:p>
        </p:txBody>
      </p:sp>
      <p:sp>
        <p:nvSpPr>
          <p:cNvPr id="11" name="Rounded Rectangle 10"/>
          <p:cNvSpPr/>
          <p:nvPr/>
        </p:nvSpPr>
        <p:spPr>
          <a:xfrm>
            <a:off x="749808" y="3340608"/>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 y="3340608"/>
            <a:ext cx="91440" cy="13289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505200"/>
            <a:ext cx="1024128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2</a:t>
            </a:r>
          </a:p>
        </p:txBody>
      </p:sp>
      <p:sp>
        <p:nvSpPr>
          <p:cNvPr id="14" name="TextBox 13"/>
          <p:cNvSpPr txBox="1"/>
          <p:nvPr/>
        </p:nvSpPr>
        <p:spPr>
          <a:xfrm>
            <a:off x="1005840" y="3870960"/>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Lessons become assets only when future owners can find and use them.</a:t>
            </a:r>
          </a:p>
        </p:txBody>
      </p:sp>
      <p:sp>
        <p:nvSpPr>
          <p:cNvPr id="15" name="Rounded Rectangle 14"/>
          <p:cNvSpPr/>
          <p:nvPr/>
        </p:nvSpPr>
        <p:spPr>
          <a:xfrm>
            <a:off x="749808" y="4898136"/>
            <a:ext cx="10698480"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898136"/>
            <a:ext cx="91440" cy="1328928"/>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5062728"/>
            <a:ext cx="1024128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3</a:t>
            </a:r>
          </a:p>
        </p:txBody>
      </p:sp>
      <p:sp>
        <p:nvSpPr>
          <p:cNvPr id="18" name="TextBox 17"/>
          <p:cNvSpPr txBox="1"/>
          <p:nvPr/>
        </p:nvSpPr>
        <p:spPr>
          <a:xfrm>
            <a:off x="1005840" y="5428488"/>
            <a:ext cx="10241280"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Project work ends before benefits measurement ends.</a:t>
            </a:r>
          </a:p>
        </p:txBody>
      </p:sp>
      <p:sp>
        <p:nvSpPr>
          <p:cNvPr id="19" name="TextBox 1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0" name="TextBox 1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07 · ACTIVITY DEBRIEF</a:t>
            </a:r>
          </a:p>
        </p:txBody>
      </p:sp>
      <p:sp>
        <p:nvSpPr>
          <p:cNvPr id="21" name="TextBox 2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192</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A7F4B"/>
                </a:solidFill>
                <a:latin typeface="Arial"/>
              </a:rPr>
              <a:t>TOPIC 07 · A7 · LO7</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Topic 07 Recap</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Decision</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Work performance data becomes information only after comparison with the approved baseline and thresholds.</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Method</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CPI = EV/AC and SPI = EV/PV; indices below 1.00 signal inefficiency against the baseline.</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Evidence</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200" b="0">
                <a:solidFill>
                  <a:srgbClr val="131B2A"/>
                </a:solidFill>
                <a:latin typeface="Arial"/>
              </a:rPr>
              <a:t>Signed acceptance matrix, handover and training evidence, unresolved-item disposition, contract closeout, lessons register, benefits tracker and formal closure recommendation.</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Capability</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Close only when deliverables, transition, contracts, records and benefits ownership are evidenced (A7).</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TOPIC 07 · A7 · LO7</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193</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58368" y="1554480"/>
            <a:ext cx="10881360" cy="36118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554480"/>
            <a:ext cx="128016" cy="361188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70432" y="1901952"/>
            <a:ext cx="7955279" cy="365760"/>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WRAP-UP</a:t>
            </a:r>
          </a:p>
        </p:txBody>
      </p:sp>
      <p:sp>
        <p:nvSpPr>
          <p:cNvPr id="6" name="TextBox 5"/>
          <p:cNvSpPr txBox="1"/>
          <p:nvPr/>
        </p:nvSpPr>
        <p:spPr>
          <a:xfrm>
            <a:off x="1170432" y="2395728"/>
            <a:ext cx="9052560" cy="914400"/>
          </a:xfrm>
          <a:prstGeom prst="rect">
            <a:avLst/>
          </a:prstGeom>
          <a:noFill/>
        </p:spPr>
        <p:txBody>
          <a:bodyPr wrap="square" lIns="0" rIns="0" tIns="0" bIns="0" anchor="ctr">
            <a:spAutoFit/>
          </a:bodyPr>
          <a:lstStyle/>
          <a:p>
            <a:pPr algn="l">
              <a:spcAft>
                <a:spcPts val="300"/>
              </a:spcAft>
            </a:pPr>
            <a:r>
              <a:rPr sz="3400" b="1">
                <a:solidFill>
                  <a:srgbClr val="131B2A"/>
                </a:solidFill>
                <a:latin typeface="Arial"/>
              </a:rPr>
              <a:t>Course Wrap-Up</a:t>
            </a:r>
          </a:p>
        </p:txBody>
      </p:sp>
      <p:sp>
        <p:nvSpPr>
          <p:cNvPr id="7" name="TextBox 6"/>
          <p:cNvSpPr txBox="1"/>
          <p:nvPr/>
        </p:nvSpPr>
        <p:spPr>
          <a:xfrm>
            <a:off x="1170432" y="3474720"/>
            <a:ext cx="9052560" cy="777240"/>
          </a:xfrm>
          <a:prstGeom prst="rect">
            <a:avLst/>
          </a:prstGeom>
          <a:noFill/>
        </p:spPr>
        <p:txBody>
          <a:bodyPr wrap="square" lIns="0" rIns="0" tIns="0" bIns="0" anchor="t">
            <a:spAutoFit/>
          </a:bodyPr>
          <a:lstStyle/>
          <a:p>
            <a:pPr algn="l">
              <a:spcAft>
                <a:spcPts val="300"/>
              </a:spcAft>
            </a:pPr>
            <a:r>
              <a:rPr sz="1600" b="0">
                <a:solidFill>
                  <a:srgbClr val="5F6B7A"/>
                </a:solidFill>
                <a:latin typeface="Arial"/>
              </a:rPr>
              <a:t>From authorisation to controlled handover—one connected evidence chain.</a:t>
            </a:r>
          </a:p>
        </p:txBody>
      </p:sp>
      <p:sp>
        <p:nvSpPr>
          <p:cNvPr id="8" name="TextBox 7"/>
          <p:cNvSpPr txBox="1"/>
          <p:nvPr/>
        </p:nvSpPr>
        <p:spPr>
          <a:xfrm>
            <a:off x="9308592" y="594360"/>
            <a:ext cx="1920240" cy="1097280"/>
          </a:xfrm>
          <a:prstGeom prst="rect">
            <a:avLst/>
          </a:prstGeom>
          <a:noFill/>
        </p:spPr>
        <p:txBody>
          <a:bodyPr wrap="square" lIns="0" rIns="0" tIns="0" bIns="0" anchor="t">
            <a:spAutoFit/>
          </a:bodyPr>
          <a:lstStyle/>
          <a:p>
            <a:pPr algn="r">
              <a:spcAft>
                <a:spcPts val="300"/>
              </a:spcAft>
            </a:pPr>
            <a:r>
              <a:rPr sz="6200" b="1">
                <a:solidFill>
                  <a:srgbClr val="DAE2EC"/>
                </a:solidFill>
                <a:latin typeface="Arial"/>
              </a:rPr>
              <a:t/>
            </a:r>
          </a:p>
        </p:txBody>
      </p:sp>
      <p:sp>
        <p:nvSpPr>
          <p:cNvPr id="9" name="TextBox 8"/>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10" name="TextBox 9"/>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WRAP-UP</a:t>
            </a:r>
          </a:p>
        </p:txBody>
      </p:sp>
      <p:sp>
        <p:nvSpPr>
          <p:cNvPr id="11" name="TextBox 10"/>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194</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0F9D8A"/>
                </a:solidFill>
                <a:latin typeface="Arial"/>
              </a:rPr>
              <a:t>WRAP-UP · END-TO-END</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The Small-Project Delivery System</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965960"/>
            <a:ext cx="1645919" cy="13716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0279"/>
            <a:ext cx="1389887" cy="457200"/>
          </a:xfrm>
          <a:prstGeom prst="rect">
            <a:avLst/>
          </a:prstGeom>
          <a:noFill/>
        </p:spPr>
        <p:txBody>
          <a:bodyPr wrap="square" lIns="0" rIns="0" tIns="0" bIns="0" anchor="t">
            <a:spAutoFit/>
          </a:bodyPr>
          <a:lstStyle/>
          <a:p>
            <a:pPr algn="ctr">
              <a:spcAft>
                <a:spcPts val="300"/>
              </a:spcAft>
            </a:pPr>
            <a:r>
              <a:rPr sz="1400" b="1">
                <a:solidFill>
                  <a:srgbClr val="1655D1"/>
                </a:solidFill>
                <a:latin typeface="Arial"/>
              </a:rPr>
              <a:t>01</a:t>
            </a:r>
          </a:p>
        </p:txBody>
      </p:sp>
      <p:sp>
        <p:nvSpPr>
          <p:cNvPr id="10" name="TextBox 9"/>
          <p:cNvSpPr txBox="1"/>
          <p:nvPr/>
        </p:nvSpPr>
        <p:spPr>
          <a:xfrm>
            <a:off x="877824"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Initiate</a:t>
            </a:r>
          </a:p>
        </p:txBody>
      </p:sp>
      <p:sp>
        <p:nvSpPr>
          <p:cNvPr id="11" name="TextBox 10"/>
          <p:cNvSpPr txBox="1"/>
          <p:nvPr/>
        </p:nvSpPr>
        <p:spPr>
          <a:xfrm>
            <a:off x="896112"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value, boundaries and authority</a:t>
            </a:r>
          </a:p>
        </p:txBody>
      </p:sp>
      <p:cxnSp>
        <p:nvCxnSpPr>
          <p:cNvPr id="12" name="Connector 11"/>
          <p:cNvCxnSpPr/>
          <p:nvPr/>
        </p:nvCxnSpPr>
        <p:spPr>
          <a:xfrm>
            <a:off x="2395727" y="3474720"/>
            <a:ext cx="164593"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560320"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60320" y="1965960"/>
            <a:ext cx="1645919" cy="13716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88336" y="2240279"/>
            <a:ext cx="1389887" cy="457200"/>
          </a:xfrm>
          <a:prstGeom prst="rect">
            <a:avLst/>
          </a:prstGeom>
          <a:noFill/>
        </p:spPr>
        <p:txBody>
          <a:bodyPr wrap="square" lIns="0" rIns="0" tIns="0" bIns="0" anchor="t">
            <a:spAutoFit/>
          </a:bodyPr>
          <a:lstStyle/>
          <a:p>
            <a:pPr algn="ctr">
              <a:spcAft>
                <a:spcPts val="300"/>
              </a:spcAft>
            </a:pPr>
            <a:r>
              <a:rPr sz="1400" b="1">
                <a:solidFill>
                  <a:srgbClr val="0F9D8A"/>
                </a:solidFill>
                <a:latin typeface="Arial"/>
              </a:rPr>
              <a:t>02</a:t>
            </a:r>
          </a:p>
        </p:txBody>
      </p:sp>
      <p:sp>
        <p:nvSpPr>
          <p:cNvPr id="16" name="TextBox 15"/>
          <p:cNvSpPr txBox="1"/>
          <p:nvPr/>
        </p:nvSpPr>
        <p:spPr>
          <a:xfrm>
            <a:off x="2688336"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Plan</a:t>
            </a:r>
          </a:p>
        </p:txBody>
      </p:sp>
      <p:sp>
        <p:nvSpPr>
          <p:cNvPr id="17" name="TextBox 16"/>
          <p:cNvSpPr txBox="1"/>
          <p:nvPr/>
        </p:nvSpPr>
        <p:spPr>
          <a:xfrm>
            <a:off x="2706624"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scope, sequence, resources and cost</a:t>
            </a:r>
          </a:p>
        </p:txBody>
      </p:sp>
      <p:cxnSp>
        <p:nvCxnSpPr>
          <p:cNvPr id="18" name="Connector 17"/>
          <p:cNvCxnSpPr/>
          <p:nvPr/>
        </p:nvCxnSpPr>
        <p:spPr>
          <a:xfrm>
            <a:off x="4206240" y="3474720"/>
            <a:ext cx="164591"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370831"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70831" y="1965960"/>
            <a:ext cx="1645919" cy="137160"/>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98847" y="2240279"/>
            <a:ext cx="1389887" cy="457200"/>
          </a:xfrm>
          <a:prstGeom prst="rect">
            <a:avLst/>
          </a:prstGeom>
          <a:noFill/>
        </p:spPr>
        <p:txBody>
          <a:bodyPr wrap="square" lIns="0" rIns="0" tIns="0" bIns="0" anchor="t">
            <a:spAutoFit/>
          </a:bodyPr>
          <a:lstStyle/>
          <a:p>
            <a:pPr algn="ctr">
              <a:spcAft>
                <a:spcPts val="300"/>
              </a:spcAft>
            </a:pPr>
            <a:r>
              <a:rPr sz="1400" b="1">
                <a:solidFill>
                  <a:srgbClr val="703CC3"/>
                </a:solidFill>
                <a:latin typeface="Arial"/>
              </a:rPr>
              <a:t>03</a:t>
            </a:r>
          </a:p>
        </p:txBody>
      </p:sp>
      <p:sp>
        <p:nvSpPr>
          <p:cNvPr id="22" name="TextBox 21"/>
          <p:cNvSpPr txBox="1"/>
          <p:nvPr/>
        </p:nvSpPr>
        <p:spPr>
          <a:xfrm>
            <a:off x="4498847"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Drive</a:t>
            </a:r>
          </a:p>
        </p:txBody>
      </p:sp>
      <p:sp>
        <p:nvSpPr>
          <p:cNvPr id="23" name="TextBox 22"/>
          <p:cNvSpPr txBox="1"/>
          <p:nvPr/>
        </p:nvSpPr>
        <p:spPr>
          <a:xfrm>
            <a:off x="4517136"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tools, quality and flow</a:t>
            </a:r>
          </a:p>
        </p:txBody>
      </p:sp>
      <p:cxnSp>
        <p:nvCxnSpPr>
          <p:cNvPr id="24" name="Connector 23"/>
          <p:cNvCxnSpPr/>
          <p:nvPr/>
        </p:nvCxnSpPr>
        <p:spPr>
          <a:xfrm>
            <a:off x="6016751" y="3474720"/>
            <a:ext cx="164592"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181344"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81344" y="1965960"/>
            <a:ext cx="1645919" cy="137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59" y="2240279"/>
            <a:ext cx="1389887" cy="457200"/>
          </a:xfrm>
          <a:prstGeom prst="rect">
            <a:avLst/>
          </a:prstGeom>
          <a:noFill/>
        </p:spPr>
        <p:txBody>
          <a:bodyPr wrap="square" lIns="0" rIns="0" tIns="0" bIns="0" anchor="t">
            <a:spAutoFit/>
          </a:bodyPr>
          <a:lstStyle/>
          <a:p>
            <a:pPr algn="ctr">
              <a:spcAft>
                <a:spcPts val="300"/>
              </a:spcAft>
            </a:pPr>
            <a:r>
              <a:rPr sz="1400" b="1">
                <a:solidFill>
                  <a:srgbClr val="F59E0B"/>
                </a:solidFill>
                <a:latin typeface="Arial"/>
              </a:rPr>
              <a:t>04</a:t>
            </a:r>
          </a:p>
        </p:txBody>
      </p:sp>
      <p:sp>
        <p:nvSpPr>
          <p:cNvPr id="28" name="TextBox 27"/>
          <p:cNvSpPr txBox="1"/>
          <p:nvPr/>
        </p:nvSpPr>
        <p:spPr>
          <a:xfrm>
            <a:off x="6309359"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Protect</a:t>
            </a:r>
          </a:p>
        </p:txBody>
      </p:sp>
      <p:sp>
        <p:nvSpPr>
          <p:cNvPr id="29" name="TextBox 28"/>
          <p:cNvSpPr txBox="1"/>
          <p:nvPr/>
        </p:nvSpPr>
        <p:spPr>
          <a:xfrm>
            <a:off x="6327648"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risk and stakeholder alignment</a:t>
            </a:r>
          </a:p>
        </p:txBody>
      </p:sp>
      <p:cxnSp>
        <p:nvCxnSpPr>
          <p:cNvPr id="30" name="Connector 29"/>
          <p:cNvCxnSpPr/>
          <p:nvPr/>
        </p:nvCxnSpPr>
        <p:spPr>
          <a:xfrm>
            <a:off x="7827263" y="3474720"/>
            <a:ext cx="164592"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991855"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91855" y="1965960"/>
            <a:ext cx="1645919" cy="13716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19871" y="2240279"/>
            <a:ext cx="1389887" cy="457200"/>
          </a:xfrm>
          <a:prstGeom prst="rect">
            <a:avLst/>
          </a:prstGeom>
          <a:noFill/>
        </p:spPr>
        <p:txBody>
          <a:bodyPr wrap="square" lIns="0" rIns="0" tIns="0" bIns="0" anchor="t">
            <a:spAutoFit/>
          </a:bodyPr>
          <a:lstStyle/>
          <a:p>
            <a:pPr algn="ctr">
              <a:spcAft>
                <a:spcPts val="300"/>
              </a:spcAft>
            </a:pPr>
            <a:r>
              <a:rPr sz="1400" b="1">
                <a:solidFill>
                  <a:srgbClr val="1A7F4B"/>
                </a:solidFill>
                <a:latin typeface="Arial"/>
              </a:rPr>
              <a:t>05</a:t>
            </a:r>
          </a:p>
        </p:txBody>
      </p:sp>
      <p:sp>
        <p:nvSpPr>
          <p:cNvPr id="34" name="TextBox 33"/>
          <p:cNvSpPr txBox="1"/>
          <p:nvPr/>
        </p:nvSpPr>
        <p:spPr>
          <a:xfrm>
            <a:off x="8119871"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Control</a:t>
            </a:r>
          </a:p>
        </p:txBody>
      </p:sp>
      <p:sp>
        <p:nvSpPr>
          <p:cNvPr id="35" name="TextBox 34"/>
          <p:cNvSpPr txBox="1"/>
          <p:nvPr/>
        </p:nvSpPr>
        <p:spPr>
          <a:xfrm>
            <a:off x="8138159"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variance, change and action</a:t>
            </a:r>
          </a:p>
        </p:txBody>
      </p:sp>
      <p:cxnSp>
        <p:nvCxnSpPr>
          <p:cNvPr id="36" name="Connector 35"/>
          <p:cNvCxnSpPr/>
          <p:nvPr/>
        </p:nvCxnSpPr>
        <p:spPr>
          <a:xfrm>
            <a:off x="9637776" y="3474720"/>
            <a:ext cx="164591" cy="0"/>
          </a:xfrm>
          <a:prstGeom prst="line">
            <a:avLst/>
          </a:prstGeom>
          <a:ln w="2540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802367" y="1965960"/>
            <a:ext cx="1645919" cy="30632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02367" y="1965960"/>
            <a:ext cx="1645919" cy="137160"/>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930384" y="2240279"/>
            <a:ext cx="1389887" cy="457200"/>
          </a:xfrm>
          <a:prstGeom prst="rect">
            <a:avLst/>
          </a:prstGeom>
          <a:noFill/>
        </p:spPr>
        <p:txBody>
          <a:bodyPr wrap="square" lIns="0" rIns="0" tIns="0" bIns="0" anchor="t">
            <a:spAutoFit/>
          </a:bodyPr>
          <a:lstStyle/>
          <a:p>
            <a:pPr algn="ctr">
              <a:spcAft>
                <a:spcPts val="300"/>
              </a:spcAft>
            </a:pPr>
            <a:r>
              <a:rPr sz="1400" b="1">
                <a:solidFill>
                  <a:srgbClr val="C93131"/>
                </a:solidFill>
                <a:latin typeface="Arial"/>
              </a:rPr>
              <a:t>06</a:t>
            </a:r>
          </a:p>
        </p:txBody>
      </p:sp>
      <p:sp>
        <p:nvSpPr>
          <p:cNvPr id="40" name="TextBox 39"/>
          <p:cNvSpPr txBox="1"/>
          <p:nvPr/>
        </p:nvSpPr>
        <p:spPr>
          <a:xfrm>
            <a:off x="9930384" y="2752344"/>
            <a:ext cx="1389887" cy="658368"/>
          </a:xfrm>
          <a:prstGeom prst="rect">
            <a:avLst/>
          </a:prstGeom>
          <a:noFill/>
        </p:spPr>
        <p:txBody>
          <a:bodyPr wrap="square" lIns="0" rIns="0" tIns="0" bIns="0" anchor="t">
            <a:spAutoFit/>
          </a:bodyPr>
          <a:lstStyle/>
          <a:p>
            <a:pPr algn="ctr">
              <a:spcAft>
                <a:spcPts val="300"/>
              </a:spcAft>
            </a:pPr>
            <a:r>
              <a:rPr sz="1500" b="1">
                <a:solidFill>
                  <a:srgbClr val="131B2A"/>
                </a:solidFill>
                <a:latin typeface="Arial"/>
              </a:rPr>
              <a:t>Close</a:t>
            </a:r>
          </a:p>
        </p:txBody>
      </p:sp>
      <p:sp>
        <p:nvSpPr>
          <p:cNvPr id="41" name="TextBox 40"/>
          <p:cNvSpPr txBox="1"/>
          <p:nvPr/>
        </p:nvSpPr>
        <p:spPr>
          <a:xfrm>
            <a:off x="9948672" y="3465576"/>
            <a:ext cx="1353311" cy="1234440"/>
          </a:xfrm>
          <a:prstGeom prst="rect">
            <a:avLst/>
          </a:prstGeom>
          <a:noFill/>
        </p:spPr>
        <p:txBody>
          <a:bodyPr wrap="square" lIns="0" rIns="0" tIns="0" bIns="0" anchor="ctr">
            <a:spAutoFit/>
          </a:bodyPr>
          <a:lstStyle/>
          <a:p>
            <a:pPr algn="ctr">
              <a:spcAft>
                <a:spcPts val="300"/>
              </a:spcAft>
            </a:pPr>
            <a:r>
              <a:rPr sz="1150" b="0">
                <a:solidFill>
                  <a:srgbClr val="5F6B7A"/>
                </a:solidFill>
                <a:latin typeface="Arial"/>
              </a:rPr>
              <a:t>acceptance, transition and learning</a:t>
            </a:r>
          </a:p>
        </p:txBody>
      </p:sp>
      <p:sp>
        <p:nvSpPr>
          <p:cNvPr id="42" name="Rounded Rectangle 41"/>
          <p:cNvSpPr/>
          <p:nvPr/>
        </p:nvSpPr>
        <p:spPr>
          <a:xfrm>
            <a:off x="749808" y="5303520"/>
            <a:ext cx="10698480" cy="713232"/>
          </a:xfrm>
          <a:prstGeom prst="roundRect">
            <a:avLst>
              <a:gd name="adj" fmla="val 8000"/>
            </a:avLst>
          </a:prstGeom>
          <a:solidFill>
            <a:srgbClr val="FFFFFF"/>
          </a:solidFill>
          <a:ln w="127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 y="5404104"/>
            <a:ext cx="10195560" cy="502920"/>
          </a:xfrm>
          <a:prstGeom prst="rect">
            <a:avLst/>
          </a:prstGeom>
          <a:noFill/>
        </p:spPr>
        <p:txBody>
          <a:bodyPr wrap="square" lIns="0" rIns="0" tIns="0" bIns="0" anchor="ctr">
            <a:spAutoFit/>
          </a:bodyPr>
          <a:lstStyle/>
          <a:p>
            <a:pPr algn="l">
              <a:spcAft>
                <a:spcPts val="300"/>
              </a:spcAft>
            </a:pPr>
            <a:r>
              <a:rPr sz="1200" b="1">
                <a:solidFill>
                  <a:srgbClr val="131B2A"/>
                </a:solidFill>
                <a:latin typeface="Arial"/>
              </a:rPr>
              <a:t>Every output becomes an input to the next decision.</a:t>
            </a:r>
          </a:p>
        </p:txBody>
      </p:sp>
      <p:sp>
        <p:nvSpPr>
          <p:cNvPr id="44" name="TextBox 43"/>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45" name="TextBox 44"/>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WRAP-UP · END-TO-END</a:t>
            </a:r>
          </a:p>
        </p:txBody>
      </p:sp>
      <p:sp>
        <p:nvSpPr>
          <p:cNvPr id="46" name="TextBox 45"/>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195</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A7F4B"/>
                </a:solidFill>
                <a:latin typeface="Arial"/>
              </a:rPr>
              <a:t>WRAP-UP · WHAT TO REMEMBER</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Lifecycle Takeaways</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3413759"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1328928"/>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2956559"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01</a:t>
            </a:r>
          </a:p>
        </p:txBody>
      </p:sp>
      <p:sp>
        <p:nvSpPr>
          <p:cNvPr id="10" name="TextBox 9"/>
          <p:cNvSpPr txBox="1"/>
          <p:nvPr/>
        </p:nvSpPr>
        <p:spPr>
          <a:xfrm>
            <a:off x="1005840" y="2313432"/>
            <a:ext cx="2956559"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Start with value and measurable success, not a list of tasks.</a:t>
            </a:r>
          </a:p>
        </p:txBody>
      </p:sp>
      <p:sp>
        <p:nvSpPr>
          <p:cNvPr id="11" name="Rounded Rectangle 10"/>
          <p:cNvSpPr/>
          <p:nvPr/>
        </p:nvSpPr>
        <p:spPr>
          <a:xfrm>
            <a:off x="4392167" y="1783080"/>
            <a:ext cx="3413759"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92167" y="1783080"/>
            <a:ext cx="91440" cy="1328928"/>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8200" y="1947672"/>
            <a:ext cx="2956559"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02</a:t>
            </a:r>
          </a:p>
        </p:txBody>
      </p:sp>
      <p:sp>
        <p:nvSpPr>
          <p:cNvPr id="14" name="TextBox 13"/>
          <p:cNvSpPr txBox="1"/>
          <p:nvPr/>
        </p:nvSpPr>
        <p:spPr>
          <a:xfrm>
            <a:off x="4648200" y="2313432"/>
            <a:ext cx="2956559"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Integrate scope, schedule and cost around the same work packages.</a:t>
            </a:r>
          </a:p>
        </p:txBody>
      </p:sp>
      <p:sp>
        <p:nvSpPr>
          <p:cNvPr id="15" name="Rounded Rectangle 14"/>
          <p:cNvSpPr/>
          <p:nvPr/>
        </p:nvSpPr>
        <p:spPr>
          <a:xfrm>
            <a:off x="8034527" y="1783080"/>
            <a:ext cx="3413759"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34527" y="1783080"/>
            <a:ext cx="91440" cy="1328928"/>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559" y="1947672"/>
            <a:ext cx="2956559"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03</a:t>
            </a:r>
          </a:p>
        </p:txBody>
      </p:sp>
      <p:sp>
        <p:nvSpPr>
          <p:cNvPr id="18" name="TextBox 17"/>
          <p:cNvSpPr txBox="1"/>
          <p:nvPr/>
        </p:nvSpPr>
        <p:spPr>
          <a:xfrm>
            <a:off x="8290559" y="2313432"/>
            <a:ext cx="2956559"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Choose the tool that changes the next decision and retire unused reporting.</a:t>
            </a:r>
          </a:p>
        </p:txBody>
      </p:sp>
      <p:sp>
        <p:nvSpPr>
          <p:cNvPr id="19" name="Rounded Rectangle 18"/>
          <p:cNvSpPr/>
          <p:nvPr/>
        </p:nvSpPr>
        <p:spPr>
          <a:xfrm>
            <a:off x="749808" y="3340608"/>
            <a:ext cx="3413759"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9808" y="3340608"/>
            <a:ext cx="91440" cy="13289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3505200"/>
            <a:ext cx="2956559"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04</a:t>
            </a:r>
          </a:p>
        </p:txBody>
      </p:sp>
      <p:sp>
        <p:nvSpPr>
          <p:cNvPr id="22" name="TextBox 21"/>
          <p:cNvSpPr txBox="1"/>
          <p:nvPr/>
        </p:nvSpPr>
        <p:spPr>
          <a:xfrm>
            <a:off x="1005840" y="3870960"/>
            <a:ext cx="2956559"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Fund risk responses before triggers become issues.</a:t>
            </a:r>
          </a:p>
        </p:txBody>
      </p:sp>
      <p:sp>
        <p:nvSpPr>
          <p:cNvPr id="23" name="Rounded Rectangle 22"/>
          <p:cNvSpPr/>
          <p:nvPr/>
        </p:nvSpPr>
        <p:spPr>
          <a:xfrm>
            <a:off x="4392167" y="3340608"/>
            <a:ext cx="3413759"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92167" y="3340608"/>
            <a:ext cx="91440" cy="1328928"/>
          </a:xfrm>
          <a:prstGeom prst="rect">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48200" y="3505200"/>
            <a:ext cx="2956559" cy="438912"/>
          </a:xfrm>
          <a:prstGeom prst="rect">
            <a:avLst/>
          </a:prstGeom>
          <a:noFill/>
        </p:spPr>
        <p:txBody>
          <a:bodyPr wrap="square" lIns="0" rIns="0" tIns="0" bIns="0" anchor="t">
            <a:spAutoFit/>
          </a:bodyPr>
          <a:lstStyle/>
          <a:p>
            <a:pPr algn="l">
              <a:spcAft>
                <a:spcPts val="300"/>
              </a:spcAft>
            </a:pPr>
            <a:r>
              <a:rPr sz="1300" b="1">
                <a:solidFill>
                  <a:srgbClr val="1A7F4B"/>
                </a:solidFill>
                <a:latin typeface="Arial"/>
              </a:rPr>
              <a:t>05</a:t>
            </a:r>
          </a:p>
        </p:txBody>
      </p:sp>
      <p:sp>
        <p:nvSpPr>
          <p:cNvPr id="26" name="TextBox 25"/>
          <p:cNvSpPr txBox="1"/>
          <p:nvPr/>
        </p:nvSpPr>
        <p:spPr>
          <a:xfrm>
            <a:off x="4648200" y="3870960"/>
            <a:ext cx="2956559"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Make accountability and stakeholder feedback visible.</a:t>
            </a:r>
          </a:p>
        </p:txBody>
      </p:sp>
      <p:sp>
        <p:nvSpPr>
          <p:cNvPr id="27" name="Rounded Rectangle 26"/>
          <p:cNvSpPr/>
          <p:nvPr/>
        </p:nvSpPr>
        <p:spPr>
          <a:xfrm>
            <a:off x="8034527" y="3340608"/>
            <a:ext cx="3413759"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34527" y="3340608"/>
            <a:ext cx="91440" cy="1328928"/>
          </a:xfrm>
          <a:prstGeom prst="rect">
            <a:avLst/>
          </a:prstGeom>
          <a:solidFill>
            <a:srgbClr val="C9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90559" y="3505200"/>
            <a:ext cx="2956559" cy="438912"/>
          </a:xfrm>
          <a:prstGeom prst="rect">
            <a:avLst/>
          </a:prstGeom>
          <a:noFill/>
        </p:spPr>
        <p:txBody>
          <a:bodyPr wrap="square" lIns="0" rIns="0" tIns="0" bIns="0" anchor="t">
            <a:spAutoFit/>
          </a:bodyPr>
          <a:lstStyle/>
          <a:p>
            <a:pPr algn="l">
              <a:spcAft>
                <a:spcPts val="300"/>
              </a:spcAft>
            </a:pPr>
            <a:r>
              <a:rPr sz="1300" b="1">
                <a:solidFill>
                  <a:srgbClr val="C93131"/>
                </a:solidFill>
                <a:latin typeface="Arial"/>
              </a:rPr>
              <a:t>06</a:t>
            </a:r>
          </a:p>
        </p:txBody>
      </p:sp>
      <p:sp>
        <p:nvSpPr>
          <p:cNvPr id="30" name="TextBox 29"/>
          <p:cNvSpPr txBox="1"/>
          <p:nvPr/>
        </p:nvSpPr>
        <p:spPr>
          <a:xfrm>
            <a:off x="8290559" y="3870960"/>
            <a:ext cx="2956559"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Plan capacity at the constraint, not by nominal headcount.</a:t>
            </a:r>
          </a:p>
        </p:txBody>
      </p:sp>
      <p:sp>
        <p:nvSpPr>
          <p:cNvPr id="31" name="Rounded Rectangle 30"/>
          <p:cNvSpPr/>
          <p:nvPr/>
        </p:nvSpPr>
        <p:spPr>
          <a:xfrm>
            <a:off x="4392168" y="4898136"/>
            <a:ext cx="3413759" cy="1328928"/>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392168" y="4898136"/>
            <a:ext cx="91440" cy="1328928"/>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48200" y="5062728"/>
            <a:ext cx="2956559"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07</a:t>
            </a:r>
          </a:p>
        </p:txBody>
      </p:sp>
      <p:sp>
        <p:nvSpPr>
          <p:cNvPr id="34" name="TextBox 33"/>
          <p:cNvSpPr txBox="1"/>
          <p:nvPr/>
        </p:nvSpPr>
        <p:spPr>
          <a:xfrm>
            <a:off x="4648200" y="5428488"/>
            <a:ext cx="2956559" cy="643128"/>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Control through forecast and action; close through evidence and transfer.</a:t>
            </a:r>
          </a:p>
        </p:txBody>
      </p:sp>
      <p:sp>
        <p:nvSpPr>
          <p:cNvPr id="35" name="TextBox 34"/>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36" name="TextBox 35"/>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WRAP-UP · WHAT TO REMEMBER</a:t>
            </a:r>
          </a:p>
        </p:txBody>
      </p:sp>
      <p:sp>
        <p:nvSpPr>
          <p:cNvPr id="37" name="TextBox 36"/>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196</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F59E0B"/>
                </a:solidFill>
                <a:latin typeface="Arial"/>
              </a:rPr>
              <a:t>ASSESSMENT · READY WHEN</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Assessment Readiness Check</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Knowledge</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Can you explain the small-project elements, plan requirements, tools, risks and stakeholder identification?</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Application</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Can you produce and interpret the charter, baseline, quality analysis, risk register, RACI, resource plan and control evidence?</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Judgement</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Can you choose a method, explain the trade-off and recommend a proportionate action?</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Evidence</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Can you trace each recommendation to the case facts and an approved project artifact?</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ASSESSMENT · READY WHEN</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197</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141732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84048"/>
            <a:ext cx="10607040" cy="310896"/>
          </a:xfrm>
          <a:prstGeom prst="rect">
            <a:avLst/>
          </a:prstGeom>
          <a:noFill/>
        </p:spPr>
        <p:txBody>
          <a:bodyPr wrap="square" lIns="0" rIns="0" tIns="0" bIns="0" anchor="t">
            <a:spAutoFit/>
          </a:bodyPr>
          <a:lstStyle/>
          <a:p>
            <a:pPr algn="l">
              <a:spcAft>
                <a:spcPts val="300"/>
              </a:spcAft>
            </a:pPr>
            <a:r>
              <a:rPr sz="1200" b="1">
                <a:solidFill>
                  <a:srgbClr val="1655D1"/>
                </a:solidFill>
                <a:latin typeface="Arial"/>
              </a:rPr>
              <a:t>AFTER THE COURSE</a:t>
            </a:r>
          </a:p>
        </p:txBody>
      </p:sp>
      <p:sp>
        <p:nvSpPr>
          <p:cNvPr id="5" name="TextBox 4"/>
          <p:cNvSpPr txBox="1"/>
          <p:nvPr/>
        </p:nvSpPr>
        <p:spPr>
          <a:xfrm>
            <a:off x="749808" y="722376"/>
            <a:ext cx="10789920" cy="713232"/>
          </a:xfrm>
          <a:prstGeom prst="rect">
            <a:avLst/>
          </a:prstGeom>
          <a:noFill/>
        </p:spPr>
        <p:txBody>
          <a:bodyPr wrap="square" lIns="0" rIns="0" tIns="0" bIns="0" anchor="ctr">
            <a:spAutoFit/>
          </a:bodyPr>
          <a:lstStyle/>
          <a:p>
            <a:pPr algn="l">
              <a:spcAft>
                <a:spcPts val="300"/>
              </a:spcAft>
            </a:pPr>
            <a:r>
              <a:rPr sz="3000" b="1">
                <a:solidFill>
                  <a:srgbClr val="131B2A"/>
                </a:solidFill>
                <a:latin typeface="Arial"/>
              </a:rPr>
              <a:t>Support</a:t>
            </a:r>
          </a:p>
        </p:txBody>
      </p:sp>
      <p:sp>
        <p:nvSpPr>
          <p:cNvPr id="6" name="Rectangle 5"/>
          <p:cNvSpPr/>
          <p:nvPr/>
        </p:nvSpPr>
        <p:spPr>
          <a:xfrm>
            <a:off x="749808" y="1536192"/>
            <a:ext cx="10698480" cy="18288"/>
          </a:xfrm>
          <a:prstGeom prst="rect">
            <a:avLst/>
          </a:prstGeom>
          <a:solidFill>
            <a:srgbClr val="DA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91440" cy="2107692"/>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47672"/>
            <a:ext cx="4777740" cy="438912"/>
          </a:xfrm>
          <a:prstGeom prst="rect">
            <a:avLst/>
          </a:prstGeom>
          <a:noFill/>
        </p:spPr>
        <p:txBody>
          <a:bodyPr wrap="square" lIns="0" rIns="0" tIns="0" bIns="0" anchor="t">
            <a:spAutoFit/>
          </a:bodyPr>
          <a:lstStyle/>
          <a:p>
            <a:pPr algn="l">
              <a:spcAft>
                <a:spcPts val="300"/>
              </a:spcAft>
            </a:pPr>
            <a:r>
              <a:rPr sz="1300" b="1">
                <a:solidFill>
                  <a:srgbClr val="1655D1"/>
                </a:solidFill>
                <a:latin typeface="Arial"/>
              </a:rPr>
              <a:t>Email</a:t>
            </a:r>
          </a:p>
        </p:txBody>
      </p:sp>
      <p:sp>
        <p:nvSpPr>
          <p:cNvPr id="10" name="TextBox 9"/>
          <p:cNvSpPr txBox="1"/>
          <p:nvPr/>
        </p:nvSpPr>
        <p:spPr>
          <a:xfrm>
            <a:off x="100584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enquiry@tertiaryinfotech.com</a:t>
            </a:r>
          </a:p>
        </p:txBody>
      </p:sp>
      <p:sp>
        <p:nvSpPr>
          <p:cNvPr id="11" name="Rounded Rectangle 10"/>
          <p:cNvSpPr/>
          <p:nvPr/>
        </p:nvSpPr>
        <p:spPr>
          <a:xfrm>
            <a:off x="6213348" y="1783080"/>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3348" y="1783080"/>
            <a:ext cx="91440" cy="2107692"/>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9380" y="1947672"/>
            <a:ext cx="4777740" cy="438912"/>
          </a:xfrm>
          <a:prstGeom prst="rect">
            <a:avLst/>
          </a:prstGeom>
          <a:noFill/>
        </p:spPr>
        <p:txBody>
          <a:bodyPr wrap="square" lIns="0" rIns="0" tIns="0" bIns="0" anchor="t">
            <a:spAutoFit/>
          </a:bodyPr>
          <a:lstStyle/>
          <a:p>
            <a:pPr algn="l">
              <a:spcAft>
                <a:spcPts val="300"/>
              </a:spcAft>
            </a:pPr>
            <a:r>
              <a:rPr sz="1300" b="1">
                <a:solidFill>
                  <a:srgbClr val="0F9D8A"/>
                </a:solidFill>
                <a:latin typeface="Arial"/>
              </a:rPr>
              <a:t>Telephone</a:t>
            </a:r>
          </a:p>
        </p:txBody>
      </p:sp>
      <p:sp>
        <p:nvSpPr>
          <p:cNvPr id="14" name="TextBox 13"/>
          <p:cNvSpPr txBox="1"/>
          <p:nvPr/>
        </p:nvSpPr>
        <p:spPr>
          <a:xfrm>
            <a:off x="6469380" y="2313432"/>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+65 6100 0613</a:t>
            </a:r>
          </a:p>
        </p:txBody>
      </p:sp>
      <p:sp>
        <p:nvSpPr>
          <p:cNvPr id="15" name="Rounded Rectangle 14"/>
          <p:cNvSpPr/>
          <p:nvPr/>
        </p:nvSpPr>
        <p:spPr>
          <a:xfrm>
            <a:off x="74980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119372"/>
            <a:ext cx="91440" cy="2107692"/>
          </a:xfrm>
          <a:prstGeom prst="rect">
            <a:avLst/>
          </a:prstGeom>
          <a:solidFill>
            <a:srgbClr val="703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83964"/>
            <a:ext cx="4777740" cy="438912"/>
          </a:xfrm>
          <a:prstGeom prst="rect">
            <a:avLst/>
          </a:prstGeom>
          <a:noFill/>
        </p:spPr>
        <p:txBody>
          <a:bodyPr wrap="square" lIns="0" rIns="0" tIns="0" bIns="0" anchor="t">
            <a:spAutoFit/>
          </a:bodyPr>
          <a:lstStyle/>
          <a:p>
            <a:pPr algn="l">
              <a:spcAft>
                <a:spcPts val="300"/>
              </a:spcAft>
            </a:pPr>
            <a:r>
              <a:rPr sz="1300" b="1">
                <a:solidFill>
                  <a:srgbClr val="703CC3"/>
                </a:solidFill>
                <a:latin typeface="Arial"/>
              </a:rPr>
              <a:t>Website</a:t>
            </a:r>
          </a:p>
        </p:txBody>
      </p:sp>
      <p:sp>
        <p:nvSpPr>
          <p:cNvPr id="18" name="TextBox 17"/>
          <p:cNvSpPr txBox="1"/>
          <p:nvPr/>
        </p:nvSpPr>
        <p:spPr>
          <a:xfrm>
            <a:off x="100584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www.tertiarycourses.com.sg</a:t>
            </a:r>
          </a:p>
        </p:txBody>
      </p:sp>
      <p:sp>
        <p:nvSpPr>
          <p:cNvPr id="19" name="Rounded Rectangle 18"/>
          <p:cNvSpPr/>
          <p:nvPr/>
        </p:nvSpPr>
        <p:spPr>
          <a:xfrm>
            <a:off x="6213348" y="4119372"/>
            <a:ext cx="5234940" cy="2107692"/>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3348" y="4119372"/>
            <a:ext cx="91440" cy="21076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9380" y="4283964"/>
            <a:ext cx="4777740" cy="438912"/>
          </a:xfrm>
          <a:prstGeom prst="rect">
            <a:avLst/>
          </a:prstGeom>
          <a:noFill/>
        </p:spPr>
        <p:txBody>
          <a:bodyPr wrap="square" lIns="0" rIns="0" tIns="0" bIns="0" anchor="t">
            <a:spAutoFit/>
          </a:bodyPr>
          <a:lstStyle/>
          <a:p>
            <a:pPr algn="l">
              <a:spcAft>
                <a:spcPts val="300"/>
              </a:spcAft>
            </a:pPr>
            <a:r>
              <a:rPr sz="1300" b="1">
                <a:solidFill>
                  <a:srgbClr val="F59E0B"/>
                </a:solidFill>
                <a:latin typeface="Arial"/>
              </a:rPr>
              <a:t>LMS / TMS</a:t>
            </a:r>
          </a:p>
        </p:txBody>
      </p:sp>
      <p:sp>
        <p:nvSpPr>
          <p:cNvPr id="22" name="TextBox 21"/>
          <p:cNvSpPr txBox="1"/>
          <p:nvPr/>
        </p:nvSpPr>
        <p:spPr>
          <a:xfrm>
            <a:off x="6469380" y="4649724"/>
            <a:ext cx="4777740" cy="1421892"/>
          </a:xfrm>
          <a:prstGeom prst="rect">
            <a:avLst/>
          </a:prstGeom>
          <a:noFill/>
        </p:spPr>
        <p:txBody>
          <a:bodyPr wrap="square" lIns="0" rIns="0" tIns="0" bIns="0" anchor="ctr">
            <a:spAutoFit/>
          </a:bodyPr>
          <a:lstStyle/>
          <a:p>
            <a:pPr algn="l">
              <a:spcAft>
                <a:spcPts val="300"/>
              </a:spcAft>
            </a:pPr>
            <a:r>
              <a:rPr sz="1350" b="0">
                <a:solidFill>
                  <a:srgbClr val="131B2A"/>
                </a:solidFill>
                <a:latin typeface="Arial"/>
              </a:rPr>
              <a:t>https://lms-tms.tertiaryinfotech.com</a:t>
            </a:r>
          </a:p>
        </p:txBody>
      </p:sp>
      <p:sp>
        <p:nvSpPr>
          <p:cNvPr id="23" name="TextBox 22"/>
          <p:cNvSpPr txBox="1"/>
          <p:nvPr/>
        </p:nvSpPr>
        <p:spPr>
          <a:xfrm>
            <a:off x="411480" y="6446520"/>
            <a:ext cx="7589520" cy="256032"/>
          </a:xfrm>
          <a:prstGeom prst="rect">
            <a:avLst/>
          </a:prstGeom>
          <a:noFill/>
        </p:spPr>
        <p:txBody>
          <a:bodyPr wrap="square" lIns="0" rIns="0" tIns="0" bIns="0" anchor="t">
            <a:spAutoFit/>
          </a:bodyPr>
          <a:lstStyle/>
          <a:p>
            <a:pPr algn="l">
              <a:spcAft>
                <a:spcPts val="300"/>
              </a:spcAft>
            </a:pPr>
            <a:r>
              <a:rPr sz="900" b="0">
                <a:solidFill>
                  <a:srgbClr val="5F6B7A"/>
                </a:solidFill>
                <a:latin typeface="Arial"/>
              </a:rPr>
              <a:t>Effective Project Management for Small Projects  ·  TGS-2020505545</a:t>
            </a:r>
          </a:p>
        </p:txBody>
      </p:sp>
      <p:sp>
        <p:nvSpPr>
          <p:cNvPr id="24" name="TextBox 23"/>
          <p:cNvSpPr txBox="1"/>
          <p:nvPr/>
        </p:nvSpPr>
        <p:spPr>
          <a:xfrm>
            <a:off x="7406640" y="6446520"/>
            <a:ext cx="3383280" cy="256032"/>
          </a:xfrm>
          <a:prstGeom prst="rect">
            <a:avLst/>
          </a:prstGeom>
          <a:noFill/>
        </p:spPr>
        <p:txBody>
          <a:bodyPr wrap="square" lIns="0" rIns="0" tIns="0" bIns="0" anchor="t">
            <a:spAutoFit/>
          </a:bodyPr>
          <a:lstStyle/>
          <a:p>
            <a:pPr algn="ctr">
              <a:spcAft>
                <a:spcPts val="300"/>
              </a:spcAft>
            </a:pPr>
            <a:r>
              <a:rPr sz="850" b="0">
                <a:solidFill>
                  <a:srgbClr val="5F6B7A"/>
                </a:solidFill>
                <a:latin typeface="Arial"/>
              </a:rPr>
              <a:t>AFTER THE COURSE</a:t>
            </a:r>
          </a:p>
        </p:txBody>
      </p:sp>
      <p:sp>
        <p:nvSpPr>
          <p:cNvPr id="25" name="TextBox 24"/>
          <p:cNvSpPr txBox="1"/>
          <p:nvPr/>
        </p:nvSpPr>
        <p:spPr>
          <a:xfrm>
            <a:off x="11201400" y="6446520"/>
            <a:ext cx="548640" cy="256032"/>
          </a:xfrm>
          <a:prstGeom prst="rect">
            <a:avLst/>
          </a:prstGeom>
          <a:noFill/>
        </p:spPr>
        <p:txBody>
          <a:bodyPr wrap="square" lIns="0" rIns="0" tIns="0" bIns="0" anchor="t">
            <a:spAutoFit/>
          </a:bodyPr>
          <a:lstStyle/>
          <a:p>
            <a:pPr algn="r">
              <a:spcAft>
                <a:spcPts val="300"/>
              </a:spcAft>
            </a:pPr>
            <a:r>
              <a:rPr sz="900" b="0">
                <a:solidFill>
                  <a:srgbClr val="5F6B7A"/>
                </a:solidFill>
                <a:latin typeface="Arial"/>
              </a:rPr>
              <a:t>198</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82880"/>
          </a:xfrm>
          <a:prstGeom prst="rect">
            <a:avLst/>
          </a:prstGeom>
          <a:solidFill>
            <a:srgbClr val="1655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75120"/>
            <a:ext cx="12191695" cy="182880"/>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331720"/>
            <a:ext cx="12191695" cy="914400"/>
          </a:xfrm>
          <a:prstGeom prst="rect">
            <a:avLst/>
          </a:prstGeom>
          <a:noFill/>
        </p:spPr>
        <p:txBody>
          <a:bodyPr wrap="square" lIns="0" rIns="0" tIns="0" bIns="0" anchor="t">
            <a:spAutoFit/>
          </a:bodyPr>
          <a:lstStyle/>
          <a:p>
            <a:pPr algn="ctr">
              <a:spcAft>
                <a:spcPts val="300"/>
              </a:spcAft>
            </a:pPr>
            <a:r>
              <a:rPr sz="5000" b="1">
                <a:solidFill>
                  <a:srgbClr val="131B2A"/>
                </a:solidFill>
                <a:latin typeface="Arial"/>
              </a:rPr>
              <a:t>Thank You!</a:t>
            </a:r>
          </a:p>
        </p:txBody>
      </p:sp>
      <p:sp>
        <p:nvSpPr>
          <p:cNvPr id="6" name="TextBox 5"/>
          <p:cNvSpPr txBox="1"/>
          <p:nvPr/>
        </p:nvSpPr>
        <p:spPr>
          <a:xfrm>
            <a:off x="0" y="3474720"/>
            <a:ext cx="12191695" cy="640080"/>
          </a:xfrm>
          <a:prstGeom prst="rect">
            <a:avLst/>
          </a:prstGeom>
          <a:noFill/>
        </p:spPr>
        <p:txBody>
          <a:bodyPr wrap="square" lIns="0" rIns="0" tIns="0" bIns="0" anchor="t">
            <a:spAutoFit/>
          </a:bodyPr>
          <a:lstStyle/>
          <a:p>
            <a:pPr algn="ctr">
              <a:spcAft>
                <a:spcPts val="300"/>
              </a:spcAft>
            </a:pPr>
            <a:r>
              <a:rPr sz="2000" b="0">
                <a:solidFill>
                  <a:srgbClr val="5F6B7A"/>
                </a:solidFill>
                <a:latin typeface="Arial"/>
              </a:rPr>
              <a:t>Effective Project Management for Small Projects</a:t>
            </a:r>
          </a:p>
        </p:txBody>
      </p:sp>
      <p:sp>
        <p:nvSpPr>
          <p:cNvPr id="7" name="TextBox 6"/>
          <p:cNvSpPr txBox="1"/>
          <p:nvPr/>
        </p:nvSpPr>
        <p:spPr>
          <a:xfrm>
            <a:off x="0" y="4187952"/>
            <a:ext cx="12191695" cy="457200"/>
          </a:xfrm>
          <a:prstGeom prst="rect">
            <a:avLst/>
          </a:prstGeom>
          <a:noFill/>
        </p:spPr>
        <p:txBody>
          <a:bodyPr wrap="square" lIns="0" rIns="0" tIns="0" bIns="0" anchor="t">
            <a:spAutoFit/>
          </a:bodyPr>
          <a:lstStyle/>
          <a:p>
            <a:pPr algn="ctr">
              <a:spcAft>
                <a:spcPts val="300"/>
              </a:spcAft>
            </a:pPr>
            <a:r>
              <a:rPr sz="1200" b="0">
                <a:solidFill>
                  <a:srgbClr val="5F6B7A"/>
                </a:solidFill>
                <a:latin typeface="Arial"/>
              </a:rPr>
              <a:t>TGS-2020505545 · Tertiary Infotech Academy Pte Ltd · UEN: 201200696W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