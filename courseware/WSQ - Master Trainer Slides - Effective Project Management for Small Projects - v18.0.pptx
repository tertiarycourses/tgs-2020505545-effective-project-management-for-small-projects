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82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75120"/>
            <a:ext cx="12191695" cy="18288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ver-hero-v18.png"/>
          <p:cNvPicPr>
            <a:picLocks noChangeAspect="1"/>
          </p:cNvPicPr>
          <p:nvPr/>
        </p:nvPicPr>
        <p:blipFill>
          <a:blip r:embed="rId2"/>
          <a:stretch>
            <a:fillRect/>
          </a:stretch>
        </p:blipFill>
        <p:spPr>
          <a:xfrm>
            <a:off x="6053328" y="182880"/>
            <a:ext cx="6135624" cy="6492240"/>
          </a:xfrm>
          <a:prstGeom prst="rect">
            <a:avLst/>
          </a:prstGeom>
        </p:spPr>
      </p:pic>
      <p:sp>
        <p:nvSpPr>
          <p:cNvPr id="6" name="Rectangle 5"/>
          <p:cNvSpPr/>
          <p:nvPr/>
        </p:nvSpPr>
        <p:spPr>
          <a:xfrm>
            <a:off x="5715000" y="182880"/>
            <a:ext cx="685800" cy="6492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rtiary-infotech-logo.png"/>
          <p:cNvPicPr>
            <a:picLocks noChangeAspect="1"/>
          </p:cNvPicPr>
          <p:nvPr/>
        </p:nvPicPr>
        <p:blipFill>
          <a:blip r:embed="rId3"/>
          <a:stretch>
            <a:fillRect/>
          </a:stretch>
        </p:blipFill>
        <p:spPr>
          <a:xfrm>
            <a:off x="685800" y="438912"/>
            <a:ext cx="658368" cy="658368"/>
          </a:xfrm>
          <a:prstGeom prst="rect">
            <a:avLst/>
          </a:prstGeom>
        </p:spPr>
      </p:pic>
      <p:sp>
        <p:nvSpPr>
          <p:cNvPr id="8" name="TextBox 7"/>
          <p:cNvSpPr txBox="1"/>
          <p:nvPr/>
        </p:nvSpPr>
        <p:spPr>
          <a:xfrm>
            <a:off x="685800" y="1417320"/>
            <a:ext cx="5074920" cy="32004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TRAINER SLIDES  ·  WSQ</a:t>
            </a:r>
          </a:p>
        </p:txBody>
      </p:sp>
      <p:sp>
        <p:nvSpPr>
          <p:cNvPr id="9" name="TextBox 8"/>
          <p:cNvSpPr txBox="1"/>
          <p:nvPr/>
        </p:nvSpPr>
        <p:spPr>
          <a:xfrm>
            <a:off x="685800" y="1847088"/>
            <a:ext cx="5138928" cy="1828800"/>
          </a:xfrm>
          <a:prstGeom prst="rect">
            <a:avLst/>
          </a:prstGeom>
          <a:noFill/>
        </p:spPr>
        <p:txBody>
          <a:bodyPr wrap="square" lIns="0" rIns="0" tIns="0" bIns="0" anchor="t">
            <a:spAutoFit/>
          </a:bodyPr>
          <a:lstStyle/>
          <a:p>
            <a:pPr algn="l">
              <a:spcAft>
                <a:spcPts val="300"/>
              </a:spcAft>
            </a:pPr>
            <a:r>
              <a:rPr sz="3400" b="1">
                <a:solidFill>
                  <a:srgbClr val="131B2A"/>
                </a:solidFill>
                <a:latin typeface="Arial"/>
              </a:rPr>
              <a:t>Effective Project Management for Small Projects</a:t>
            </a:r>
          </a:p>
        </p:txBody>
      </p:sp>
      <p:sp>
        <p:nvSpPr>
          <p:cNvPr id="10" name="Rectangle 9"/>
          <p:cNvSpPr/>
          <p:nvPr/>
        </p:nvSpPr>
        <p:spPr>
          <a:xfrm>
            <a:off x="685800" y="3886200"/>
            <a:ext cx="1417320" cy="5486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133087"/>
            <a:ext cx="5074920" cy="1097280"/>
          </a:xfrm>
          <a:prstGeom prst="rect">
            <a:avLst/>
          </a:prstGeom>
          <a:noFill/>
        </p:spPr>
        <p:txBody>
          <a:bodyPr wrap="square" lIns="0" rIns="0" tIns="0" bIns="0" anchor="t">
            <a:spAutoFit/>
          </a:bodyPr>
          <a:lstStyle/>
          <a:p>
            <a:pPr algn="l">
              <a:spcAft>
                <a:spcPts val="700"/>
              </a:spcAft>
            </a:pPr>
            <a:r>
              <a:rPr sz="1500" b="0">
                <a:solidFill>
                  <a:srgbClr val="5F6B7A"/>
                </a:solidFill>
                <a:latin typeface="Arial"/>
              </a:rPr>
              <a:t>WSQ Course Code: TGS-2020505545 ·</a:t>
            </a:r>
          </a:p>
          <a:p>
            <a:pPr algn="l">
              <a:spcAft>
                <a:spcPts val="700"/>
              </a:spcAft>
            </a:pPr>
            <a:r>
              <a:rPr sz="1400" b="0">
                <a:solidFill>
                  <a:srgbClr val="5F6B7A"/>
                </a:solidFill>
                <a:latin typeface="Arial"/>
              </a:rPr>
              <a:t>2 days · 16 training hours</a:t>
            </a:r>
          </a:p>
          <a:p>
            <a:pPr algn="l">
              <a:spcAft>
                <a:spcPts val="700"/>
              </a:spcAft>
            </a:pPr>
            <a:r>
              <a:rPr sz="1300" b="0">
                <a:solidFill>
                  <a:srgbClr val="5F6B7A"/>
                </a:solidFill>
                <a:latin typeface="Arial"/>
              </a:rPr>
              <a:t>TSC: Project Management · ICT-PMT-3026-1.1</a:t>
            </a:r>
          </a:p>
        </p:txBody>
      </p:sp>
      <p:sp>
        <p:nvSpPr>
          <p:cNvPr id="12" name="TextBox 11"/>
          <p:cNvSpPr txBox="1"/>
          <p:nvPr/>
        </p:nvSpPr>
        <p:spPr>
          <a:xfrm>
            <a:off x="685800" y="5650992"/>
            <a:ext cx="5074920" cy="502920"/>
          </a:xfrm>
          <a:prstGeom prst="rect">
            <a:avLst/>
          </a:prstGeom>
          <a:noFill/>
        </p:spPr>
        <p:txBody>
          <a:bodyPr wrap="square" lIns="0" rIns="0" tIns="0" bIns="0" anchor="t">
            <a:spAutoFit/>
          </a:bodyPr>
          <a:lstStyle/>
          <a:p>
            <a:pPr algn="l">
              <a:spcAft>
                <a:spcPts val="400"/>
              </a:spcAft>
            </a:pPr>
            <a:r>
              <a:rPr sz="1100" b="0">
                <a:solidFill>
                  <a:srgbClr val="5F6B7A"/>
                </a:solidFill>
                <a:latin typeface="Arial"/>
              </a:rPr>
              <a:t>Version v18.0 · 19 August 2026</a:t>
            </a:r>
          </a:p>
          <a:p>
            <a:pPr algn="l">
              <a:spcAft>
                <a:spcPts val="400"/>
              </a:spcAft>
            </a:pPr>
            <a:r>
              <a:rPr sz="900" b="0">
                <a:solidFill>
                  <a:srgbClr val="5F6B7A"/>
                </a:solidFill>
                <a:latin typeface="Arial"/>
              </a:rPr>
              <a:t>Tertiary Infotech Academy Pte Ltd · UEN: 201200696W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COURSE ADMINISTRATION</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Welcome &amp; Housekeeping</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How the two days work and what evidence you will produce</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COURSE ADMINISTRATION</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ADMIN · ATTENDANCE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Digital Attendance (Mandatory)</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AM, PM and Assessment</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Complete every required SSG digital attendance scan.</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Scan the trainer QR</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Use your mobile camera and submit the attendance record.</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75% minimum</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Attendance eligibility is calculated from the official record.</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Assessment required</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Complete the assessment and achieve Competent for funding eligibility.</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ADMIN · ATTENDANCE</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ADMIN · FACILITATOR</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Your Trainer</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Name</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Dr Alfred Ang</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Role</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Course developer and principal trainer, Tertiary Infotech Academy</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Experience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20+ years across engineering, analytics, AI and digital transformation</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Contact</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enquiry@tertiaryinfotech.com · +65 6100 0613</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ADMIN · FACILITATOR</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ADMIN · HOW WE 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Ground Rules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Participate</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Use the tools, challenge assumptions and explain your decisions.</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Respect</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One conversation at a time; disagree with evidence, not people.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Be punctual</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Activities build on one another; missed work creates downstream gaps.</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Keep evidence</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Save every completed template for the case study and assessment review.</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ADMIN · HOW WE WORK</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COURSE ALIGNMENT</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Learning Outcomes — 1 to 4</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LO1</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Develop project scope and team to initiate the facilitation of a small project</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LO2</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Develop a realistic project plan based on the agreed project scope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LO3</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Utilise appropriate methods and tools to track and drive a project</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LO4</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Identify, analyse and manage project risks</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COURSE ALIGNMENT</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COURSE ALIGNMENT</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Learning Outcomes — 5 to 7</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LO5</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Collaborate effectively with project stakeholders</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LO6</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Deploy manpower, budget and other resources for efficient completion</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LO7</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Track project deliverables and correct misalignments through control and closeout</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COURSE ALIGNMENT</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TSC ALIGNMENT</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Skills Framework — Abilities A1 to A4</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841247"/>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Code</a:t>
            </a:r>
          </a:p>
        </p:txBody>
      </p:sp>
      <p:sp>
        <p:nvSpPr>
          <p:cNvPr id="9" name="Rectangle 8"/>
          <p:cNvSpPr/>
          <p:nvPr/>
        </p:nvSpPr>
        <p:spPr>
          <a:xfrm>
            <a:off x="4315968" y="1810512"/>
            <a:ext cx="3566160" cy="841247"/>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Ability</a:t>
            </a:r>
          </a:p>
        </p:txBody>
      </p:sp>
      <p:sp>
        <p:nvSpPr>
          <p:cNvPr id="11" name="Rectangle 10"/>
          <p:cNvSpPr/>
          <p:nvPr/>
        </p:nvSpPr>
        <p:spPr>
          <a:xfrm>
            <a:off x="7882127" y="1810512"/>
            <a:ext cx="3566160" cy="841247"/>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Practice</a:t>
            </a:r>
          </a:p>
        </p:txBody>
      </p:sp>
      <p:sp>
        <p:nvSpPr>
          <p:cNvPr id="13" name="Rectangle 12"/>
          <p:cNvSpPr/>
          <p:nvPr/>
        </p:nvSpPr>
        <p:spPr>
          <a:xfrm>
            <a:off x="749808"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97479"/>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A1</a:t>
            </a:r>
          </a:p>
        </p:txBody>
      </p:sp>
      <p:sp>
        <p:nvSpPr>
          <p:cNvPr id="15" name="Rectangle 14"/>
          <p:cNvSpPr/>
          <p:nvPr/>
        </p:nvSpPr>
        <p:spPr>
          <a:xfrm>
            <a:off x="4315968"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97479"/>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Facilitate execution of small projects that are typically less than six months, with limited budget and interdependencies, and no significant strategic impact</a:t>
            </a:r>
          </a:p>
        </p:txBody>
      </p:sp>
      <p:sp>
        <p:nvSpPr>
          <p:cNvPr id="17" name="Rectangle 16"/>
          <p:cNvSpPr/>
          <p:nvPr/>
        </p:nvSpPr>
        <p:spPr>
          <a:xfrm>
            <a:off x="7882127"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97479"/>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Activity 1</a:t>
            </a:r>
          </a:p>
        </p:txBody>
      </p:sp>
      <p:sp>
        <p:nvSpPr>
          <p:cNvPr id="19" name="Rectangle 18"/>
          <p:cNvSpPr/>
          <p:nvPr/>
        </p:nvSpPr>
        <p:spPr>
          <a:xfrm>
            <a:off x="749808"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538727"/>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A2</a:t>
            </a:r>
          </a:p>
        </p:txBody>
      </p:sp>
      <p:sp>
        <p:nvSpPr>
          <p:cNvPr id="21" name="Rectangle 20"/>
          <p:cNvSpPr/>
          <p:nvPr/>
        </p:nvSpPr>
        <p:spPr>
          <a:xfrm>
            <a:off x="4315968"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538727"/>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Implement realistic project plans based on project objectives and scope</a:t>
            </a:r>
          </a:p>
        </p:txBody>
      </p:sp>
      <p:sp>
        <p:nvSpPr>
          <p:cNvPr id="23" name="Rectangle 22"/>
          <p:cNvSpPr/>
          <p:nvPr/>
        </p:nvSpPr>
        <p:spPr>
          <a:xfrm>
            <a:off x="7882127"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538727"/>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Activity 2</a:t>
            </a:r>
          </a:p>
        </p:txBody>
      </p:sp>
      <p:sp>
        <p:nvSpPr>
          <p:cNvPr id="25" name="Rectangle 24"/>
          <p:cNvSpPr/>
          <p:nvPr/>
        </p:nvSpPr>
        <p:spPr>
          <a:xfrm>
            <a:off x="749808"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379976"/>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A3</a:t>
            </a:r>
          </a:p>
        </p:txBody>
      </p:sp>
      <p:sp>
        <p:nvSpPr>
          <p:cNvPr id="27" name="Rectangle 26"/>
          <p:cNvSpPr/>
          <p:nvPr/>
        </p:nvSpPr>
        <p:spPr>
          <a:xfrm>
            <a:off x="4315968"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379976"/>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Utilise appropriate methods and tools to track and drive progress against plans and timelines</a:t>
            </a:r>
          </a:p>
        </p:txBody>
      </p:sp>
      <p:sp>
        <p:nvSpPr>
          <p:cNvPr id="29" name="Rectangle 28"/>
          <p:cNvSpPr/>
          <p:nvPr/>
        </p:nvSpPr>
        <p:spPr>
          <a:xfrm>
            <a:off x="7882127"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379976"/>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Activity 3</a:t>
            </a:r>
          </a:p>
        </p:txBody>
      </p:sp>
      <p:sp>
        <p:nvSpPr>
          <p:cNvPr id="31" name="Rectangle 30"/>
          <p:cNvSpPr/>
          <p:nvPr/>
        </p:nvSpPr>
        <p:spPr>
          <a:xfrm>
            <a:off x="749808"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221224"/>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A4</a:t>
            </a:r>
          </a:p>
        </p:txBody>
      </p:sp>
      <p:sp>
        <p:nvSpPr>
          <p:cNvPr id="33" name="Rectangle 32"/>
          <p:cNvSpPr/>
          <p:nvPr/>
        </p:nvSpPr>
        <p:spPr>
          <a:xfrm>
            <a:off x="4315968"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5221224"/>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Identify risks to project success and take appropriate actions to manage them</a:t>
            </a:r>
          </a:p>
        </p:txBody>
      </p:sp>
      <p:sp>
        <p:nvSpPr>
          <p:cNvPr id="35" name="Rectangle 34"/>
          <p:cNvSpPr/>
          <p:nvPr/>
        </p:nvSpPr>
        <p:spPr>
          <a:xfrm>
            <a:off x="7882127"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5221224"/>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Activity 4</a:t>
            </a:r>
          </a:p>
        </p:txBody>
      </p:sp>
      <p:sp>
        <p:nvSpPr>
          <p:cNvPr id="37" name="TextBox 36"/>
          <p:cNvSpPr txBox="1"/>
          <p:nvPr/>
        </p:nvSpPr>
        <p:spPr>
          <a:xfrm>
            <a:off x="804672" y="6080760"/>
            <a:ext cx="10515600" cy="219456"/>
          </a:xfrm>
          <a:prstGeom prst="rect">
            <a:avLst/>
          </a:prstGeom>
          <a:noFill/>
        </p:spPr>
        <p:txBody>
          <a:bodyPr wrap="square" lIns="0" rIns="0" tIns="0" bIns="0" anchor="t">
            <a:spAutoFit/>
          </a:bodyPr>
          <a:lstStyle/>
          <a:p>
            <a:pPr algn="ctr">
              <a:spcAft>
                <a:spcPts val="300"/>
              </a:spcAft>
            </a:pPr>
            <a:r>
              <a:rPr sz="950" b="1">
                <a:solidFill>
                  <a:srgbClr val="5F6B7A"/>
                </a:solidFill>
                <a:latin typeface="Arial"/>
              </a:rPr>
              <a:t>Every assessed ability has a named tool-based activity.</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TSC ALIGNMENT</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TSC ALIGNMENT</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Skills Framework — Abilities A5 to A7</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1051560"/>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90525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Code</a:t>
            </a:r>
          </a:p>
        </p:txBody>
      </p:sp>
      <p:sp>
        <p:nvSpPr>
          <p:cNvPr id="9" name="Rectangle 8"/>
          <p:cNvSpPr/>
          <p:nvPr/>
        </p:nvSpPr>
        <p:spPr>
          <a:xfrm>
            <a:off x="4315968" y="1810512"/>
            <a:ext cx="3566160" cy="1051560"/>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90525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Ability</a:t>
            </a:r>
          </a:p>
        </p:txBody>
      </p:sp>
      <p:sp>
        <p:nvSpPr>
          <p:cNvPr id="11" name="Rectangle 10"/>
          <p:cNvSpPr/>
          <p:nvPr/>
        </p:nvSpPr>
        <p:spPr>
          <a:xfrm>
            <a:off x="7882127" y="1810512"/>
            <a:ext cx="3566160" cy="1051560"/>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90525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Practice</a:t>
            </a:r>
          </a:p>
        </p:txBody>
      </p:sp>
      <p:sp>
        <p:nvSpPr>
          <p:cNvPr id="13" name="Rectangle 12"/>
          <p:cNvSpPr/>
          <p:nvPr/>
        </p:nvSpPr>
        <p:spPr>
          <a:xfrm>
            <a:off x="749808" y="2862072"/>
            <a:ext cx="3566160" cy="10515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907791"/>
            <a:ext cx="3346704" cy="960119"/>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A5</a:t>
            </a:r>
          </a:p>
        </p:txBody>
      </p:sp>
      <p:sp>
        <p:nvSpPr>
          <p:cNvPr id="15" name="Rectangle 14"/>
          <p:cNvSpPr/>
          <p:nvPr/>
        </p:nvSpPr>
        <p:spPr>
          <a:xfrm>
            <a:off x="4315968" y="2862072"/>
            <a:ext cx="3566160" cy="10515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907791"/>
            <a:ext cx="3346704" cy="960119"/>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Collaborate effectively with relevant internal and external stakeholders directly impacting the project</a:t>
            </a:r>
          </a:p>
        </p:txBody>
      </p:sp>
      <p:sp>
        <p:nvSpPr>
          <p:cNvPr id="17" name="Rectangle 16"/>
          <p:cNvSpPr/>
          <p:nvPr/>
        </p:nvSpPr>
        <p:spPr>
          <a:xfrm>
            <a:off x="7882127" y="2862072"/>
            <a:ext cx="3566160" cy="10515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907791"/>
            <a:ext cx="3346704" cy="960119"/>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Activity 5</a:t>
            </a:r>
          </a:p>
        </p:txBody>
      </p:sp>
      <p:sp>
        <p:nvSpPr>
          <p:cNvPr id="19" name="Rectangle 18"/>
          <p:cNvSpPr/>
          <p:nvPr/>
        </p:nvSpPr>
        <p:spPr>
          <a:xfrm>
            <a:off x="749808" y="3913631"/>
            <a:ext cx="3566160" cy="10515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959351"/>
            <a:ext cx="3346704" cy="960119"/>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A6</a:t>
            </a:r>
          </a:p>
        </p:txBody>
      </p:sp>
      <p:sp>
        <p:nvSpPr>
          <p:cNvPr id="21" name="Rectangle 20"/>
          <p:cNvSpPr/>
          <p:nvPr/>
        </p:nvSpPr>
        <p:spPr>
          <a:xfrm>
            <a:off x="4315968" y="3913631"/>
            <a:ext cx="3566160" cy="10515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959351"/>
            <a:ext cx="3346704" cy="960119"/>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Deploy manpower, financial budgets and relevant resources for efficient and effective completion</a:t>
            </a:r>
          </a:p>
        </p:txBody>
      </p:sp>
      <p:sp>
        <p:nvSpPr>
          <p:cNvPr id="23" name="Rectangle 22"/>
          <p:cNvSpPr/>
          <p:nvPr/>
        </p:nvSpPr>
        <p:spPr>
          <a:xfrm>
            <a:off x="7882127" y="3913631"/>
            <a:ext cx="3566160" cy="10515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959351"/>
            <a:ext cx="3346704" cy="960119"/>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Activity 6</a:t>
            </a:r>
          </a:p>
        </p:txBody>
      </p:sp>
      <p:sp>
        <p:nvSpPr>
          <p:cNvPr id="25" name="Rectangle 24"/>
          <p:cNvSpPr/>
          <p:nvPr/>
        </p:nvSpPr>
        <p:spPr>
          <a:xfrm>
            <a:off x="749808" y="4965192"/>
            <a:ext cx="3566160" cy="10515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5010912"/>
            <a:ext cx="3346704" cy="960119"/>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A7</a:t>
            </a:r>
          </a:p>
        </p:txBody>
      </p:sp>
      <p:sp>
        <p:nvSpPr>
          <p:cNvPr id="27" name="Rectangle 26"/>
          <p:cNvSpPr/>
          <p:nvPr/>
        </p:nvSpPr>
        <p:spPr>
          <a:xfrm>
            <a:off x="4315968" y="4965192"/>
            <a:ext cx="3566160" cy="10515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5010912"/>
            <a:ext cx="3346704" cy="960119"/>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Track deliverables against schedules, monitor costs, timescales and resources, and take basic corrective actions when misaligned</a:t>
            </a:r>
          </a:p>
        </p:txBody>
      </p:sp>
      <p:sp>
        <p:nvSpPr>
          <p:cNvPr id="29" name="Rectangle 28"/>
          <p:cNvSpPr/>
          <p:nvPr/>
        </p:nvSpPr>
        <p:spPr>
          <a:xfrm>
            <a:off x="7882127" y="4965192"/>
            <a:ext cx="3566160" cy="10515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5010912"/>
            <a:ext cx="3346704" cy="960119"/>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Activity 7</a:t>
            </a:r>
          </a:p>
        </p:txBody>
      </p:sp>
      <p:sp>
        <p:nvSpPr>
          <p:cNvPr id="31" name="TextBox 30"/>
          <p:cNvSpPr txBox="1"/>
          <p:nvPr/>
        </p:nvSpPr>
        <p:spPr>
          <a:xfrm>
            <a:off x="804672" y="6080760"/>
            <a:ext cx="10515600" cy="219456"/>
          </a:xfrm>
          <a:prstGeom prst="rect">
            <a:avLst/>
          </a:prstGeom>
          <a:noFill/>
        </p:spPr>
        <p:txBody>
          <a:bodyPr wrap="square" lIns="0" rIns="0" tIns="0" bIns="0" anchor="t">
            <a:spAutoFit/>
          </a:bodyPr>
          <a:lstStyle/>
          <a:p>
            <a:pPr algn="ctr">
              <a:spcAft>
                <a:spcPts val="300"/>
              </a:spcAft>
            </a:pPr>
            <a:r>
              <a:rPr sz="950" b="1">
                <a:solidFill>
                  <a:srgbClr val="5F6B7A"/>
                </a:solidFill>
                <a:latin typeface="Arial"/>
              </a:rPr>
              <a:t>The seven activities form one connected project evidence trail.</a:t>
            </a:r>
          </a:p>
        </p:txBody>
      </p:sp>
      <p:sp>
        <p:nvSpPr>
          <p:cNvPr id="32" name="TextBox 31"/>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33" name="TextBox 32"/>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TSC ALIGNMENT</a:t>
            </a:r>
          </a:p>
        </p:txBody>
      </p:sp>
      <p:sp>
        <p:nvSpPr>
          <p:cNvPr id="34" name="TextBox 33"/>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TSC ALIGNMENT</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Skills Framework — Knowledge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01040"/>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Code</a:t>
            </a:r>
          </a:p>
        </p:txBody>
      </p:sp>
      <p:sp>
        <p:nvSpPr>
          <p:cNvPr id="9" name="Rectangle 8"/>
          <p:cNvSpPr/>
          <p:nvPr/>
        </p:nvSpPr>
        <p:spPr>
          <a:xfrm>
            <a:off x="4315968" y="1810512"/>
            <a:ext cx="3566160" cy="701040"/>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Knowledge</a:t>
            </a:r>
          </a:p>
        </p:txBody>
      </p:sp>
      <p:sp>
        <p:nvSpPr>
          <p:cNvPr id="11" name="Rectangle 10"/>
          <p:cNvSpPr/>
          <p:nvPr/>
        </p:nvSpPr>
        <p:spPr>
          <a:xfrm>
            <a:off x="7882127" y="1810512"/>
            <a:ext cx="3566160" cy="701040"/>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Taught in</a:t>
            </a:r>
          </a:p>
        </p:txBody>
      </p:sp>
      <p:sp>
        <p:nvSpPr>
          <p:cNvPr id="13" name="Rectangle 12"/>
          <p:cNvSpPr/>
          <p:nvPr/>
        </p:nvSpPr>
        <p:spPr>
          <a:xfrm>
            <a:off x="749808"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557272"/>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K1</a:t>
            </a:r>
          </a:p>
        </p:txBody>
      </p:sp>
      <p:sp>
        <p:nvSpPr>
          <p:cNvPr id="15" name="Rectangle 14"/>
          <p:cNvSpPr/>
          <p:nvPr/>
        </p:nvSpPr>
        <p:spPr>
          <a:xfrm>
            <a:off x="4315968"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55727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Elements of a small project</a:t>
            </a:r>
          </a:p>
        </p:txBody>
      </p:sp>
      <p:sp>
        <p:nvSpPr>
          <p:cNvPr id="17" name="Rectangle 16"/>
          <p:cNvSpPr/>
          <p:nvPr/>
        </p:nvSpPr>
        <p:spPr>
          <a:xfrm>
            <a:off x="7882127"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55727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Topic 1</a:t>
            </a:r>
          </a:p>
        </p:txBody>
      </p:sp>
      <p:sp>
        <p:nvSpPr>
          <p:cNvPr id="19" name="Rectangle 18"/>
          <p:cNvSpPr/>
          <p:nvPr/>
        </p:nvSpPr>
        <p:spPr>
          <a:xfrm>
            <a:off x="749808"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25831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K2</a:t>
            </a:r>
          </a:p>
        </p:txBody>
      </p:sp>
      <p:sp>
        <p:nvSpPr>
          <p:cNvPr id="21" name="Rectangle 20"/>
          <p:cNvSpPr/>
          <p:nvPr/>
        </p:nvSpPr>
        <p:spPr>
          <a:xfrm>
            <a:off x="4315968"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25831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Requirements of a project plan</a:t>
            </a:r>
          </a:p>
        </p:txBody>
      </p:sp>
      <p:sp>
        <p:nvSpPr>
          <p:cNvPr id="23" name="Rectangle 22"/>
          <p:cNvSpPr/>
          <p:nvPr/>
        </p:nvSpPr>
        <p:spPr>
          <a:xfrm>
            <a:off x="7882127"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25831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Topic 2</a:t>
            </a:r>
          </a:p>
        </p:txBody>
      </p:sp>
      <p:sp>
        <p:nvSpPr>
          <p:cNvPr id="25" name="Rectangle 24"/>
          <p:cNvSpPr/>
          <p:nvPr/>
        </p:nvSpPr>
        <p:spPr>
          <a:xfrm>
            <a:off x="749808"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95935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K3</a:t>
            </a:r>
          </a:p>
        </p:txBody>
      </p:sp>
      <p:sp>
        <p:nvSpPr>
          <p:cNvPr id="27" name="Rectangle 26"/>
          <p:cNvSpPr/>
          <p:nvPr/>
        </p:nvSpPr>
        <p:spPr>
          <a:xfrm>
            <a:off x="4315968"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95935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Application of appropriate project management methodologies and tools</a:t>
            </a:r>
          </a:p>
        </p:txBody>
      </p:sp>
      <p:sp>
        <p:nvSpPr>
          <p:cNvPr id="29" name="Rectangle 28"/>
          <p:cNvSpPr/>
          <p:nvPr/>
        </p:nvSpPr>
        <p:spPr>
          <a:xfrm>
            <a:off x="7882127"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95935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Topic 3</a:t>
            </a:r>
          </a:p>
        </p:txBody>
      </p:sp>
      <p:sp>
        <p:nvSpPr>
          <p:cNvPr id="31" name="Rectangle 30"/>
          <p:cNvSpPr/>
          <p:nvPr/>
        </p:nvSpPr>
        <p:spPr>
          <a:xfrm>
            <a:off x="749808"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660392"/>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K4</a:t>
            </a:r>
          </a:p>
        </p:txBody>
      </p:sp>
      <p:sp>
        <p:nvSpPr>
          <p:cNvPr id="33" name="Rectangle 32"/>
          <p:cNvSpPr/>
          <p:nvPr/>
        </p:nvSpPr>
        <p:spPr>
          <a:xfrm>
            <a:off x="4315968"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66039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Project risks</a:t>
            </a:r>
          </a:p>
        </p:txBody>
      </p:sp>
      <p:sp>
        <p:nvSpPr>
          <p:cNvPr id="35" name="Rectangle 34"/>
          <p:cNvSpPr/>
          <p:nvPr/>
        </p:nvSpPr>
        <p:spPr>
          <a:xfrm>
            <a:off x="7882127"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66039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Topic 4</a:t>
            </a:r>
          </a:p>
        </p:txBody>
      </p:sp>
      <p:sp>
        <p:nvSpPr>
          <p:cNvPr id="37" name="Rectangle 36"/>
          <p:cNvSpPr/>
          <p:nvPr/>
        </p:nvSpPr>
        <p:spPr>
          <a:xfrm>
            <a:off x="749808"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36143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K5</a:t>
            </a:r>
          </a:p>
        </p:txBody>
      </p:sp>
      <p:sp>
        <p:nvSpPr>
          <p:cNvPr id="39" name="Rectangle 38"/>
          <p:cNvSpPr/>
          <p:nvPr/>
        </p:nvSpPr>
        <p:spPr>
          <a:xfrm>
            <a:off x="4315968"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36143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Project stakeholder identification</a:t>
            </a:r>
          </a:p>
        </p:txBody>
      </p:sp>
      <p:sp>
        <p:nvSpPr>
          <p:cNvPr id="41" name="Rectangle 40"/>
          <p:cNvSpPr/>
          <p:nvPr/>
        </p:nvSpPr>
        <p:spPr>
          <a:xfrm>
            <a:off x="7882127"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36143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Topic 5</a:t>
            </a:r>
          </a:p>
        </p:txBody>
      </p:sp>
      <p:sp>
        <p:nvSpPr>
          <p:cNvPr id="43" name="TextBox 42"/>
          <p:cNvSpPr txBox="1"/>
          <p:nvPr/>
        </p:nvSpPr>
        <p:spPr>
          <a:xfrm>
            <a:off x="804672" y="6080760"/>
            <a:ext cx="10515600" cy="219456"/>
          </a:xfrm>
          <a:prstGeom prst="rect">
            <a:avLst/>
          </a:prstGeom>
          <a:noFill/>
        </p:spPr>
        <p:txBody>
          <a:bodyPr wrap="square" lIns="0" rIns="0" tIns="0" bIns="0" anchor="t">
            <a:spAutoFit/>
          </a:bodyPr>
          <a:lstStyle/>
          <a:p>
            <a:pPr algn="ctr">
              <a:spcAft>
                <a:spcPts val="300"/>
              </a:spcAft>
            </a:pPr>
            <a:r>
              <a:rPr sz="950" b="1">
                <a:solidFill>
                  <a:srgbClr val="5F6B7A"/>
                </a:solidFill>
                <a:latin typeface="Arial"/>
              </a:rPr>
              <a:t>Knowledge is applied in the activity immediately following its topic.</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TSC ALIGNMENT</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DAY 1 · FROM IDEA TO AN INTEGRATED, RISK-AWARE BASELINE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Lesson Plan — Day 1</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939546"/>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Initiate with value</a:t>
            </a:r>
          </a:p>
        </p:txBody>
      </p:sp>
      <p:sp>
        <p:nvSpPr>
          <p:cNvPr id="10" name="TextBox 9"/>
          <p:cNvSpPr txBox="1"/>
          <p:nvPr/>
        </p:nvSpPr>
        <p:spPr>
          <a:xfrm>
            <a:off x="1005840" y="2313432"/>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Topic 1 · charter, boundaries, team and kickoff</a:t>
            </a:r>
          </a:p>
        </p:txBody>
      </p:sp>
      <p:sp>
        <p:nvSpPr>
          <p:cNvPr id="11" name="Rounded Rectangle 10"/>
          <p:cNvSpPr/>
          <p:nvPr/>
        </p:nvSpPr>
        <p:spPr>
          <a:xfrm>
            <a:off x="749808" y="2951226"/>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2951226"/>
            <a:ext cx="91440" cy="93954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115818"/>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Plan the work</a:t>
            </a:r>
          </a:p>
        </p:txBody>
      </p:sp>
      <p:sp>
        <p:nvSpPr>
          <p:cNvPr id="14" name="TextBox 13"/>
          <p:cNvSpPr txBox="1"/>
          <p:nvPr/>
        </p:nvSpPr>
        <p:spPr>
          <a:xfrm>
            <a:off x="1005840" y="3481578"/>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Topic 2 · requirements, WBS, schedule, critical path and budget</a:t>
            </a:r>
          </a:p>
        </p:txBody>
      </p:sp>
      <p:sp>
        <p:nvSpPr>
          <p:cNvPr id="15" name="Rounded Rectangle 14"/>
          <p:cNvSpPr/>
          <p:nvPr/>
        </p:nvSpPr>
        <p:spPr>
          <a:xfrm>
            <a:off x="749808" y="4119372"/>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939546"/>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Drive quality and flow</a:t>
            </a:r>
          </a:p>
        </p:txBody>
      </p:sp>
      <p:sp>
        <p:nvSpPr>
          <p:cNvPr id="18" name="TextBox 17"/>
          <p:cNvSpPr txBox="1"/>
          <p:nvPr/>
        </p:nvSpPr>
        <p:spPr>
          <a:xfrm>
            <a:off x="1005840" y="4649724"/>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Topic 3 · visual management, root-cause and prioritisation tools</a:t>
            </a:r>
          </a:p>
        </p:txBody>
      </p:sp>
      <p:sp>
        <p:nvSpPr>
          <p:cNvPr id="19" name="Rounded Rectangle 18"/>
          <p:cNvSpPr/>
          <p:nvPr/>
        </p:nvSpPr>
        <p:spPr>
          <a:xfrm>
            <a:off x="749808" y="5287518"/>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5287518"/>
            <a:ext cx="91440" cy="9395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452110"/>
            <a:ext cx="1024128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Manage uncertainty</a:t>
            </a:r>
          </a:p>
        </p:txBody>
      </p:sp>
      <p:sp>
        <p:nvSpPr>
          <p:cNvPr id="22" name="TextBox 21"/>
          <p:cNvSpPr txBox="1"/>
          <p:nvPr/>
        </p:nvSpPr>
        <p:spPr>
          <a:xfrm>
            <a:off x="1005840" y="5817870"/>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Topic 4 · risk register, responses, contingency and decision analysis</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DAY 1 · FROM IDEA TO AN INTEGRATED, RISK-AWARE BASELINE</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DAY 2 · FROM STAKEHOLDER ALIGNMENT TO CONTROLLED DELIVERY AND CLOSURE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Lesson Plan — Day 2</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939546"/>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Engage stakeholders</a:t>
            </a:r>
          </a:p>
        </p:txBody>
      </p:sp>
      <p:sp>
        <p:nvSpPr>
          <p:cNvPr id="10" name="TextBox 9"/>
          <p:cNvSpPr txBox="1"/>
          <p:nvPr/>
        </p:nvSpPr>
        <p:spPr>
          <a:xfrm>
            <a:off x="1005840" y="2313432"/>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Topic 5 · mapping, RACI, communication and engagement</a:t>
            </a:r>
          </a:p>
        </p:txBody>
      </p:sp>
      <p:sp>
        <p:nvSpPr>
          <p:cNvPr id="11" name="Rounded Rectangle 10"/>
          <p:cNvSpPr/>
          <p:nvPr/>
        </p:nvSpPr>
        <p:spPr>
          <a:xfrm>
            <a:off x="749808" y="2951226"/>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2951226"/>
            <a:ext cx="91440" cy="93954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115818"/>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Deploy resources</a:t>
            </a:r>
          </a:p>
        </p:txBody>
      </p:sp>
      <p:sp>
        <p:nvSpPr>
          <p:cNvPr id="14" name="TextBox 13"/>
          <p:cNvSpPr txBox="1"/>
          <p:nvPr/>
        </p:nvSpPr>
        <p:spPr>
          <a:xfrm>
            <a:off x="1005840" y="3481578"/>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Topic 6 · capacity, optimisation, procurement and team performance</a:t>
            </a:r>
          </a:p>
        </p:txBody>
      </p:sp>
      <p:sp>
        <p:nvSpPr>
          <p:cNvPr id="15" name="Rounded Rectangle 14"/>
          <p:cNvSpPr/>
          <p:nvPr/>
        </p:nvSpPr>
        <p:spPr>
          <a:xfrm>
            <a:off x="749808" y="4119372"/>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939546"/>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Control and close</a:t>
            </a:r>
          </a:p>
        </p:txBody>
      </p:sp>
      <p:sp>
        <p:nvSpPr>
          <p:cNvPr id="18" name="TextBox 17"/>
          <p:cNvSpPr txBox="1"/>
          <p:nvPr/>
        </p:nvSpPr>
        <p:spPr>
          <a:xfrm>
            <a:off x="1005840" y="4649724"/>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Topic 7 · status, earned value, change, corrective action and handover</a:t>
            </a:r>
          </a:p>
        </p:txBody>
      </p:sp>
      <p:sp>
        <p:nvSpPr>
          <p:cNvPr id="19" name="Rounded Rectangle 18"/>
          <p:cNvSpPr/>
          <p:nvPr/>
        </p:nvSpPr>
        <p:spPr>
          <a:xfrm>
            <a:off x="749808" y="5287518"/>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5287518"/>
            <a:ext cx="91440" cy="9395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452110"/>
            <a:ext cx="1024128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Assessment</a:t>
            </a:r>
          </a:p>
        </p:txBody>
      </p:sp>
      <p:sp>
        <p:nvSpPr>
          <p:cNvPr id="22" name="TextBox 21"/>
          <p:cNvSpPr txBox="1"/>
          <p:nvPr/>
        </p:nvSpPr>
        <p:spPr>
          <a:xfrm>
            <a:off x="1005840" y="5817870"/>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Written Case Study and Oral Questioning, open book</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DAY 2 · FROM STAKEHOLDER ALIGNMENT TO CONTROLLED DELIVERY AND CLOSURE</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SEVEN-TOPIC SYLLABUS FROM v17</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Course Outline — Topics 1 to 4</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939546"/>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150" b="1">
                <a:solidFill>
                  <a:srgbClr val="1655D1"/>
                </a:solidFill>
                <a:latin typeface="Arial"/>
              </a:rPr>
              <a:t>Topic 01 · Initiation of a Project</a:t>
            </a:r>
          </a:p>
        </p:txBody>
      </p:sp>
      <p:sp>
        <p:nvSpPr>
          <p:cNvPr id="10" name="TextBox 9"/>
          <p:cNvSpPr txBox="1"/>
          <p:nvPr/>
        </p:nvSpPr>
        <p:spPr>
          <a:xfrm>
            <a:off x="1005840" y="2313432"/>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Small-project fit · value · charter · scope · team · kickoff · A1, K1</a:t>
            </a:r>
          </a:p>
        </p:txBody>
      </p:sp>
      <p:sp>
        <p:nvSpPr>
          <p:cNvPr id="11" name="Rounded Rectangle 10"/>
          <p:cNvSpPr/>
          <p:nvPr/>
        </p:nvSpPr>
        <p:spPr>
          <a:xfrm>
            <a:off x="749808" y="2951226"/>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2951226"/>
            <a:ext cx="91440" cy="93954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115818"/>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Topic 02 · Develop a Project Plan</a:t>
            </a:r>
          </a:p>
        </p:txBody>
      </p:sp>
      <p:sp>
        <p:nvSpPr>
          <p:cNvPr id="14" name="TextBox 13"/>
          <p:cNvSpPr txBox="1"/>
          <p:nvPr/>
        </p:nvSpPr>
        <p:spPr>
          <a:xfrm>
            <a:off x="1005840" y="3481578"/>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Requirements · scope baseline · WBS · network · schedule · budget · A2, K2</a:t>
            </a:r>
          </a:p>
        </p:txBody>
      </p:sp>
      <p:sp>
        <p:nvSpPr>
          <p:cNvPr id="15" name="Rounded Rectangle 14"/>
          <p:cNvSpPr/>
          <p:nvPr/>
        </p:nvSpPr>
        <p:spPr>
          <a:xfrm>
            <a:off x="749808" y="4119372"/>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939546"/>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10241280" cy="43891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Topic 03 · Apply Methods and Tools to Drive a Project</a:t>
            </a:r>
          </a:p>
        </p:txBody>
      </p:sp>
      <p:sp>
        <p:nvSpPr>
          <p:cNvPr id="18" name="TextBox 17"/>
          <p:cNvSpPr txBox="1"/>
          <p:nvPr/>
        </p:nvSpPr>
        <p:spPr>
          <a:xfrm>
            <a:off x="1005840" y="4649724"/>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Quality planning · flow · root cause · Pareto · improvement · A3, K3</a:t>
            </a:r>
          </a:p>
        </p:txBody>
      </p:sp>
      <p:sp>
        <p:nvSpPr>
          <p:cNvPr id="19" name="Rounded Rectangle 18"/>
          <p:cNvSpPr/>
          <p:nvPr/>
        </p:nvSpPr>
        <p:spPr>
          <a:xfrm>
            <a:off x="749808" y="5287518"/>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5287518"/>
            <a:ext cx="91440" cy="9395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452110"/>
            <a:ext cx="1024128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Topic 04 · Manage Project Risk</a:t>
            </a:r>
          </a:p>
        </p:txBody>
      </p:sp>
      <p:sp>
        <p:nvSpPr>
          <p:cNvPr id="22" name="TextBox 21"/>
          <p:cNvSpPr txBox="1"/>
          <p:nvPr/>
        </p:nvSpPr>
        <p:spPr>
          <a:xfrm>
            <a:off x="1005840" y="5817870"/>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Identify · assess · respond · contingency · monitor · A4, K4</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SEVEN-TOPIC SYLLABUS FROM v17</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SEVEN-TOPIC SYLLABUS FROM v17</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Course Outline — Topics 5 to 7</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150" b="1">
                <a:solidFill>
                  <a:srgbClr val="1655D1"/>
                </a:solidFill>
                <a:latin typeface="Arial"/>
              </a:rPr>
              <a:t>Topic 05 · Collaborate with Stakeholders</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Identify · analyse · communicate · engage · allocate accountability · A5, K5</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Topic 06 · Deploy Resources</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People · budget · equipment · procurement · team performance · A6</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Topic 07 · Track Project Deliverables and Correct Misalignments</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Performance · earned value · change · corrective action · handover · closure · A7</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SEVEN-TOPIC SYLLABUS FROM v17</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EDITABLE OFFICE TOOLS + VERIFIED BROWSER TOOLS</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The Seven Tool Packs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52578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37947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Activity</a:t>
            </a:r>
          </a:p>
        </p:txBody>
      </p:sp>
      <p:sp>
        <p:nvSpPr>
          <p:cNvPr id="9" name="Rectangle 8"/>
          <p:cNvSpPr/>
          <p:nvPr/>
        </p:nvSpPr>
        <p:spPr>
          <a:xfrm>
            <a:off x="4315968" y="1810512"/>
            <a:ext cx="3566160" cy="52578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37947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Tool pack</a:t>
            </a:r>
          </a:p>
        </p:txBody>
      </p:sp>
      <p:sp>
        <p:nvSpPr>
          <p:cNvPr id="11" name="Rectangle 10"/>
          <p:cNvSpPr/>
          <p:nvPr/>
        </p:nvSpPr>
        <p:spPr>
          <a:xfrm>
            <a:off x="7882127" y="1810512"/>
            <a:ext cx="3566160" cy="52578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37947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Used to</a:t>
            </a:r>
          </a:p>
        </p:txBody>
      </p:sp>
      <p:sp>
        <p:nvSpPr>
          <p:cNvPr id="13" name="Rectangle 12"/>
          <p:cNvSpPr/>
          <p:nvPr/>
        </p:nvSpPr>
        <p:spPr>
          <a:xfrm>
            <a:off x="749808" y="2336291"/>
            <a:ext cx="3566160" cy="52578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382011"/>
            <a:ext cx="3346704" cy="43434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1</a:t>
            </a:r>
          </a:p>
        </p:txBody>
      </p:sp>
      <p:sp>
        <p:nvSpPr>
          <p:cNvPr id="15" name="Rectangle 14"/>
          <p:cNvSpPr/>
          <p:nvPr/>
        </p:nvSpPr>
        <p:spPr>
          <a:xfrm>
            <a:off x="4315968" y="2336291"/>
            <a:ext cx="3566160" cy="52578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382011"/>
            <a:ext cx="3346704" cy="43434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Project Charter &amp; Business Case</a:t>
            </a:r>
          </a:p>
        </p:txBody>
      </p:sp>
      <p:sp>
        <p:nvSpPr>
          <p:cNvPr id="17" name="Rectangle 16"/>
          <p:cNvSpPr/>
          <p:nvPr/>
        </p:nvSpPr>
        <p:spPr>
          <a:xfrm>
            <a:off x="7882127" y="2336291"/>
            <a:ext cx="3566160" cy="52578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382011"/>
            <a:ext cx="3346704" cy="43434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Define value, scope, authority and success measures</a:t>
            </a:r>
          </a:p>
        </p:txBody>
      </p:sp>
      <p:sp>
        <p:nvSpPr>
          <p:cNvPr id="19" name="Rectangle 18"/>
          <p:cNvSpPr/>
          <p:nvPr/>
        </p:nvSpPr>
        <p:spPr>
          <a:xfrm>
            <a:off x="749808" y="2862072"/>
            <a:ext cx="3566160" cy="52578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2907791"/>
            <a:ext cx="3346704" cy="43434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2</a:t>
            </a:r>
          </a:p>
        </p:txBody>
      </p:sp>
      <p:sp>
        <p:nvSpPr>
          <p:cNvPr id="21" name="Rectangle 20"/>
          <p:cNvSpPr/>
          <p:nvPr/>
        </p:nvSpPr>
        <p:spPr>
          <a:xfrm>
            <a:off x="4315968" y="2862072"/>
            <a:ext cx="3566160" cy="52578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2907791"/>
            <a:ext cx="3346704" cy="43434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WBS, RTM, Network &amp; Gantt</a:t>
            </a:r>
          </a:p>
        </p:txBody>
      </p:sp>
      <p:sp>
        <p:nvSpPr>
          <p:cNvPr id="23" name="Rectangle 22"/>
          <p:cNvSpPr/>
          <p:nvPr/>
        </p:nvSpPr>
        <p:spPr>
          <a:xfrm>
            <a:off x="7882127" y="2862072"/>
            <a:ext cx="3566160" cy="52578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2907791"/>
            <a:ext cx="3346704" cy="43434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Turn scope into an integrated baseline</a:t>
            </a:r>
          </a:p>
        </p:txBody>
      </p:sp>
      <p:sp>
        <p:nvSpPr>
          <p:cNvPr id="25" name="Rectangle 24"/>
          <p:cNvSpPr/>
          <p:nvPr/>
        </p:nvSpPr>
        <p:spPr>
          <a:xfrm>
            <a:off x="749808" y="3387852"/>
            <a:ext cx="3566160" cy="52578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433572"/>
            <a:ext cx="3346704" cy="43434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3</a:t>
            </a:r>
          </a:p>
        </p:txBody>
      </p:sp>
      <p:sp>
        <p:nvSpPr>
          <p:cNvPr id="27" name="Rectangle 26"/>
          <p:cNvSpPr/>
          <p:nvPr/>
        </p:nvSpPr>
        <p:spPr>
          <a:xfrm>
            <a:off x="4315968" y="3387852"/>
            <a:ext cx="3566160" cy="52578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433572"/>
            <a:ext cx="3346704" cy="43434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Fishbone, 5 Whys &amp; Pareto</a:t>
            </a:r>
          </a:p>
        </p:txBody>
      </p:sp>
      <p:sp>
        <p:nvSpPr>
          <p:cNvPr id="29" name="Rectangle 28"/>
          <p:cNvSpPr/>
          <p:nvPr/>
        </p:nvSpPr>
        <p:spPr>
          <a:xfrm>
            <a:off x="7882127" y="3387852"/>
            <a:ext cx="3566160" cy="52578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433572"/>
            <a:ext cx="3346704" cy="43434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Diagnose and prioritise quality causes</a:t>
            </a:r>
          </a:p>
        </p:txBody>
      </p:sp>
      <p:sp>
        <p:nvSpPr>
          <p:cNvPr id="31" name="Rectangle 30"/>
          <p:cNvSpPr/>
          <p:nvPr/>
        </p:nvSpPr>
        <p:spPr>
          <a:xfrm>
            <a:off x="749808" y="3913631"/>
            <a:ext cx="3566160" cy="52578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3959351"/>
            <a:ext cx="3346704" cy="43434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4</a:t>
            </a:r>
          </a:p>
        </p:txBody>
      </p:sp>
      <p:sp>
        <p:nvSpPr>
          <p:cNvPr id="33" name="Rectangle 32"/>
          <p:cNvSpPr/>
          <p:nvPr/>
        </p:nvSpPr>
        <p:spPr>
          <a:xfrm>
            <a:off x="4315968" y="3913631"/>
            <a:ext cx="3566160" cy="52578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3959351"/>
            <a:ext cx="3346704" cy="43434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Risk Matrix, Decision Tree &amp; Tornado</a:t>
            </a:r>
          </a:p>
        </p:txBody>
      </p:sp>
      <p:sp>
        <p:nvSpPr>
          <p:cNvPr id="35" name="Rectangle 34"/>
          <p:cNvSpPr/>
          <p:nvPr/>
        </p:nvSpPr>
        <p:spPr>
          <a:xfrm>
            <a:off x="7882127" y="3913631"/>
            <a:ext cx="3566160" cy="52578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3959351"/>
            <a:ext cx="3346704" cy="43434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Prioritise uncertainty and fund responses</a:t>
            </a:r>
          </a:p>
        </p:txBody>
      </p:sp>
      <p:sp>
        <p:nvSpPr>
          <p:cNvPr id="37" name="Rectangle 36"/>
          <p:cNvSpPr/>
          <p:nvPr/>
        </p:nvSpPr>
        <p:spPr>
          <a:xfrm>
            <a:off x="749808" y="4439412"/>
            <a:ext cx="3566160" cy="52578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4485132"/>
            <a:ext cx="3346704" cy="43434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5</a:t>
            </a:r>
          </a:p>
        </p:txBody>
      </p:sp>
      <p:sp>
        <p:nvSpPr>
          <p:cNvPr id="39" name="Rectangle 38"/>
          <p:cNvSpPr/>
          <p:nvPr/>
        </p:nvSpPr>
        <p:spPr>
          <a:xfrm>
            <a:off x="4315968" y="4439412"/>
            <a:ext cx="3566160" cy="52578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4485132"/>
            <a:ext cx="3346704" cy="43434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Stakeholder Map, RACI &amp; SEAM</a:t>
            </a:r>
          </a:p>
        </p:txBody>
      </p:sp>
      <p:sp>
        <p:nvSpPr>
          <p:cNvPr id="41" name="Rectangle 40"/>
          <p:cNvSpPr/>
          <p:nvPr/>
        </p:nvSpPr>
        <p:spPr>
          <a:xfrm>
            <a:off x="7882127" y="4439412"/>
            <a:ext cx="3566160" cy="52578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4485132"/>
            <a:ext cx="3346704" cy="43434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Plan influence, accountability and engagement</a:t>
            </a:r>
          </a:p>
        </p:txBody>
      </p:sp>
      <p:sp>
        <p:nvSpPr>
          <p:cNvPr id="43" name="Rectangle 42"/>
          <p:cNvSpPr/>
          <p:nvPr/>
        </p:nvSpPr>
        <p:spPr>
          <a:xfrm>
            <a:off x="749808" y="4965192"/>
            <a:ext cx="3566160" cy="52578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9536" y="5010912"/>
            <a:ext cx="3346704" cy="43434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6</a:t>
            </a:r>
          </a:p>
        </p:txBody>
      </p:sp>
      <p:sp>
        <p:nvSpPr>
          <p:cNvPr id="45" name="Rectangle 44"/>
          <p:cNvSpPr/>
          <p:nvPr/>
        </p:nvSpPr>
        <p:spPr>
          <a:xfrm>
            <a:off x="4315968" y="4965192"/>
            <a:ext cx="3566160" cy="52578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425696" y="5010912"/>
            <a:ext cx="3346704" cy="43434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Organisation Chart &amp; Kanban</a:t>
            </a:r>
          </a:p>
        </p:txBody>
      </p:sp>
      <p:sp>
        <p:nvSpPr>
          <p:cNvPr id="47" name="Rectangle 46"/>
          <p:cNvSpPr/>
          <p:nvPr/>
        </p:nvSpPr>
        <p:spPr>
          <a:xfrm>
            <a:off x="7882127" y="4965192"/>
            <a:ext cx="3566160" cy="52578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991855" y="5010912"/>
            <a:ext cx="3346704" cy="43434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Deploy people and balance workload</a:t>
            </a:r>
          </a:p>
        </p:txBody>
      </p:sp>
      <p:sp>
        <p:nvSpPr>
          <p:cNvPr id="49" name="Rectangle 48"/>
          <p:cNvSpPr/>
          <p:nvPr/>
        </p:nvSpPr>
        <p:spPr>
          <a:xfrm>
            <a:off x="749808" y="5490971"/>
            <a:ext cx="3566160" cy="52578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9536" y="5536691"/>
            <a:ext cx="3346704" cy="43434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7</a:t>
            </a:r>
          </a:p>
        </p:txBody>
      </p:sp>
      <p:sp>
        <p:nvSpPr>
          <p:cNvPr id="51" name="Rectangle 50"/>
          <p:cNvSpPr/>
          <p:nvPr/>
        </p:nvSpPr>
        <p:spPr>
          <a:xfrm>
            <a:off x="4315968" y="5490971"/>
            <a:ext cx="3566160" cy="52578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425696" y="5536691"/>
            <a:ext cx="3346704" cy="43434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Kanban, Burndown, Budget &amp; Control</a:t>
            </a:r>
          </a:p>
        </p:txBody>
      </p:sp>
      <p:sp>
        <p:nvSpPr>
          <p:cNvPr id="53" name="Rectangle 52"/>
          <p:cNvSpPr/>
          <p:nvPr/>
        </p:nvSpPr>
        <p:spPr>
          <a:xfrm>
            <a:off x="7882127" y="5490971"/>
            <a:ext cx="3566160" cy="52578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991855" y="5536691"/>
            <a:ext cx="3346704" cy="43434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Track delivery, earned value and corrective action</a:t>
            </a:r>
          </a:p>
        </p:txBody>
      </p:sp>
      <p:sp>
        <p:nvSpPr>
          <p:cNvPr id="55" name="TextBox 54"/>
          <p:cNvSpPr txBox="1"/>
          <p:nvPr/>
        </p:nvSpPr>
        <p:spPr>
          <a:xfrm>
            <a:off x="804672" y="6080760"/>
            <a:ext cx="10515600" cy="219456"/>
          </a:xfrm>
          <a:prstGeom prst="rect">
            <a:avLst/>
          </a:prstGeom>
          <a:noFill/>
        </p:spPr>
        <p:txBody>
          <a:bodyPr wrap="square" lIns="0" rIns="0" tIns="0" bIns="0" anchor="t">
            <a:spAutoFit/>
          </a:bodyPr>
          <a:lstStyle/>
          <a:p>
            <a:pPr algn="ctr">
              <a:spcAft>
                <a:spcPts val="300"/>
              </a:spcAft>
            </a:pPr>
            <a:r>
              <a:rPr sz="950" b="1">
                <a:solidFill>
                  <a:srgbClr val="5F6B7A"/>
                </a:solidFill>
                <a:latin typeface="Arial"/>
              </a:rPr>
              <a:t>Every activity folder contains its own editable tools, procedure, worksheet, dataset and acceptance criteria.</a:t>
            </a:r>
          </a:p>
        </p:txBody>
      </p:sp>
      <p:sp>
        <p:nvSpPr>
          <p:cNvPr id="56" name="TextBox 55"/>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57" name="TextBox 56"/>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EDITABLE OFFICE TOOLS + VERIFIED BROWSER TOOLS</a:t>
            </a:r>
          </a:p>
        </p:txBody>
      </p:sp>
      <p:sp>
        <p:nvSpPr>
          <p:cNvPr id="58" name="TextBox 57"/>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THE RUNNING CASE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One small project runs through all seven activities.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10698480" cy="397763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847088"/>
            <a:ext cx="128016" cy="3977639"/>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2359152"/>
            <a:ext cx="9738360" cy="2834640"/>
          </a:xfrm>
          <a:prstGeom prst="rect">
            <a:avLst/>
          </a:prstGeom>
          <a:noFill/>
        </p:spPr>
        <p:txBody>
          <a:bodyPr wrap="square" lIns="0" rIns="0" tIns="0" bIns="0" anchor="ctr">
            <a:spAutoFit/>
          </a:bodyPr>
          <a:lstStyle/>
          <a:p>
            <a:pPr algn="l">
              <a:spcAft>
                <a:spcPts val="300"/>
              </a:spcAft>
            </a:pPr>
            <a:r>
              <a:rPr sz="2400" b="1">
                <a:solidFill>
                  <a:srgbClr val="131B2A"/>
                </a:solidFill>
                <a:latin typeface="Arial"/>
              </a:rPr>
              <a:t>A 42-person Singapore specialty grocer will introduce online ordering and two-hour click-and-collect at three outlets. The five-month pilot has a S$180,000 cap, a core team of seven, two external suppliers, and limited dependencies. It is important to operations but does not change the company's overall strategy, making it a genuine small project. Success means: Launch at all three outlets by 30 January 2027; process at least 120 pilot orders per week; keep pick accuracy at or above 98%; achieve customer satisfaction of at least 4.2/5; and remain within the approved S$180,000 budget.</a:t>
            </a:r>
          </a:p>
        </p:txBody>
      </p:sp>
      <p:sp>
        <p:nvSpPr>
          <p:cNvPr id="10" name="TextBox 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1" name="TextBox 1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THE RUNNING CASE</a:t>
            </a:r>
          </a:p>
        </p:txBody>
      </p:sp>
      <p:sp>
        <p:nvSpPr>
          <p:cNvPr id="12" name="TextBox 1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ASSESSMENT · BRIEFING</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Briefing for Assessment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Individual work</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No discussion once assessment begins.</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Open book</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Slides, Learner Guide and approved materials only.</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Protect the paper</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No photographs, recording or unauthorised materials.</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Answer with evidence</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State the method, decision, rationale and expected result.</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ASSESSMENT · BRIEFING</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ASSESSMENT · WHAT TO EXPECT</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Final Assessment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939546"/>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Written Case Study</a:t>
            </a:r>
          </a:p>
        </p:txBody>
      </p:sp>
      <p:sp>
        <p:nvSpPr>
          <p:cNvPr id="10" name="TextBox 9"/>
          <p:cNvSpPr txBox="1"/>
          <p:nvPr/>
        </p:nvSpPr>
        <p:spPr>
          <a:xfrm>
            <a:off x="1005840" y="2313432"/>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Written Assessment (Case Study) — apply project management judgement to a small-project scenario.</a:t>
            </a:r>
          </a:p>
        </p:txBody>
      </p:sp>
      <p:sp>
        <p:nvSpPr>
          <p:cNvPr id="11" name="Rounded Rectangle 10"/>
          <p:cNvSpPr/>
          <p:nvPr/>
        </p:nvSpPr>
        <p:spPr>
          <a:xfrm>
            <a:off x="749808" y="2951226"/>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2951226"/>
            <a:ext cx="91440" cy="93954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115818"/>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Oral Questioning</a:t>
            </a:r>
          </a:p>
        </p:txBody>
      </p:sp>
      <p:sp>
        <p:nvSpPr>
          <p:cNvPr id="14" name="TextBox 13"/>
          <p:cNvSpPr txBox="1"/>
          <p:nvPr/>
        </p:nvSpPr>
        <p:spPr>
          <a:xfrm>
            <a:off x="1005840" y="3481578"/>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Oral Questioning — explain and justify decisions against the course methods and evidence.</a:t>
            </a:r>
          </a:p>
        </p:txBody>
      </p:sp>
      <p:sp>
        <p:nvSpPr>
          <p:cNvPr id="15" name="Rounded Rectangle 14"/>
          <p:cNvSpPr/>
          <p:nvPr/>
        </p:nvSpPr>
        <p:spPr>
          <a:xfrm>
            <a:off x="749808" y="4119372"/>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939546"/>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Conditions</a:t>
            </a:r>
          </a:p>
        </p:txBody>
      </p:sp>
      <p:sp>
        <p:nvSpPr>
          <p:cNvPr id="18" name="TextBox 17"/>
          <p:cNvSpPr txBox="1"/>
          <p:nvPr/>
        </p:nvSpPr>
        <p:spPr>
          <a:xfrm>
            <a:off x="1005840" y="4649724"/>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Open book: course slides, Learner Guide and approved course materials only.</a:t>
            </a:r>
          </a:p>
        </p:txBody>
      </p:sp>
      <p:sp>
        <p:nvSpPr>
          <p:cNvPr id="19" name="Rounded Rectangle 18"/>
          <p:cNvSpPr/>
          <p:nvPr/>
        </p:nvSpPr>
        <p:spPr>
          <a:xfrm>
            <a:off x="749808" y="5287518"/>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5287518"/>
            <a:ext cx="91440" cy="9395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452110"/>
            <a:ext cx="1024128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Competency</a:t>
            </a:r>
          </a:p>
        </p:txBody>
      </p:sp>
      <p:sp>
        <p:nvSpPr>
          <p:cNvPr id="22" name="TextBox 21"/>
          <p:cNvSpPr txBox="1"/>
          <p:nvPr/>
        </p:nvSpPr>
        <p:spPr>
          <a:xfrm>
            <a:off x="1005840" y="5817870"/>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minimum of 75% attendance and a Competent result are required for funding eligibility.</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ASSESSMENT · WHAT TO EXPECT</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TOPIC 01 · A1, K1 · LO1</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Initiation of a Project</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Small-project fit · value · charter · scope · team · kickoff</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01</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A1, K1 · LO1</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01 · CENTRAL IDEA</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Small does not mean informal.</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10698480" cy="397763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847088"/>
            <a:ext cx="128016" cy="3977639"/>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2359152"/>
            <a:ext cx="9738360" cy="2834640"/>
          </a:xfrm>
          <a:prstGeom prst="rect">
            <a:avLst/>
          </a:prstGeom>
          <a:noFill/>
        </p:spPr>
        <p:txBody>
          <a:bodyPr wrap="square" lIns="0" rIns="0" tIns="0" bIns="0" anchor="ctr">
            <a:spAutoFit/>
          </a:bodyPr>
          <a:lstStyle/>
          <a:p>
            <a:pPr algn="l">
              <a:spcAft>
                <a:spcPts val="300"/>
              </a:spcAft>
            </a:pPr>
            <a:r>
              <a:rPr sz="2400" b="1">
                <a:solidFill>
                  <a:srgbClr val="131B2A"/>
                </a:solidFill>
                <a:latin typeface="Arial"/>
              </a:rPr>
              <a:t>The smaller the project, the less waste it can absorb. A short charter, sharp boundaries and visible decision rights are the control system—not bureaucracy.</a:t>
            </a:r>
          </a:p>
        </p:txBody>
      </p:sp>
      <p:sp>
        <p:nvSpPr>
          <p:cNvPr id="10" name="TextBox 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1" name="TextBox 1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CENTRAL IDEA</a:t>
            </a:r>
          </a:p>
        </p:txBody>
      </p:sp>
      <p:sp>
        <p:nvSpPr>
          <p:cNvPr id="12" name="TextBox 1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01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Initiation of a Project — Core Concepts 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01</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project is temporary, unique and value-seeking; operations are ongoing and repetitive.</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02</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small project is normally under six months, has a limited budget and team, few dependencies and no significant strategic impact.</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03</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project manager integrates people, decisions and trade-offs; they do not merely maintain a schedule.</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04</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Success balances value and outcomes with scope, schedule, cost, quality, resources and risk.</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01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Initiation of a Project — Core Concepts II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05</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Predictive, adaptive and hybrid approaches are choices driven by uncertainty, not labels of maturity.</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06</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business case tests whether the project should exist; the charter authorises it to exist.</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07</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useful charter names purpose, measurable success, scope boundaries, milestones, budget, major risks, team and sponsor authority.</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08</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kickoff creates one shared picture of why, what, who, how and what happens next.</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01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From Need to Authorised Work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551176"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2295144"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Need</a:t>
            </a:r>
          </a:p>
        </p:txBody>
      </p:sp>
      <p:sp>
        <p:nvSpPr>
          <p:cNvPr id="11" name="TextBox 10"/>
          <p:cNvSpPr txBox="1"/>
          <p:nvPr/>
        </p:nvSpPr>
        <p:spPr>
          <a:xfrm>
            <a:off x="896112"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evidence and user consequence</a:t>
            </a:r>
          </a:p>
        </p:txBody>
      </p:sp>
      <p:cxnSp>
        <p:nvCxnSpPr>
          <p:cNvPr id="12" name="Connector 11"/>
          <p:cNvCxnSpPr/>
          <p:nvPr/>
        </p:nvCxnSpPr>
        <p:spPr>
          <a:xfrm>
            <a:off x="3300984"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65576"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65576" y="1965960"/>
            <a:ext cx="2551176"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3592" y="2240279"/>
            <a:ext cx="2295144"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593592"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Business case</a:t>
            </a:r>
          </a:p>
        </p:txBody>
      </p:sp>
      <p:sp>
        <p:nvSpPr>
          <p:cNvPr id="17" name="TextBox 16"/>
          <p:cNvSpPr txBox="1"/>
          <p:nvPr/>
        </p:nvSpPr>
        <p:spPr>
          <a:xfrm>
            <a:off x="3611880"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options, value and viability</a:t>
            </a:r>
          </a:p>
        </p:txBody>
      </p:sp>
      <p:cxnSp>
        <p:nvCxnSpPr>
          <p:cNvPr id="18" name="Connector 17"/>
          <p:cNvCxnSpPr/>
          <p:nvPr/>
        </p:nvCxnSpPr>
        <p:spPr>
          <a:xfrm>
            <a:off x="6016752"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81344"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1344" y="1965960"/>
            <a:ext cx="2551176"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2240279"/>
            <a:ext cx="2295144"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6309360"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Charter</a:t>
            </a:r>
          </a:p>
        </p:txBody>
      </p:sp>
      <p:sp>
        <p:nvSpPr>
          <p:cNvPr id="23" name="TextBox 22"/>
          <p:cNvSpPr txBox="1"/>
          <p:nvPr/>
        </p:nvSpPr>
        <p:spPr>
          <a:xfrm>
            <a:off x="6327648"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authority, boundaries and success</a:t>
            </a:r>
          </a:p>
        </p:txBody>
      </p:sp>
      <p:cxnSp>
        <p:nvCxnSpPr>
          <p:cNvPr id="24" name="Connector 23"/>
          <p:cNvCxnSpPr/>
          <p:nvPr/>
        </p:nvCxnSpPr>
        <p:spPr>
          <a:xfrm>
            <a:off x="8732520"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897112"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97112" y="1965960"/>
            <a:ext cx="2551176"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25128" y="2240279"/>
            <a:ext cx="2295144"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9025128"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Kickoff</a:t>
            </a:r>
          </a:p>
        </p:txBody>
      </p:sp>
      <p:sp>
        <p:nvSpPr>
          <p:cNvPr id="29" name="TextBox 28"/>
          <p:cNvSpPr txBox="1"/>
          <p:nvPr/>
        </p:nvSpPr>
        <p:spPr>
          <a:xfrm>
            <a:off x="9043416"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shared picture and first decisions</a:t>
            </a:r>
          </a:p>
        </p:txBody>
      </p:sp>
      <p:sp>
        <p:nvSpPr>
          <p:cNvPr id="30" name="Rounded Rectangle 29"/>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Do not plan an unauthorised idea as though it were already a project.</a:t>
            </a:r>
          </a:p>
        </p:txBody>
      </p:sp>
      <p:sp>
        <p:nvSpPr>
          <p:cNvPr id="32" name="TextBox 31"/>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33" name="TextBox 32"/>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APPLIED FRAMEWORK</a:t>
            </a:r>
          </a:p>
        </p:txBody>
      </p:sp>
      <p:sp>
        <p:nvSpPr>
          <p:cNvPr id="34" name="TextBox 33"/>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01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Business Case vs Project Charter</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Dimension</a:t>
            </a:r>
          </a:p>
        </p:txBody>
      </p:sp>
      <p:sp>
        <p:nvSpPr>
          <p:cNvPr id="9" name="Rectangle 8"/>
          <p:cNvSpPr/>
          <p:nvPr/>
        </p:nvSpPr>
        <p:spPr>
          <a:xfrm>
            <a:off x="4315968"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Business Case</a:t>
            </a:r>
          </a:p>
        </p:txBody>
      </p:sp>
      <p:sp>
        <p:nvSpPr>
          <p:cNvPr id="11" name="Rectangle 10"/>
          <p:cNvSpPr/>
          <p:nvPr/>
        </p:nvSpPr>
        <p:spPr>
          <a:xfrm>
            <a:off x="7882127"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Project Charter</a:t>
            </a:r>
          </a:p>
        </p:txBody>
      </p:sp>
      <p:sp>
        <p:nvSpPr>
          <p:cNvPr id="13" name="Rectangle 12"/>
          <p:cNvSpPr/>
          <p:nvPr/>
        </p:nvSpPr>
        <p:spPr>
          <a:xfrm>
            <a:off x="749808"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97479"/>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Core question</a:t>
            </a:r>
          </a:p>
        </p:txBody>
      </p:sp>
      <p:sp>
        <p:nvSpPr>
          <p:cNvPr id="15" name="Rectangle 14"/>
          <p:cNvSpPr/>
          <p:nvPr/>
        </p:nvSpPr>
        <p:spPr>
          <a:xfrm>
            <a:off x="4315968"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97479"/>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Should we invest?</a:t>
            </a:r>
          </a:p>
        </p:txBody>
      </p:sp>
      <p:sp>
        <p:nvSpPr>
          <p:cNvPr id="17" name="Rectangle 16"/>
          <p:cNvSpPr/>
          <p:nvPr/>
        </p:nvSpPr>
        <p:spPr>
          <a:xfrm>
            <a:off x="7882127"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97479"/>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Are we authorised to proceed?</a:t>
            </a:r>
          </a:p>
        </p:txBody>
      </p:sp>
      <p:sp>
        <p:nvSpPr>
          <p:cNvPr id="19" name="Rectangle 18"/>
          <p:cNvSpPr/>
          <p:nvPr/>
        </p:nvSpPr>
        <p:spPr>
          <a:xfrm>
            <a:off x="749808"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538727"/>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Focus</a:t>
            </a:r>
          </a:p>
        </p:txBody>
      </p:sp>
      <p:sp>
        <p:nvSpPr>
          <p:cNvPr id="21" name="Rectangle 20"/>
          <p:cNvSpPr/>
          <p:nvPr/>
        </p:nvSpPr>
        <p:spPr>
          <a:xfrm>
            <a:off x="4315968"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538727"/>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Options, benefits, costs, risk</a:t>
            </a:r>
          </a:p>
        </p:txBody>
      </p:sp>
      <p:sp>
        <p:nvSpPr>
          <p:cNvPr id="23" name="Rectangle 22"/>
          <p:cNvSpPr/>
          <p:nvPr/>
        </p:nvSpPr>
        <p:spPr>
          <a:xfrm>
            <a:off x="7882127"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538727"/>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Purpose, scope, team, milestones</a:t>
            </a:r>
          </a:p>
        </p:txBody>
      </p:sp>
      <p:sp>
        <p:nvSpPr>
          <p:cNvPr id="25" name="Rectangle 24"/>
          <p:cNvSpPr/>
          <p:nvPr/>
        </p:nvSpPr>
        <p:spPr>
          <a:xfrm>
            <a:off x="749808"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379976"/>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Owner</a:t>
            </a:r>
          </a:p>
        </p:txBody>
      </p:sp>
      <p:sp>
        <p:nvSpPr>
          <p:cNvPr id="27" name="Rectangle 26"/>
          <p:cNvSpPr/>
          <p:nvPr/>
        </p:nvSpPr>
        <p:spPr>
          <a:xfrm>
            <a:off x="4315968"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379976"/>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Sponsor / business owner</a:t>
            </a:r>
          </a:p>
        </p:txBody>
      </p:sp>
      <p:sp>
        <p:nvSpPr>
          <p:cNvPr id="29" name="Rectangle 28"/>
          <p:cNvSpPr/>
          <p:nvPr/>
        </p:nvSpPr>
        <p:spPr>
          <a:xfrm>
            <a:off x="7882127"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379976"/>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Sponsor with project manager</a:t>
            </a:r>
          </a:p>
        </p:txBody>
      </p:sp>
      <p:sp>
        <p:nvSpPr>
          <p:cNvPr id="31" name="Rectangle 30"/>
          <p:cNvSpPr/>
          <p:nvPr/>
        </p:nvSpPr>
        <p:spPr>
          <a:xfrm>
            <a:off x="749808"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221224"/>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Decision</a:t>
            </a:r>
          </a:p>
        </p:txBody>
      </p:sp>
      <p:sp>
        <p:nvSpPr>
          <p:cNvPr id="33" name="Rectangle 32"/>
          <p:cNvSpPr/>
          <p:nvPr/>
        </p:nvSpPr>
        <p:spPr>
          <a:xfrm>
            <a:off x="4315968"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5221224"/>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Select or reject option</a:t>
            </a:r>
          </a:p>
        </p:txBody>
      </p:sp>
      <p:sp>
        <p:nvSpPr>
          <p:cNvPr id="35" name="Rectangle 34"/>
          <p:cNvSpPr/>
          <p:nvPr/>
        </p:nvSpPr>
        <p:spPr>
          <a:xfrm>
            <a:off x="7882127"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5221224"/>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Authorize and delegate</a:t>
            </a:r>
          </a:p>
        </p:txBody>
      </p:sp>
      <p:sp>
        <p:nvSpPr>
          <p:cNvPr id="37" name="TextBox 36"/>
          <p:cNvSpPr txBox="1"/>
          <p:nvPr/>
        </p:nvSpPr>
        <p:spPr>
          <a:xfrm>
            <a:off x="804672" y="6080760"/>
            <a:ext cx="10515600" cy="219456"/>
          </a:xfrm>
          <a:prstGeom prst="rect">
            <a:avLst/>
          </a:prstGeom>
          <a:noFill/>
        </p:spPr>
        <p:txBody>
          <a:bodyPr wrap="square" lIns="0" rIns="0" tIns="0" bIns="0" anchor="t">
            <a:spAutoFit/>
          </a:bodyPr>
          <a:lstStyle/>
          <a:p>
            <a:pPr algn="ctr">
              <a:spcAft>
                <a:spcPts val="300"/>
              </a:spcAft>
            </a:pPr>
            <a:r>
              <a:rPr sz="950" b="1">
                <a:solidFill>
                  <a:srgbClr val="5F6B7A"/>
                </a:solidFill>
                <a:latin typeface="Arial"/>
              </a:rPr>
              <a:t>Both are living decision records; neither is a ceremonial form.</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DECISION TOOL</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01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Choosing a Development Approach</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Signal</a:t>
            </a:r>
          </a:p>
        </p:txBody>
      </p:sp>
      <p:sp>
        <p:nvSpPr>
          <p:cNvPr id="9" name="Rectangle 8"/>
          <p:cNvSpPr/>
          <p:nvPr/>
        </p:nvSpPr>
        <p:spPr>
          <a:xfrm>
            <a:off x="4315968"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Predictive</a:t>
            </a:r>
          </a:p>
        </p:txBody>
      </p:sp>
      <p:sp>
        <p:nvSpPr>
          <p:cNvPr id="11" name="Rectangle 10"/>
          <p:cNvSpPr/>
          <p:nvPr/>
        </p:nvSpPr>
        <p:spPr>
          <a:xfrm>
            <a:off x="7882127"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Adaptive / Hybrid</a:t>
            </a:r>
          </a:p>
        </p:txBody>
      </p:sp>
      <p:sp>
        <p:nvSpPr>
          <p:cNvPr id="13" name="Rectangle 12"/>
          <p:cNvSpPr/>
          <p:nvPr/>
        </p:nvSpPr>
        <p:spPr>
          <a:xfrm>
            <a:off x="749808"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97479"/>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Requirements</a:t>
            </a:r>
          </a:p>
        </p:txBody>
      </p:sp>
      <p:sp>
        <p:nvSpPr>
          <p:cNvPr id="15" name="Rectangle 14"/>
          <p:cNvSpPr/>
          <p:nvPr/>
        </p:nvSpPr>
        <p:spPr>
          <a:xfrm>
            <a:off x="4315968"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97479"/>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Stable and testable upfront</a:t>
            </a:r>
          </a:p>
        </p:txBody>
      </p:sp>
      <p:sp>
        <p:nvSpPr>
          <p:cNvPr id="17" name="Rectangle 16"/>
          <p:cNvSpPr/>
          <p:nvPr/>
        </p:nvSpPr>
        <p:spPr>
          <a:xfrm>
            <a:off x="7882127"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97479"/>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Evolving or discovery-heavy</a:t>
            </a:r>
          </a:p>
        </p:txBody>
      </p:sp>
      <p:sp>
        <p:nvSpPr>
          <p:cNvPr id="19" name="Rectangle 18"/>
          <p:cNvSpPr/>
          <p:nvPr/>
        </p:nvSpPr>
        <p:spPr>
          <a:xfrm>
            <a:off x="749808"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538727"/>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Feedback</a:t>
            </a:r>
          </a:p>
        </p:txBody>
      </p:sp>
      <p:sp>
        <p:nvSpPr>
          <p:cNvPr id="21" name="Rectangle 20"/>
          <p:cNvSpPr/>
          <p:nvPr/>
        </p:nvSpPr>
        <p:spPr>
          <a:xfrm>
            <a:off x="4315968"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538727"/>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Available late or at gates</a:t>
            </a:r>
          </a:p>
        </p:txBody>
      </p:sp>
      <p:sp>
        <p:nvSpPr>
          <p:cNvPr id="23" name="Rectangle 22"/>
          <p:cNvSpPr/>
          <p:nvPr/>
        </p:nvSpPr>
        <p:spPr>
          <a:xfrm>
            <a:off x="7882127"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538727"/>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Available in short cycles</a:t>
            </a:r>
          </a:p>
        </p:txBody>
      </p:sp>
      <p:sp>
        <p:nvSpPr>
          <p:cNvPr id="25" name="Rectangle 24"/>
          <p:cNvSpPr/>
          <p:nvPr/>
        </p:nvSpPr>
        <p:spPr>
          <a:xfrm>
            <a:off x="749808"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379976"/>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Change cost</a:t>
            </a:r>
          </a:p>
        </p:txBody>
      </p:sp>
      <p:sp>
        <p:nvSpPr>
          <p:cNvPr id="27" name="Rectangle 26"/>
          <p:cNvSpPr/>
          <p:nvPr/>
        </p:nvSpPr>
        <p:spPr>
          <a:xfrm>
            <a:off x="4315968"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379976"/>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High after commitment</a:t>
            </a:r>
          </a:p>
        </p:txBody>
      </p:sp>
      <p:sp>
        <p:nvSpPr>
          <p:cNvPr id="29" name="Rectangle 28"/>
          <p:cNvSpPr/>
          <p:nvPr/>
        </p:nvSpPr>
        <p:spPr>
          <a:xfrm>
            <a:off x="7882127"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379976"/>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Reduced through increments</a:t>
            </a:r>
          </a:p>
        </p:txBody>
      </p:sp>
      <p:sp>
        <p:nvSpPr>
          <p:cNvPr id="31" name="Rectangle 30"/>
          <p:cNvSpPr/>
          <p:nvPr/>
        </p:nvSpPr>
        <p:spPr>
          <a:xfrm>
            <a:off x="749808"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221224"/>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Governance</a:t>
            </a:r>
          </a:p>
        </p:txBody>
      </p:sp>
      <p:sp>
        <p:nvSpPr>
          <p:cNvPr id="33" name="Rectangle 32"/>
          <p:cNvSpPr/>
          <p:nvPr/>
        </p:nvSpPr>
        <p:spPr>
          <a:xfrm>
            <a:off x="4315968"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5221224"/>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Baseline and stage gates</a:t>
            </a:r>
          </a:p>
        </p:txBody>
      </p:sp>
      <p:sp>
        <p:nvSpPr>
          <p:cNvPr id="35" name="Rectangle 34"/>
          <p:cNvSpPr/>
          <p:nvPr/>
        </p:nvSpPr>
        <p:spPr>
          <a:xfrm>
            <a:off x="7882127"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5221224"/>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Timeboxes plus control points</a:t>
            </a:r>
          </a:p>
        </p:txBody>
      </p:sp>
      <p:sp>
        <p:nvSpPr>
          <p:cNvPr id="37" name="TextBox 36"/>
          <p:cNvSpPr txBox="1"/>
          <p:nvPr/>
        </p:nvSpPr>
        <p:spPr>
          <a:xfrm>
            <a:off x="804672" y="6080760"/>
            <a:ext cx="10515600" cy="219456"/>
          </a:xfrm>
          <a:prstGeom prst="rect">
            <a:avLst/>
          </a:prstGeom>
          <a:noFill/>
        </p:spPr>
        <p:txBody>
          <a:bodyPr wrap="square" lIns="0" rIns="0" tIns="0" bIns="0" anchor="t">
            <a:spAutoFit/>
          </a:bodyPr>
          <a:lstStyle/>
          <a:p>
            <a:pPr algn="ctr">
              <a:spcAft>
                <a:spcPts val="300"/>
              </a:spcAft>
            </a:pPr>
            <a:r>
              <a:rPr sz="950" b="1">
                <a:solidFill>
                  <a:srgbClr val="5F6B7A"/>
                </a:solidFill>
                <a:latin typeface="Arial"/>
              </a:rPr>
              <a:t>Approach follows uncertainty and reversibility—not fashion.</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DECISION TOOL</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01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1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4443984"/>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4443984"/>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02 Cost Benefit Analysis</a:t>
            </a:r>
          </a:p>
        </p:txBody>
      </p:sp>
      <p:sp>
        <p:nvSpPr>
          <p:cNvPr id="10" name="TextBox 9"/>
          <p:cNvSpPr txBox="1"/>
          <p:nvPr/>
        </p:nvSpPr>
        <p:spPr>
          <a:xfrm>
            <a:off x="1005840" y="2313432"/>
            <a:ext cx="2956559" cy="3758184"/>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1" name="Rounded Rectangle 10"/>
          <p:cNvSpPr/>
          <p:nvPr/>
        </p:nvSpPr>
        <p:spPr>
          <a:xfrm>
            <a:off x="4392167" y="1783080"/>
            <a:ext cx="3413759" cy="4443984"/>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44439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05 Business Case on a Page</a:t>
            </a:r>
          </a:p>
        </p:txBody>
      </p:sp>
      <p:sp>
        <p:nvSpPr>
          <p:cNvPr id="14" name="TextBox 13"/>
          <p:cNvSpPr txBox="1"/>
          <p:nvPr/>
        </p:nvSpPr>
        <p:spPr>
          <a:xfrm>
            <a:off x="4648200" y="2313432"/>
            <a:ext cx="2956559" cy="3758184"/>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DOCX · editable project tool</a:t>
            </a:r>
          </a:p>
        </p:txBody>
      </p:sp>
      <p:sp>
        <p:nvSpPr>
          <p:cNvPr id="15" name="Rounded Rectangle 14"/>
          <p:cNvSpPr/>
          <p:nvPr/>
        </p:nvSpPr>
        <p:spPr>
          <a:xfrm>
            <a:off x="8034527" y="1783080"/>
            <a:ext cx="3413759" cy="4443984"/>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4443984"/>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08 Project Charter Template</a:t>
            </a:r>
          </a:p>
        </p:txBody>
      </p:sp>
      <p:sp>
        <p:nvSpPr>
          <p:cNvPr id="18" name="TextBox 17"/>
          <p:cNvSpPr txBox="1"/>
          <p:nvPr/>
        </p:nvSpPr>
        <p:spPr>
          <a:xfrm>
            <a:off x="8290559" y="2313432"/>
            <a:ext cx="2956559" cy="3758184"/>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TOOL-BASED PRACTICE</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01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Authorise the HarbourHub Click &amp; Collect Pilot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1 · 75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HarbourHub Fresh has approved discovery work for a click-and-collect pilot at three outlets, but the sponsor has not yet authorised delivery. Operations wants speed, Finance wants a hard S$180,000 ceiling, store managers fear disruption, and customers want reliable collection times. Your team must decide whether this is a viable small project and define the authority to proceed.</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Validate the customer problem, quantify the investment case, define measurable success, set in/out boundaries, name the core team and sponsor, record assumptions and high-level risks, and prepare the kickoff decision.</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 cost–benefit analysis, one-page business case and signed-ready project charter with measurable success criteria, scope boundaries, milestone dates, budget cap, team and kickoff agenda.</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950" b="0">
                <a:solidFill>
                  <a:srgbClr val="131B2A"/>
                </a:solidFill>
                <a:latin typeface="Arial"/>
              </a:rPr>
              <a:t>The charter proves the work qualifies as a small project, names one accountable sponsor, contains quantified success measures and exclusions, stays within five months and S$180,000, and carries an explicit authorisation decision.</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Project Charter, Cost–Benefit Analysis and Business Case templates</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1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1 · LO1</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01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1: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business case answers whether the project should exist; the charter answers whether the team is authorised to act.</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scope boundary is incomplete until exclusions are visible—silence is where scope creep starts.</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Success criteria must be measurable before the plan is built, or control later becomes opinion.</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01 · A1, K1 · LO1</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Topic 01 Recap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Decision</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project is temporary, unique and value-seeking; operations are ongoing and repetitive.</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Method</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Success balances value and outcomes with scope, schedule, cost, quality, resources and risk.</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Evidence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A cost–benefit analysis, one-page business case and signed-ready project charter with measurable success criteria, scope boundaries, milestone dates, budget cap, team and kickoff agenda.</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Capability</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Develop project scope and team to initiate a five-month small project (A1, K1).</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A1, K1 · LO1</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TOPIC 02 · A2, K2 · LO2</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Develop a Project Plan</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Requirements · scope baseline · WBS · network · schedule · budget</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02</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A2, K2 · LO2</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CENTRAL IDEA</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 plan is a connected model, not a collection of files.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10698480" cy="397763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847088"/>
            <a:ext cx="128016" cy="3977639"/>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2359152"/>
            <a:ext cx="9738360" cy="2834640"/>
          </a:xfrm>
          <a:prstGeom prst="rect">
            <a:avLst/>
          </a:prstGeom>
          <a:noFill/>
        </p:spPr>
        <p:txBody>
          <a:bodyPr wrap="square" lIns="0" rIns="0" tIns="0" bIns="0" anchor="ctr">
            <a:spAutoFit/>
          </a:bodyPr>
          <a:lstStyle/>
          <a:p>
            <a:pPr algn="l">
              <a:spcAft>
                <a:spcPts val="300"/>
              </a:spcAft>
            </a:pPr>
            <a:r>
              <a:rPr sz="2400" b="1">
                <a:solidFill>
                  <a:srgbClr val="131B2A"/>
                </a:solidFill>
                <a:latin typeface="Arial"/>
              </a:rPr>
              <a:t>Requirements, WBS, dependencies, dates, resources and money must describe the same work. If one changes, the others must move with it.</a:t>
            </a:r>
          </a:p>
        </p:txBody>
      </p:sp>
      <p:sp>
        <p:nvSpPr>
          <p:cNvPr id="10" name="TextBox 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1" name="TextBox 1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CENTRAL IDEA</a:t>
            </a:r>
          </a:p>
        </p:txBody>
      </p:sp>
      <p:sp>
        <p:nvSpPr>
          <p:cNvPr id="12" name="TextBox 1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02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Develop a Project Plan — Core Concepts 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01</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plan integrates subsidiary decisions; separate scope, schedule and cost files are not yet a project plan.</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02</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Progressive elaboration and rolling-wave planning add detail as uncertainty reduces without abandoning control.</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03</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Requirements must be testable, prioritised and traceable from need through deliverable and acceptance evidence.</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04</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scope statement defines deliverables, exclusions, constraints, assumptions and acceptance criteria.</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Develop a Project Plan — Core Concepts II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05</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WBS decomposes deliverables to manageable work packages; the WBS dictionary removes ambiguity.</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06</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Dependencies create the network; the longest path sets the earliest finish and carries zero or least float.</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07</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Duration estimates should separate work, waiting, risk and resource availability; use analogous, parametric, bottom-up or three-point methods deliberately.</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08</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cost baseline is time-phased; contingency reserve covers known-unknowns while management reserve covers unknown-unknowns.</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02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The Planning Chain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Need</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stakeholder source</a:t>
            </a:r>
          </a:p>
        </p:txBody>
      </p:sp>
      <p:cxnSp>
        <p:nvCxnSpPr>
          <p:cNvPr id="12" name="Connector 11"/>
          <p:cNvCxnSpPr/>
          <p:nvPr/>
        </p:nvCxnSpPr>
        <p:spPr>
          <a:xfrm>
            <a:off x="2395727" y="3474720"/>
            <a:ext cx="164593"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Requirement</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testable and prioritised</a:t>
            </a:r>
          </a:p>
        </p:txBody>
      </p:sp>
      <p:cxnSp>
        <p:nvCxnSpPr>
          <p:cNvPr id="18" name="Connector 17"/>
          <p:cNvCxnSpPr/>
          <p:nvPr/>
        </p:nvCxnSpPr>
        <p:spPr>
          <a:xfrm>
            <a:off x="4206240" y="3474720"/>
            <a:ext cx="164591"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Deliverable</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scope statement and WBS</a:t>
            </a:r>
          </a:p>
        </p:txBody>
      </p:sp>
      <p:cxnSp>
        <p:nvCxnSpPr>
          <p:cNvPr id="24" name="Connector 23"/>
          <p:cNvCxnSpPr/>
          <p:nvPr/>
        </p:nvCxnSpPr>
        <p:spPr>
          <a:xfrm>
            <a:off x="6016751"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Activity</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dependency and duration</a:t>
            </a:r>
          </a:p>
        </p:txBody>
      </p:sp>
      <p:cxnSp>
        <p:nvCxnSpPr>
          <p:cNvPr id="30" name="Connector 29"/>
          <p:cNvCxnSpPr/>
          <p:nvPr/>
        </p:nvCxnSpPr>
        <p:spPr>
          <a:xfrm>
            <a:off x="7827263"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Baseline</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schedule and budget</a:t>
            </a:r>
          </a:p>
        </p:txBody>
      </p:sp>
      <p:cxnSp>
        <p:nvCxnSpPr>
          <p:cNvPr id="36" name="Connector 35"/>
          <p:cNvCxnSpPr/>
          <p:nvPr/>
        </p:nvCxnSpPr>
        <p:spPr>
          <a:xfrm>
            <a:off x="9637776" y="3474720"/>
            <a:ext cx="164591"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Evidence</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acceptance and traceability</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A broken link creates either orphan scope or unplanned work.</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APPLIED FRAMEWORK</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Estimating Methods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Method</a:t>
            </a:r>
          </a:p>
        </p:txBody>
      </p:sp>
      <p:sp>
        <p:nvSpPr>
          <p:cNvPr id="9" name="Rectangle 8"/>
          <p:cNvSpPr/>
          <p:nvPr/>
        </p:nvSpPr>
        <p:spPr>
          <a:xfrm>
            <a:off x="4315968"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Best use</a:t>
            </a:r>
          </a:p>
        </p:txBody>
      </p:sp>
      <p:sp>
        <p:nvSpPr>
          <p:cNvPr id="11" name="Rectangle 10"/>
          <p:cNvSpPr/>
          <p:nvPr/>
        </p:nvSpPr>
        <p:spPr>
          <a:xfrm>
            <a:off x="7882127"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Main risk</a:t>
            </a:r>
          </a:p>
        </p:txBody>
      </p:sp>
      <p:sp>
        <p:nvSpPr>
          <p:cNvPr id="13" name="Rectangle 12"/>
          <p:cNvSpPr/>
          <p:nvPr/>
        </p:nvSpPr>
        <p:spPr>
          <a:xfrm>
            <a:off x="749808"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97479"/>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Analogous</a:t>
            </a:r>
          </a:p>
        </p:txBody>
      </p:sp>
      <p:sp>
        <p:nvSpPr>
          <p:cNvPr id="15" name="Rectangle 14"/>
          <p:cNvSpPr/>
          <p:nvPr/>
        </p:nvSpPr>
        <p:spPr>
          <a:xfrm>
            <a:off x="4315968"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97479"/>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Early estimate from similar work</a:t>
            </a:r>
          </a:p>
        </p:txBody>
      </p:sp>
      <p:sp>
        <p:nvSpPr>
          <p:cNvPr id="17" name="Rectangle 16"/>
          <p:cNvSpPr/>
          <p:nvPr/>
        </p:nvSpPr>
        <p:spPr>
          <a:xfrm>
            <a:off x="7882127"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97479"/>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False similarity</a:t>
            </a:r>
          </a:p>
        </p:txBody>
      </p:sp>
      <p:sp>
        <p:nvSpPr>
          <p:cNvPr id="19" name="Rectangle 18"/>
          <p:cNvSpPr/>
          <p:nvPr/>
        </p:nvSpPr>
        <p:spPr>
          <a:xfrm>
            <a:off x="749808"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538727"/>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Parametric</a:t>
            </a:r>
          </a:p>
        </p:txBody>
      </p:sp>
      <p:sp>
        <p:nvSpPr>
          <p:cNvPr id="21" name="Rectangle 20"/>
          <p:cNvSpPr/>
          <p:nvPr/>
        </p:nvSpPr>
        <p:spPr>
          <a:xfrm>
            <a:off x="4315968"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538727"/>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Repeatable unit rates</a:t>
            </a:r>
          </a:p>
        </p:txBody>
      </p:sp>
      <p:sp>
        <p:nvSpPr>
          <p:cNvPr id="23" name="Rectangle 22"/>
          <p:cNvSpPr/>
          <p:nvPr/>
        </p:nvSpPr>
        <p:spPr>
          <a:xfrm>
            <a:off x="7882127"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538727"/>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Bad rate or scale</a:t>
            </a:r>
          </a:p>
        </p:txBody>
      </p:sp>
      <p:sp>
        <p:nvSpPr>
          <p:cNvPr id="25" name="Rectangle 24"/>
          <p:cNvSpPr/>
          <p:nvPr/>
        </p:nvSpPr>
        <p:spPr>
          <a:xfrm>
            <a:off x="749808"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379976"/>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Bottom-up</a:t>
            </a:r>
          </a:p>
        </p:txBody>
      </p:sp>
      <p:sp>
        <p:nvSpPr>
          <p:cNvPr id="27" name="Rectangle 26"/>
          <p:cNvSpPr/>
          <p:nvPr/>
        </p:nvSpPr>
        <p:spPr>
          <a:xfrm>
            <a:off x="4315968"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379976"/>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Defined work packages</a:t>
            </a:r>
          </a:p>
        </p:txBody>
      </p:sp>
      <p:sp>
        <p:nvSpPr>
          <p:cNvPr id="29" name="Rectangle 28"/>
          <p:cNvSpPr/>
          <p:nvPr/>
        </p:nvSpPr>
        <p:spPr>
          <a:xfrm>
            <a:off x="7882127"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379976"/>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Time and detail cost</a:t>
            </a:r>
          </a:p>
        </p:txBody>
      </p:sp>
      <p:sp>
        <p:nvSpPr>
          <p:cNvPr id="31" name="Rectangle 30"/>
          <p:cNvSpPr/>
          <p:nvPr/>
        </p:nvSpPr>
        <p:spPr>
          <a:xfrm>
            <a:off x="749808"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221224"/>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Three-point</a:t>
            </a:r>
          </a:p>
        </p:txBody>
      </p:sp>
      <p:sp>
        <p:nvSpPr>
          <p:cNvPr id="33" name="Rectangle 32"/>
          <p:cNvSpPr/>
          <p:nvPr/>
        </p:nvSpPr>
        <p:spPr>
          <a:xfrm>
            <a:off x="4315968"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5221224"/>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Uncertain durations/costs</a:t>
            </a:r>
          </a:p>
        </p:txBody>
      </p:sp>
      <p:sp>
        <p:nvSpPr>
          <p:cNvPr id="35" name="Rectangle 34"/>
          <p:cNvSpPr/>
          <p:nvPr/>
        </p:nvSpPr>
        <p:spPr>
          <a:xfrm>
            <a:off x="7882127"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5221224"/>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Optimism in inputs</a:t>
            </a:r>
          </a:p>
        </p:txBody>
      </p:sp>
      <p:sp>
        <p:nvSpPr>
          <p:cNvPr id="37" name="TextBox 36"/>
          <p:cNvSpPr txBox="1"/>
          <p:nvPr/>
        </p:nvSpPr>
        <p:spPr>
          <a:xfrm>
            <a:off x="804672" y="6080760"/>
            <a:ext cx="10515600" cy="219456"/>
          </a:xfrm>
          <a:prstGeom prst="rect">
            <a:avLst/>
          </a:prstGeom>
          <a:noFill/>
        </p:spPr>
        <p:txBody>
          <a:bodyPr wrap="square" lIns="0" rIns="0" tIns="0" bIns="0" anchor="t">
            <a:spAutoFit/>
          </a:bodyPr>
          <a:lstStyle/>
          <a:p>
            <a:pPr algn="ctr">
              <a:spcAft>
                <a:spcPts val="300"/>
              </a:spcAft>
            </a:pPr>
            <a:r>
              <a:rPr sz="950" b="1">
                <a:solidFill>
                  <a:srgbClr val="5F6B7A"/>
                </a:solidFill>
                <a:latin typeface="Arial"/>
              </a:rPr>
              <a:t>Record the basis of estimate so future variance can be explained.</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DECISION TOOL</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02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Critical Path Logic</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List</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activities and milestones</a:t>
            </a:r>
          </a:p>
        </p:txBody>
      </p:sp>
      <p:cxnSp>
        <p:nvCxnSpPr>
          <p:cNvPr id="12" name="Connector 11"/>
          <p:cNvCxnSpPr/>
          <p:nvPr/>
        </p:nvCxnSpPr>
        <p:spPr>
          <a:xfrm>
            <a:off x="2395727" y="3474720"/>
            <a:ext cx="164593"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Link</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predecessors and lags</a:t>
            </a:r>
          </a:p>
        </p:txBody>
      </p:sp>
      <p:cxnSp>
        <p:nvCxnSpPr>
          <p:cNvPr id="18" name="Connector 17"/>
          <p:cNvCxnSpPr/>
          <p:nvPr/>
        </p:nvCxnSpPr>
        <p:spPr>
          <a:xfrm>
            <a:off x="4206240" y="3474720"/>
            <a:ext cx="164591"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Forward pass</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earliest start/finish</a:t>
            </a:r>
          </a:p>
        </p:txBody>
      </p:sp>
      <p:cxnSp>
        <p:nvCxnSpPr>
          <p:cNvPr id="24" name="Connector 23"/>
          <p:cNvCxnSpPr/>
          <p:nvPr/>
        </p:nvCxnSpPr>
        <p:spPr>
          <a:xfrm>
            <a:off x="6016751"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Backward pass</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latest start/finish</a:t>
            </a:r>
          </a:p>
        </p:txBody>
      </p:sp>
      <p:cxnSp>
        <p:nvCxnSpPr>
          <p:cNvPr id="30" name="Connector 29"/>
          <p:cNvCxnSpPr/>
          <p:nvPr/>
        </p:nvCxnSpPr>
        <p:spPr>
          <a:xfrm>
            <a:off x="7827263"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Float</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identify scheduling flexibility</a:t>
            </a:r>
          </a:p>
        </p:txBody>
      </p:sp>
      <p:cxnSp>
        <p:nvCxnSpPr>
          <p:cNvPr id="36" name="Connector 35"/>
          <p:cNvCxnSpPr/>
          <p:nvPr/>
        </p:nvCxnSpPr>
        <p:spPr>
          <a:xfrm>
            <a:off x="9637776" y="3474720"/>
            <a:ext cx="164591"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Critical path</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focus control and compression</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Recalculate after every approved change—the critical path can move.</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APPLIED FRAMEWORK</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2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24 WBS Dictionary</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24 Work Breakdown Structure</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PPTX · editable project tool</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150" b="1">
                <a:solidFill>
                  <a:srgbClr val="703CC3"/>
                </a:solidFill>
                <a:latin typeface="Arial"/>
              </a:rPr>
              <a:t>25 Requirements Traceability Matrix</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9" name="Rounded Rectangle 18"/>
          <p:cNvSpPr/>
          <p:nvPr/>
        </p:nvSpPr>
        <p:spPr>
          <a:xfrm>
            <a:off x="74980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28 Schedule Network Diagram</a:t>
            </a:r>
          </a:p>
        </p:txBody>
      </p:sp>
      <p:sp>
        <p:nvSpPr>
          <p:cNvPr id="22" name="TextBox 21"/>
          <p:cNvSpPr txBox="1"/>
          <p:nvPr/>
        </p:nvSpPr>
        <p:spPr>
          <a:xfrm>
            <a:off x="100584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23" name="Rounded Rectangle 22"/>
          <p:cNvSpPr/>
          <p:nvPr/>
        </p:nvSpPr>
        <p:spPr>
          <a:xfrm>
            <a:off x="439216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4283964"/>
            <a:ext cx="2956559" cy="438912"/>
          </a:xfrm>
          <a:prstGeom prst="rect">
            <a:avLst/>
          </a:prstGeom>
          <a:noFill/>
        </p:spPr>
        <p:txBody>
          <a:bodyPr wrap="square" lIns="0" rIns="0" tIns="0" bIns="0" anchor="t">
            <a:spAutoFit/>
          </a:bodyPr>
          <a:lstStyle/>
          <a:p>
            <a:pPr algn="l">
              <a:spcAft>
                <a:spcPts val="300"/>
              </a:spcAft>
            </a:pPr>
            <a:r>
              <a:rPr sz="1050" b="1">
                <a:solidFill>
                  <a:srgbClr val="1A7F4B"/>
                </a:solidFill>
                <a:latin typeface="Arial"/>
              </a:rPr>
              <a:t>29 - Gantt Chart - Schedule - Daily Weekly Monthly and Phases</a:t>
            </a:r>
          </a:p>
        </p:txBody>
      </p:sp>
      <p:sp>
        <p:nvSpPr>
          <p:cNvPr id="26" name="TextBox 25"/>
          <p:cNvSpPr txBox="1"/>
          <p:nvPr/>
        </p:nvSpPr>
        <p:spPr>
          <a:xfrm>
            <a:off x="464820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27" name="Rounded Rectangle 26"/>
          <p:cNvSpPr/>
          <p:nvPr/>
        </p:nvSpPr>
        <p:spPr>
          <a:xfrm>
            <a:off x="803452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4119372"/>
            <a:ext cx="91440" cy="2107692"/>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4283964"/>
            <a:ext cx="2956559" cy="438912"/>
          </a:xfrm>
          <a:prstGeom prst="rect">
            <a:avLst/>
          </a:prstGeom>
          <a:noFill/>
        </p:spPr>
        <p:txBody>
          <a:bodyPr wrap="square" lIns="0" rIns="0" tIns="0" bIns="0" anchor="t">
            <a:spAutoFit/>
          </a:bodyPr>
          <a:lstStyle/>
          <a:p>
            <a:pPr algn="l">
              <a:spcAft>
                <a:spcPts val="300"/>
              </a:spcAft>
            </a:pPr>
            <a:r>
              <a:rPr sz="1050" b="1">
                <a:solidFill>
                  <a:srgbClr val="C93131"/>
                </a:solidFill>
                <a:latin typeface="Arial"/>
              </a:rPr>
              <a:t>32 Project Budget - Planned vs Actual - Weekly and Monthly</a:t>
            </a:r>
          </a:p>
        </p:txBody>
      </p:sp>
      <p:sp>
        <p:nvSpPr>
          <p:cNvPr id="30" name="TextBox 29"/>
          <p:cNvSpPr txBox="1"/>
          <p:nvPr/>
        </p:nvSpPr>
        <p:spPr>
          <a:xfrm>
            <a:off x="8290559"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31" name="TextBox 30"/>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32" name="TextBox 31"/>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TOOL-BASED PRACTICE</a:t>
            </a:r>
          </a:p>
        </p:txBody>
      </p:sp>
      <p:sp>
        <p:nvSpPr>
          <p:cNvPr id="33" name="TextBox 32"/>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Build the Integrated Scope, Schedule and Cost Baseline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2 · 120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The sponsor approved the charter with one condition: the three outlets must launch before Lunar New Year trading. You have high-level deliverables but no traceable requirements, work breakdown, dependency logic or time-phased budget. A vendor has proposed a date based only on optimism.</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Translate the charter into testable requirements, a deliverable-oriented WBS and dictionary, then sequence work, estimate duration and cost, calculate the critical path, and publish an integrated baseline.</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 requirements traceability matrix, WBS and dictionary, network diagram with critical path and float, Gantt schedule with milestones, and time-phased S$180,000 cost baseline with contingency reserve.</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Every requirement traces to acceptance evidence and a WBS deliverable; the network produces a defensible critical path; the Gantt fits the five-month limit; and all scheduled work is funded within S$180,000.</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RTM, WBS, network, Gantt and budget templates</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2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2 · LO2</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02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2: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Gantt chart is an output of dependency logic, not a substitute for it.</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integrated baseline is only credible when scope, schedule and cost reconcile to the same work packages.</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Float belongs to the project, not automatically to the activity owner who happens to see it.</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02 · A2, K2 · LO2</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Topic 02 Recap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Decision</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plan integrates subsidiary decisions; separate scope, schedule and cost files are not yet a project plan.</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Method</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scope statement defines deliverables, exclusions, constraints, assumptions and acceptance criteria.</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Evidence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A requirements traceability matrix, WBS and dictionary, network diagram with critical path and float, Gantt schedule with milestones, and time-phased S$180,000 cost baseline with contingency reserve.</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Capability</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Implement a realistic project plan from the authorised objectives and scope (A2, K2).</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A2, K2 · LO2</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TOPIC 03 · A3, K3 · LO3</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Apply Methods and Tools to Drive a Project</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Quality planning · flow · root cause · Pareto · improvement</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03</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A3, K3 · LO3</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03 · CENTRAL IDEA</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Use the lightest tool that changes the next decision.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10698480" cy="397763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847088"/>
            <a:ext cx="128016" cy="3977639"/>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2359152"/>
            <a:ext cx="9738360" cy="2834640"/>
          </a:xfrm>
          <a:prstGeom prst="rect">
            <a:avLst/>
          </a:prstGeom>
          <a:noFill/>
        </p:spPr>
        <p:txBody>
          <a:bodyPr wrap="square" lIns="0" rIns="0" tIns="0" bIns="0" anchor="ctr">
            <a:spAutoFit/>
          </a:bodyPr>
          <a:lstStyle/>
          <a:p>
            <a:pPr algn="l">
              <a:spcAft>
                <a:spcPts val="300"/>
              </a:spcAft>
            </a:pPr>
            <a:r>
              <a:rPr sz="2400" b="1">
                <a:solidFill>
                  <a:srgbClr val="131B2A"/>
                </a:solidFill>
                <a:latin typeface="Arial"/>
              </a:rPr>
              <a:t>A tool earns its place when it turns uncertain work into visible evidence: flow, cause, variation, priority or ownership.</a:t>
            </a:r>
          </a:p>
        </p:txBody>
      </p:sp>
      <p:sp>
        <p:nvSpPr>
          <p:cNvPr id="10" name="TextBox 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1" name="TextBox 1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CENTRAL IDEA</a:t>
            </a:r>
          </a:p>
        </p:txBody>
      </p:sp>
      <p:sp>
        <p:nvSpPr>
          <p:cNvPr id="12" name="TextBox 1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03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Apply Methods and Tools to Drive a Project — Core Concepts 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01</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method defines how work is managed; a tool makes information visible. Choose both for the decision needed.</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02</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Predictive plans optimise sequence and baseline control; adaptive boards optimise flow and feedback; hybrid combines both intentionally.</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03</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Quality means conformance to requirements and fitness for use, not luxury or perfection.</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04</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Prevention and appraisal are usually cheaper than internal and external failure.</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03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Apply Methods and Tools to Drive a Project — Core Concepts II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05</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A check sheet captures facts, a control chart detects process behaviour, Pareto prioritises causes, and fishbone plus 5 Whys investigates root cause.</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06</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Root-cause analysis must end at a process or system cause the team can influence, not blame a person.</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07</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Visual work management exposes blocked work and excessive WIP before the schedule report does.</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08</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Continuous improvement closes the loop through a named action, owner, measure and review date.</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03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Select the Tool for the Question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0104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Question</a:t>
            </a:r>
          </a:p>
        </p:txBody>
      </p:sp>
      <p:sp>
        <p:nvSpPr>
          <p:cNvPr id="9" name="Rectangle 8"/>
          <p:cNvSpPr/>
          <p:nvPr/>
        </p:nvSpPr>
        <p:spPr>
          <a:xfrm>
            <a:off x="4315968" y="1810512"/>
            <a:ext cx="3566160" cy="70104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Best starting tool</a:t>
            </a:r>
          </a:p>
        </p:txBody>
      </p:sp>
      <p:sp>
        <p:nvSpPr>
          <p:cNvPr id="11" name="Rectangle 10"/>
          <p:cNvSpPr/>
          <p:nvPr/>
        </p:nvSpPr>
        <p:spPr>
          <a:xfrm>
            <a:off x="7882127" y="1810512"/>
            <a:ext cx="3566160" cy="70104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Output</a:t>
            </a:r>
          </a:p>
        </p:txBody>
      </p:sp>
      <p:sp>
        <p:nvSpPr>
          <p:cNvPr id="13" name="Rectangle 12"/>
          <p:cNvSpPr/>
          <p:nvPr/>
        </p:nvSpPr>
        <p:spPr>
          <a:xfrm>
            <a:off x="749808"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557272"/>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What happened?</a:t>
            </a:r>
          </a:p>
        </p:txBody>
      </p:sp>
      <p:sp>
        <p:nvSpPr>
          <p:cNvPr id="15" name="Rectangle 14"/>
          <p:cNvSpPr/>
          <p:nvPr/>
        </p:nvSpPr>
        <p:spPr>
          <a:xfrm>
            <a:off x="4315968"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55727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Check sheet</a:t>
            </a:r>
          </a:p>
        </p:txBody>
      </p:sp>
      <p:sp>
        <p:nvSpPr>
          <p:cNvPr id="17" name="Rectangle 16"/>
          <p:cNvSpPr/>
          <p:nvPr/>
        </p:nvSpPr>
        <p:spPr>
          <a:xfrm>
            <a:off x="7882127"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55727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Reliable facts</a:t>
            </a:r>
          </a:p>
        </p:txBody>
      </p:sp>
      <p:sp>
        <p:nvSpPr>
          <p:cNvPr id="19" name="Rectangle 18"/>
          <p:cNvSpPr/>
          <p:nvPr/>
        </p:nvSpPr>
        <p:spPr>
          <a:xfrm>
            <a:off x="749808"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25831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Why might it happen?</a:t>
            </a:r>
          </a:p>
        </p:txBody>
      </p:sp>
      <p:sp>
        <p:nvSpPr>
          <p:cNvPr id="21" name="Rectangle 20"/>
          <p:cNvSpPr/>
          <p:nvPr/>
        </p:nvSpPr>
        <p:spPr>
          <a:xfrm>
            <a:off x="4315968"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25831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Fishbone</a:t>
            </a:r>
          </a:p>
        </p:txBody>
      </p:sp>
      <p:sp>
        <p:nvSpPr>
          <p:cNvPr id="23" name="Rectangle 22"/>
          <p:cNvSpPr/>
          <p:nvPr/>
        </p:nvSpPr>
        <p:spPr>
          <a:xfrm>
            <a:off x="7882127"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25831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Cause families</a:t>
            </a:r>
          </a:p>
        </p:txBody>
      </p:sp>
      <p:sp>
        <p:nvSpPr>
          <p:cNvPr id="25" name="Rectangle 24"/>
          <p:cNvSpPr/>
          <p:nvPr/>
        </p:nvSpPr>
        <p:spPr>
          <a:xfrm>
            <a:off x="749808"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95935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What is the root?</a:t>
            </a:r>
          </a:p>
        </p:txBody>
      </p:sp>
      <p:sp>
        <p:nvSpPr>
          <p:cNvPr id="27" name="Rectangle 26"/>
          <p:cNvSpPr/>
          <p:nvPr/>
        </p:nvSpPr>
        <p:spPr>
          <a:xfrm>
            <a:off x="4315968"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95935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5 Whys</a:t>
            </a:r>
          </a:p>
        </p:txBody>
      </p:sp>
      <p:sp>
        <p:nvSpPr>
          <p:cNvPr id="29" name="Rectangle 28"/>
          <p:cNvSpPr/>
          <p:nvPr/>
        </p:nvSpPr>
        <p:spPr>
          <a:xfrm>
            <a:off x="7882127"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95935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Actionable chain</a:t>
            </a:r>
          </a:p>
        </p:txBody>
      </p:sp>
      <p:sp>
        <p:nvSpPr>
          <p:cNvPr id="31" name="Rectangle 30"/>
          <p:cNvSpPr/>
          <p:nvPr/>
        </p:nvSpPr>
        <p:spPr>
          <a:xfrm>
            <a:off x="749808"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660392"/>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Which causes matter most?</a:t>
            </a:r>
          </a:p>
        </p:txBody>
      </p:sp>
      <p:sp>
        <p:nvSpPr>
          <p:cNvPr id="33" name="Rectangle 32"/>
          <p:cNvSpPr/>
          <p:nvPr/>
        </p:nvSpPr>
        <p:spPr>
          <a:xfrm>
            <a:off x="4315968"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66039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Pareto</a:t>
            </a:r>
          </a:p>
        </p:txBody>
      </p:sp>
      <p:sp>
        <p:nvSpPr>
          <p:cNvPr id="35" name="Rectangle 34"/>
          <p:cNvSpPr/>
          <p:nvPr/>
        </p:nvSpPr>
        <p:spPr>
          <a:xfrm>
            <a:off x="7882127"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66039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Vital few</a:t>
            </a:r>
          </a:p>
        </p:txBody>
      </p:sp>
      <p:sp>
        <p:nvSpPr>
          <p:cNvPr id="37" name="Rectangle 36"/>
          <p:cNvSpPr/>
          <p:nvPr/>
        </p:nvSpPr>
        <p:spPr>
          <a:xfrm>
            <a:off x="749808"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36143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Is the process stable?</a:t>
            </a:r>
          </a:p>
        </p:txBody>
      </p:sp>
      <p:sp>
        <p:nvSpPr>
          <p:cNvPr id="39" name="Rectangle 38"/>
          <p:cNvSpPr/>
          <p:nvPr/>
        </p:nvSpPr>
        <p:spPr>
          <a:xfrm>
            <a:off x="4315968"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36143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Control chart</a:t>
            </a:r>
          </a:p>
        </p:txBody>
      </p:sp>
      <p:sp>
        <p:nvSpPr>
          <p:cNvPr id="41" name="Rectangle 40"/>
          <p:cNvSpPr/>
          <p:nvPr/>
        </p:nvSpPr>
        <p:spPr>
          <a:xfrm>
            <a:off x="7882127"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36143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Common vs special cause</a:t>
            </a:r>
          </a:p>
        </p:txBody>
      </p:sp>
      <p:sp>
        <p:nvSpPr>
          <p:cNvPr id="43" name="TextBox 42"/>
          <p:cNvSpPr txBox="1"/>
          <p:nvPr/>
        </p:nvSpPr>
        <p:spPr>
          <a:xfrm>
            <a:off x="804672" y="6080760"/>
            <a:ext cx="10515600" cy="219456"/>
          </a:xfrm>
          <a:prstGeom prst="rect">
            <a:avLst/>
          </a:prstGeom>
          <a:noFill/>
        </p:spPr>
        <p:txBody>
          <a:bodyPr wrap="square" lIns="0" rIns="0" tIns="0" bIns="0" anchor="t">
            <a:spAutoFit/>
          </a:bodyPr>
          <a:lstStyle/>
          <a:p>
            <a:pPr algn="ctr">
              <a:spcAft>
                <a:spcPts val="300"/>
              </a:spcAft>
            </a:pPr>
            <a:r>
              <a:rPr sz="950" b="1">
                <a:solidFill>
                  <a:srgbClr val="5F6B7A"/>
                </a:solidFill>
                <a:latin typeface="Arial"/>
              </a:rPr>
              <a:t>Tools work as a sequence: facts → causes → priority → behaviour → action.</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DECISION TOOL</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03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Cost of Quality</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Category</a:t>
            </a:r>
          </a:p>
        </p:txBody>
      </p:sp>
      <p:sp>
        <p:nvSpPr>
          <p:cNvPr id="9" name="Rectangle 8"/>
          <p:cNvSpPr/>
          <p:nvPr/>
        </p:nvSpPr>
        <p:spPr>
          <a:xfrm>
            <a:off x="4315968"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Purpose</a:t>
            </a:r>
          </a:p>
        </p:txBody>
      </p:sp>
      <p:sp>
        <p:nvSpPr>
          <p:cNvPr id="11" name="Rectangle 10"/>
          <p:cNvSpPr/>
          <p:nvPr/>
        </p:nvSpPr>
        <p:spPr>
          <a:xfrm>
            <a:off x="7882127"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Example</a:t>
            </a:r>
          </a:p>
        </p:txBody>
      </p:sp>
      <p:sp>
        <p:nvSpPr>
          <p:cNvPr id="13" name="Rectangle 12"/>
          <p:cNvSpPr/>
          <p:nvPr/>
        </p:nvSpPr>
        <p:spPr>
          <a:xfrm>
            <a:off x="749808"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97479"/>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Prevention</a:t>
            </a:r>
          </a:p>
        </p:txBody>
      </p:sp>
      <p:sp>
        <p:nvSpPr>
          <p:cNvPr id="15" name="Rectangle 14"/>
          <p:cNvSpPr/>
          <p:nvPr/>
        </p:nvSpPr>
        <p:spPr>
          <a:xfrm>
            <a:off x="4315968"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97479"/>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Stop defects forming</a:t>
            </a:r>
          </a:p>
        </p:txBody>
      </p:sp>
      <p:sp>
        <p:nvSpPr>
          <p:cNvPr id="17" name="Rectangle 16"/>
          <p:cNvSpPr/>
          <p:nvPr/>
        </p:nvSpPr>
        <p:spPr>
          <a:xfrm>
            <a:off x="7882127"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97479"/>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Training and standards</a:t>
            </a:r>
          </a:p>
        </p:txBody>
      </p:sp>
      <p:sp>
        <p:nvSpPr>
          <p:cNvPr id="19" name="Rectangle 18"/>
          <p:cNvSpPr/>
          <p:nvPr/>
        </p:nvSpPr>
        <p:spPr>
          <a:xfrm>
            <a:off x="749808"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538727"/>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Appraisal</a:t>
            </a:r>
          </a:p>
        </p:txBody>
      </p:sp>
      <p:sp>
        <p:nvSpPr>
          <p:cNvPr id="21" name="Rectangle 20"/>
          <p:cNvSpPr/>
          <p:nvPr/>
        </p:nvSpPr>
        <p:spPr>
          <a:xfrm>
            <a:off x="4315968"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538727"/>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Detect before release</a:t>
            </a:r>
          </a:p>
        </p:txBody>
      </p:sp>
      <p:sp>
        <p:nvSpPr>
          <p:cNvPr id="23" name="Rectangle 22"/>
          <p:cNvSpPr/>
          <p:nvPr/>
        </p:nvSpPr>
        <p:spPr>
          <a:xfrm>
            <a:off x="7882127"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538727"/>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Review and testing</a:t>
            </a:r>
          </a:p>
        </p:txBody>
      </p:sp>
      <p:sp>
        <p:nvSpPr>
          <p:cNvPr id="25" name="Rectangle 24"/>
          <p:cNvSpPr/>
          <p:nvPr/>
        </p:nvSpPr>
        <p:spPr>
          <a:xfrm>
            <a:off x="749808"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379976"/>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Internal failure</a:t>
            </a:r>
          </a:p>
        </p:txBody>
      </p:sp>
      <p:sp>
        <p:nvSpPr>
          <p:cNvPr id="27" name="Rectangle 26"/>
          <p:cNvSpPr/>
          <p:nvPr/>
        </p:nvSpPr>
        <p:spPr>
          <a:xfrm>
            <a:off x="4315968"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379976"/>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Fix before customer</a:t>
            </a:r>
          </a:p>
        </p:txBody>
      </p:sp>
      <p:sp>
        <p:nvSpPr>
          <p:cNvPr id="29" name="Rectangle 28"/>
          <p:cNvSpPr/>
          <p:nvPr/>
        </p:nvSpPr>
        <p:spPr>
          <a:xfrm>
            <a:off x="7882127"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379976"/>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Rework and retest</a:t>
            </a:r>
          </a:p>
        </p:txBody>
      </p:sp>
      <p:sp>
        <p:nvSpPr>
          <p:cNvPr id="31" name="Rectangle 30"/>
          <p:cNvSpPr/>
          <p:nvPr/>
        </p:nvSpPr>
        <p:spPr>
          <a:xfrm>
            <a:off x="749808"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221224"/>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External failure</a:t>
            </a:r>
          </a:p>
        </p:txBody>
      </p:sp>
      <p:sp>
        <p:nvSpPr>
          <p:cNvPr id="33" name="Rectangle 32"/>
          <p:cNvSpPr/>
          <p:nvPr/>
        </p:nvSpPr>
        <p:spPr>
          <a:xfrm>
            <a:off x="4315968"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5221224"/>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Recover after release</a:t>
            </a:r>
          </a:p>
        </p:txBody>
      </p:sp>
      <p:sp>
        <p:nvSpPr>
          <p:cNvPr id="35" name="Rectangle 34"/>
          <p:cNvSpPr/>
          <p:nvPr/>
        </p:nvSpPr>
        <p:spPr>
          <a:xfrm>
            <a:off x="7882127"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5221224"/>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Returns and reputation</a:t>
            </a:r>
          </a:p>
        </p:txBody>
      </p:sp>
      <p:sp>
        <p:nvSpPr>
          <p:cNvPr id="37" name="TextBox 36"/>
          <p:cNvSpPr txBox="1"/>
          <p:nvPr/>
        </p:nvSpPr>
        <p:spPr>
          <a:xfrm>
            <a:off x="804672" y="6080760"/>
            <a:ext cx="10515600" cy="219456"/>
          </a:xfrm>
          <a:prstGeom prst="rect">
            <a:avLst/>
          </a:prstGeom>
          <a:noFill/>
        </p:spPr>
        <p:txBody>
          <a:bodyPr wrap="square" lIns="0" rIns="0" tIns="0" bIns="0" anchor="t">
            <a:spAutoFit/>
          </a:bodyPr>
          <a:lstStyle/>
          <a:p>
            <a:pPr algn="ctr">
              <a:spcAft>
                <a:spcPts val="300"/>
              </a:spcAft>
            </a:pPr>
            <a:r>
              <a:rPr sz="950" b="1">
                <a:solidFill>
                  <a:srgbClr val="5F6B7A"/>
                </a:solidFill>
                <a:latin typeface="Arial"/>
              </a:rPr>
              <a:t>Invest upstream where a dollar of prevention avoids many dollars of failure.</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DECISION TOOL</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03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Root Cause to Improvement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Observe</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capture the defect fact</a:t>
            </a:r>
          </a:p>
        </p:txBody>
      </p:sp>
      <p:cxnSp>
        <p:nvCxnSpPr>
          <p:cNvPr id="12" name="Connector 11"/>
          <p:cNvCxnSpPr/>
          <p:nvPr/>
        </p:nvCxnSpPr>
        <p:spPr>
          <a:xfrm>
            <a:off x="2395727" y="3474720"/>
            <a:ext cx="164593"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Explore</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map possible causes</a:t>
            </a:r>
          </a:p>
        </p:txBody>
      </p:sp>
      <p:cxnSp>
        <p:nvCxnSpPr>
          <p:cNvPr id="18" name="Connector 17"/>
          <p:cNvCxnSpPr/>
          <p:nvPr/>
        </p:nvCxnSpPr>
        <p:spPr>
          <a:xfrm>
            <a:off x="4206240" y="3474720"/>
            <a:ext cx="164591"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Drill</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test the causal chain</a:t>
            </a:r>
          </a:p>
        </p:txBody>
      </p:sp>
      <p:cxnSp>
        <p:nvCxnSpPr>
          <p:cNvPr id="24" name="Connector 23"/>
          <p:cNvCxnSpPr/>
          <p:nvPr/>
        </p:nvCxnSpPr>
        <p:spPr>
          <a:xfrm>
            <a:off x="6016751"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Prioritise</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focus the vital few</a:t>
            </a:r>
          </a:p>
        </p:txBody>
      </p:sp>
      <p:cxnSp>
        <p:nvCxnSpPr>
          <p:cNvPr id="30" name="Connector 29"/>
          <p:cNvCxnSpPr/>
          <p:nvPr/>
        </p:nvCxnSpPr>
        <p:spPr>
          <a:xfrm>
            <a:off x="7827263"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Experiment</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owner, measure, date</a:t>
            </a:r>
          </a:p>
        </p:txBody>
      </p:sp>
      <p:cxnSp>
        <p:nvCxnSpPr>
          <p:cNvPr id="36" name="Connector 35"/>
          <p:cNvCxnSpPr/>
          <p:nvPr/>
        </p:nvCxnSpPr>
        <p:spPr>
          <a:xfrm>
            <a:off x="9637776" y="3474720"/>
            <a:ext cx="164591"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Verify</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sustain or adapt</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Stopping at a cause without a verified action is analysis theatre.</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APPLIED FRAMEWORK</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03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3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35 Check Sheets</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37 Ishikawa Diagram</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38 Five Whys</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9" name="Rounded Rectangle 18"/>
          <p:cNvSpPr/>
          <p:nvPr/>
        </p:nvSpPr>
        <p:spPr>
          <a:xfrm>
            <a:off x="257098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7098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2702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36 Pareto Principle Template</a:t>
            </a:r>
          </a:p>
        </p:txBody>
      </p:sp>
      <p:sp>
        <p:nvSpPr>
          <p:cNvPr id="22" name="TextBox 21"/>
          <p:cNvSpPr txBox="1"/>
          <p:nvPr/>
        </p:nvSpPr>
        <p:spPr>
          <a:xfrm>
            <a:off x="282702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23" name="Rounded Rectangle 22"/>
          <p:cNvSpPr/>
          <p:nvPr/>
        </p:nvSpPr>
        <p:spPr>
          <a:xfrm>
            <a:off x="621334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34 Control Chart</a:t>
            </a:r>
          </a:p>
        </p:txBody>
      </p:sp>
      <p:sp>
        <p:nvSpPr>
          <p:cNvPr id="26" name="TextBox 25"/>
          <p:cNvSpPr txBox="1"/>
          <p:nvPr/>
        </p:nvSpPr>
        <p:spPr>
          <a:xfrm>
            <a:off x="646938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27" name="TextBox 26"/>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8" name="TextBox 27"/>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TOOL-BASED PRACTICE</a:t>
            </a:r>
          </a:p>
        </p:txBody>
      </p:sp>
      <p:sp>
        <p:nvSpPr>
          <p:cNvPr id="29" name="TextBox 28"/>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03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Diagnose and Prioritise the Pilot's Quality Failure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3 · 75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During outlet testing, only 82% of orders are ready at the promised collection time and pick accuracy has fallen to 94%. The software vendor blames store staff; store staff blame late inventory updates. The sponsor wants action before the team has separated symptoms, causes and normal variation.</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Capture defect facts, map potential causes, drill to an actionable root cause, rank the vital few, interpret process behaviour and commit one measurable improvement action.</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 reconciled check sheet, fishbone diagram, five-level causal chain, Pareto chart, control-chart interpretation and a SMART corrective experiment with owner and review date.</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The data total reconciles; Pareto reaches 100%; the five-whys chain ends at an actionable cause; the control chart interpretation matches the pattern; and the corrective experiment has an owner, measure and review date.</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Fishbone, Check Sheet, 5 Whys, Pareto and Control Chart</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3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3 · LO3</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03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3: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Fishbone broadens the search, 5 Whys deepens one chain, and Pareto tells you which chain is worth funding first.</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control limit describes process behaviour; it is not the same as a customer specification limit.</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Improvement becomes project work only when it has capacity, ownership and a verification date.</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03 · A3, K3 · LO3</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Topic 03 Recap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Decision</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method defines how work is managed; a tool makes information visible. Choose both for the decision needed.</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Method</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Prevention and appraisal are usually cheaper than internal and external failure.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Evidence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A reconciled check sheet, fishbone diagram, five-level causal chain, Pareto chart, control-chart interpretation and a SMART corrective experiment with owner and review date.</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Capability</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Use appropriate methods and tools to drive progress and improve quality (A3, K3).</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A3, K3 · LO3</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TOPIC 04 · A4, K4 · LO4</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Manage Project Risk</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Identify · assess · respond · contingency · monitor</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04</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A4, K4 · LO4</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TOPIC 04 · CENTRAL IDEA</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Risk management buys options before they become expensive.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10698480" cy="397763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847088"/>
            <a:ext cx="128016" cy="397763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2359152"/>
            <a:ext cx="9738360" cy="2834640"/>
          </a:xfrm>
          <a:prstGeom prst="rect">
            <a:avLst/>
          </a:prstGeom>
          <a:noFill/>
        </p:spPr>
        <p:txBody>
          <a:bodyPr wrap="square" lIns="0" rIns="0" tIns="0" bIns="0" anchor="ctr">
            <a:spAutoFit/>
          </a:bodyPr>
          <a:lstStyle/>
          <a:p>
            <a:pPr algn="l">
              <a:spcAft>
                <a:spcPts val="300"/>
              </a:spcAft>
            </a:pPr>
            <a:r>
              <a:rPr sz="2400" b="1">
                <a:solidFill>
                  <a:srgbClr val="131B2A"/>
                </a:solidFill>
                <a:latin typeface="Arial"/>
              </a:rPr>
              <a:t>The register matters only when it changes funding, sequencing, ownership or contingency before a trigger becomes an issue.</a:t>
            </a:r>
          </a:p>
        </p:txBody>
      </p:sp>
      <p:sp>
        <p:nvSpPr>
          <p:cNvPr id="10" name="TextBox 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1" name="TextBox 1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CENTRAL IDEA</a:t>
            </a:r>
          </a:p>
        </p:txBody>
      </p:sp>
      <p:sp>
        <p:nvSpPr>
          <p:cNvPr id="12" name="TextBox 1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04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Manage Project Risk — Core Concepts 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01</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Risk is an uncertain event or condition with a positive or negative effect; an issue has already happened.</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02</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Write risks as cause-event-impact statements so the response targets the cause or reduces the impact.</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03</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risk register records owner, probability, impact, exposure, triggers, response, contingency and residual risk.</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04</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Qualitative analysis prioritises quickly; quantitative analysis estimates the range of outcomes and decision value.</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04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Manage Project Risk — Core Concepts II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05</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Threat responses are avoid, mitigate, transfer, accept or escalate; opportunity responses are exploit, enhance, share, accept or escalate.</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06</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contingency plan is triggered by an observable threshold and funded from contingency reserve.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07</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Decision trees compare expected monetary value; tornado charts reveal which assumptions deserve the most attention.</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08</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Risk reviews are recurring decisions, not a register created once and archived.</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04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The Risk Cycle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008022"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751990"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Identify</a:t>
            </a:r>
          </a:p>
        </p:txBody>
      </p:sp>
      <p:sp>
        <p:nvSpPr>
          <p:cNvPr id="11" name="TextBox 10"/>
          <p:cNvSpPr txBox="1"/>
          <p:nvPr/>
        </p:nvSpPr>
        <p:spPr>
          <a:xfrm>
            <a:off x="896112"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cause-event-impact</a:t>
            </a:r>
          </a:p>
        </p:txBody>
      </p:sp>
      <p:cxnSp>
        <p:nvCxnSpPr>
          <p:cNvPr id="12" name="Connector 11"/>
          <p:cNvCxnSpPr/>
          <p:nvPr/>
        </p:nvCxnSpPr>
        <p:spPr>
          <a:xfrm>
            <a:off x="2757830"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2422"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422" y="1965960"/>
            <a:ext cx="2008022"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0438" y="2240279"/>
            <a:ext cx="1751990"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050438"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Analyse</a:t>
            </a:r>
          </a:p>
        </p:txBody>
      </p:sp>
      <p:sp>
        <p:nvSpPr>
          <p:cNvPr id="17" name="TextBox 16"/>
          <p:cNvSpPr txBox="1"/>
          <p:nvPr/>
        </p:nvSpPr>
        <p:spPr>
          <a:xfrm>
            <a:off x="3068726"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probability, impact, urgency</a:t>
            </a:r>
          </a:p>
        </p:txBody>
      </p:sp>
      <p:cxnSp>
        <p:nvCxnSpPr>
          <p:cNvPr id="18" name="Connector 17"/>
          <p:cNvCxnSpPr/>
          <p:nvPr/>
        </p:nvCxnSpPr>
        <p:spPr>
          <a:xfrm>
            <a:off x="4930444"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95036" y="1965960"/>
            <a:ext cx="2008022"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3052" y="2240279"/>
            <a:ext cx="1751990"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5223052"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Plan</a:t>
            </a:r>
          </a:p>
        </p:txBody>
      </p:sp>
      <p:sp>
        <p:nvSpPr>
          <p:cNvPr id="23" name="TextBox 22"/>
          <p:cNvSpPr txBox="1"/>
          <p:nvPr/>
        </p:nvSpPr>
        <p:spPr>
          <a:xfrm>
            <a:off x="5241340"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owner, response, trigger</a:t>
            </a:r>
          </a:p>
        </p:txBody>
      </p:sp>
      <p:cxnSp>
        <p:nvCxnSpPr>
          <p:cNvPr id="24" name="Connector 23"/>
          <p:cNvCxnSpPr/>
          <p:nvPr/>
        </p:nvCxnSpPr>
        <p:spPr>
          <a:xfrm>
            <a:off x="7103059"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7651"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67651" y="1965960"/>
            <a:ext cx="2008022"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5667" y="2240279"/>
            <a:ext cx="1751990"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7395667"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Fund</a:t>
            </a:r>
          </a:p>
        </p:txBody>
      </p:sp>
      <p:sp>
        <p:nvSpPr>
          <p:cNvPr id="29" name="TextBox 28"/>
          <p:cNvSpPr txBox="1"/>
          <p:nvPr/>
        </p:nvSpPr>
        <p:spPr>
          <a:xfrm>
            <a:off x="7413955"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contingency and fallback</a:t>
            </a:r>
          </a:p>
        </p:txBody>
      </p:sp>
      <p:cxnSp>
        <p:nvCxnSpPr>
          <p:cNvPr id="30" name="Connector 29"/>
          <p:cNvCxnSpPr/>
          <p:nvPr/>
        </p:nvCxnSpPr>
        <p:spPr>
          <a:xfrm>
            <a:off x="9275673"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5"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40265" y="1965960"/>
            <a:ext cx="2008022"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68281" y="2240279"/>
            <a:ext cx="1751990"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9568281"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Monitor</a:t>
            </a:r>
          </a:p>
        </p:txBody>
      </p:sp>
      <p:sp>
        <p:nvSpPr>
          <p:cNvPr id="35" name="TextBox 34"/>
          <p:cNvSpPr txBox="1"/>
          <p:nvPr/>
        </p:nvSpPr>
        <p:spPr>
          <a:xfrm>
            <a:off x="9586569"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review residual and secondary risk</a:t>
            </a:r>
          </a:p>
        </p:txBody>
      </p:sp>
      <p:sp>
        <p:nvSpPr>
          <p:cNvPr id="36" name="Rounded Rectangle 35"/>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Triggered risk becomes an issue and moves into action management.</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APPLIED FRAMEWORK</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04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Threat Response Choices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0104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Response</a:t>
            </a:r>
          </a:p>
        </p:txBody>
      </p:sp>
      <p:sp>
        <p:nvSpPr>
          <p:cNvPr id="9" name="Rectangle 8"/>
          <p:cNvSpPr/>
          <p:nvPr/>
        </p:nvSpPr>
        <p:spPr>
          <a:xfrm>
            <a:off x="4315968" y="1810512"/>
            <a:ext cx="3566160" cy="70104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What changes</a:t>
            </a:r>
          </a:p>
        </p:txBody>
      </p:sp>
      <p:sp>
        <p:nvSpPr>
          <p:cNvPr id="11" name="Rectangle 10"/>
          <p:cNvSpPr/>
          <p:nvPr/>
        </p:nvSpPr>
        <p:spPr>
          <a:xfrm>
            <a:off x="7882127" y="1810512"/>
            <a:ext cx="3566160" cy="70104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Example</a:t>
            </a:r>
          </a:p>
        </p:txBody>
      </p:sp>
      <p:sp>
        <p:nvSpPr>
          <p:cNvPr id="13" name="Rectangle 12"/>
          <p:cNvSpPr/>
          <p:nvPr/>
        </p:nvSpPr>
        <p:spPr>
          <a:xfrm>
            <a:off x="749808"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557272"/>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Avoid</a:t>
            </a:r>
          </a:p>
        </p:txBody>
      </p:sp>
      <p:sp>
        <p:nvSpPr>
          <p:cNvPr id="15" name="Rectangle 14"/>
          <p:cNvSpPr/>
          <p:nvPr/>
        </p:nvSpPr>
        <p:spPr>
          <a:xfrm>
            <a:off x="4315968"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55727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Remove the threat source</a:t>
            </a:r>
          </a:p>
        </p:txBody>
      </p:sp>
      <p:sp>
        <p:nvSpPr>
          <p:cNvPr id="17" name="Rectangle 16"/>
          <p:cNvSpPr/>
          <p:nvPr/>
        </p:nvSpPr>
        <p:spPr>
          <a:xfrm>
            <a:off x="7882127"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55727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Change approach</a:t>
            </a:r>
          </a:p>
        </p:txBody>
      </p:sp>
      <p:sp>
        <p:nvSpPr>
          <p:cNvPr id="19" name="Rectangle 18"/>
          <p:cNvSpPr/>
          <p:nvPr/>
        </p:nvSpPr>
        <p:spPr>
          <a:xfrm>
            <a:off x="749808"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25831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Mitigate</a:t>
            </a:r>
          </a:p>
        </p:txBody>
      </p:sp>
      <p:sp>
        <p:nvSpPr>
          <p:cNvPr id="21" name="Rectangle 20"/>
          <p:cNvSpPr/>
          <p:nvPr/>
        </p:nvSpPr>
        <p:spPr>
          <a:xfrm>
            <a:off x="4315968"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25831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Reduce probability or impact</a:t>
            </a:r>
          </a:p>
        </p:txBody>
      </p:sp>
      <p:sp>
        <p:nvSpPr>
          <p:cNvPr id="23" name="Rectangle 22"/>
          <p:cNvSpPr/>
          <p:nvPr/>
        </p:nvSpPr>
        <p:spPr>
          <a:xfrm>
            <a:off x="7882127"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25831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Prototype early</a:t>
            </a:r>
          </a:p>
        </p:txBody>
      </p:sp>
      <p:sp>
        <p:nvSpPr>
          <p:cNvPr id="25" name="Rectangle 24"/>
          <p:cNvSpPr/>
          <p:nvPr/>
        </p:nvSpPr>
        <p:spPr>
          <a:xfrm>
            <a:off x="749808"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95935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Transfer</a:t>
            </a:r>
          </a:p>
        </p:txBody>
      </p:sp>
      <p:sp>
        <p:nvSpPr>
          <p:cNvPr id="27" name="Rectangle 26"/>
          <p:cNvSpPr/>
          <p:nvPr/>
        </p:nvSpPr>
        <p:spPr>
          <a:xfrm>
            <a:off x="4315968"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95935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Shift financial consequence</a:t>
            </a:r>
          </a:p>
        </p:txBody>
      </p:sp>
      <p:sp>
        <p:nvSpPr>
          <p:cNvPr id="29" name="Rectangle 28"/>
          <p:cNvSpPr/>
          <p:nvPr/>
        </p:nvSpPr>
        <p:spPr>
          <a:xfrm>
            <a:off x="7882127"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95935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Insurance / contract</a:t>
            </a:r>
          </a:p>
        </p:txBody>
      </p:sp>
      <p:sp>
        <p:nvSpPr>
          <p:cNvPr id="31" name="Rectangle 30"/>
          <p:cNvSpPr/>
          <p:nvPr/>
        </p:nvSpPr>
        <p:spPr>
          <a:xfrm>
            <a:off x="749808"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660392"/>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Accept</a:t>
            </a:r>
          </a:p>
        </p:txBody>
      </p:sp>
      <p:sp>
        <p:nvSpPr>
          <p:cNvPr id="33" name="Rectangle 32"/>
          <p:cNvSpPr/>
          <p:nvPr/>
        </p:nvSpPr>
        <p:spPr>
          <a:xfrm>
            <a:off x="4315968"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66039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Monitor and prepare</a:t>
            </a:r>
          </a:p>
        </p:txBody>
      </p:sp>
      <p:sp>
        <p:nvSpPr>
          <p:cNvPr id="35" name="Rectangle 34"/>
          <p:cNvSpPr/>
          <p:nvPr/>
        </p:nvSpPr>
        <p:spPr>
          <a:xfrm>
            <a:off x="7882127"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66039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Contingency plan</a:t>
            </a:r>
          </a:p>
        </p:txBody>
      </p:sp>
      <p:sp>
        <p:nvSpPr>
          <p:cNvPr id="37" name="Rectangle 36"/>
          <p:cNvSpPr/>
          <p:nvPr/>
        </p:nvSpPr>
        <p:spPr>
          <a:xfrm>
            <a:off x="749808"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36143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Escalate</a:t>
            </a:r>
          </a:p>
        </p:txBody>
      </p:sp>
      <p:sp>
        <p:nvSpPr>
          <p:cNvPr id="39" name="Rectangle 38"/>
          <p:cNvSpPr/>
          <p:nvPr/>
        </p:nvSpPr>
        <p:spPr>
          <a:xfrm>
            <a:off x="4315968"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36143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Move beyond authority</a:t>
            </a:r>
          </a:p>
        </p:txBody>
      </p:sp>
      <p:sp>
        <p:nvSpPr>
          <p:cNvPr id="41" name="Rectangle 40"/>
          <p:cNvSpPr/>
          <p:nvPr/>
        </p:nvSpPr>
        <p:spPr>
          <a:xfrm>
            <a:off x="7882127"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36143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Sponsor decision</a:t>
            </a:r>
          </a:p>
        </p:txBody>
      </p:sp>
      <p:sp>
        <p:nvSpPr>
          <p:cNvPr id="43" name="TextBox 42"/>
          <p:cNvSpPr txBox="1"/>
          <p:nvPr/>
        </p:nvSpPr>
        <p:spPr>
          <a:xfrm>
            <a:off x="804672" y="6080760"/>
            <a:ext cx="10515600" cy="219456"/>
          </a:xfrm>
          <a:prstGeom prst="rect">
            <a:avLst/>
          </a:prstGeom>
          <a:noFill/>
        </p:spPr>
        <p:txBody>
          <a:bodyPr wrap="square" lIns="0" rIns="0" tIns="0" bIns="0" anchor="t">
            <a:spAutoFit/>
          </a:bodyPr>
          <a:lstStyle/>
          <a:p>
            <a:pPr algn="ctr">
              <a:spcAft>
                <a:spcPts val="300"/>
              </a:spcAft>
            </a:pPr>
            <a:r>
              <a:rPr sz="950" b="1">
                <a:solidFill>
                  <a:srgbClr val="5F6B7A"/>
                </a:solidFill>
                <a:latin typeface="Arial"/>
              </a:rPr>
              <a:t>Acceptance is a decision with monitoring—not forgetting the risk.</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DECISION TOOL</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04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Qualitative vs Quantitative Analysis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Lens</a:t>
            </a:r>
          </a:p>
        </p:txBody>
      </p:sp>
      <p:sp>
        <p:nvSpPr>
          <p:cNvPr id="9" name="Rectangle 8"/>
          <p:cNvSpPr/>
          <p:nvPr/>
        </p:nvSpPr>
        <p:spPr>
          <a:xfrm>
            <a:off x="4315968"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Qualitative</a:t>
            </a:r>
          </a:p>
        </p:txBody>
      </p:sp>
      <p:sp>
        <p:nvSpPr>
          <p:cNvPr id="11" name="Rectangle 10"/>
          <p:cNvSpPr/>
          <p:nvPr/>
        </p:nvSpPr>
        <p:spPr>
          <a:xfrm>
            <a:off x="7882127"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Quantitative</a:t>
            </a:r>
          </a:p>
        </p:txBody>
      </p:sp>
      <p:sp>
        <p:nvSpPr>
          <p:cNvPr id="13" name="Rectangle 12"/>
          <p:cNvSpPr/>
          <p:nvPr/>
        </p:nvSpPr>
        <p:spPr>
          <a:xfrm>
            <a:off x="749808"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97479"/>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Speed</a:t>
            </a:r>
          </a:p>
        </p:txBody>
      </p:sp>
      <p:sp>
        <p:nvSpPr>
          <p:cNvPr id="15" name="Rectangle 14"/>
          <p:cNvSpPr/>
          <p:nvPr/>
        </p:nvSpPr>
        <p:spPr>
          <a:xfrm>
            <a:off x="4315968"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97479"/>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Fast prioritisation</a:t>
            </a:r>
          </a:p>
        </p:txBody>
      </p:sp>
      <p:sp>
        <p:nvSpPr>
          <p:cNvPr id="17" name="Rectangle 16"/>
          <p:cNvSpPr/>
          <p:nvPr/>
        </p:nvSpPr>
        <p:spPr>
          <a:xfrm>
            <a:off x="7882127"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97479"/>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More data and effort</a:t>
            </a:r>
          </a:p>
        </p:txBody>
      </p:sp>
      <p:sp>
        <p:nvSpPr>
          <p:cNvPr id="19" name="Rectangle 18"/>
          <p:cNvSpPr/>
          <p:nvPr/>
        </p:nvSpPr>
        <p:spPr>
          <a:xfrm>
            <a:off x="749808"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538727"/>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Output</a:t>
            </a:r>
          </a:p>
        </p:txBody>
      </p:sp>
      <p:sp>
        <p:nvSpPr>
          <p:cNvPr id="21" name="Rectangle 20"/>
          <p:cNvSpPr/>
          <p:nvPr/>
        </p:nvSpPr>
        <p:spPr>
          <a:xfrm>
            <a:off x="4315968"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538727"/>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Relative exposure</a:t>
            </a:r>
          </a:p>
        </p:txBody>
      </p:sp>
      <p:sp>
        <p:nvSpPr>
          <p:cNvPr id="23" name="Rectangle 22"/>
          <p:cNvSpPr/>
          <p:nvPr/>
        </p:nvSpPr>
        <p:spPr>
          <a:xfrm>
            <a:off x="7882127"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538727"/>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Range, EMV or sensitivity</a:t>
            </a:r>
          </a:p>
        </p:txBody>
      </p:sp>
      <p:sp>
        <p:nvSpPr>
          <p:cNvPr id="25" name="Rectangle 24"/>
          <p:cNvSpPr/>
          <p:nvPr/>
        </p:nvSpPr>
        <p:spPr>
          <a:xfrm>
            <a:off x="749808"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379976"/>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Use</a:t>
            </a:r>
          </a:p>
        </p:txBody>
      </p:sp>
      <p:sp>
        <p:nvSpPr>
          <p:cNvPr id="27" name="Rectangle 26"/>
          <p:cNvSpPr/>
          <p:nvPr/>
        </p:nvSpPr>
        <p:spPr>
          <a:xfrm>
            <a:off x="4315968"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379976"/>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Most project risks</a:t>
            </a:r>
          </a:p>
        </p:txBody>
      </p:sp>
      <p:sp>
        <p:nvSpPr>
          <p:cNvPr id="29" name="Rectangle 28"/>
          <p:cNvSpPr/>
          <p:nvPr/>
        </p:nvSpPr>
        <p:spPr>
          <a:xfrm>
            <a:off x="7882127"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379976"/>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Material decision uncertainty</a:t>
            </a:r>
          </a:p>
        </p:txBody>
      </p:sp>
      <p:sp>
        <p:nvSpPr>
          <p:cNvPr id="31" name="Rectangle 30"/>
          <p:cNvSpPr/>
          <p:nvPr/>
        </p:nvSpPr>
        <p:spPr>
          <a:xfrm>
            <a:off x="749808"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221224"/>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Caution</a:t>
            </a:r>
          </a:p>
        </p:txBody>
      </p:sp>
      <p:sp>
        <p:nvSpPr>
          <p:cNvPr id="33" name="Rectangle 32"/>
          <p:cNvSpPr/>
          <p:nvPr/>
        </p:nvSpPr>
        <p:spPr>
          <a:xfrm>
            <a:off x="4315968"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5221224"/>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Scoring bias</a:t>
            </a:r>
          </a:p>
        </p:txBody>
      </p:sp>
      <p:sp>
        <p:nvSpPr>
          <p:cNvPr id="35" name="Rectangle 34"/>
          <p:cNvSpPr/>
          <p:nvPr/>
        </p:nvSpPr>
        <p:spPr>
          <a:xfrm>
            <a:off x="7882127"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5221224"/>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False precision</a:t>
            </a:r>
          </a:p>
        </p:txBody>
      </p:sp>
      <p:sp>
        <p:nvSpPr>
          <p:cNvPr id="37" name="TextBox 36"/>
          <p:cNvSpPr txBox="1"/>
          <p:nvPr/>
        </p:nvSpPr>
        <p:spPr>
          <a:xfrm>
            <a:off x="804672" y="6080760"/>
            <a:ext cx="10515600" cy="219456"/>
          </a:xfrm>
          <a:prstGeom prst="rect">
            <a:avLst/>
          </a:prstGeom>
          <a:noFill/>
        </p:spPr>
        <p:txBody>
          <a:bodyPr wrap="square" lIns="0" rIns="0" tIns="0" bIns="0" anchor="t">
            <a:spAutoFit/>
          </a:bodyPr>
          <a:lstStyle/>
          <a:p>
            <a:pPr algn="ctr">
              <a:spcAft>
                <a:spcPts val="300"/>
              </a:spcAft>
            </a:pPr>
            <a:r>
              <a:rPr sz="950" b="1">
                <a:solidFill>
                  <a:srgbClr val="5F6B7A"/>
                </a:solidFill>
                <a:latin typeface="Arial"/>
              </a:rPr>
              <a:t>Use quantitative analysis only where the decision value justifies the work.</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DECISION TOOL</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04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4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4443984"/>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4443984"/>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150" b="1">
                <a:solidFill>
                  <a:srgbClr val="1655D1"/>
                </a:solidFill>
                <a:latin typeface="Arial"/>
              </a:rPr>
              <a:t>48 Risk Assessment Matrix Two pages</a:t>
            </a:r>
          </a:p>
        </p:txBody>
      </p:sp>
      <p:sp>
        <p:nvSpPr>
          <p:cNvPr id="10" name="TextBox 9"/>
          <p:cNvSpPr txBox="1"/>
          <p:nvPr/>
        </p:nvSpPr>
        <p:spPr>
          <a:xfrm>
            <a:off x="1005840" y="2313432"/>
            <a:ext cx="2956559" cy="3758184"/>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1" name="Rounded Rectangle 10"/>
          <p:cNvSpPr/>
          <p:nvPr/>
        </p:nvSpPr>
        <p:spPr>
          <a:xfrm>
            <a:off x="4392167" y="1783080"/>
            <a:ext cx="3413759" cy="4443984"/>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44439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45 Decision Tree Analysis TDIDT</a:t>
            </a:r>
          </a:p>
        </p:txBody>
      </p:sp>
      <p:sp>
        <p:nvSpPr>
          <p:cNvPr id="14" name="TextBox 13"/>
          <p:cNvSpPr txBox="1"/>
          <p:nvPr/>
        </p:nvSpPr>
        <p:spPr>
          <a:xfrm>
            <a:off x="4648200" y="2313432"/>
            <a:ext cx="2956559" cy="3758184"/>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5" name="Rounded Rectangle 14"/>
          <p:cNvSpPr/>
          <p:nvPr/>
        </p:nvSpPr>
        <p:spPr>
          <a:xfrm>
            <a:off x="8034527" y="1783080"/>
            <a:ext cx="3413759" cy="4443984"/>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4443984"/>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150" b="1">
                <a:solidFill>
                  <a:srgbClr val="703CC3"/>
                </a:solidFill>
                <a:latin typeface="Arial"/>
              </a:rPr>
              <a:t>49 Tornado Chart - Sensitivity Analysis</a:t>
            </a:r>
          </a:p>
        </p:txBody>
      </p:sp>
      <p:sp>
        <p:nvSpPr>
          <p:cNvPr id="18" name="TextBox 17"/>
          <p:cNvSpPr txBox="1"/>
          <p:nvPr/>
        </p:nvSpPr>
        <p:spPr>
          <a:xfrm>
            <a:off x="8290559" y="2313432"/>
            <a:ext cx="2956559" cy="3758184"/>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TOOL-BASED PRACTICE</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04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Build the Risk Register and Fund the Right Responses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4 · 75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The pilot has entered build. The POS interface may be delivered late, refrigerated stock counts are unreliable at one outlet, a key trainer is available for only two weeks, and a faster payment option could improve adoption but costs more. The remaining contingency reserve is S$18,000.</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Write cause-event-impact risk statements, score and rank exposure, assign owners and triggers, choose responses, compare alternatives by expected monetary value and allocate the limited contingency reserve.</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 prioritised risk register with owners, triggers, responses, contingency and residual exposure; one decision-tree recommendation; one tornado sensitivity reading; and a reconciled S$18,000 reserve plan.</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Every priority risk has cause-event-impact wording, an owner, trigger, funded response and residual score; the decision-tree arithmetic reconciles; and the named contingency allocations total no more than S$18,000.</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Risk Matrix, Decision Tree and Tornado templates</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4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4 · LO4</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04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4: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An owner does not prevent a risk; they watch the trigger and ensure the agreed response is ready.</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Contingency is not generic padding—it is a funded response to identified uncertainty.</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Quantitative tools sharpen a decision but do not replace judgement about reputation, safety or compliance.</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04 · A4, K4 · LO4</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Topic 04 Recap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Decision</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Risk is an uncertain event or condition with a positive or negative effect; an issue has already happened.</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Method</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Qualitative analysis prioritises quickly; quantitative analysis estimates the range of outcomes and decision value.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Evidence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A prioritised risk register with owners, triggers, responses, contingency and residual exposure; one decision-tree recommendation; one tornado sensitivity reading; and a reconciled S$18,000 reserve plan.</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Capability</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Identify risks to project success and take proportionate action (A4, K4).</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A4, K4 · LO4</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DAY 1 CLOSE</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End of Day 1</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Save Activities 1–4. Day 2 continues the same project from the approved risk-aware baseline.</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DAY 1 CLOSE</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TOPIC 05 · A5, K5 · LO5</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Collaborate with Stakeholders</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Identify · analyse · communicate · engage · allocate accountability</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05</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A5, K5 · LO5</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05 · CENTRAL IDEA</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Stakeholder engagement is part of delivery.</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10698480" cy="397763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847088"/>
            <a:ext cx="128016" cy="3977639"/>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2359152"/>
            <a:ext cx="9738360" cy="2834640"/>
          </a:xfrm>
          <a:prstGeom prst="rect">
            <a:avLst/>
          </a:prstGeom>
          <a:noFill/>
        </p:spPr>
        <p:txBody>
          <a:bodyPr wrap="square" lIns="0" rIns="0" tIns="0" bIns="0" anchor="ctr">
            <a:spAutoFit/>
          </a:bodyPr>
          <a:lstStyle/>
          <a:p>
            <a:pPr algn="l">
              <a:spcAft>
                <a:spcPts val="300"/>
              </a:spcAft>
            </a:pPr>
            <a:r>
              <a:rPr sz="2400" b="1">
                <a:solidFill>
                  <a:srgbClr val="131B2A"/>
                </a:solidFill>
                <a:latin typeface="Arial"/>
              </a:rPr>
              <a:t>Every unresolved expectation eventually appears as a delay, rejected deliverable, unapproved invoice or uncontrolled change.</a:t>
            </a:r>
          </a:p>
        </p:txBody>
      </p:sp>
      <p:sp>
        <p:nvSpPr>
          <p:cNvPr id="10" name="TextBox 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1" name="TextBox 1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CENTRAL IDEA</a:t>
            </a:r>
          </a:p>
        </p:txBody>
      </p:sp>
      <p:sp>
        <p:nvSpPr>
          <p:cNvPr id="12" name="TextBox 1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05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Collaborate with Stakeholders — Core Concepts 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01</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stakeholder can affect, be affected by, or perceive themselves to be affected by the project.</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02</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stakeholder register captures interest, influence, expectations, impact, communication needs and engagement strategy.</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03</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Power-interest mapping guides attention; the salience model adds legitimacy and urgency.</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04</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engagement assessment matrix compares current and desired states so the gap becomes actionable.</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05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Collaborate with Stakeholders — Core Concepts II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05</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RACI clarifies who is Responsible, Accountable, Consulted and Informed; every deliverable needs one clear Accountable owner.</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06</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Communication planning matches audience, message, channel, frequency, owner and feedback route.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07</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Engagement is two-way sense-making and decision participation, not one-way broadcasting.</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08</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Escalation should state the decision needed, options, impact of delay and recommendation.</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05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Stakeholder Analysis to Engagement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Identify</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who affects or is affected</a:t>
            </a:r>
          </a:p>
        </p:txBody>
      </p:sp>
      <p:cxnSp>
        <p:nvCxnSpPr>
          <p:cNvPr id="12" name="Connector 11"/>
          <p:cNvCxnSpPr/>
          <p:nvPr/>
        </p:nvCxnSpPr>
        <p:spPr>
          <a:xfrm>
            <a:off x="2395727" y="3474720"/>
            <a:ext cx="164593"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Analyse</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interest, influence, impact</a:t>
            </a:r>
          </a:p>
        </p:txBody>
      </p:sp>
      <p:cxnSp>
        <p:nvCxnSpPr>
          <p:cNvPr id="18" name="Connector 17"/>
          <p:cNvCxnSpPr/>
          <p:nvPr/>
        </p:nvCxnSpPr>
        <p:spPr>
          <a:xfrm>
            <a:off x="4206240" y="3474720"/>
            <a:ext cx="164591"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Prioritise</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power-interest and salience</a:t>
            </a:r>
          </a:p>
        </p:txBody>
      </p:sp>
      <p:cxnSp>
        <p:nvCxnSpPr>
          <p:cNvPr id="24" name="Connector 23"/>
          <p:cNvCxnSpPr/>
          <p:nvPr/>
        </p:nvCxnSpPr>
        <p:spPr>
          <a:xfrm>
            <a:off x="6016751"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Plan</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message, channel, frequency</a:t>
            </a:r>
          </a:p>
        </p:txBody>
      </p:sp>
      <p:cxnSp>
        <p:nvCxnSpPr>
          <p:cNvPr id="30" name="Connector 29"/>
          <p:cNvCxnSpPr/>
          <p:nvPr/>
        </p:nvCxnSpPr>
        <p:spPr>
          <a:xfrm>
            <a:off x="7827263"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Engage</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two-way decisions</a:t>
            </a:r>
          </a:p>
        </p:txBody>
      </p:sp>
      <p:cxnSp>
        <p:nvCxnSpPr>
          <p:cNvPr id="36" name="Connector 35"/>
          <p:cNvCxnSpPr/>
          <p:nvPr/>
        </p:nvCxnSpPr>
        <p:spPr>
          <a:xfrm>
            <a:off x="9637776" y="3474720"/>
            <a:ext cx="164591"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Monitor</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current vs desired state</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A stakeholder register is useful only when it changes an engagement action.</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APPLIED FRAMEWORK</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05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RACI Diagnostic</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0104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Pattern</a:t>
            </a:r>
          </a:p>
        </p:txBody>
      </p:sp>
      <p:sp>
        <p:nvSpPr>
          <p:cNvPr id="9" name="Rectangle 8"/>
          <p:cNvSpPr/>
          <p:nvPr/>
        </p:nvSpPr>
        <p:spPr>
          <a:xfrm>
            <a:off x="4315968" y="1810512"/>
            <a:ext cx="3566160" cy="70104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Meaning</a:t>
            </a:r>
          </a:p>
        </p:txBody>
      </p:sp>
      <p:sp>
        <p:nvSpPr>
          <p:cNvPr id="11" name="Rectangle 10"/>
          <p:cNvSpPr/>
          <p:nvPr/>
        </p:nvSpPr>
        <p:spPr>
          <a:xfrm>
            <a:off x="7882127" y="1810512"/>
            <a:ext cx="3566160" cy="70104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Correction</a:t>
            </a:r>
          </a:p>
        </p:txBody>
      </p:sp>
      <p:sp>
        <p:nvSpPr>
          <p:cNvPr id="13" name="Rectangle 12"/>
          <p:cNvSpPr/>
          <p:nvPr/>
        </p:nvSpPr>
        <p:spPr>
          <a:xfrm>
            <a:off x="749808"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557272"/>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No A</a:t>
            </a:r>
          </a:p>
        </p:txBody>
      </p:sp>
      <p:sp>
        <p:nvSpPr>
          <p:cNvPr id="15" name="Rectangle 14"/>
          <p:cNvSpPr/>
          <p:nvPr/>
        </p:nvSpPr>
        <p:spPr>
          <a:xfrm>
            <a:off x="4315968"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55727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Nobody owns the outcome</a:t>
            </a:r>
          </a:p>
        </p:txBody>
      </p:sp>
      <p:sp>
        <p:nvSpPr>
          <p:cNvPr id="17" name="Rectangle 16"/>
          <p:cNvSpPr/>
          <p:nvPr/>
        </p:nvSpPr>
        <p:spPr>
          <a:xfrm>
            <a:off x="7882127"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55727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Assign one accountable owner</a:t>
            </a:r>
          </a:p>
        </p:txBody>
      </p:sp>
      <p:sp>
        <p:nvSpPr>
          <p:cNvPr id="19" name="Rectangle 18"/>
          <p:cNvSpPr/>
          <p:nvPr/>
        </p:nvSpPr>
        <p:spPr>
          <a:xfrm>
            <a:off x="749808"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25831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Multiple A</a:t>
            </a:r>
          </a:p>
        </p:txBody>
      </p:sp>
      <p:sp>
        <p:nvSpPr>
          <p:cNvPr id="21" name="Rectangle 20"/>
          <p:cNvSpPr/>
          <p:nvPr/>
        </p:nvSpPr>
        <p:spPr>
          <a:xfrm>
            <a:off x="4315968"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25831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Competing decision rights</a:t>
            </a:r>
          </a:p>
        </p:txBody>
      </p:sp>
      <p:sp>
        <p:nvSpPr>
          <p:cNvPr id="23" name="Rectangle 22"/>
          <p:cNvSpPr/>
          <p:nvPr/>
        </p:nvSpPr>
        <p:spPr>
          <a:xfrm>
            <a:off x="7882127"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25831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Choose one and define escalation</a:t>
            </a:r>
          </a:p>
        </p:txBody>
      </p:sp>
      <p:sp>
        <p:nvSpPr>
          <p:cNvPr id="25" name="Rectangle 24"/>
          <p:cNvSpPr/>
          <p:nvPr/>
        </p:nvSpPr>
        <p:spPr>
          <a:xfrm>
            <a:off x="749808"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95935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No R</a:t>
            </a:r>
          </a:p>
        </p:txBody>
      </p:sp>
      <p:sp>
        <p:nvSpPr>
          <p:cNvPr id="27" name="Rectangle 26"/>
          <p:cNvSpPr/>
          <p:nvPr/>
        </p:nvSpPr>
        <p:spPr>
          <a:xfrm>
            <a:off x="4315968"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95935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No one performs the work</a:t>
            </a:r>
          </a:p>
        </p:txBody>
      </p:sp>
      <p:sp>
        <p:nvSpPr>
          <p:cNvPr id="29" name="Rectangle 28"/>
          <p:cNvSpPr/>
          <p:nvPr/>
        </p:nvSpPr>
        <p:spPr>
          <a:xfrm>
            <a:off x="7882127"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95935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Assign delivery responsibility</a:t>
            </a:r>
          </a:p>
        </p:txBody>
      </p:sp>
      <p:sp>
        <p:nvSpPr>
          <p:cNvPr id="31" name="Rectangle 30"/>
          <p:cNvSpPr/>
          <p:nvPr/>
        </p:nvSpPr>
        <p:spPr>
          <a:xfrm>
            <a:off x="749808"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660392"/>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Too many C</a:t>
            </a:r>
          </a:p>
        </p:txBody>
      </p:sp>
      <p:sp>
        <p:nvSpPr>
          <p:cNvPr id="33" name="Rectangle 32"/>
          <p:cNvSpPr/>
          <p:nvPr/>
        </p:nvSpPr>
        <p:spPr>
          <a:xfrm>
            <a:off x="4315968"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66039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Decision gridlock</a:t>
            </a:r>
          </a:p>
        </p:txBody>
      </p:sp>
      <p:sp>
        <p:nvSpPr>
          <p:cNvPr id="35" name="Rectangle 34"/>
          <p:cNvSpPr/>
          <p:nvPr/>
        </p:nvSpPr>
        <p:spPr>
          <a:xfrm>
            <a:off x="7882127"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66039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Consult only for needed input</a:t>
            </a:r>
          </a:p>
        </p:txBody>
      </p:sp>
      <p:sp>
        <p:nvSpPr>
          <p:cNvPr id="37" name="Rectangle 36"/>
          <p:cNvSpPr/>
          <p:nvPr/>
        </p:nvSpPr>
        <p:spPr>
          <a:xfrm>
            <a:off x="749808"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36143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Everyone I</a:t>
            </a:r>
          </a:p>
        </p:txBody>
      </p:sp>
      <p:sp>
        <p:nvSpPr>
          <p:cNvPr id="39" name="Rectangle 38"/>
          <p:cNvSpPr/>
          <p:nvPr/>
        </p:nvSpPr>
        <p:spPr>
          <a:xfrm>
            <a:off x="4315968"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36143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Broadcast without purpose</a:t>
            </a:r>
          </a:p>
        </p:txBody>
      </p:sp>
      <p:sp>
        <p:nvSpPr>
          <p:cNvPr id="41" name="Rectangle 40"/>
          <p:cNvSpPr/>
          <p:nvPr/>
        </p:nvSpPr>
        <p:spPr>
          <a:xfrm>
            <a:off x="7882127"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36143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Tailor information needs</a:t>
            </a:r>
          </a:p>
        </p:txBody>
      </p:sp>
      <p:sp>
        <p:nvSpPr>
          <p:cNvPr id="43" name="TextBox 42"/>
          <p:cNvSpPr txBox="1"/>
          <p:nvPr/>
        </p:nvSpPr>
        <p:spPr>
          <a:xfrm>
            <a:off x="804672" y="6080760"/>
            <a:ext cx="10515600" cy="219456"/>
          </a:xfrm>
          <a:prstGeom prst="rect">
            <a:avLst/>
          </a:prstGeom>
          <a:noFill/>
        </p:spPr>
        <p:txBody>
          <a:bodyPr wrap="square" lIns="0" rIns="0" tIns="0" bIns="0" anchor="t">
            <a:spAutoFit/>
          </a:bodyPr>
          <a:lstStyle/>
          <a:p>
            <a:pPr algn="ctr">
              <a:spcAft>
                <a:spcPts val="300"/>
              </a:spcAft>
            </a:pPr>
            <a:r>
              <a:rPr sz="950" b="1">
                <a:solidFill>
                  <a:srgbClr val="5F6B7A"/>
                </a:solidFill>
                <a:latin typeface="Arial"/>
              </a:rPr>
              <a:t>Use deliverables and decisions as rows; vague verbs create vague accountability.</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DECISION TOOL</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05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Communication vs Engagement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Dimension</a:t>
            </a:r>
          </a:p>
        </p:txBody>
      </p:sp>
      <p:sp>
        <p:nvSpPr>
          <p:cNvPr id="9" name="Rectangle 8"/>
          <p:cNvSpPr/>
          <p:nvPr/>
        </p:nvSpPr>
        <p:spPr>
          <a:xfrm>
            <a:off x="4315968"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Communication</a:t>
            </a:r>
          </a:p>
        </p:txBody>
      </p:sp>
      <p:sp>
        <p:nvSpPr>
          <p:cNvPr id="11" name="Rectangle 10"/>
          <p:cNvSpPr/>
          <p:nvPr/>
        </p:nvSpPr>
        <p:spPr>
          <a:xfrm>
            <a:off x="7882127"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Engagement</a:t>
            </a:r>
          </a:p>
        </p:txBody>
      </p:sp>
      <p:sp>
        <p:nvSpPr>
          <p:cNvPr id="13" name="Rectangle 12"/>
          <p:cNvSpPr/>
          <p:nvPr/>
        </p:nvSpPr>
        <p:spPr>
          <a:xfrm>
            <a:off x="749808"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97479"/>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Direction</a:t>
            </a:r>
          </a:p>
        </p:txBody>
      </p:sp>
      <p:sp>
        <p:nvSpPr>
          <p:cNvPr id="15" name="Rectangle 14"/>
          <p:cNvSpPr/>
          <p:nvPr/>
        </p:nvSpPr>
        <p:spPr>
          <a:xfrm>
            <a:off x="4315968"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97479"/>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Often one-way</a:t>
            </a:r>
          </a:p>
        </p:txBody>
      </p:sp>
      <p:sp>
        <p:nvSpPr>
          <p:cNvPr id="17" name="Rectangle 16"/>
          <p:cNvSpPr/>
          <p:nvPr/>
        </p:nvSpPr>
        <p:spPr>
          <a:xfrm>
            <a:off x="7882127"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97479"/>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Two-way</a:t>
            </a:r>
          </a:p>
        </p:txBody>
      </p:sp>
      <p:sp>
        <p:nvSpPr>
          <p:cNvPr id="19" name="Rectangle 18"/>
          <p:cNvSpPr/>
          <p:nvPr/>
        </p:nvSpPr>
        <p:spPr>
          <a:xfrm>
            <a:off x="749808"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538727"/>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Purpose</a:t>
            </a:r>
          </a:p>
        </p:txBody>
      </p:sp>
      <p:sp>
        <p:nvSpPr>
          <p:cNvPr id="21" name="Rectangle 20"/>
          <p:cNvSpPr/>
          <p:nvPr/>
        </p:nvSpPr>
        <p:spPr>
          <a:xfrm>
            <a:off x="4315968"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538727"/>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Share information</a:t>
            </a:r>
          </a:p>
        </p:txBody>
      </p:sp>
      <p:sp>
        <p:nvSpPr>
          <p:cNvPr id="23" name="Rectangle 22"/>
          <p:cNvSpPr/>
          <p:nvPr/>
        </p:nvSpPr>
        <p:spPr>
          <a:xfrm>
            <a:off x="7882127"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538727"/>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Shape decisions and commitment</a:t>
            </a:r>
          </a:p>
        </p:txBody>
      </p:sp>
      <p:sp>
        <p:nvSpPr>
          <p:cNvPr id="25" name="Rectangle 24"/>
          <p:cNvSpPr/>
          <p:nvPr/>
        </p:nvSpPr>
        <p:spPr>
          <a:xfrm>
            <a:off x="749808"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379976"/>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Evidence</a:t>
            </a:r>
          </a:p>
        </p:txBody>
      </p:sp>
      <p:sp>
        <p:nvSpPr>
          <p:cNvPr id="27" name="Rectangle 26"/>
          <p:cNvSpPr/>
          <p:nvPr/>
        </p:nvSpPr>
        <p:spPr>
          <a:xfrm>
            <a:off x="4315968"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379976"/>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Message delivered</a:t>
            </a:r>
          </a:p>
        </p:txBody>
      </p:sp>
      <p:sp>
        <p:nvSpPr>
          <p:cNvPr id="29" name="Rectangle 28"/>
          <p:cNvSpPr/>
          <p:nvPr/>
        </p:nvSpPr>
        <p:spPr>
          <a:xfrm>
            <a:off x="7882127"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379976"/>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Feedback changed the work</a:t>
            </a:r>
          </a:p>
        </p:txBody>
      </p:sp>
      <p:sp>
        <p:nvSpPr>
          <p:cNvPr id="31" name="Rectangle 30"/>
          <p:cNvSpPr/>
          <p:nvPr/>
        </p:nvSpPr>
        <p:spPr>
          <a:xfrm>
            <a:off x="749808"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221224"/>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Risk</a:t>
            </a:r>
          </a:p>
        </p:txBody>
      </p:sp>
      <p:sp>
        <p:nvSpPr>
          <p:cNvPr id="33" name="Rectangle 32"/>
          <p:cNvSpPr/>
          <p:nvPr/>
        </p:nvSpPr>
        <p:spPr>
          <a:xfrm>
            <a:off x="4315968"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5221224"/>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Noise and overload</a:t>
            </a:r>
          </a:p>
        </p:txBody>
      </p:sp>
      <p:sp>
        <p:nvSpPr>
          <p:cNvPr id="35" name="Rectangle 34"/>
          <p:cNvSpPr/>
          <p:nvPr/>
        </p:nvSpPr>
        <p:spPr>
          <a:xfrm>
            <a:off x="7882127"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5221224"/>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Unresolved expectations</a:t>
            </a:r>
          </a:p>
        </p:txBody>
      </p:sp>
      <p:sp>
        <p:nvSpPr>
          <p:cNvPr id="37" name="TextBox 36"/>
          <p:cNvSpPr txBox="1"/>
          <p:nvPr/>
        </p:nvSpPr>
        <p:spPr>
          <a:xfrm>
            <a:off x="804672" y="6080760"/>
            <a:ext cx="10515600" cy="219456"/>
          </a:xfrm>
          <a:prstGeom prst="rect">
            <a:avLst/>
          </a:prstGeom>
          <a:noFill/>
        </p:spPr>
        <p:txBody>
          <a:bodyPr wrap="square" lIns="0" rIns="0" tIns="0" bIns="0" anchor="t">
            <a:spAutoFit/>
          </a:bodyPr>
          <a:lstStyle/>
          <a:p>
            <a:pPr algn="ctr">
              <a:spcAft>
                <a:spcPts val="300"/>
              </a:spcAft>
            </a:pPr>
            <a:r>
              <a:rPr sz="950" b="1">
                <a:solidFill>
                  <a:srgbClr val="5F6B7A"/>
                </a:solidFill>
                <a:latin typeface="Arial"/>
              </a:rPr>
              <a:t>The channel matters less than whether the stakeholder can influence the decision in time.</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DECISION TOOL</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05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5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150" b="1">
                <a:solidFill>
                  <a:srgbClr val="1655D1"/>
                </a:solidFill>
                <a:latin typeface="Arial"/>
              </a:rPr>
              <a:t>42 Stakeholder Impact Over Influence Matrix</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43 Salience Chart</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PPTX · editable project tool</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39 RACI Template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150" b="1">
                <a:solidFill>
                  <a:srgbClr val="F59E0B"/>
                </a:solidFill>
                <a:latin typeface="Arial"/>
              </a:rPr>
              <a:t>41 Stakeholder Engagement Assessment Matrix</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TOOL-BASED PRACTICE</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05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Align Stakeholders with a Map, RACI and Engagement Plan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5 · 75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Two weeks before outlet testing, the POS vendor and operations manager each believe the other owns interface acceptance. Store managers receive conflicting instructions, Finance has not approved the payment milestone, and a high-influence outlet supervisor is quietly resisting the pilot.</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Identify and analyse stakeholders, prioritise engagement, remove duplicate or missing accountability, and define a two-way communication rhythm tied to upcoming decisions.</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 stakeholder register and power-interest map, salience reading, validated RACI matrix, current-to-desired engagement assessment, communication plan and one evidence-based escalation brief.</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All material stakeholders are analysed; every critical deliverable has exactly one Accountable owner and at least one Responsible party; engagement gaps have two-way actions; and the escalation asks for a clear decision.</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Stakeholder Map, Salience, RACI and Engagement Assessment</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5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5 · LO5</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05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5: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Most collaboration failures are decision-right failures before they become communication failures.</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RACI clarifies accountability; it does not replace the conversation needed to gain commitment.</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Stakeholder attention should follow evidence of influence, impact and urgency—not organisational seniority alone.</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05 · A5, K5 · LO5</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Topic 05 Recap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Decision</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stakeholder can affect, be affected by, or perceive themselves to be affected by the project.</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Method</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engagement assessment matrix compares current and desired states so the gap becomes actionable.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Evidence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A stakeholder register and power-interest map, salience reading, validated RACI matrix, current-to-desired engagement assessment, communication plan and one evidence-based escalation brief.</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Capability</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Collaborate with internal and external stakeholders directly impacting the project (A5, K5).</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A5, K5 · LO5</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TOPIC 06 · A6 · LO6</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Deploy Resources</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People · budget · equipment · procurement · team performance</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06</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A6 · LO6</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C93131"/>
                </a:solidFill>
                <a:latin typeface="Arial"/>
              </a:rPr>
              <a:t>TOPIC 06 · CENTRAL IDEA</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Capacity—not headcount—delivers the plan.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10698480" cy="397763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847088"/>
            <a:ext cx="128016" cy="3977639"/>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2359152"/>
            <a:ext cx="9738360" cy="2834640"/>
          </a:xfrm>
          <a:prstGeom prst="rect">
            <a:avLst/>
          </a:prstGeom>
          <a:noFill/>
        </p:spPr>
        <p:txBody>
          <a:bodyPr wrap="square" lIns="0" rIns="0" tIns="0" bIns="0" anchor="ctr">
            <a:spAutoFit/>
          </a:bodyPr>
          <a:lstStyle/>
          <a:p>
            <a:pPr algn="l">
              <a:spcAft>
                <a:spcPts val="300"/>
              </a:spcAft>
            </a:pPr>
            <a:r>
              <a:rPr sz="2400" b="1">
                <a:solidFill>
                  <a:srgbClr val="131B2A"/>
                </a:solidFill>
                <a:latin typeface="Arial"/>
              </a:rPr>
              <a:t>A seven-person team may have only three usable person-days at the constraint. Resource deployment is the discipline of matching skills and time to the critical work.</a:t>
            </a:r>
          </a:p>
        </p:txBody>
      </p:sp>
      <p:sp>
        <p:nvSpPr>
          <p:cNvPr id="10" name="TextBox 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1" name="TextBox 1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CENTRAL IDEA</a:t>
            </a:r>
          </a:p>
        </p:txBody>
      </p:sp>
      <p:sp>
        <p:nvSpPr>
          <p:cNvPr id="12" name="TextBox 1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06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Deploy Resources — Core Concepts 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01</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Resource planning links each work package to required skills, quantities, timing and availability.</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02</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responsibility assignment is not a capacity plan; availability must be tested against concurrent work.</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03</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Resource levelling changes dates to resolve over-allocation; smoothing stays within available float.</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04</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Fast tracking overlaps work and raises risk; crashing adds cost to critical-path work and may not shorten the project.</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06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Deploy Resources — Core Concepts II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05</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Procurement decisions consider make-or-buy, lead time, quality, interfaces, contract type and vendor capability.</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06</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Tuckman's stages require adaptive leadership: direct, coach, support and delegate as the team matures.</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07</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Conflict is normal; collaborate for important relationships and outcomes, compromise when time is limited, and escalate only with evidence.</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08</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resource dashboard should show demand, capacity, variance, bottlenecks and decisions—not just headcount.</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06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Four Resource Responses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Option</a:t>
            </a:r>
          </a:p>
        </p:txBody>
      </p:sp>
      <p:sp>
        <p:nvSpPr>
          <p:cNvPr id="9" name="Rectangle 8"/>
          <p:cNvSpPr/>
          <p:nvPr/>
        </p:nvSpPr>
        <p:spPr>
          <a:xfrm>
            <a:off x="4315968"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Schedule effect</a:t>
            </a:r>
          </a:p>
        </p:txBody>
      </p:sp>
      <p:sp>
        <p:nvSpPr>
          <p:cNvPr id="11" name="Rectangle 10"/>
          <p:cNvSpPr/>
          <p:nvPr/>
        </p:nvSpPr>
        <p:spPr>
          <a:xfrm>
            <a:off x="7882127" y="1810512"/>
            <a:ext cx="3566160" cy="841247"/>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94943"/>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Cost / risk effect</a:t>
            </a:r>
          </a:p>
        </p:txBody>
      </p:sp>
      <p:sp>
        <p:nvSpPr>
          <p:cNvPr id="13" name="Rectangle 12"/>
          <p:cNvSpPr/>
          <p:nvPr/>
        </p:nvSpPr>
        <p:spPr>
          <a:xfrm>
            <a:off x="749808"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97479"/>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Smoothing</a:t>
            </a:r>
          </a:p>
        </p:txBody>
      </p:sp>
      <p:sp>
        <p:nvSpPr>
          <p:cNvPr id="15" name="Rectangle 14"/>
          <p:cNvSpPr/>
          <p:nvPr/>
        </p:nvSpPr>
        <p:spPr>
          <a:xfrm>
            <a:off x="4315968"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97479"/>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Uses float; finish unchanged</a:t>
            </a:r>
          </a:p>
        </p:txBody>
      </p:sp>
      <p:sp>
        <p:nvSpPr>
          <p:cNvPr id="17" name="Rectangle 16"/>
          <p:cNvSpPr/>
          <p:nvPr/>
        </p:nvSpPr>
        <p:spPr>
          <a:xfrm>
            <a:off x="7882127" y="2651760"/>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97479"/>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Low cost, limited relief</a:t>
            </a:r>
          </a:p>
        </p:txBody>
      </p:sp>
      <p:sp>
        <p:nvSpPr>
          <p:cNvPr id="19" name="Rectangle 18"/>
          <p:cNvSpPr/>
          <p:nvPr/>
        </p:nvSpPr>
        <p:spPr>
          <a:xfrm>
            <a:off x="749808"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538727"/>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Levelling</a:t>
            </a:r>
          </a:p>
        </p:txBody>
      </p:sp>
      <p:sp>
        <p:nvSpPr>
          <p:cNvPr id="21" name="Rectangle 20"/>
          <p:cNvSpPr/>
          <p:nvPr/>
        </p:nvSpPr>
        <p:spPr>
          <a:xfrm>
            <a:off x="4315968"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538727"/>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May delay finish</a:t>
            </a:r>
          </a:p>
        </p:txBody>
      </p:sp>
      <p:sp>
        <p:nvSpPr>
          <p:cNvPr id="23" name="Rectangle 22"/>
          <p:cNvSpPr/>
          <p:nvPr/>
        </p:nvSpPr>
        <p:spPr>
          <a:xfrm>
            <a:off x="7882127" y="3493008"/>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538727"/>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Resolves over-allocation</a:t>
            </a:r>
          </a:p>
        </p:txBody>
      </p:sp>
      <p:sp>
        <p:nvSpPr>
          <p:cNvPr id="25" name="Rectangle 24"/>
          <p:cNvSpPr/>
          <p:nvPr/>
        </p:nvSpPr>
        <p:spPr>
          <a:xfrm>
            <a:off x="749808"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379976"/>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Crashing</a:t>
            </a:r>
          </a:p>
        </p:txBody>
      </p:sp>
      <p:sp>
        <p:nvSpPr>
          <p:cNvPr id="27" name="Rectangle 26"/>
          <p:cNvSpPr/>
          <p:nvPr/>
        </p:nvSpPr>
        <p:spPr>
          <a:xfrm>
            <a:off x="4315968"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379976"/>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Shortens critical work</a:t>
            </a:r>
          </a:p>
        </p:txBody>
      </p:sp>
      <p:sp>
        <p:nvSpPr>
          <p:cNvPr id="29" name="Rectangle 28"/>
          <p:cNvSpPr/>
          <p:nvPr/>
        </p:nvSpPr>
        <p:spPr>
          <a:xfrm>
            <a:off x="7882127" y="4334256"/>
            <a:ext cx="3566160" cy="841247"/>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379976"/>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Adds cost; diminishing returns</a:t>
            </a:r>
          </a:p>
        </p:txBody>
      </p:sp>
      <p:sp>
        <p:nvSpPr>
          <p:cNvPr id="31" name="Rectangle 30"/>
          <p:cNvSpPr/>
          <p:nvPr/>
        </p:nvSpPr>
        <p:spPr>
          <a:xfrm>
            <a:off x="749808"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221224"/>
            <a:ext cx="3346704" cy="749808"/>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Fast tracking</a:t>
            </a:r>
          </a:p>
        </p:txBody>
      </p:sp>
      <p:sp>
        <p:nvSpPr>
          <p:cNvPr id="33" name="Rectangle 32"/>
          <p:cNvSpPr/>
          <p:nvPr/>
        </p:nvSpPr>
        <p:spPr>
          <a:xfrm>
            <a:off x="4315968"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5221224"/>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Overlaps sequence</a:t>
            </a:r>
          </a:p>
        </p:txBody>
      </p:sp>
      <p:sp>
        <p:nvSpPr>
          <p:cNvPr id="35" name="Rectangle 34"/>
          <p:cNvSpPr/>
          <p:nvPr/>
        </p:nvSpPr>
        <p:spPr>
          <a:xfrm>
            <a:off x="7882127" y="5175504"/>
            <a:ext cx="3566160" cy="841247"/>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5221224"/>
            <a:ext cx="3346704" cy="74980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Adds rework and quality risk</a:t>
            </a:r>
          </a:p>
        </p:txBody>
      </p:sp>
      <p:sp>
        <p:nvSpPr>
          <p:cNvPr id="37" name="TextBox 36"/>
          <p:cNvSpPr txBox="1"/>
          <p:nvPr/>
        </p:nvSpPr>
        <p:spPr>
          <a:xfrm>
            <a:off x="804672" y="6080760"/>
            <a:ext cx="10515600" cy="219456"/>
          </a:xfrm>
          <a:prstGeom prst="rect">
            <a:avLst/>
          </a:prstGeom>
          <a:noFill/>
        </p:spPr>
        <p:txBody>
          <a:bodyPr wrap="square" lIns="0" rIns="0" tIns="0" bIns="0" anchor="t">
            <a:spAutoFit/>
          </a:bodyPr>
          <a:lstStyle/>
          <a:p>
            <a:pPr algn="ctr">
              <a:spcAft>
                <a:spcPts val="300"/>
              </a:spcAft>
            </a:pPr>
            <a:r>
              <a:rPr sz="950" b="1">
                <a:solidFill>
                  <a:srgbClr val="5F6B7A"/>
                </a:solidFill>
                <a:latin typeface="Arial"/>
              </a:rPr>
              <a:t>Apply compression only to the current critical path and reanalyse after the change.</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DECISION TOOL</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06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Capacity Planning</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Demand</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effort by skill and timing</a:t>
            </a:r>
          </a:p>
        </p:txBody>
      </p:sp>
      <p:cxnSp>
        <p:nvCxnSpPr>
          <p:cNvPr id="12" name="Connector 11"/>
          <p:cNvCxnSpPr/>
          <p:nvPr/>
        </p:nvCxnSpPr>
        <p:spPr>
          <a:xfrm>
            <a:off x="2395727" y="3474720"/>
            <a:ext cx="164593"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Availability</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usable person-days</a:t>
            </a:r>
          </a:p>
        </p:txBody>
      </p:sp>
      <p:cxnSp>
        <p:nvCxnSpPr>
          <p:cNvPr id="18" name="Connector 17"/>
          <p:cNvCxnSpPr/>
          <p:nvPr/>
        </p:nvCxnSpPr>
        <p:spPr>
          <a:xfrm>
            <a:off x="4206240" y="3474720"/>
            <a:ext cx="164591"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Gap</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demand minus capacity</a:t>
            </a:r>
          </a:p>
        </p:txBody>
      </p:sp>
      <p:cxnSp>
        <p:nvCxnSpPr>
          <p:cNvPr id="24" name="Connector 23"/>
          <p:cNvCxnSpPr/>
          <p:nvPr/>
        </p:nvCxnSpPr>
        <p:spPr>
          <a:xfrm>
            <a:off x="6016751"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Constraint</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where work queues</a:t>
            </a:r>
          </a:p>
        </p:txBody>
      </p:sp>
      <p:cxnSp>
        <p:nvCxnSpPr>
          <p:cNvPr id="30" name="Connector 29"/>
          <p:cNvCxnSpPr/>
          <p:nvPr/>
        </p:nvCxnSpPr>
        <p:spPr>
          <a:xfrm>
            <a:off x="7827263"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Option</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smooth, level, crash or overlap</a:t>
            </a:r>
          </a:p>
        </p:txBody>
      </p:sp>
      <p:cxnSp>
        <p:nvCxnSpPr>
          <p:cNvPr id="36" name="Connector 35"/>
          <p:cNvCxnSpPr/>
          <p:nvPr/>
        </p:nvCxnSpPr>
        <p:spPr>
          <a:xfrm>
            <a:off x="9637776" y="3474720"/>
            <a:ext cx="164591"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Decision</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update plan and budget</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Capacity is time and skill together; headcount alone is not a usable measure.</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APPLIED FRAMEWORK</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06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Team Stage and Leadership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0104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Stage</a:t>
            </a:r>
          </a:p>
        </p:txBody>
      </p:sp>
      <p:sp>
        <p:nvSpPr>
          <p:cNvPr id="9" name="Rectangle 8"/>
          <p:cNvSpPr/>
          <p:nvPr/>
        </p:nvSpPr>
        <p:spPr>
          <a:xfrm>
            <a:off x="4315968" y="1810512"/>
            <a:ext cx="3566160" cy="70104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Team signal</a:t>
            </a:r>
          </a:p>
        </p:txBody>
      </p:sp>
      <p:sp>
        <p:nvSpPr>
          <p:cNvPr id="11" name="Rectangle 10"/>
          <p:cNvSpPr/>
          <p:nvPr/>
        </p:nvSpPr>
        <p:spPr>
          <a:xfrm>
            <a:off x="7882127" y="1810512"/>
            <a:ext cx="3566160" cy="70104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Leader response</a:t>
            </a:r>
          </a:p>
        </p:txBody>
      </p:sp>
      <p:sp>
        <p:nvSpPr>
          <p:cNvPr id="13" name="Rectangle 12"/>
          <p:cNvSpPr/>
          <p:nvPr/>
        </p:nvSpPr>
        <p:spPr>
          <a:xfrm>
            <a:off x="749808"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557272"/>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Forming</a:t>
            </a:r>
          </a:p>
        </p:txBody>
      </p:sp>
      <p:sp>
        <p:nvSpPr>
          <p:cNvPr id="15" name="Rectangle 14"/>
          <p:cNvSpPr/>
          <p:nvPr/>
        </p:nvSpPr>
        <p:spPr>
          <a:xfrm>
            <a:off x="4315968"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55727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Unclear roles and dependence</a:t>
            </a:r>
          </a:p>
        </p:txBody>
      </p:sp>
      <p:sp>
        <p:nvSpPr>
          <p:cNvPr id="17" name="Rectangle 16"/>
          <p:cNvSpPr/>
          <p:nvPr/>
        </p:nvSpPr>
        <p:spPr>
          <a:xfrm>
            <a:off x="7882127"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55727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Direct and clarify</a:t>
            </a:r>
          </a:p>
        </p:txBody>
      </p:sp>
      <p:sp>
        <p:nvSpPr>
          <p:cNvPr id="19" name="Rectangle 18"/>
          <p:cNvSpPr/>
          <p:nvPr/>
        </p:nvSpPr>
        <p:spPr>
          <a:xfrm>
            <a:off x="749808"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25831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Storming</a:t>
            </a:r>
          </a:p>
        </p:txBody>
      </p:sp>
      <p:sp>
        <p:nvSpPr>
          <p:cNvPr id="21" name="Rectangle 20"/>
          <p:cNvSpPr/>
          <p:nvPr/>
        </p:nvSpPr>
        <p:spPr>
          <a:xfrm>
            <a:off x="4315968"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25831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Conflict and boundary testing</a:t>
            </a:r>
          </a:p>
        </p:txBody>
      </p:sp>
      <p:sp>
        <p:nvSpPr>
          <p:cNvPr id="23" name="Rectangle 22"/>
          <p:cNvSpPr/>
          <p:nvPr/>
        </p:nvSpPr>
        <p:spPr>
          <a:xfrm>
            <a:off x="7882127"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25831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Coach and facilitate</a:t>
            </a:r>
          </a:p>
        </p:txBody>
      </p:sp>
      <p:sp>
        <p:nvSpPr>
          <p:cNvPr id="25" name="Rectangle 24"/>
          <p:cNvSpPr/>
          <p:nvPr/>
        </p:nvSpPr>
        <p:spPr>
          <a:xfrm>
            <a:off x="749808"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95935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Norming</a:t>
            </a:r>
          </a:p>
        </p:txBody>
      </p:sp>
      <p:sp>
        <p:nvSpPr>
          <p:cNvPr id="27" name="Rectangle 26"/>
          <p:cNvSpPr/>
          <p:nvPr/>
        </p:nvSpPr>
        <p:spPr>
          <a:xfrm>
            <a:off x="4315968"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95935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Shared standards emerge</a:t>
            </a:r>
          </a:p>
        </p:txBody>
      </p:sp>
      <p:sp>
        <p:nvSpPr>
          <p:cNvPr id="29" name="Rectangle 28"/>
          <p:cNvSpPr/>
          <p:nvPr/>
        </p:nvSpPr>
        <p:spPr>
          <a:xfrm>
            <a:off x="7882127"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95935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Support and reinforce</a:t>
            </a:r>
          </a:p>
        </p:txBody>
      </p:sp>
      <p:sp>
        <p:nvSpPr>
          <p:cNvPr id="31" name="Rectangle 30"/>
          <p:cNvSpPr/>
          <p:nvPr/>
        </p:nvSpPr>
        <p:spPr>
          <a:xfrm>
            <a:off x="749808"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660392"/>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Performing</a:t>
            </a:r>
          </a:p>
        </p:txBody>
      </p:sp>
      <p:sp>
        <p:nvSpPr>
          <p:cNvPr id="33" name="Rectangle 32"/>
          <p:cNvSpPr/>
          <p:nvPr/>
        </p:nvSpPr>
        <p:spPr>
          <a:xfrm>
            <a:off x="4315968"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66039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Autonomous delivery</a:t>
            </a:r>
          </a:p>
        </p:txBody>
      </p:sp>
      <p:sp>
        <p:nvSpPr>
          <p:cNvPr id="35" name="Rectangle 34"/>
          <p:cNvSpPr/>
          <p:nvPr/>
        </p:nvSpPr>
        <p:spPr>
          <a:xfrm>
            <a:off x="7882127"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66039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Delegate and protect</a:t>
            </a:r>
          </a:p>
        </p:txBody>
      </p:sp>
      <p:sp>
        <p:nvSpPr>
          <p:cNvPr id="37" name="Rectangle 36"/>
          <p:cNvSpPr/>
          <p:nvPr/>
        </p:nvSpPr>
        <p:spPr>
          <a:xfrm>
            <a:off x="749808"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36143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Adjourning</a:t>
            </a:r>
          </a:p>
        </p:txBody>
      </p:sp>
      <p:sp>
        <p:nvSpPr>
          <p:cNvPr id="39" name="Rectangle 38"/>
          <p:cNvSpPr/>
          <p:nvPr/>
        </p:nvSpPr>
        <p:spPr>
          <a:xfrm>
            <a:off x="4315968"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36143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Transition and loss</a:t>
            </a:r>
          </a:p>
        </p:txBody>
      </p:sp>
      <p:sp>
        <p:nvSpPr>
          <p:cNvPr id="41" name="Rectangle 40"/>
          <p:cNvSpPr/>
          <p:nvPr/>
        </p:nvSpPr>
        <p:spPr>
          <a:xfrm>
            <a:off x="7882127"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36143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Recognise and close</a:t>
            </a:r>
          </a:p>
        </p:txBody>
      </p:sp>
      <p:sp>
        <p:nvSpPr>
          <p:cNvPr id="43" name="TextBox 42"/>
          <p:cNvSpPr txBox="1"/>
          <p:nvPr/>
        </p:nvSpPr>
        <p:spPr>
          <a:xfrm>
            <a:off x="804672" y="6080760"/>
            <a:ext cx="10515600" cy="219456"/>
          </a:xfrm>
          <a:prstGeom prst="rect">
            <a:avLst/>
          </a:prstGeom>
          <a:noFill/>
        </p:spPr>
        <p:txBody>
          <a:bodyPr wrap="square" lIns="0" rIns="0" tIns="0" bIns="0" anchor="t">
            <a:spAutoFit/>
          </a:bodyPr>
          <a:lstStyle/>
          <a:p>
            <a:pPr algn="ctr">
              <a:spcAft>
                <a:spcPts val="300"/>
              </a:spcAft>
            </a:pPr>
            <a:r>
              <a:rPr sz="950" b="1">
                <a:solidFill>
                  <a:srgbClr val="5F6B7A"/>
                </a:solidFill>
                <a:latin typeface="Arial"/>
              </a:rPr>
              <a:t>Using one leadership style for every stage creates either dependence or frustration.</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DECISION TOOL</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06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6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4443984"/>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4443984"/>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40 Organisation Chart</a:t>
            </a:r>
          </a:p>
        </p:txBody>
      </p:sp>
      <p:sp>
        <p:nvSpPr>
          <p:cNvPr id="10" name="TextBox 9"/>
          <p:cNvSpPr txBox="1"/>
          <p:nvPr/>
        </p:nvSpPr>
        <p:spPr>
          <a:xfrm>
            <a:off x="1005840" y="2313432"/>
            <a:ext cx="2956559" cy="3758184"/>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PPTX · editable project tool</a:t>
            </a:r>
          </a:p>
        </p:txBody>
      </p:sp>
      <p:sp>
        <p:nvSpPr>
          <p:cNvPr id="11" name="Rounded Rectangle 10"/>
          <p:cNvSpPr/>
          <p:nvPr/>
        </p:nvSpPr>
        <p:spPr>
          <a:xfrm>
            <a:off x="4392167" y="1783080"/>
            <a:ext cx="3413759" cy="4443984"/>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44439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30 Kanban Board</a:t>
            </a:r>
          </a:p>
        </p:txBody>
      </p:sp>
      <p:sp>
        <p:nvSpPr>
          <p:cNvPr id="14" name="TextBox 13"/>
          <p:cNvSpPr txBox="1"/>
          <p:nvPr/>
        </p:nvSpPr>
        <p:spPr>
          <a:xfrm>
            <a:off x="4648200" y="2313432"/>
            <a:ext cx="2956559" cy="3758184"/>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5" name="Rounded Rectangle 14"/>
          <p:cNvSpPr/>
          <p:nvPr/>
        </p:nvSpPr>
        <p:spPr>
          <a:xfrm>
            <a:off x="8034527" y="1783080"/>
            <a:ext cx="3413759" cy="4443984"/>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4443984"/>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32 Project Budget - Planned vs Actual - Weekly and Monthly</a:t>
            </a:r>
          </a:p>
        </p:txBody>
      </p:sp>
      <p:sp>
        <p:nvSpPr>
          <p:cNvPr id="18" name="TextBox 17"/>
          <p:cNvSpPr txBox="1"/>
          <p:nvPr/>
        </p:nvSpPr>
        <p:spPr>
          <a:xfrm>
            <a:off x="8290559" y="2313432"/>
            <a:ext cx="2956559" cy="3758184"/>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TOOL-BASED PRACTICE</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06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Deploy the Team and Resolve the Resource Bottleneck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6 · 60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The test plan needs 22 person-days in the next two weeks, but only 16 are available. The same business analyst is assigned to testing, training materials and vendor clarification. The sponsor refuses a launch delay unless the team proves no lower-cost option exists.</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Map roles and capacity, expose over-allocation, compare smoothing, levelling, crashing and fast tracking, re-sequence work on a Kanban board and recommend a resource decision with cost and risk evidence.</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 two-week capacity plan, organisation and escalation map, workload Kanban, evaluated compression options, reconciled budget impact and a sponsor recommendation that removes the bottleneck.</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The plan reconciles named work with actual capacity; the bottleneck is visible; each optimisation option has schedule, cost and risk consequences; and the chosen deployment fits the approved project constraints.</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Organisation Chart, Kanban Board and Project Budget templates</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6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6 · LO6</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06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6: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name in a RACI matrix does not create capacity; capacity must be measured against concurrent demand.</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Fast tracking buys time with risk, while crashing buys time with cost—neither is automatically a good decision.</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Manage the constraint first. Adding capacity elsewhere can increase WIP without improving delivery.</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06 · A6 · LO6</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Topic 06 Recap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Decision</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Resource planning links each work package to required skills, quantities, timing and availability.</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Method</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Fast tracking overlaps work and raises risk; crashing adds cost to critical-path work and may not shorten the project.</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Evidence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A two-week capacity plan, organisation and escalation map, workload Kanban, evaluated compression options, reconciled budget impact and a sponsor recommendation that removes the bottleneck.</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Capability</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Deploy manpower, budget and relevant resources for efficient completion (A6).</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A6 · LO6</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TOPIC 07 · A7 · LO7</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Track Project Deliverables and Correct Misalignments</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Performance · earned value · change · corrective action · handover · closure</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07</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A7 · LO7</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CENTRAL IDEA</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Control means deciding early enough to change the outcome.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10698480" cy="397763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847088"/>
            <a:ext cx="128016" cy="3977639"/>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2359152"/>
            <a:ext cx="9738360" cy="2834640"/>
          </a:xfrm>
          <a:prstGeom prst="rect">
            <a:avLst/>
          </a:prstGeom>
          <a:noFill/>
        </p:spPr>
        <p:txBody>
          <a:bodyPr wrap="square" lIns="0" rIns="0" tIns="0" bIns="0" anchor="ctr">
            <a:spAutoFit/>
          </a:bodyPr>
          <a:lstStyle/>
          <a:p>
            <a:pPr algn="l">
              <a:spcAft>
                <a:spcPts val="300"/>
              </a:spcAft>
            </a:pPr>
            <a:r>
              <a:rPr sz="2400" b="1">
                <a:solidFill>
                  <a:srgbClr val="131B2A"/>
                </a:solidFill>
                <a:latin typeface="Arial"/>
              </a:rPr>
              <a:t>Variance reporting without forecast, ownership and action is history. Good control protects value and makes closure evidence-ready.</a:t>
            </a:r>
          </a:p>
        </p:txBody>
      </p:sp>
      <p:sp>
        <p:nvSpPr>
          <p:cNvPr id="10" name="TextBox 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1" name="TextBox 1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CENTRAL IDEA</a:t>
            </a:r>
          </a:p>
        </p:txBody>
      </p:sp>
      <p:sp>
        <p:nvSpPr>
          <p:cNvPr id="12" name="TextBox 1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2600" b="1">
                <a:solidFill>
                  <a:srgbClr val="131B2A"/>
                </a:solidFill>
                <a:latin typeface="Arial"/>
              </a:rPr>
              <a:t>Track Project Deliverables and Correct Misalignments — Core Concepts 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01</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Work performance data becomes information only after comparison with the approved baseline and thresholds.</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02</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status report should answer: where are we, why, what is forecast, what decision is needed, and who owns the action.</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03</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Earned value integrates scope, schedule and cost: PV is planned work, EV is completed value, and AC is actual spend.</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04</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CPI = EV/AC and SPI = EV/PV; indices below 1.00 signal inefficiency against the baseline.</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07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2600" b="1">
                <a:solidFill>
                  <a:srgbClr val="131B2A"/>
                </a:solidFill>
                <a:latin typeface="Arial"/>
              </a:rPr>
              <a:t>Track Project Deliverables and Correct Misalignments — Core Concepts II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05</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change request states reason, impact, options and recommendation; approved changes update baselines and traceability.</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06</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Corrective action brings performance back to plan; preventive action reduces the probability of future variance.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07</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Schedule compression is applied to the current critical path and re-analysed after every change.</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08</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Closure confirms acceptance, transition, contract completion, records, benefits ownership and lessons learned.</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07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Earned Value at Week 12</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0104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Measure</a:t>
            </a:r>
          </a:p>
        </p:txBody>
      </p:sp>
      <p:sp>
        <p:nvSpPr>
          <p:cNvPr id="9" name="Rectangle 8"/>
          <p:cNvSpPr/>
          <p:nvPr/>
        </p:nvSpPr>
        <p:spPr>
          <a:xfrm>
            <a:off x="4315968" y="1810512"/>
            <a:ext cx="3566160" cy="70104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Formula / value</a:t>
            </a:r>
          </a:p>
        </p:txBody>
      </p:sp>
      <p:sp>
        <p:nvSpPr>
          <p:cNvPr id="11" name="Rectangle 10"/>
          <p:cNvSpPr/>
          <p:nvPr/>
        </p:nvSpPr>
        <p:spPr>
          <a:xfrm>
            <a:off x="7882127" y="1810512"/>
            <a:ext cx="3566160" cy="70104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554735"/>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Meaning</a:t>
            </a:r>
          </a:p>
        </p:txBody>
      </p:sp>
      <p:sp>
        <p:nvSpPr>
          <p:cNvPr id="13" name="Rectangle 12"/>
          <p:cNvSpPr/>
          <p:nvPr/>
        </p:nvSpPr>
        <p:spPr>
          <a:xfrm>
            <a:off x="749808"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557272"/>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PV</a:t>
            </a:r>
          </a:p>
        </p:txBody>
      </p:sp>
      <p:sp>
        <p:nvSpPr>
          <p:cNvPr id="15" name="Rectangle 14"/>
          <p:cNvSpPr/>
          <p:nvPr/>
        </p:nvSpPr>
        <p:spPr>
          <a:xfrm>
            <a:off x="4315968"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55727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S$108,000</a:t>
            </a:r>
          </a:p>
        </p:txBody>
      </p:sp>
      <p:sp>
        <p:nvSpPr>
          <p:cNvPr id="17" name="Rectangle 16"/>
          <p:cNvSpPr/>
          <p:nvPr/>
        </p:nvSpPr>
        <p:spPr>
          <a:xfrm>
            <a:off x="7882127" y="2511552"/>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55727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Budgeted work planned</a:t>
            </a:r>
          </a:p>
        </p:txBody>
      </p:sp>
      <p:sp>
        <p:nvSpPr>
          <p:cNvPr id="19" name="Rectangle 18"/>
          <p:cNvSpPr/>
          <p:nvPr/>
        </p:nvSpPr>
        <p:spPr>
          <a:xfrm>
            <a:off x="749808"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25831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EV</a:t>
            </a:r>
          </a:p>
        </p:txBody>
      </p:sp>
      <p:sp>
        <p:nvSpPr>
          <p:cNvPr id="21" name="Rectangle 20"/>
          <p:cNvSpPr/>
          <p:nvPr/>
        </p:nvSpPr>
        <p:spPr>
          <a:xfrm>
            <a:off x="4315968"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25831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S$90,000</a:t>
            </a:r>
          </a:p>
        </p:txBody>
      </p:sp>
      <p:sp>
        <p:nvSpPr>
          <p:cNvPr id="23" name="Rectangle 22"/>
          <p:cNvSpPr/>
          <p:nvPr/>
        </p:nvSpPr>
        <p:spPr>
          <a:xfrm>
            <a:off x="7882127" y="321259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25831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Budgeted value completed</a:t>
            </a:r>
          </a:p>
        </p:txBody>
      </p:sp>
      <p:sp>
        <p:nvSpPr>
          <p:cNvPr id="25" name="Rectangle 24"/>
          <p:cNvSpPr/>
          <p:nvPr/>
        </p:nvSpPr>
        <p:spPr>
          <a:xfrm>
            <a:off x="749808"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95935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AC</a:t>
            </a:r>
          </a:p>
        </p:txBody>
      </p:sp>
      <p:sp>
        <p:nvSpPr>
          <p:cNvPr id="27" name="Rectangle 26"/>
          <p:cNvSpPr/>
          <p:nvPr/>
        </p:nvSpPr>
        <p:spPr>
          <a:xfrm>
            <a:off x="4315968"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95935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S$105,000</a:t>
            </a:r>
          </a:p>
        </p:txBody>
      </p:sp>
      <p:sp>
        <p:nvSpPr>
          <p:cNvPr id="29" name="Rectangle 28"/>
          <p:cNvSpPr/>
          <p:nvPr/>
        </p:nvSpPr>
        <p:spPr>
          <a:xfrm>
            <a:off x="7882127" y="391363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95935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Actual cost incurred</a:t>
            </a:r>
          </a:p>
        </p:txBody>
      </p:sp>
      <p:sp>
        <p:nvSpPr>
          <p:cNvPr id="31" name="Rectangle 30"/>
          <p:cNvSpPr/>
          <p:nvPr/>
        </p:nvSpPr>
        <p:spPr>
          <a:xfrm>
            <a:off x="749808"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660392"/>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SPI</a:t>
            </a:r>
          </a:p>
        </p:txBody>
      </p:sp>
      <p:sp>
        <p:nvSpPr>
          <p:cNvPr id="33" name="Rectangle 32"/>
          <p:cNvSpPr/>
          <p:nvPr/>
        </p:nvSpPr>
        <p:spPr>
          <a:xfrm>
            <a:off x="4315968"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66039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EV/PV = 0.83</a:t>
            </a:r>
          </a:p>
        </p:txBody>
      </p:sp>
      <p:sp>
        <p:nvSpPr>
          <p:cNvPr id="35" name="Rectangle 34"/>
          <p:cNvSpPr/>
          <p:nvPr/>
        </p:nvSpPr>
        <p:spPr>
          <a:xfrm>
            <a:off x="7882127" y="4614672"/>
            <a:ext cx="3566160" cy="70104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660392"/>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Behind schedule</a:t>
            </a:r>
          </a:p>
        </p:txBody>
      </p:sp>
      <p:sp>
        <p:nvSpPr>
          <p:cNvPr id="37" name="Rectangle 36"/>
          <p:cNvSpPr/>
          <p:nvPr/>
        </p:nvSpPr>
        <p:spPr>
          <a:xfrm>
            <a:off x="749808"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361431"/>
            <a:ext cx="3346704" cy="609600"/>
          </a:xfrm>
          <a:prstGeom prst="rect">
            <a:avLst/>
          </a:prstGeom>
          <a:noFill/>
        </p:spPr>
        <p:txBody>
          <a:bodyPr wrap="square" lIns="0" rIns="0" tIns="0" bIns="0" anchor="ctr">
            <a:spAutoFit/>
          </a:bodyPr>
          <a:lstStyle/>
          <a:p>
            <a:pPr algn="l">
              <a:spcAft>
                <a:spcPts val="300"/>
              </a:spcAft>
            </a:pPr>
            <a:r>
              <a:rPr sz="1050" b="1">
                <a:solidFill>
                  <a:srgbClr val="131B2A"/>
                </a:solidFill>
                <a:latin typeface="Arial"/>
              </a:rPr>
              <a:t>CPI</a:t>
            </a:r>
          </a:p>
        </p:txBody>
      </p:sp>
      <p:sp>
        <p:nvSpPr>
          <p:cNvPr id="39" name="Rectangle 38"/>
          <p:cNvSpPr/>
          <p:nvPr/>
        </p:nvSpPr>
        <p:spPr>
          <a:xfrm>
            <a:off x="4315968"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36143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EV/AC = 0.86</a:t>
            </a:r>
          </a:p>
        </p:txBody>
      </p:sp>
      <p:sp>
        <p:nvSpPr>
          <p:cNvPr id="41" name="Rectangle 40"/>
          <p:cNvSpPr/>
          <p:nvPr/>
        </p:nvSpPr>
        <p:spPr>
          <a:xfrm>
            <a:off x="7882127" y="5315711"/>
            <a:ext cx="3566160" cy="70104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361431"/>
            <a:ext cx="3346704" cy="60960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Cost inefficient</a:t>
            </a:r>
          </a:p>
        </p:txBody>
      </p:sp>
      <p:sp>
        <p:nvSpPr>
          <p:cNvPr id="43" name="TextBox 42"/>
          <p:cNvSpPr txBox="1"/>
          <p:nvPr/>
        </p:nvSpPr>
        <p:spPr>
          <a:xfrm>
            <a:off x="804672" y="6080760"/>
            <a:ext cx="10515600" cy="219456"/>
          </a:xfrm>
          <a:prstGeom prst="rect">
            <a:avLst/>
          </a:prstGeom>
          <a:noFill/>
        </p:spPr>
        <p:txBody>
          <a:bodyPr wrap="square" lIns="0" rIns="0" tIns="0" bIns="0" anchor="t">
            <a:spAutoFit/>
          </a:bodyPr>
          <a:lstStyle/>
          <a:p>
            <a:pPr algn="ctr">
              <a:spcAft>
                <a:spcPts val="300"/>
              </a:spcAft>
            </a:pPr>
            <a:r>
              <a:rPr sz="950" b="1">
                <a:solidFill>
                  <a:srgbClr val="5F6B7A"/>
                </a:solidFill>
                <a:latin typeface="Arial"/>
              </a:rPr>
              <a:t>Use the indices with milestones and quality evidence—no single metric tells the whole story.</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DECISION TOOL</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Integrated Change Control</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Request</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reason and desired outcome</a:t>
            </a:r>
          </a:p>
        </p:txBody>
      </p:sp>
      <p:cxnSp>
        <p:nvCxnSpPr>
          <p:cNvPr id="12" name="Connector 11"/>
          <p:cNvCxnSpPr/>
          <p:nvPr/>
        </p:nvCxnSpPr>
        <p:spPr>
          <a:xfrm>
            <a:off x="2395727" y="3474720"/>
            <a:ext cx="164593"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Analyse</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scope, time, cost, risk, quality</a:t>
            </a:r>
          </a:p>
        </p:txBody>
      </p:sp>
      <p:cxnSp>
        <p:nvCxnSpPr>
          <p:cNvPr id="18" name="Connector 17"/>
          <p:cNvCxnSpPr/>
          <p:nvPr/>
        </p:nvCxnSpPr>
        <p:spPr>
          <a:xfrm>
            <a:off x="4206240" y="3474720"/>
            <a:ext cx="164591"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Options</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approve, reject, defer, trade</a:t>
            </a:r>
          </a:p>
        </p:txBody>
      </p:sp>
      <p:cxnSp>
        <p:nvCxnSpPr>
          <p:cNvPr id="24" name="Connector 23"/>
          <p:cNvCxnSpPr/>
          <p:nvPr/>
        </p:nvCxnSpPr>
        <p:spPr>
          <a:xfrm>
            <a:off x="6016751"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Decide</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authorised owner records rationale</a:t>
            </a:r>
          </a:p>
        </p:txBody>
      </p:sp>
      <p:cxnSp>
        <p:nvCxnSpPr>
          <p:cNvPr id="30" name="Connector 29"/>
          <p:cNvCxnSpPr/>
          <p:nvPr/>
        </p:nvCxnSpPr>
        <p:spPr>
          <a:xfrm>
            <a:off x="7827263"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Update</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baselines and traceability</a:t>
            </a:r>
          </a:p>
        </p:txBody>
      </p:sp>
      <p:cxnSp>
        <p:nvCxnSpPr>
          <p:cNvPr id="36" name="Connector 35"/>
          <p:cNvCxnSpPr/>
          <p:nvPr/>
        </p:nvCxnSpPr>
        <p:spPr>
          <a:xfrm>
            <a:off x="9637776" y="3474720"/>
            <a:ext cx="164591"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Communicate</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owners, stakeholders and vendors</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An approved change is unfinished until affected baselines and acceptance evidence are updated.</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APPLIED FRAMEWORK</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Closeout Gates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Accept</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deliverables and criteria</a:t>
            </a:r>
          </a:p>
        </p:txBody>
      </p:sp>
      <p:cxnSp>
        <p:nvCxnSpPr>
          <p:cNvPr id="12" name="Connector 11"/>
          <p:cNvCxnSpPr/>
          <p:nvPr/>
        </p:nvCxnSpPr>
        <p:spPr>
          <a:xfrm>
            <a:off x="2395727" y="3474720"/>
            <a:ext cx="164593"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Transition</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operations, support and data</a:t>
            </a:r>
          </a:p>
        </p:txBody>
      </p:sp>
      <p:cxnSp>
        <p:nvCxnSpPr>
          <p:cNvPr id="18" name="Connector 17"/>
          <p:cNvCxnSpPr/>
          <p:nvPr/>
        </p:nvCxnSpPr>
        <p:spPr>
          <a:xfrm>
            <a:off x="4206240" y="3474720"/>
            <a:ext cx="164591"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Contract</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claims, payment and records</a:t>
            </a:r>
          </a:p>
        </p:txBody>
      </p:sp>
      <p:cxnSp>
        <p:nvCxnSpPr>
          <p:cNvPr id="24" name="Connector 23"/>
          <p:cNvCxnSpPr/>
          <p:nvPr/>
        </p:nvCxnSpPr>
        <p:spPr>
          <a:xfrm>
            <a:off x="6016751"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Learn</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causes and reusable actions</a:t>
            </a:r>
          </a:p>
        </p:txBody>
      </p:sp>
      <p:cxnSp>
        <p:nvCxnSpPr>
          <p:cNvPr id="30" name="Connector 29"/>
          <p:cNvCxnSpPr/>
          <p:nvPr/>
        </p:nvCxnSpPr>
        <p:spPr>
          <a:xfrm>
            <a:off x="7827263" y="3474720"/>
            <a:ext cx="164592"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Benefits</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owner and measurement rhythm</a:t>
            </a:r>
          </a:p>
        </p:txBody>
      </p:sp>
      <p:cxnSp>
        <p:nvCxnSpPr>
          <p:cNvPr id="36" name="Connector 35"/>
          <p:cNvCxnSpPr/>
          <p:nvPr/>
        </p:nvCxnSpPr>
        <p:spPr>
          <a:xfrm>
            <a:off x="9637776" y="3474720"/>
            <a:ext cx="164591" cy="0"/>
          </a:xfrm>
          <a:prstGeom prst="line">
            <a:avLst/>
          </a:prstGeom>
          <a:ln w="25400">
            <a:solidFill>
              <a:srgbClr val="1655D1"/>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Close</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archive and release resources</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Do not close on elapsed time; close on complete evidence and transferred accountability.</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APPLIED FRAMEWORK</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07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7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30 Kanban Board</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31 Burndown Chart</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32 Project Budget - Planned vs Actual - Weekly and Monthly</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9" name="Rounded Rectangle 18"/>
          <p:cNvSpPr/>
          <p:nvPr/>
        </p:nvSpPr>
        <p:spPr>
          <a:xfrm>
            <a:off x="257098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7098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2702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34 Control Chart</a:t>
            </a:r>
          </a:p>
        </p:txBody>
      </p:sp>
      <p:sp>
        <p:nvSpPr>
          <p:cNvPr id="22" name="TextBox 21"/>
          <p:cNvSpPr txBox="1"/>
          <p:nvPr/>
        </p:nvSpPr>
        <p:spPr>
          <a:xfrm>
            <a:off x="282702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23" name="Rounded Rectangle 22"/>
          <p:cNvSpPr/>
          <p:nvPr/>
        </p:nvSpPr>
        <p:spPr>
          <a:xfrm>
            <a:off x="621334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44 Agile Retrospective</a:t>
            </a:r>
          </a:p>
        </p:txBody>
      </p:sp>
      <p:sp>
        <p:nvSpPr>
          <p:cNvPr id="26" name="TextBox 25"/>
          <p:cNvSpPr txBox="1"/>
          <p:nvPr/>
        </p:nvSpPr>
        <p:spPr>
          <a:xfrm>
            <a:off x="646938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27" name="TextBox 26"/>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8" name="TextBox 27"/>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TOOL-BASED PRACTICE</a:t>
            </a:r>
          </a:p>
        </p:txBody>
      </p:sp>
      <p:sp>
        <p:nvSpPr>
          <p:cNvPr id="29" name="TextBox 28"/>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07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Control the Pilot, Decide the Change and Close the Project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7 · 105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At the end of week 12, the baseline planned value is S$108,000. Completed deliverables represent S$90,000 of budgeted value and actual cost is S$105,000. The sponsor also requests loyalty points, estimated at S$24,000 and three weeks. Launch evidence is incomplete and the vendor wants final payment.</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Build an evidence-based status, calculate earned value, forecast outcome, analyse the change request, select corrective action, update approved baselines and complete acceptance, handover and lessons learned.</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 current Kanban and burndown, earned-value analysis with forecasts, status report, change-control decision, corrective-action log, acceptance and handover checklist, lessons learned and closure recommendation.</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Earned-value calculations and forecast reconcile; the change decision states complete impacts; corrective action has an owner and due date; and closure is supported by acceptance, handover, contract and lessons evidence.</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Kanban, Burndown, Budget, Control Chart and Retrospective templates</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7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7 · LO7</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07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7: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Status reporting is a decision system: variance without forecast and action is only history.</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An approved change is not complete until every affected baseline and traceability record is updated.</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Project closure transfers accountability for benefits and operations; it does not merely stop project work.</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07 · A7 · LO7</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Topic 07 Recap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Decision</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Work performance data becomes information only after comparison with the approved baseline and thresholds.</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Method</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CPI = EV/AC and SPI = EV/PV; indices below 1.00 signal inefficiency against the baseline.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Evidence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A current Kanban and burndown, earned-value analysis with forecasts, status report, change-control decision, corrective-action log, acceptance and handover checklist, lessons learned and closure recommendation.</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Capability</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Track deliverables, monitor cost, schedule and resources, and correct misalignment (A7).</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A7 · LO7</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WRAP-UP</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Course Wrap-Up</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From authorisation to controlled handover—one connected evidence chain.</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WRAP-UP</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WRAP-UP · END-TO-END</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The Small-Project Delivery System</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Initiate</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value, boundaries and authority</a:t>
            </a:r>
          </a:p>
        </p:txBody>
      </p:sp>
      <p:cxnSp>
        <p:nvCxnSpPr>
          <p:cNvPr id="12" name="Connector 11"/>
          <p:cNvCxnSpPr/>
          <p:nvPr/>
        </p:nvCxnSpPr>
        <p:spPr>
          <a:xfrm>
            <a:off x="2395727" y="3474720"/>
            <a:ext cx="164593" cy="0"/>
          </a:xfrm>
          <a:prstGeom prst="line">
            <a:avLst/>
          </a:prstGeom>
          <a:ln w="25400">
            <a:solidFill>
              <a:srgbClr val="0F9D8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Plan</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scope, sequence, resources and cost</a:t>
            </a:r>
          </a:p>
        </p:txBody>
      </p:sp>
      <p:cxnSp>
        <p:nvCxnSpPr>
          <p:cNvPr id="18" name="Connector 17"/>
          <p:cNvCxnSpPr/>
          <p:nvPr/>
        </p:nvCxnSpPr>
        <p:spPr>
          <a:xfrm>
            <a:off x="4206240" y="3474720"/>
            <a:ext cx="164591" cy="0"/>
          </a:xfrm>
          <a:prstGeom prst="line">
            <a:avLst/>
          </a:prstGeom>
          <a:ln w="25400">
            <a:solidFill>
              <a:srgbClr val="0F9D8A"/>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Drive</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tools, quality and flow</a:t>
            </a:r>
          </a:p>
        </p:txBody>
      </p:sp>
      <p:cxnSp>
        <p:nvCxnSpPr>
          <p:cNvPr id="24" name="Connector 23"/>
          <p:cNvCxnSpPr/>
          <p:nvPr/>
        </p:nvCxnSpPr>
        <p:spPr>
          <a:xfrm>
            <a:off x="6016751" y="3474720"/>
            <a:ext cx="164592" cy="0"/>
          </a:xfrm>
          <a:prstGeom prst="line">
            <a:avLst/>
          </a:prstGeom>
          <a:ln w="25400">
            <a:solidFill>
              <a:srgbClr val="0F9D8A"/>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Protect</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risk and stakeholder alignment</a:t>
            </a:r>
          </a:p>
        </p:txBody>
      </p:sp>
      <p:cxnSp>
        <p:nvCxnSpPr>
          <p:cNvPr id="30" name="Connector 29"/>
          <p:cNvCxnSpPr/>
          <p:nvPr/>
        </p:nvCxnSpPr>
        <p:spPr>
          <a:xfrm>
            <a:off x="7827263" y="3474720"/>
            <a:ext cx="164592" cy="0"/>
          </a:xfrm>
          <a:prstGeom prst="line">
            <a:avLst/>
          </a:prstGeom>
          <a:ln w="25400">
            <a:solidFill>
              <a:srgbClr val="0F9D8A"/>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Control</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variance, change and action</a:t>
            </a:r>
          </a:p>
        </p:txBody>
      </p:sp>
      <p:cxnSp>
        <p:nvCxnSpPr>
          <p:cNvPr id="36" name="Connector 35"/>
          <p:cNvCxnSpPr/>
          <p:nvPr/>
        </p:nvCxnSpPr>
        <p:spPr>
          <a:xfrm>
            <a:off x="9637776" y="3474720"/>
            <a:ext cx="164591" cy="0"/>
          </a:xfrm>
          <a:prstGeom prst="line">
            <a:avLst/>
          </a:prstGeom>
          <a:ln w="25400">
            <a:solidFill>
              <a:srgbClr val="0F9D8A"/>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Close</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acceptance, transition and learning</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Every output becomes an input to the next decision.</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WRAP-UP · END-TO-END</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WRAP-UP · WHAT TO REMEMBER</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Seven Takeaways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939546"/>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01</a:t>
            </a:r>
          </a:p>
        </p:txBody>
      </p:sp>
      <p:sp>
        <p:nvSpPr>
          <p:cNvPr id="10" name="TextBox 9"/>
          <p:cNvSpPr txBox="1"/>
          <p:nvPr/>
        </p:nvSpPr>
        <p:spPr>
          <a:xfrm>
            <a:off x="1005840" y="2313432"/>
            <a:ext cx="477774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Start with value and measurable success, not a list of tasks.</a:t>
            </a:r>
          </a:p>
        </p:txBody>
      </p:sp>
      <p:sp>
        <p:nvSpPr>
          <p:cNvPr id="11" name="Rounded Rectangle 10"/>
          <p:cNvSpPr/>
          <p:nvPr/>
        </p:nvSpPr>
        <p:spPr>
          <a:xfrm>
            <a:off x="6213348" y="1783080"/>
            <a:ext cx="523494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93954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02</a:t>
            </a:r>
          </a:p>
        </p:txBody>
      </p:sp>
      <p:sp>
        <p:nvSpPr>
          <p:cNvPr id="14" name="TextBox 13"/>
          <p:cNvSpPr txBox="1"/>
          <p:nvPr/>
        </p:nvSpPr>
        <p:spPr>
          <a:xfrm>
            <a:off x="6469380" y="2313432"/>
            <a:ext cx="477774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Integrate scope, schedule and cost around the same work packages.</a:t>
            </a:r>
          </a:p>
        </p:txBody>
      </p:sp>
      <p:sp>
        <p:nvSpPr>
          <p:cNvPr id="15" name="Rounded Rectangle 14"/>
          <p:cNvSpPr/>
          <p:nvPr/>
        </p:nvSpPr>
        <p:spPr>
          <a:xfrm>
            <a:off x="749808" y="2951226"/>
            <a:ext cx="523494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2951226"/>
            <a:ext cx="91440" cy="939546"/>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115818"/>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03</a:t>
            </a:r>
          </a:p>
        </p:txBody>
      </p:sp>
      <p:sp>
        <p:nvSpPr>
          <p:cNvPr id="18" name="TextBox 17"/>
          <p:cNvSpPr txBox="1"/>
          <p:nvPr/>
        </p:nvSpPr>
        <p:spPr>
          <a:xfrm>
            <a:off x="1005840" y="3481578"/>
            <a:ext cx="477774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Choose the tool that changes the next decision and retire unused reporting.</a:t>
            </a:r>
          </a:p>
        </p:txBody>
      </p:sp>
      <p:sp>
        <p:nvSpPr>
          <p:cNvPr id="19" name="Rounded Rectangle 18"/>
          <p:cNvSpPr/>
          <p:nvPr/>
        </p:nvSpPr>
        <p:spPr>
          <a:xfrm>
            <a:off x="6213348" y="2951226"/>
            <a:ext cx="523494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2951226"/>
            <a:ext cx="91440" cy="9395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3115818"/>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04</a:t>
            </a:r>
          </a:p>
        </p:txBody>
      </p:sp>
      <p:sp>
        <p:nvSpPr>
          <p:cNvPr id="22" name="TextBox 21"/>
          <p:cNvSpPr txBox="1"/>
          <p:nvPr/>
        </p:nvSpPr>
        <p:spPr>
          <a:xfrm>
            <a:off x="6469380" y="3481578"/>
            <a:ext cx="477774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Fund risk responses before triggers become issues.</a:t>
            </a:r>
          </a:p>
        </p:txBody>
      </p:sp>
      <p:sp>
        <p:nvSpPr>
          <p:cNvPr id="23" name="Rounded Rectangle 22"/>
          <p:cNvSpPr/>
          <p:nvPr/>
        </p:nvSpPr>
        <p:spPr>
          <a:xfrm>
            <a:off x="749808" y="4119372"/>
            <a:ext cx="523494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8" y="4119372"/>
            <a:ext cx="91440" cy="939546"/>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05</a:t>
            </a:r>
          </a:p>
        </p:txBody>
      </p:sp>
      <p:sp>
        <p:nvSpPr>
          <p:cNvPr id="26" name="TextBox 25"/>
          <p:cNvSpPr txBox="1"/>
          <p:nvPr/>
        </p:nvSpPr>
        <p:spPr>
          <a:xfrm>
            <a:off x="1005840" y="4649724"/>
            <a:ext cx="477774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Make accountability and stakeholder feedback visible.</a:t>
            </a:r>
          </a:p>
        </p:txBody>
      </p:sp>
      <p:sp>
        <p:nvSpPr>
          <p:cNvPr id="27" name="Rounded Rectangle 26"/>
          <p:cNvSpPr/>
          <p:nvPr/>
        </p:nvSpPr>
        <p:spPr>
          <a:xfrm>
            <a:off x="6213348" y="4119372"/>
            <a:ext cx="523494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3348" y="4119372"/>
            <a:ext cx="91440" cy="939546"/>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06</a:t>
            </a:r>
          </a:p>
        </p:txBody>
      </p:sp>
      <p:sp>
        <p:nvSpPr>
          <p:cNvPr id="30" name="TextBox 29"/>
          <p:cNvSpPr txBox="1"/>
          <p:nvPr/>
        </p:nvSpPr>
        <p:spPr>
          <a:xfrm>
            <a:off x="6469380" y="4649724"/>
            <a:ext cx="477774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Plan capacity at the constraint, not by nominal headcount.</a:t>
            </a:r>
          </a:p>
        </p:txBody>
      </p:sp>
      <p:sp>
        <p:nvSpPr>
          <p:cNvPr id="31" name="Rounded Rectangle 30"/>
          <p:cNvSpPr/>
          <p:nvPr/>
        </p:nvSpPr>
        <p:spPr>
          <a:xfrm>
            <a:off x="749808" y="5287518"/>
            <a:ext cx="523494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9808" y="5287518"/>
            <a:ext cx="91440" cy="939546"/>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452110"/>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07</a:t>
            </a:r>
          </a:p>
        </p:txBody>
      </p:sp>
      <p:sp>
        <p:nvSpPr>
          <p:cNvPr id="34" name="TextBox 33"/>
          <p:cNvSpPr txBox="1"/>
          <p:nvPr/>
        </p:nvSpPr>
        <p:spPr>
          <a:xfrm>
            <a:off x="1005840" y="5817870"/>
            <a:ext cx="477774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Control through forecast and action; close through evidence and transfer.</a:t>
            </a:r>
          </a:p>
        </p:txBody>
      </p:sp>
      <p:sp>
        <p:nvSpPr>
          <p:cNvPr id="35" name="TextBox 3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36" name="TextBox 3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WRAP-UP · WHAT TO REMEMBER</a:t>
            </a:r>
          </a:p>
        </p:txBody>
      </p:sp>
      <p:sp>
        <p:nvSpPr>
          <p:cNvPr id="37" name="TextBox 3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ASSESSMENT · READY WHEN</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Assessment Readiness Check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Knowledge</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Can you explain the small-project elements, plan requirements, tools, risks and stakeholder identification?</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Application</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Can you produce and interpret the charter, baseline, quality analysis, risk register, RACI, resource plan and control evidence?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Judgement</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Can you choose a method, explain the trade-off and recommend a proportionate action?</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Evidence</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Can you trace each recommendation to the case facts and an approved project artifact?</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ASSESSMENT · READY WHEN</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AFTER THE COURSE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Support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Email</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enquiry@tertiaryinfotech.com</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Telephone</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+65 6100 0613</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Website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www.tertiarycourses.com.sg</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LMS / TMS</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https://lms-tms.tertiaryinfotech.com</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  ·</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AFTER THE COURSE</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82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75120"/>
            <a:ext cx="12191695" cy="18288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331720"/>
            <a:ext cx="12191695" cy="914400"/>
          </a:xfrm>
          <a:prstGeom prst="rect">
            <a:avLst/>
          </a:prstGeom>
          <a:noFill/>
        </p:spPr>
        <p:txBody>
          <a:bodyPr wrap="square" lIns="0" rIns="0" tIns="0" bIns="0" anchor="t">
            <a:spAutoFit/>
          </a:bodyPr>
          <a:lstStyle/>
          <a:p>
            <a:pPr algn="ctr">
              <a:spcAft>
                <a:spcPts val="300"/>
              </a:spcAft>
            </a:pPr>
            <a:r>
              <a:rPr sz="5000" b="1">
                <a:solidFill>
                  <a:srgbClr val="131B2A"/>
                </a:solidFill>
                <a:latin typeface="Arial"/>
              </a:rPr>
              <a:t>Thank You!</a:t>
            </a:r>
          </a:p>
        </p:txBody>
      </p:sp>
      <p:sp>
        <p:nvSpPr>
          <p:cNvPr id="6" name="TextBox 5"/>
          <p:cNvSpPr txBox="1"/>
          <p:nvPr/>
        </p:nvSpPr>
        <p:spPr>
          <a:xfrm>
            <a:off x="0" y="3474720"/>
            <a:ext cx="12191695" cy="640080"/>
          </a:xfrm>
          <a:prstGeom prst="rect">
            <a:avLst/>
          </a:prstGeom>
          <a:noFill/>
        </p:spPr>
        <p:txBody>
          <a:bodyPr wrap="square" lIns="0" rIns="0" tIns="0" bIns="0" anchor="t">
            <a:spAutoFit/>
          </a:bodyPr>
          <a:lstStyle/>
          <a:p>
            <a:pPr algn="ctr">
              <a:spcAft>
                <a:spcPts val="300"/>
              </a:spcAft>
            </a:pPr>
            <a:r>
              <a:rPr sz="2000" b="0">
                <a:solidFill>
                  <a:srgbClr val="5F6B7A"/>
                </a:solidFill>
                <a:latin typeface="Arial"/>
              </a:rPr>
              <a:t>Effective Project Management for Small Projects</a:t>
            </a:r>
          </a:p>
        </p:txBody>
      </p:sp>
      <p:sp>
        <p:nvSpPr>
          <p:cNvPr id="7" name="TextBox 6"/>
          <p:cNvSpPr txBox="1"/>
          <p:nvPr/>
        </p:nvSpPr>
        <p:spPr>
          <a:xfrm>
            <a:off x="0" y="4187952"/>
            <a:ext cx="12191695" cy="457200"/>
          </a:xfrm>
          <a:prstGeom prst="rect">
            <a:avLst/>
          </a:prstGeom>
          <a:noFill/>
        </p:spPr>
        <p:txBody>
          <a:bodyPr wrap="square" lIns="0" rIns="0" tIns="0" bIns="0" anchor="t">
            <a:spAutoFit/>
          </a:bodyPr>
          <a:lstStyle/>
          <a:p>
            <a:pPr algn="ctr">
              <a:spcAft>
                <a:spcPts val="300"/>
              </a:spcAft>
            </a:pPr>
            <a:r>
              <a:rPr sz="1200" b="0">
                <a:solidFill>
                  <a:srgbClr val="5F6B7A"/>
                </a:solidFill>
                <a:latin typeface="Arial"/>
              </a:rPr>
              <a:t>TGS-2020505545 · Tertiary Infotech Academy Pte Ltd · UEN: 201200696W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