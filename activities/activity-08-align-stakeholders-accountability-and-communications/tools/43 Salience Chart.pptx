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239625" cy="8280400"/>
  <p:notesSz cx="6858000" cy="9144000"/>
  <p:defaultTextStyle>
    <a:defPPr>
      <a:defRPr lang="en-US"/>
    </a:defPPr>
    <a:lvl1pPr marL="0" algn="l" defTabSz="984900" rtl="0" eaLnBrk="1" latinLnBrk="0" hangingPunct="1">
      <a:defRPr sz="1939" kern="1200">
        <a:solidFill>
          <a:schemeClr val="tx1"/>
        </a:solidFill>
        <a:latin typeface="+mn-lt"/>
        <a:ea typeface="+mn-ea"/>
        <a:cs typeface="+mn-cs"/>
      </a:defRPr>
    </a:lvl1pPr>
    <a:lvl2pPr marL="492450" algn="l" defTabSz="984900" rtl="0" eaLnBrk="1" latinLnBrk="0" hangingPunct="1">
      <a:defRPr sz="1939" kern="1200">
        <a:solidFill>
          <a:schemeClr val="tx1"/>
        </a:solidFill>
        <a:latin typeface="+mn-lt"/>
        <a:ea typeface="+mn-ea"/>
        <a:cs typeface="+mn-cs"/>
      </a:defRPr>
    </a:lvl2pPr>
    <a:lvl3pPr marL="984900" algn="l" defTabSz="984900" rtl="0" eaLnBrk="1" latinLnBrk="0" hangingPunct="1">
      <a:defRPr sz="1939" kern="1200">
        <a:solidFill>
          <a:schemeClr val="tx1"/>
        </a:solidFill>
        <a:latin typeface="+mn-lt"/>
        <a:ea typeface="+mn-ea"/>
        <a:cs typeface="+mn-cs"/>
      </a:defRPr>
    </a:lvl3pPr>
    <a:lvl4pPr marL="1477350" algn="l" defTabSz="984900" rtl="0" eaLnBrk="1" latinLnBrk="0" hangingPunct="1">
      <a:defRPr sz="1939" kern="1200">
        <a:solidFill>
          <a:schemeClr val="tx1"/>
        </a:solidFill>
        <a:latin typeface="+mn-lt"/>
        <a:ea typeface="+mn-ea"/>
        <a:cs typeface="+mn-cs"/>
      </a:defRPr>
    </a:lvl4pPr>
    <a:lvl5pPr marL="1969800" algn="l" defTabSz="984900" rtl="0" eaLnBrk="1" latinLnBrk="0" hangingPunct="1">
      <a:defRPr sz="1939" kern="1200">
        <a:solidFill>
          <a:schemeClr val="tx1"/>
        </a:solidFill>
        <a:latin typeface="+mn-lt"/>
        <a:ea typeface="+mn-ea"/>
        <a:cs typeface="+mn-cs"/>
      </a:defRPr>
    </a:lvl5pPr>
    <a:lvl6pPr marL="2462251" algn="l" defTabSz="984900" rtl="0" eaLnBrk="1" latinLnBrk="0" hangingPunct="1">
      <a:defRPr sz="1939" kern="1200">
        <a:solidFill>
          <a:schemeClr val="tx1"/>
        </a:solidFill>
        <a:latin typeface="+mn-lt"/>
        <a:ea typeface="+mn-ea"/>
        <a:cs typeface="+mn-cs"/>
      </a:defRPr>
    </a:lvl6pPr>
    <a:lvl7pPr marL="2954701" algn="l" defTabSz="984900" rtl="0" eaLnBrk="1" latinLnBrk="0" hangingPunct="1">
      <a:defRPr sz="1939" kern="1200">
        <a:solidFill>
          <a:schemeClr val="tx1"/>
        </a:solidFill>
        <a:latin typeface="+mn-lt"/>
        <a:ea typeface="+mn-ea"/>
        <a:cs typeface="+mn-cs"/>
      </a:defRPr>
    </a:lvl7pPr>
    <a:lvl8pPr marL="3447151" algn="l" defTabSz="984900" rtl="0" eaLnBrk="1" latinLnBrk="0" hangingPunct="1">
      <a:defRPr sz="1939" kern="1200">
        <a:solidFill>
          <a:schemeClr val="tx1"/>
        </a:solidFill>
        <a:latin typeface="+mn-lt"/>
        <a:ea typeface="+mn-ea"/>
        <a:cs typeface="+mn-cs"/>
      </a:defRPr>
    </a:lvl8pPr>
    <a:lvl9pPr marL="3939601" algn="l" defTabSz="984900" rtl="0" eaLnBrk="1" latinLnBrk="0" hangingPunct="1">
      <a:defRPr sz="193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9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7972" y="1355149"/>
            <a:ext cx="10403681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4349128"/>
            <a:ext cx="9179719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690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772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100" y="2064352"/>
            <a:ext cx="10556677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100" y="5541353"/>
            <a:ext cx="10556677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/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75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0311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2204273"/>
            <a:ext cx="5201841" cy="5253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2204273"/>
            <a:ext cx="5201841" cy="5253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5/06/2021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6255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440856"/>
            <a:ext cx="10556677" cy="160049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70" y="2029849"/>
            <a:ext cx="5177934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70" y="3024646"/>
            <a:ext cx="5177934" cy="44487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1" y="2029849"/>
            <a:ext cx="5203435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1" y="3024646"/>
            <a:ext cx="5203435" cy="44487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5/06/2021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072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5/06/2021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191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5/06/2021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01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552027"/>
            <a:ext cx="3947598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1192226"/>
            <a:ext cx="6196310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2484120"/>
            <a:ext cx="3947598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5/06/2021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494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552027"/>
            <a:ext cx="3947598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1192226"/>
            <a:ext cx="6196310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8" y="2484120"/>
            <a:ext cx="3947598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5/06/2021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2836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674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440855"/>
            <a:ext cx="2639169" cy="701725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5" y="440855"/>
            <a:ext cx="7764512" cy="701725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0528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440856"/>
            <a:ext cx="10556677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2204273"/>
            <a:ext cx="10556677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7674706"/>
            <a:ext cx="2753916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6239B-682E-4DE7-A1B0-FEA1622DE54E}" type="datetimeFigureOut">
              <a:rPr lang="en-AU" smtClean="0"/>
              <a:t>5/06/2021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7674706"/>
            <a:ext cx="4130873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7674706"/>
            <a:ext cx="2753916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185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04047" rtl="0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l" defTabSz="1104047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81588" y="545612"/>
            <a:ext cx="11222946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1587" y="132466"/>
            <a:ext cx="3717706" cy="401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8" dirty="0"/>
              <a:t>Project Name:</a:t>
            </a:r>
            <a:endParaRPr lang="en-AU" sz="2008" dirty="0"/>
          </a:p>
        </p:txBody>
      </p:sp>
      <p:sp>
        <p:nvSpPr>
          <p:cNvPr id="6" name="TextBox 5"/>
          <p:cNvSpPr txBox="1"/>
          <p:nvPr/>
        </p:nvSpPr>
        <p:spPr>
          <a:xfrm>
            <a:off x="7986828" y="132465"/>
            <a:ext cx="3717706" cy="401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008" i="1" dirty="0"/>
              <a:t>Salience Chart</a:t>
            </a:r>
            <a:endParaRPr lang="en-AU" sz="2008" i="1" dirty="0"/>
          </a:p>
        </p:txBody>
      </p:sp>
      <p:sp>
        <p:nvSpPr>
          <p:cNvPr id="7" name="Oval 6"/>
          <p:cNvSpPr/>
          <p:nvPr/>
        </p:nvSpPr>
        <p:spPr>
          <a:xfrm>
            <a:off x="5003799" y="3526148"/>
            <a:ext cx="4702641" cy="4640144"/>
          </a:xfrm>
          <a:prstGeom prst="ellipse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141" tIns="36141" rIns="36141" bIns="36141" rtlCol="0" anchor="ctr"/>
          <a:lstStyle/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 smtClean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 smtClean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r>
              <a:rPr lang="en-AU" sz="1947" dirty="0" smtClean="0">
                <a:solidFill>
                  <a:schemeClr val="tx1"/>
                </a:solidFill>
              </a:rPr>
              <a:t>URGENCY</a:t>
            </a:r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683650" y="857250"/>
            <a:ext cx="4588306" cy="4588306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141" tIns="36141" rIns="36141" bIns="36141" rtlCol="0" anchor="ctr"/>
          <a:lstStyle/>
          <a:p>
            <a:pPr algn="ctr"/>
            <a:r>
              <a:rPr lang="en-AU" sz="1947" dirty="0">
                <a:solidFill>
                  <a:schemeClr val="tx1"/>
                </a:solidFill>
              </a:rPr>
              <a:t>LEGITIMACY</a:t>
            </a: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 smtClean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317279" y="857251"/>
            <a:ext cx="4588306" cy="4588306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141" tIns="0" rIns="36141" bIns="36141" rtlCol="0" anchor="ctr" anchorCtr="0"/>
          <a:lstStyle/>
          <a:p>
            <a:pPr algn="ctr"/>
            <a:r>
              <a:rPr lang="en-AU" sz="1947" dirty="0" smtClean="0">
                <a:solidFill>
                  <a:schemeClr val="tx1"/>
                </a:solidFill>
              </a:rPr>
              <a:t>POWER</a:t>
            </a: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 smtClean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69101" y="857250"/>
            <a:ext cx="2859850" cy="7143749"/>
          </a:xfrm>
          <a:prstGeom prst="roundRect">
            <a:avLst>
              <a:gd name="adj" fmla="val 7805"/>
            </a:avLst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947" b="1" u="sng" dirty="0">
                <a:solidFill>
                  <a:schemeClr val="tx1"/>
                </a:solidFill>
              </a:rPr>
              <a:t>Stakeholders:</a:t>
            </a: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  <a:p>
            <a:pPr algn="ctr"/>
            <a:endParaRPr lang="en-AU" sz="1947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44427" y="1482283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1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733466" y="1477837"/>
            <a:ext cx="1141741" cy="366131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2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4427" y="1995118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3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745543" y="2002371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4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4427" y="2523056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5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745543" y="2523056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6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44427" y="3035892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7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745543" y="3053005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8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44427" y="3596835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9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745543" y="3613949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10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4427" y="4172585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11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745543" y="4172585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12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44427" y="4714107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13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745543" y="4731220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14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44427" y="5245459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</a:t>
            </a:r>
            <a:r>
              <a:rPr lang="en-AU" sz="904" dirty="0">
                <a:solidFill>
                  <a:schemeClr val="tx1"/>
                </a:solidFill>
              </a:rPr>
              <a:t>15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745543" y="5262573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</a:t>
            </a:r>
            <a:r>
              <a:rPr lang="en-AU" sz="904" dirty="0">
                <a:solidFill>
                  <a:schemeClr val="tx1"/>
                </a:solidFill>
              </a:rPr>
              <a:t>16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44427" y="5776812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</a:t>
            </a:r>
            <a:r>
              <a:rPr lang="en-AU" sz="904" dirty="0">
                <a:solidFill>
                  <a:schemeClr val="tx1"/>
                </a:solidFill>
              </a:rPr>
              <a:t>17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745543" y="5793925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</a:t>
            </a:r>
            <a:r>
              <a:rPr lang="en-AU" sz="904" dirty="0">
                <a:solidFill>
                  <a:schemeClr val="tx1"/>
                </a:solidFill>
              </a:rPr>
              <a:t>18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44427" y="6297858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</a:t>
            </a:r>
            <a:r>
              <a:rPr lang="en-AU" sz="904" dirty="0">
                <a:solidFill>
                  <a:schemeClr val="tx1"/>
                </a:solidFill>
              </a:rPr>
              <a:t>19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745543" y="6314972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</a:t>
            </a:r>
            <a:r>
              <a:rPr lang="en-AU" sz="904" dirty="0">
                <a:solidFill>
                  <a:schemeClr val="tx1"/>
                </a:solidFill>
              </a:rPr>
              <a:t>20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39736" y="6842643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</a:t>
            </a:r>
            <a:r>
              <a:rPr lang="en-AU" sz="904" dirty="0">
                <a:solidFill>
                  <a:schemeClr val="tx1"/>
                </a:solidFill>
              </a:rPr>
              <a:t>19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740852" y="6859757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</a:t>
            </a:r>
            <a:r>
              <a:rPr lang="en-AU" sz="904" dirty="0">
                <a:solidFill>
                  <a:schemeClr val="tx1"/>
                </a:solidFill>
              </a:rPr>
              <a:t>20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61303" y="7409926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</a:t>
            </a:r>
            <a:r>
              <a:rPr lang="en-AU" sz="904" dirty="0" smtClean="0">
                <a:solidFill>
                  <a:schemeClr val="tx1"/>
                </a:solidFill>
              </a:rPr>
              <a:t>21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762419" y="7427040"/>
            <a:ext cx="1112788" cy="34524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70" tIns="18070" rIns="18070" bIns="18070" rtlCol="0" anchor="ctr"/>
          <a:lstStyle/>
          <a:p>
            <a:pPr algn="ctr"/>
            <a:r>
              <a:rPr lang="en-AU" sz="904" dirty="0">
                <a:solidFill>
                  <a:schemeClr val="tx1"/>
                </a:solidFill>
              </a:rPr>
              <a:t>Stakeholder </a:t>
            </a:r>
            <a:r>
              <a:rPr lang="en-AU" sz="904" dirty="0" smtClean="0">
                <a:solidFill>
                  <a:schemeClr val="tx1"/>
                </a:solidFill>
              </a:rPr>
              <a:t>22</a:t>
            </a:r>
            <a:endParaRPr lang="en-AU" sz="1405" dirty="0">
              <a:solidFill>
                <a:schemeClr val="tx1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635088" y="5488522"/>
            <a:ext cx="1198091" cy="715395"/>
          </a:xfrm>
          <a:prstGeom prst="roundRect">
            <a:avLst/>
          </a:prstGeom>
          <a:solidFill>
            <a:schemeClr val="bg1">
              <a:alpha val="85000"/>
            </a:schemeClr>
          </a:solidFill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1200" dirty="0" smtClean="0">
                <a:solidFill>
                  <a:schemeClr val="tx1"/>
                </a:solidFill>
              </a:rPr>
              <a:t>Non-Stakeholders</a:t>
            </a:r>
            <a:endParaRPr lang="en-AU" sz="2400" dirty="0">
              <a:solidFill>
                <a:schemeClr val="tx1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566910" y="6703254"/>
            <a:ext cx="2560320" cy="1463038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28" tIns="7228" rIns="7228" bIns="7228" rtlCol="0" anchor="t"/>
          <a:lstStyle/>
          <a:p>
            <a:pPr algn="ctr"/>
            <a:r>
              <a:rPr lang="en-AU" sz="1054" b="1" dirty="0">
                <a:solidFill>
                  <a:schemeClr val="tx1"/>
                </a:solidFill>
              </a:rPr>
              <a:t>Guidelines: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AU" sz="1054" dirty="0" smtClean="0">
                <a:solidFill>
                  <a:schemeClr val="tx1"/>
                </a:solidFill>
              </a:rPr>
              <a:t>To change the </a:t>
            </a:r>
            <a:r>
              <a:rPr lang="en-AU" sz="1054" dirty="0">
                <a:solidFill>
                  <a:schemeClr val="tx1"/>
                </a:solidFill>
              </a:rPr>
              <a:t>canvas size go to: Design &gt; Slide size &gt; Custom Size. 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AU" sz="1054" dirty="0" smtClean="0">
                <a:solidFill>
                  <a:schemeClr val="tx1"/>
                </a:solidFill>
              </a:rPr>
              <a:t>You can delete this guideline box and the Salience labels before you begin.</a:t>
            </a:r>
            <a:endParaRPr lang="en-AU" sz="1054" dirty="0">
              <a:solidFill>
                <a:schemeClr val="tx1"/>
              </a:solidFill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AU" sz="1054" dirty="0">
                <a:solidFill>
                  <a:schemeClr val="tx1"/>
                </a:solidFill>
              </a:rPr>
              <a:t>Write your </a:t>
            </a:r>
            <a:r>
              <a:rPr lang="en-AU" sz="1054" dirty="0" smtClean="0">
                <a:solidFill>
                  <a:schemeClr val="tx1"/>
                </a:solidFill>
              </a:rPr>
              <a:t>stakeholders on </a:t>
            </a:r>
            <a:r>
              <a:rPr lang="en-AU" sz="1054" dirty="0">
                <a:solidFill>
                  <a:schemeClr val="tx1"/>
                </a:solidFill>
              </a:rPr>
              <a:t>the left, and drag </a:t>
            </a:r>
            <a:r>
              <a:rPr lang="en-AU" sz="1054" dirty="0" smtClean="0">
                <a:solidFill>
                  <a:schemeClr val="tx1"/>
                </a:solidFill>
              </a:rPr>
              <a:t> them into their respective Salience group.</a:t>
            </a:r>
            <a:endParaRPr lang="en-AU" sz="1054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423251" y="2200360"/>
            <a:ext cx="1371600" cy="390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Dormant</a:t>
            </a:r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48612" y="2314622"/>
            <a:ext cx="1371600" cy="390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Dominant</a:t>
            </a:r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647896" y="2201311"/>
            <a:ext cx="1600200" cy="390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Discretionary</a:t>
            </a:r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755223" y="3762436"/>
            <a:ext cx="1600200" cy="390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Definitive</a:t>
            </a:r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155023" y="4863978"/>
            <a:ext cx="1600200" cy="390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Dangerous</a:t>
            </a:r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45481" y="4891899"/>
            <a:ext cx="1600200" cy="390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Dependent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8612" y="6588012"/>
            <a:ext cx="1600200" cy="390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Demanding</a:t>
            </a:r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186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114</Words>
  <Application>Microsoft Office PowerPoint</Application>
  <PresentationFormat>Custom</PresentationFormat>
  <Paragraphs>111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McLachlan</dc:creator>
  <cp:lastModifiedBy>David McLachlan</cp:lastModifiedBy>
  <cp:revision>18</cp:revision>
  <dcterms:created xsi:type="dcterms:W3CDTF">2020-11-13T02:43:28Z</dcterms:created>
  <dcterms:modified xsi:type="dcterms:W3CDTF">2021-06-05T02:46:39Z</dcterms:modified>
</cp:coreProperties>
</file>